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感染性废物的处理不是实验做完才考虑的事。开展生物因子实验之前，就要想好会产生哪些废物、用什么容器装、怎样灭活、送到哪里。</a:t>
            </a:r>
          </a:p>
          <a:p>
            <a:r>
              <a:t>实验室要有完整的生物废物管理方案，写进标准操作规程：分类收集、包装、暂存、转运、处置每个环节由谁做、怎么做、怎么记录，并对灭菌等处理效果进行验证（见第 076 课）。每个实验室按自己的生物因子和实验活动制定规程，新进人员按规程培训后才能操作。</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按本校规定专门收集处置（见第 084 课）。检测临床样本产生的废物一律按感染性废物对待。</a:t>
            </a:r>
          </a:p>
          <a:p>
            <a:r>
              <a:t>装袋之前先分类：感染性废物放进有生物危害标志的专用容器；锐器进锐器盒（见 K3）；化学废液、含油废物按化学废物分类收集（见第 053、054 课），不混进生物废物袋。既有感染性又含挥发性、腐蚀性化学品的废物不能直接高压灭菌，按规程专门处理。</a:t>
            </a:r>
          </a:p>
          <a:p>
            <a:r>
              <a:t>废物分类以本校规定和本实验室规程为准，墙上贴好分类指引；拿不准的，问实验室负责人或老师，不要凭感觉丢。</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面上。</a:t>
            </a:r>
          </a:p>
          <a:p>
            <a:r>
              <a:t>用过的针头不用手回套针帽，不掰弯、不折断、不用手拆针头，连同注射器整体投入锐器盒。锐器盒装到约四分之三或盒上的警戒线就封盒（锁死后不能再打开），不要硬往里塞或用手压。封好的锐器盒按感染性废物灭菌、处置。非感染性锐器和碎玻璃见第 029 课。</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内袋。</a:t>
            </a:r>
          </a:p>
          <a:p>
            <a:r>
              <a:t>封口时：按本实验室规程向内袋加少量消毒剂，收拢内袋口拧紧，用扎带或胶带扎牢；再把外袋同样拧紧扎好，两道扎口两道保险。扎好后把袋子提出，袋子外面和空桶外壁都用消毒剂擦拭，擦拭用的纸巾也按感染性废物处理。在生物安全柜内装袋的详细手法见第 073 课。</a:t>
            </a:r>
          </a:p>
          <a:p>
            <a:r>
              <a:t>袋子不要装太满，留出扎口的位置，一般不超过四分之三；千万不要用手往下压，会扎破手套，还会把气溶胶挤出来。快满了就扎口，换上新袋。</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a:p>
            <a:r>
              <a:t>从环境中分离的菌株、实验用的菌株都不能随意排放到外环境。需要在野外使用微生物（如环境修复试验）的，必须事先进行风险评估并经单位和有关部门批准。发生溢洒时先覆盖消毒，按程序清理，并报告实验室负责人（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环境中。</a:t>
            </a:r>
          </a:p>
          <a:p>
            <a:r>
              <a:t>培养瓶长了霉、长了杂菌，不要打开闻、打开看，以免孢子和气溶胶扩散；整瓶不开盖放进灭菌袋高压灭菌后再处置。</a:t>
            </a:r>
          </a:p>
          <a:p>
            <a:r>
              <a:t>培养物、菌种不能私自带出实验室，也不能私自送人或交换（菌毒种运输见第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基因工程菌常带有抗生素抗性基因等外源基因，一旦外泄可能在环境中扩散。含工程菌的培养物、废液和耗材收进专用容器，先灭活（如高压灭菌），再按规定分类处置。</a:t>
            </a:r>
          </a:p>
          <a:p>
            <a:r>
              <a:t>转基因植物材料、组培苗和转基因废弃物不能随手扔，也不得私自带出实验室或温室；先灭活，再按规定处置。田间或温室试验结束后，还要清除自生苗，防止残留（转基因生物安全见第 081、082 课）。</a:t>
            </a:r>
          </a:p>
          <a:p>
            <a:r>
              <a:t>保存的菌株、转基因材料要登记清楚；废弃物的灭活和处置也要登记，按本校规定执行。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国内高校实验室的感染性废物，一般要先在实验室内（或本单位指定地点）高压蒸汽灭菌，灭菌合格后再离开实验室，交学校统一处置。</a:t>
            </a:r>
          </a:p>
          <a:p>
            <a:r>
              <a:t>灭菌按本实验室生物安全手册和灭菌器规程进行，由经过培训的人员操作（灭菌原理和验证见第 076 课，灭菌器操作安全见第 123 课）。用化学指示物（指示胶带、指示条）确认每一锅经过了灭菌，并结合温度、时间记录和定期的生物指示物验证判断效果。</a:t>
            </a:r>
          </a:p>
          <a:p>
            <a:r>
              <a:t>每锅灭菌都要登记：日期、废物来源、操作人、指示物结果。灭菌不合格的废物重新灭菌，不往外送。原片“灭菌后焚烧”的做法在国内由有资质的集中处置单位完成，实验室不得自行焚烧（见 K10）。</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灭菌后的感染性废物按本校规定装进医疗废物专用包装袋或容器（有警示标识），锐器盒单独装。包装外贴好标签，写明产生的实验室、日期、废物类别等。</a:t>
            </a:r>
          </a:p>
          <a:p>
            <a:r>
              <a:t>废物出实验室后不能随手堆在走廊、楼道或垃圾间，要放到本单位设置的暂存点或密闭转运箱中。暂存点有警示标识、防渗漏、防鼠防蚊蝇、上锁专人管理。按规定时限及时清运，不长时间存放（具体时限以现行规定和本校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感染性废物（医疗废物）属于国家危险废物名录管理的危险废物，由学校统一交给有资质的医疗废物集中处置单位，用高温焚烧等方式无害化处置。</a:t>
            </a:r>
          </a:p>
          <a:p>
            <a:r>
              <a:t>交接时双方核对种类、数量（重量），填写交接登记和危险废物转移联单；联单和登记资料按规定期限存档，保证每一袋废物去向可查。</a:t>
            </a:r>
          </a:p>
          <a:p>
            <a:r>
              <a:t>严禁把感染性废物混入生活垃圾，严禁交给没有资质的单位或个人（如收废品人员），实验室不得自行焚烧或填埋。</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答案：C。解析：感染性锐器进防刺穿的锐器盒，不装进塑料袋。</a:t>
            </a:r>
          </a:p>
          <a:p>
            <a:r>
              <a:t>第 2 题 答案：B。解析：平板里仍是活菌，先高压灭菌，再按感染性废物交学校统一处置。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答案：B。解析：留出扎口位置，不得用手压，以免扎破手套、挤出气溶胶。</a:t>
            </a:r>
          </a:p>
          <a:p>
            <a:r>
              <a:t>第 4 题 答案：B。解析：液体培养物收进带盖容器，按规程消毒或灭菌后再按规定处置。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答案：D。解析：医疗废物按危险废物管理，交有资质单位集中处置，联单存档。</a:t>
            </a:r>
          </a:p>
          <a:p>
            <a:r>
              <a:t>第 6 题 答案：不要打开闻或查看，整瓶不开盖放进高压灭菌袋，灭菌后按感染性废物处置。解析：开盖会使孢子和气溶胶扩散。</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病原微生物和生物毒素的溢洒、暴露事件发展很快，一旦发生，没有时间犹豫：越早控制，扩散和感染的风险越小。</a:t>
            </a:r>
          </a:p>
          <a:p>
            <a:r>
              <a:t>处置的总顺序是：立即停下手头工作，先控制（不让污染扩散），再消毒清理，全程按本实验室的应急处置规程进行，最后报告和记录。</a:t>
            </a:r>
          </a:p>
          <a:p>
            <a:r>
              <a:t>从控制到处置，每一步都有明确规定，不是“可做可不做”的建议。按规范处置，保护的是自己、同组的人和实验室外的人。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每个生物实验室都要事先制定溢洒和暴露处置规程，写明不同情况（柜内、台面、柜外、离心机、转运途中、人员暴露）怎么处理、找谁报告；规程中的一般程序按本室的病原、操作和设施调整。</a:t>
            </a:r>
          </a:p>
          <a:p>
            <a:r>
              <a:t>溢洒处理包放在实验室内就近、显眼的位置，一般包括：吸水纸或吸水垫、指定消毒剂、镊子或夹子、小铲或刮板、锐器盒、生物危害废物袋、手套、护目镜或面屏、隔离衣、口罩、警示牌等，定期检查补充，消毒剂在有效期内。</a:t>
            </a:r>
          </a:p>
          <a:p>
            <a:r>
              <a:t>所有人员都要事先学会并演练（可用清水演练）。动手处置前先检查自己的防护是否到位，按风险评估加戴一层手套或增加面部、呼吸防护。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发生溢洒，第一步是控制：大声提醒周围的人，在溢洒区域设置警示带或警示牌，贴上生物危害标志，无关人员离开，防止有人踩踏或接触后把污染带走。</a:t>
            </a:r>
          </a:p>
          <a:p>
            <a:r>
              <a:t>处置的目标很简单：把污染关在原地，不让它扩散到更大的范围和更多的人。</a:t>
            </a:r>
          </a:p>
          <a:p>
            <a:r>
              <a:t>平时就要减少溢洒带来的气溶胶风险：吹打、振荡、研磨、超声、开盖等易产生气溶胶的操作放在生物安全柜里做（见第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在生物安全柜内发生溢洒，不要慌：风机继续运行，柜子的气流仍在保护操作者；双手不要猛地抽出柜外，以免把气溶胶带出来。</a:t>
            </a:r>
          </a:p>
          <a:p>
            <a:r>
              <a:t>柜内溢洒要马上处理，不能放着等实验做完再说，处理方法按 K5、K6 的“盖、倒、等、清”。液体流进前格栅或台面下的集液槽时，也要按规程倒入消毒剂作用后清理。</a:t>
            </a:r>
          </a:p>
          <a:p>
            <a:r>
              <a:t>洒得多、流进集液槽难以处理，或自己拿不准的，请实验室负责人和学院、学校安全管理人员协助。处理完报告负责人，登记经过。柜内废物袋破损渗漏的处理见第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台面或柜内的小量溢洒，第一步用吸水纸、纸巾或吸水垫覆盖溢洒物，先把液体吸住，不让它流开，也减少飞溅。</a:t>
            </a:r>
          </a:p>
          <a:p>
            <a:r>
              <a:t>然后用规程指定的液体消毒剂，从溢洒区的外缘开始，绕圈往中间浇，浸湿覆盖物。由外向内，污染才不会被冲到更大的范围；反过来从中间往外浇，会把污染推开。</a:t>
            </a:r>
          </a:p>
          <a:p>
            <a:r>
              <a:t>处置中如果皮肤沾到，立即用流动水冲洗，并报告负责人（见 K13）。小量溢洒可以记住四个字：盖（覆盖）、倒（倒消毒剂）、等（作用足够时间）、清（清理并按感染性废物处置）。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消毒剂作用后，尽量把溢洒物擦干净，纸巾丢进生物危害废物袋。</a:t>
            </a:r>
          </a:p>
          <a:p>
            <a:r>
              <a:t>再换上新的纸巾，覆盖原溢洒区并再浇一遍消毒剂，这一次让湿纸巾留在原处，等足作用时间。作用时间取决于病原种类、污染量、有机物多少和消毒剂种类等因素，以本实验室规程和产品说明为准（见第 076 课）。</a:t>
            </a:r>
          </a:p>
          <a:p>
            <a:r>
              <a:t>时间到后，再把纸巾丢进废物袋，废物按感染性废物处置（见第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溢洒物里有碎玻璃、碎管时，不要用手去捡，戴着手套也不行；用镊子、夹子或小铲把碎片夹进锐器盒。</a:t>
            </a:r>
          </a:p>
          <a:p>
            <a:r>
              <a:t>含氯消毒剂会腐蚀不锈钢台面和柜体：用了它，作用后再用清水（或按规程用乙醇）擦一遍。溢洒时被溅到的物品、仪器外表面，也要用浸湿消毒剂的纸巾擦拭，保持湿润等足时间，再继续实验。</a:t>
            </a:r>
          </a:p>
          <a:p>
            <a:r>
              <a:t>清理不能偷工减料：选对消毒剂，把病原彻底消灭；污染的器材、工具送去高压灭菌，灭菌到位。</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培养物等感染性材料洒在生物安全柜外，或瓶子摔碎，可能产生气溶胶。这时不要急着擦：提醒旁人，所有人立即撤出房间，关好门，门口挂上警示牌，防止有人进入。</a:t>
            </a:r>
          </a:p>
          <a:p>
            <a:r>
              <a:t>身上被溅到的，先脱去污染的外层防护、冲洗暴露部位，再报告。立即报告实验室负责人，按应急预案处置。</a:t>
            </a:r>
          </a:p>
          <a:p>
            <a:r>
              <a:t>等待规程规定的时间，让气溶胶沉降（实验室有负压通风的，同时让通风系统换气）。之后由经过培训的人员穿好防护（按风险评估增加呼吸防护），进入后按“盖、倒、等、清”处置，必要时请学校安全管理部门协助。</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在走廊、电梯等转运路上，废物袋或样品盒掉落、渗漏时，先让周围的人绕开，看住现场，不要用手去捡。</a:t>
            </a:r>
          </a:p>
          <a:p>
            <a:r>
              <a:t>马上报告实验室负责人，请人取来溢洒处理包。穿好防护后，用吸水材料覆盖，倒消毒剂作用后清理，按规程处置；破损的包装在外面再套袋。楼内转运要用密闭、防漏的转运箱，减少此类事件（见第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感染性样品时，如果怀疑或发现离心管破裂（听到破裂声、运行异常），停机后不要马上打开离心机盖；关闭的盖子能把气溶胶关在里面。挂上警示牌，静置规程规定的时间让气溶胶沉降，并立即报告实验室负责人。</a:t>
            </a:r>
          </a:p>
          <a:p>
            <a:r>
              <a:t>使用密封转子或密封吊篮离心的，穿戴好防护后，把密封转子或吊篮整体拿进生物安全柜内再打开。没有密封装置的，按本实验室规程由专人处置。</a:t>
            </a:r>
          </a:p>
          <a:p>
            <a:r>
              <a:t>用与转子、吊篮材质相容的消毒剂浸泡消毒（不相容会腐蚀转子），碎片用镊子夹进锐器盒，污染物按感染性废物处置，离心机腔体也要去污。离心机的安全使用见第 121 课。</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工作中隔离衣被大片溅湿、口罩被打湿、手套破损，都属于防护失效。先停下，把锐器安全放好，盖好样品容器，再到脱卸区按顺序脱下污染的防护用品（见第 075 课），换上新的。</a:t>
            </a:r>
          </a:p>
          <a:p>
            <a:r>
              <a:t>手套破了，脱下后仔细检查皮肤有没有伤口或沾染，洗手后换上新手套。一旦发现皮肤破损或沾染，按暴露处置（K12、K13）。事后报告实验室负责人。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操作针头、玻片、刀片时一滑，就可能被扎伤或割伤；沾过血液、临床样本或培养物的锐器造成的伤口，就有感染风险。立即处理是最关键的一步。</a:t>
            </a:r>
          </a:p>
          <a:p>
            <a:r>
              <a:t>现场急救：立即停下，把锐器安全放进锐器盒；从近心端向伤口方向轻轻挤出少量血液，不要用力挤压伤口局部，更不能用嘴吸；用肥皂和流动水彻底冲洗；冲洗后用急救箱中的皮肤消毒剂（如碘伏或 75% 乙醇）消毒，包扎伤口（急救见第 158 课）。</a:t>
            </a:r>
          </a:p>
          <a:p>
            <a:r>
              <a:t>处理后马上报告负责人，确认样本来源和可能的病原，尽快就医评估（K14、K15）。被实验动物使用过的针头扎伤，风险更特殊，不能拖延。预防在先：用过的针头不回套，直接投入锐器盒（见第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完整皮肤沾到样品或培养物，立即脱去污染的衣物或手套，用肥皂和流动水冲洗。</a:t>
            </a:r>
          </a:p>
          <a:p>
            <a:r>
              <a:t>溅进眼睛，马上到洗眼器（或用生理盐水）冲洗：撑开眼睑，转动眼球，反复冲洗，冲洗时间按规程，不要揉眼（洗眼器见第 027 课，眼部急救见第 160 课）。口腔、鼻腔黏膜溅到，用清水或生理盐水反复冲洗，不要吞咽。</a:t>
            </a:r>
          </a:p>
          <a:p>
            <a:r>
              <a:t>冲洗后立即报告实验室负责人，按要求就医评估；情况紧急拨打 120。</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发生针刺、溢洒、暴露，先立即进行现场处置，处置后马上报告：实验室负责人（导师）→ 学院 → 学校实验室安全管理部门、保卫处和校医院，按本校应急预案和报告程序执行（报告程序见第 157 课）。</a:t>
            </a:r>
          </a:p>
          <a:p>
            <a:r>
              <a:t>溢洒和暴露都要报告，量小、没有受伤的也要报，未遂事件同样报告（见第 161 课）。如实说明时间、地点、样本、经过和已采取的处置，不隐瞒、不拖延，不要怕批评而自己扛着。</a:t>
            </a:r>
          </a:p>
          <a:p>
            <a:r>
              <a:t>伤情严重或情况紧急，立即拨打 120 急救电话。</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暴露后尽快到学校指定的医疗机构就医，向医生说清样本来源、可能的病原、暴露方式和已做的处置。是否需要进一步检查或预防性处理，由医生评估决定，遵医嘱执行，不要自己判断“没事”而拖延。</a:t>
            </a:r>
          </a:p>
          <a:p>
            <a:r>
              <a:t>暴露要登记在案：时间、地点、样本和病原、经过、防护情况、现场处置、报告和就医情况，由实验室和学校按规定存档。按医嘱定期随访复查，进行医学观察，不能一扎了之。</a:t>
            </a:r>
          </a:p>
          <a:p>
            <a:r>
              <a:t>事后全组复盘，查找原因，改进操作方法、器材（如改用安全型锐器）和规程（事故调查见第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答案：B。解析：盖、倒、等、清；由外向内防止污染扩大。</a:t>
            </a:r>
          </a:p>
          <a:p>
            <a:r>
              <a:t>第 2 题 答案：B。解析：风机继续运行，气流仍在保护操作者；手不要猛地抽出柜外。</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答案：B。解析：柜外溢洒可能有气溶胶，先撤离、封闭、报告，再处置。</a:t>
            </a:r>
          </a:p>
          <a:p>
            <a:r>
              <a:t>第 4 题 答案：B。解析：关闭的盖子能把气溶胶关住；密封吊篮在柜内打开。</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答案：A。解析：不用力挤压伤口、不用嘴吸；报告、就医评估、登记随访。</a:t>
            </a:r>
          </a:p>
          <a:p>
            <a:r>
              <a:t>第 6 题 答案：先现场处置，然后逐级报告实验室负责人、学院和学校实验室安全管理部门（保卫处、校医院按本校程序），紧急时拨打 120；尽快就医评估，遵医嘱处理，登记暴露经过并按医嘱随访，全组复盘改进。解析：如实报告不隐瞒，是否需要预防性处理由医生决定。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感染性废物处置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适用对象：从事微生物、细胞、分子生物学、医学、农学、环境等生物实验的高校本科生、研究生和教职工（必修）；实验室负责人和废物管理人员重点学习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能说出哪些属于感染性废物，做到与化学废物、锐器分类收集，实验前定好废物管理方案。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能做到锐器进锐器盒、不回套针帽，感染性废物用专用袋双层包装、不超过四分之三封口、不用手压。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能判断液体废物、培养物、工程菌与转基因材料的正确处理：不倒下水道、不开盖查看污染瓶、先灭活、不私自带出。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能说出出实验室前灭菌确认登记、专用包装标签暂存、交有资质单位并留存转移联单的要求。</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《中华人民共和国生物安全法》：病原微生物实验室应防止病原微生物扩散，实验废物按规定处置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《中华人民共和国固体废物污染环境防治法》：医疗废物按国家危险废物名录管理，集中处置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《医疗废物管理条例》（以现行文本为准）：医疗废物分类收集、专用包装和警示标识、暂时贮存、交接登记、交有资质单位集中处置，禁止混入生活垃圾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《医疗卫生机构医疗废物管理办法》（以现行文本为准）：分类收集、包装容器、暂存设施、交接与登记要求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《国家危险废物名录》（以现行文本为准）：医疗废物列入危险废物管理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《病原微生物实验室生物安全管理条例》（以现行文本为准）：实验室产生的废水、废气和危险废物按规定处置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233（以现行文本为准）《病原微生物实验室生物安全通用准则》：废物处置程序、包装与去污染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本校实验室废物管理规定和本实验室感染性废物处置标准操作规程（以本校规定为准）</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先定废物管理方案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做实验前先想好废物怎么处理</a:t>
            </a:r>
          </a:p>
          <a:p>
            <a:pPr>
              <a:spcAft>
                <a:spcPts val="1000"/>
              </a:spcAft>
            </a:pPr>
            <a:r>
              <a:rPr sz="2000">
                <a:solidFill>
                  <a:srgbClr val="222B33"/>
                </a:solidFill>
                <a:latin typeface="Microsoft YaHei"/>
              </a:rPr>
              <a:t>▪ 分类、暂存、转运、处置环环写清</a:t>
            </a:r>
          </a:p>
          <a:p>
            <a:pPr>
              <a:spcAft>
                <a:spcPts val="1000"/>
              </a:spcAft>
            </a:pPr>
            <a:r>
              <a:rPr sz="2000">
                <a:solidFill>
                  <a:srgbClr val="222B33"/>
                </a:solidFill>
                <a:latin typeface="Microsoft YaHei"/>
              </a:rPr>
              <a:t>▪ 处理效果要验证</a:t>
            </a:r>
          </a:p>
          <a:p>
            <a:pPr>
              <a:spcAft>
                <a:spcPts val="1000"/>
              </a:spcAft>
            </a:pPr>
            <a:r>
              <a:rPr sz="2000">
                <a:solidFill>
                  <a:srgbClr val="222B33"/>
                </a:solidFill>
                <a:latin typeface="Microsoft YaHei"/>
              </a:rPr>
              <a:t>▪ 每个实验室有自己的处置规程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感染性废物的处理不是实验做完才考虑的事。开展生物因子实验之前，就要想好会产生哪些废物、用什么容器装、怎样灭活、送到哪里。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实验做完才找废物袋和去向</a:t>
            </a:r>
          </a:p>
          <a:p>
            <a:pPr>
              <a:spcAft>
                <a:spcPts val="1000"/>
              </a:spcAft>
            </a:pPr>
            <a:r>
              <a:rPr sz="1500">
                <a:solidFill>
                  <a:srgbClr val="222B33"/>
                </a:solidFill>
                <a:latin typeface="Microsoft YaHei"/>
              </a:rPr>
              <a:t>▪ 照搬别的实验室规程，不结合本室情况</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先分类：感染性废物单独收集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培养物、菌种、血液和接触过的耗材都算</a:t>
            </a:r>
          </a:p>
          <a:p>
            <a:pPr>
              <a:spcAft>
                <a:spcPts val="1000"/>
              </a:spcAft>
            </a:pPr>
            <a:r>
              <a:rPr sz="1700">
                <a:solidFill>
                  <a:srgbClr val="222B33"/>
                </a:solidFill>
                <a:latin typeface="Microsoft YaHei"/>
              </a:rPr>
              <a:t>▪ 检测产生的废物一律按感染性对待</a:t>
            </a:r>
          </a:p>
          <a:p>
            <a:pPr>
              <a:spcAft>
                <a:spcPts val="1000"/>
              </a:spcAft>
            </a:pPr>
            <a:r>
              <a:rPr sz="1700">
                <a:solidFill>
                  <a:srgbClr val="222B33"/>
                </a:solidFill>
                <a:latin typeface="Microsoft YaHei"/>
              </a:rPr>
              <a:t>▪ 感染性、化学、锐器分开收集</a:t>
            </a:r>
          </a:p>
          <a:p>
            <a:pPr>
              <a:spcAft>
                <a:spcPts val="1000"/>
              </a:spcAft>
            </a:pPr>
            <a:r>
              <a:rPr sz="1700">
                <a:solidFill>
                  <a:srgbClr val="222B33"/>
                </a:solidFill>
                <a:latin typeface="Microsoft YaHei"/>
              </a:rPr>
              <a:t>▪ 化学废液别混进生物废物袋</a:t>
            </a:r>
          </a:p>
          <a:p>
            <a:pPr>
              <a:spcAft>
                <a:spcPts val="1000"/>
              </a:spcAft>
            </a:pPr>
            <a:r>
              <a:rPr sz="1700">
                <a:solidFill>
                  <a:srgbClr val="222B33"/>
                </a:solidFill>
                <a:latin typeface="Microsoft YaHei"/>
              </a:rPr>
              <a:t>▪ 拿不准看指引、问老师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把感染性废物当普通垃圾扔</a:t>
            </a:r>
          </a:p>
          <a:p>
            <a:pPr>
              <a:spcAft>
                <a:spcPts val="1000"/>
              </a:spcAft>
            </a:pPr>
            <a:r>
              <a:rPr sz="1500">
                <a:solidFill>
                  <a:srgbClr val="222B33"/>
                </a:solidFill>
                <a:latin typeface="Microsoft YaHei"/>
              </a:rPr>
              <a:t>▪ 把化学废液倒进生物废物袋一起灭菌</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锐器进锐器盒，不回套针帽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针头、刀片、碎玻璃不进袋，进锐器盒</a:t>
            </a:r>
          </a:p>
          <a:p>
            <a:pPr>
              <a:spcAft>
                <a:spcPts val="1000"/>
              </a:spcAft>
            </a:pPr>
            <a:r>
              <a:rPr sz="1700">
                <a:solidFill>
                  <a:srgbClr val="222B33"/>
                </a:solidFill>
                <a:latin typeface="Microsoft YaHei"/>
              </a:rPr>
              <a:t>▪ 别随手放在敞口盘子里</a:t>
            </a:r>
          </a:p>
          <a:p>
            <a:pPr>
              <a:spcAft>
                <a:spcPts val="1000"/>
              </a:spcAft>
            </a:pPr>
            <a:r>
              <a:rPr sz="1700">
                <a:solidFill>
                  <a:srgbClr val="222B33"/>
                </a:solidFill>
                <a:latin typeface="Microsoft YaHei"/>
              </a:rPr>
              <a:t>▪ 用过的针不回套、不掰弯、不拆针头</a:t>
            </a:r>
          </a:p>
          <a:p>
            <a:pPr>
              <a:spcAft>
                <a:spcPts val="1000"/>
              </a:spcAft>
            </a:pPr>
            <a:r>
              <a:rPr sz="1700">
                <a:solidFill>
                  <a:srgbClr val="222B33"/>
                </a:solidFill>
                <a:latin typeface="Microsoft YaHei"/>
              </a:rPr>
              <a:t>▪ 装到四分之三或警戒线就封盒</a:t>
            </a:r>
          </a:p>
          <a:p>
            <a:pPr>
              <a:spcAft>
                <a:spcPts val="1000"/>
              </a:spcAft>
            </a:pPr>
            <a:r>
              <a:rPr sz="1700">
                <a:solidFill>
                  <a:srgbClr val="222B33"/>
                </a:solidFill>
                <a:latin typeface="Microsoft YaHei"/>
              </a:rPr>
              <a:t>▪ 硬往里塞最容易扎伤手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用双手回套针帽</a:t>
            </a:r>
          </a:p>
          <a:p>
            <a:pPr>
              <a:spcAft>
                <a:spcPts val="1000"/>
              </a:spcAft>
            </a:pPr>
            <a:r>
              <a:rPr sz="1500">
                <a:solidFill>
                  <a:srgbClr val="222B33"/>
                </a:solidFill>
                <a:latin typeface="Microsoft YaHei"/>
              </a:rPr>
              <a:t>▪ 锐器盒装满冒尖还往里塞</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专用袋双层包装，别装满别手压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用专用袋和带盖容器装</a:t>
            </a:r>
          </a:p>
          <a:p>
            <a:pPr>
              <a:spcAft>
                <a:spcPts val="1000"/>
              </a:spcAft>
            </a:pPr>
            <a:r>
              <a:rPr sz="1700">
                <a:solidFill>
                  <a:srgbClr val="222B33"/>
                </a:solidFill>
                <a:latin typeface="Microsoft YaHei"/>
              </a:rPr>
              <a:t>▪ 双层装袋：内袋破了外袋兜着</a:t>
            </a:r>
          </a:p>
          <a:p>
            <a:pPr>
              <a:spcAft>
                <a:spcPts val="1000"/>
              </a:spcAft>
            </a:pPr>
            <a:r>
              <a:rPr sz="1700">
                <a:solidFill>
                  <a:srgbClr val="222B33"/>
                </a:solidFill>
                <a:latin typeface="Microsoft YaHei"/>
              </a:rPr>
              <a:t>▪ 内袋加消毒剂扎紧，外袋再扎</a:t>
            </a:r>
          </a:p>
          <a:p>
            <a:pPr>
              <a:spcAft>
                <a:spcPts val="1000"/>
              </a:spcAft>
            </a:pPr>
            <a:r>
              <a:rPr sz="1700">
                <a:solidFill>
                  <a:srgbClr val="222B33"/>
                </a:solidFill>
                <a:latin typeface="Microsoft YaHei"/>
              </a:rPr>
              <a:t>▪ 袋子和桶的外面也要消毒</a:t>
            </a:r>
          </a:p>
          <a:p>
            <a:pPr>
              <a:spcAft>
                <a:spcPts val="1000"/>
              </a:spcAft>
            </a:pPr>
            <a:r>
              <a:rPr sz="1700">
                <a:solidFill>
                  <a:srgbClr val="222B33"/>
                </a:solidFill>
                <a:latin typeface="Microsoft YaHei"/>
              </a:rPr>
              <a:t>▪ 别装太满，千万别用手往下压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只用一层普通垃圾袋</a:t>
            </a:r>
          </a:p>
          <a:p>
            <a:pPr>
              <a:spcAft>
                <a:spcPts val="1000"/>
              </a:spcAft>
            </a:pPr>
            <a:r>
              <a:rPr sz="1500">
                <a:solidFill>
                  <a:srgbClr val="222B33"/>
                </a:solidFill>
                <a:latin typeface="Microsoft YaHei"/>
              </a:rPr>
              <a:t>▪ 用手把袋里的废物往下压实</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液体废物不进下水道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液体培养物不能直接倒下水道</a:t>
            </a:r>
          </a:p>
          <a:p>
            <a:pPr>
              <a:spcAft>
                <a:spcPts val="1000"/>
              </a:spcAft>
            </a:pPr>
            <a:r>
              <a:rPr sz="1700">
                <a:solidFill>
                  <a:srgbClr val="222B33"/>
                </a:solidFill>
                <a:latin typeface="Microsoft YaHei"/>
              </a:rPr>
              <a:t>▪ 收进带盖容器，放进托盘防打翻</a:t>
            </a:r>
          </a:p>
          <a:p>
            <a:pPr>
              <a:spcAft>
                <a:spcPts val="1000"/>
              </a:spcAft>
            </a:pPr>
            <a:r>
              <a:rPr sz="1700">
                <a:solidFill>
                  <a:srgbClr val="222B33"/>
                </a:solidFill>
                <a:latin typeface="Microsoft YaHei"/>
              </a:rPr>
              <a:t>▪ 按规程消毒或灭菌后再处置</a:t>
            </a:r>
          </a:p>
          <a:p>
            <a:pPr>
              <a:spcAft>
                <a:spcPts val="1000"/>
              </a:spcAft>
            </a:pPr>
            <a:r>
              <a:rPr sz="1700">
                <a:solidFill>
                  <a:srgbClr val="222B33"/>
                </a:solidFill>
                <a:latin typeface="Microsoft YaHei"/>
              </a:rPr>
              <a:t>▪ 实验菌株不往外环境排放</a:t>
            </a:r>
          </a:p>
          <a:p>
            <a:pPr>
              <a:spcAft>
                <a:spcPts val="1000"/>
              </a:spcAft>
            </a:pPr>
            <a:r>
              <a:rPr sz="1700">
                <a:solidFill>
                  <a:srgbClr val="222B33"/>
                </a:solidFill>
                <a:latin typeface="Microsoft YaHei"/>
              </a:rPr>
              <a:t>▪ 野外用菌须经评估和批准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把菌液直接倒进水槽冲掉</a:t>
            </a:r>
          </a:p>
          <a:p>
            <a:pPr>
              <a:spcAft>
                <a:spcPts val="1000"/>
              </a:spcAft>
            </a:pPr>
            <a:r>
              <a:rPr sz="1500">
                <a:solidFill>
                  <a:srgbClr val="222B33"/>
                </a:solidFill>
                <a:latin typeface="Microsoft YaHei"/>
              </a:rPr>
              <a:t>▪ 废液瓶敞口放在台面边上</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培养物先灭活，污染瓶不开盖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计完数的平板里还是活菌</a:t>
            </a:r>
          </a:p>
          <a:p>
            <a:pPr>
              <a:spcAft>
                <a:spcPts val="1000"/>
              </a:spcAft>
            </a:pPr>
            <a:r>
              <a:rPr sz="1700">
                <a:solidFill>
                  <a:srgbClr val="222B33"/>
                </a:solidFill>
                <a:latin typeface="Microsoft YaHei"/>
              </a:rPr>
              <a:t>▪ 平板、吸头、接种环先装袋灭菌</a:t>
            </a:r>
          </a:p>
          <a:p>
            <a:pPr>
              <a:spcAft>
                <a:spcPts val="1000"/>
              </a:spcAft>
            </a:pPr>
            <a:r>
              <a:rPr sz="1700">
                <a:solidFill>
                  <a:srgbClr val="222B33"/>
                </a:solidFill>
                <a:latin typeface="Microsoft YaHei"/>
              </a:rPr>
              <a:t>▪ 长霉的培养瓶别打开闻、打开看</a:t>
            </a:r>
          </a:p>
          <a:p>
            <a:pPr>
              <a:spcAft>
                <a:spcPts val="1000"/>
              </a:spcAft>
            </a:pPr>
            <a:r>
              <a:rPr sz="1700">
                <a:solidFill>
                  <a:srgbClr val="222B33"/>
                </a:solidFill>
                <a:latin typeface="Microsoft YaHei"/>
              </a:rPr>
              <a:t>▪ 整瓶不开盖直接灭菌</a:t>
            </a:r>
          </a:p>
          <a:p>
            <a:pPr>
              <a:spcAft>
                <a:spcPts val="1000"/>
              </a:spcAft>
            </a:pPr>
            <a:r>
              <a:rPr sz="1700">
                <a:solidFill>
                  <a:srgbClr val="222B33"/>
                </a:solidFill>
                <a:latin typeface="Microsoft YaHei"/>
              </a:rPr>
              <a:t>▪ 培养物不能私自带出实验室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计完数的平板直接扔进垃圾桶</a:t>
            </a:r>
          </a:p>
          <a:p>
            <a:pPr>
              <a:spcAft>
                <a:spcPts val="1000"/>
              </a:spcAft>
            </a:pPr>
            <a:r>
              <a:rPr sz="1500">
                <a:solidFill>
                  <a:srgbClr val="222B33"/>
                </a:solidFill>
                <a:latin typeface="Microsoft YaHei"/>
              </a:rPr>
              <a:t>▪ 打开污染的培养瓶闻气味</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工程菌与转基因材料：灭活、登记、不带出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工程菌带抗性基因，不能外泄</a:t>
            </a:r>
          </a:p>
          <a:p>
            <a:pPr>
              <a:spcAft>
                <a:spcPts val="1000"/>
              </a:spcAft>
            </a:pPr>
            <a:r>
              <a:rPr sz="1700">
                <a:solidFill>
                  <a:srgbClr val="222B33"/>
                </a:solidFill>
                <a:latin typeface="Microsoft YaHei"/>
              </a:rPr>
              <a:t>▪ 培养物和耗材先灭活再处置</a:t>
            </a:r>
          </a:p>
          <a:p>
            <a:pPr>
              <a:spcAft>
                <a:spcPts val="1000"/>
              </a:spcAft>
            </a:pPr>
            <a:r>
              <a:rPr sz="1700">
                <a:solidFill>
                  <a:srgbClr val="222B33"/>
                </a:solidFill>
                <a:latin typeface="Microsoft YaHei"/>
              </a:rPr>
              <a:t>▪ 组培苗和转基因材料不得私自带走</a:t>
            </a:r>
          </a:p>
          <a:p>
            <a:pPr>
              <a:spcAft>
                <a:spcPts val="1000"/>
              </a:spcAft>
            </a:pPr>
            <a:r>
              <a:rPr sz="1700">
                <a:solidFill>
                  <a:srgbClr val="222B33"/>
                </a:solidFill>
                <a:latin typeface="Microsoft YaHei"/>
              </a:rPr>
              <a:t>▪ 试验结束清掉自生苗</a:t>
            </a:r>
          </a:p>
          <a:p>
            <a:pPr>
              <a:spcAft>
                <a:spcPts val="1000"/>
              </a:spcAft>
            </a:pPr>
            <a:r>
              <a:rPr sz="1700">
                <a:solidFill>
                  <a:srgbClr val="222B33"/>
                </a:solidFill>
                <a:latin typeface="Microsoft YaHei"/>
              </a:rPr>
              <a:t>▪ 菌株和处理都要登记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基因工程菌常带有抗生素抗性基因等外源基因，一旦外泄可能在环境中扩散。含工程菌的培养物、废液和耗材收进专用容器，先灭活（如高压灭菌），再按规定分类处置。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工程菌菌液直接倒进下水道</a:t>
            </a:r>
          </a:p>
          <a:p>
            <a:pPr>
              <a:spcAft>
                <a:spcPts val="1000"/>
              </a:spcAft>
            </a:pPr>
            <a:r>
              <a:rPr sz="1500">
                <a:solidFill>
                  <a:srgbClr val="222B33"/>
                </a:solidFill>
                <a:latin typeface="Microsoft YaHei"/>
              </a:rPr>
              <a:t>▪ 把转基因苗带回宿舍养</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出实验室前先灭菌，确认并登记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感染性废物出实验室前先灭菌</a:t>
            </a:r>
          </a:p>
          <a:p>
            <a:pPr>
              <a:spcAft>
                <a:spcPts val="1000"/>
              </a:spcAft>
            </a:pPr>
            <a:r>
              <a:rPr sz="2000">
                <a:solidFill>
                  <a:srgbClr val="222B33"/>
                </a:solidFill>
                <a:latin typeface="Microsoft YaHei"/>
              </a:rPr>
              <a:t>▪ 按本室手册，由培训过的人操作</a:t>
            </a:r>
          </a:p>
          <a:p>
            <a:pPr>
              <a:spcAft>
                <a:spcPts val="1000"/>
              </a:spcAft>
            </a:pPr>
            <a:r>
              <a:rPr sz="2000">
                <a:solidFill>
                  <a:srgbClr val="222B33"/>
                </a:solidFill>
                <a:latin typeface="Microsoft YaHei"/>
              </a:rPr>
              <a:t>▪ 用指示物确认灭菌到位</a:t>
            </a:r>
          </a:p>
          <a:p>
            <a:pPr>
              <a:spcAft>
                <a:spcPts val="1000"/>
              </a:spcAft>
            </a:pPr>
            <a:r>
              <a:rPr sz="2000">
                <a:solidFill>
                  <a:srgbClr val="222B33"/>
                </a:solidFill>
                <a:latin typeface="Microsoft YaHei"/>
              </a:rPr>
              <a:t>▪ 每锅登记，合格了再往外送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国内高校实验室的感染性废物，一般要先在实验室内（或本单位指定地点）高压蒸汽灭菌，灭菌合格后再离开实验室，交学校统一处置。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没有灭菌就把感染性废物送出实验室</a:t>
            </a:r>
          </a:p>
          <a:p>
            <a:pPr>
              <a:spcAft>
                <a:spcPts val="1000"/>
              </a:spcAft>
            </a:pPr>
            <a:r>
              <a:rPr sz="1500">
                <a:solidFill>
                  <a:srgbClr val="222B33"/>
                </a:solidFill>
                <a:latin typeface="Microsoft YaHei"/>
              </a:rPr>
              <a:t>▪ 灭菌不登记，结果无据可查</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专用包装、标签、暂存，及时清运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灭菌后装进医疗废物专用包装</a:t>
            </a:r>
          </a:p>
          <a:p>
            <a:pPr>
              <a:spcAft>
                <a:spcPts val="1000"/>
              </a:spcAft>
            </a:pPr>
            <a:r>
              <a:rPr sz="1700">
                <a:solidFill>
                  <a:srgbClr val="222B33"/>
                </a:solidFill>
                <a:latin typeface="Microsoft YaHei"/>
              </a:rPr>
              <a:t>▪ 贴标签：哪个实验室、什么时间</a:t>
            </a:r>
          </a:p>
          <a:p>
            <a:pPr>
              <a:spcAft>
                <a:spcPts val="1000"/>
              </a:spcAft>
            </a:pPr>
            <a:r>
              <a:rPr sz="1700">
                <a:solidFill>
                  <a:srgbClr val="222B33"/>
                </a:solidFill>
                <a:latin typeface="Microsoft YaHei"/>
              </a:rPr>
              <a:t>▪ 不能随手堆在走廊、楼道</a:t>
            </a:r>
          </a:p>
          <a:p>
            <a:pPr>
              <a:spcAft>
                <a:spcPts val="1000"/>
              </a:spcAft>
            </a:pPr>
            <a:r>
              <a:rPr sz="1700">
                <a:solidFill>
                  <a:srgbClr val="222B33"/>
                </a:solidFill>
                <a:latin typeface="Microsoft YaHei"/>
              </a:rPr>
              <a:t>▪ 放进专门的暂存点或转运箱</a:t>
            </a:r>
          </a:p>
          <a:p>
            <a:pPr>
              <a:spcAft>
                <a:spcPts val="1000"/>
              </a:spcAft>
            </a:pPr>
            <a:r>
              <a:rPr sz="1700">
                <a:solidFill>
                  <a:srgbClr val="222B33"/>
                </a:solidFill>
                <a:latin typeface="Microsoft YaHei"/>
              </a:rPr>
              <a:t>▪ 按时清运，不长时间存放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灭菌后的感染性废物按本校规定装进医疗废物专用包装袋或容器（有警示标识），锐器盒单独装。包装外贴好标签，写明产生的实验室、日期、废物类别等。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废物袋没标签，来源不明</a:t>
            </a:r>
          </a:p>
          <a:p>
            <a:pPr>
              <a:spcAft>
                <a:spcPts val="1000"/>
              </a:spcAft>
            </a:pPr>
            <a:r>
              <a:rPr sz="1500">
                <a:solidFill>
                  <a:srgbClr val="222B33"/>
                </a:solidFill>
                <a:latin typeface="Microsoft YaHei"/>
              </a:rPr>
              <a:t>▪ 废物袋长期堆在楼道</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交有资质单位，联单存档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交有资质的单位统一处置</a:t>
            </a:r>
          </a:p>
          <a:p>
            <a:pPr>
              <a:spcAft>
                <a:spcPts val="1000"/>
              </a:spcAft>
            </a:pPr>
            <a:r>
              <a:rPr sz="1700">
                <a:solidFill>
                  <a:srgbClr val="222B33"/>
                </a:solidFill>
                <a:latin typeface="Microsoft YaHei"/>
              </a:rPr>
              <a:t>▪ 交接时填好登记和转移联单</a:t>
            </a:r>
          </a:p>
          <a:p>
            <a:pPr>
              <a:spcAft>
                <a:spcPts val="1000"/>
              </a:spcAft>
            </a:pPr>
            <a:r>
              <a:rPr sz="1700">
                <a:solidFill>
                  <a:srgbClr val="222B33"/>
                </a:solidFill>
                <a:latin typeface="Microsoft YaHei"/>
              </a:rPr>
              <a:t>▪ 联单存档，去向可查</a:t>
            </a:r>
          </a:p>
          <a:p>
            <a:pPr>
              <a:spcAft>
                <a:spcPts val="1000"/>
              </a:spcAft>
            </a:pPr>
            <a:r>
              <a:rPr sz="1700">
                <a:solidFill>
                  <a:srgbClr val="222B33"/>
                </a:solidFill>
                <a:latin typeface="Microsoft YaHei"/>
              </a:rPr>
              <a:t>▪ 不混生活垃圾，不交无资质的人</a:t>
            </a:r>
          </a:p>
          <a:p>
            <a:pPr>
              <a:spcAft>
                <a:spcPts val="1000"/>
              </a:spcAft>
            </a:pPr>
            <a:r>
              <a:rPr sz="1700">
                <a:solidFill>
                  <a:srgbClr val="222B33"/>
                </a:solidFill>
                <a:latin typeface="Microsoft YaHei"/>
              </a:rPr>
              <a:t>▪ 实验室不能自己焚烧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感染性废物（医疗废物）属于国家危险废物名录管理的危险废物，由学校统一交给有资质的医疗废物集中处置单位，用高温焚烧等方式无害化处置。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灭菌后就当生活垃圾扔了</a:t>
            </a:r>
          </a:p>
          <a:p>
            <a:pPr>
              <a:spcAft>
                <a:spcPts val="1000"/>
              </a:spcAft>
            </a:pPr>
            <a:r>
              <a:rPr sz="1500">
                <a:solidFill>
                  <a:srgbClr val="222B33"/>
                </a:solidFill>
                <a:latin typeface="Microsoft YaHei"/>
              </a:rPr>
              <a:t>▪ 把废物交给收废品的人</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下列废物中，应该放进锐器盒的是：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用过的手套</a:t>
            </a:r>
          </a:p>
          <a:p>
            <a:pPr algn="l"/>
            <a:r>
              <a:rPr sz="1500" b="0">
                <a:solidFill>
                  <a:srgbClr val="222B33"/>
                </a:solidFill>
                <a:latin typeface="Microsoft YaHei"/>
              </a:rPr>
              <a:t>B. 用过的平板</a:t>
            </a:r>
          </a:p>
          <a:p>
            <a:pPr algn="l"/>
            <a:r>
              <a:rPr sz="1500" b="0">
                <a:solidFill>
                  <a:srgbClr val="222B33"/>
                </a:solidFill>
                <a:latin typeface="Microsoft YaHei"/>
              </a:rPr>
              <a:t>C. 沾染菌液的针头和碎玻片</a:t>
            </a:r>
          </a:p>
          <a:p>
            <a:pPr algn="l"/>
            <a:r>
              <a:rPr sz="1500" b="0">
                <a:solidFill>
                  <a:srgbClr val="222B33"/>
                </a:solidFill>
                <a:latin typeface="Microsoft YaHei"/>
              </a:rPr>
              <a:t>D. 擦台面的纸巾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判断：计完数的平板实验已经结束，可以直接丢进普通垃圾桶。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感染性废物袋快装满时，正确的做法是：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用手压实再多装一些</a:t>
            </a:r>
          </a:p>
          <a:p>
            <a:pPr algn="l"/>
            <a:r>
              <a:rPr sz="1500" b="0">
                <a:solidFill>
                  <a:srgbClr val="222B33"/>
                </a:solidFill>
                <a:latin typeface="Microsoft YaHei"/>
              </a:rPr>
              <a:t>B. 不超过四分之三就扎口，换新袋</a:t>
            </a:r>
          </a:p>
          <a:p>
            <a:pPr algn="l"/>
            <a:r>
              <a:rPr sz="1500" b="0">
                <a:solidFill>
                  <a:srgbClr val="222B33"/>
                </a:solidFill>
                <a:latin typeface="Microsoft YaHei"/>
              </a:rPr>
              <a:t>C. 装满冒尖再扎</a:t>
            </a:r>
          </a:p>
          <a:p>
            <a:pPr algn="l"/>
            <a:r>
              <a:rPr sz="1500" b="0">
                <a:solidFill>
                  <a:srgbClr val="222B33"/>
                </a:solidFill>
                <a:latin typeface="Microsoft YaHei"/>
              </a:rPr>
              <a:t>D. 把袋口敞着等清运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判断：液体菌液加大量自来水稀释后，可以倒进下水道。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灭菌后的感染性废物最终应该：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混进生活垃圾</a:t>
            </a:r>
          </a:p>
          <a:p>
            <a:pPr algn="l"/>
            <a:r>
              <a:rPr sz="1500" b="0">
                <a:solidFill>
                  <a:srgbClr val="222B33"/>
                </a:solidFill>
                <a:latin typeface="Microsoft YaHei"/>
              </a:rPr>
              <a:t>B. 交给收废品的人</a:t>
            </a:r>
          </a:p>
          <a:p>
            <a:pPr algn="l"/>
            <a:r>
              <a:rPr sz="1500" b="0">
                <a:solidFill>
                  <a:srgbClr val="222B33"/>
                </a:solidFill>
                <a:latin typeface="Microsoft YaHei"/>
              </a:rPr>
              <a:t>C. 在实验室里自己焚烧</a:t>
            </a:r>
          </a:p>
          <a:p>
            <a:pPr algn="l"/>
            <a:r>
              <a:rPr sz="1500" b="0">
                <a:solidFill>
                  <a:srgbClr val="222B33"/>
                </a:solidFill>
                <a:latin typeface="Microsoft YaHei"/>
              </a:rPr>
              <a:t>D. 装进专用包装贴标签，暂存后交有资质单位处置并填写转移联单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简答：培养瓶长了霉，应该怎样处理？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先定废物管理方案</a:t>
            </a:r>
          </a:p>
          <a:p>
            <a:pPr>
              <a:spcAft>
                <a:spcPts val="800"/>
              </a:spcAft>
            </a:pPr>
            <a:r>
              <a:rPr sz="1800">
                <a:solidFill>
                  <a:srgbClr val="FFFFFF"/>
                </a:solidFill>
                <a:latin typeface="Microsoft YaHei"/>
              </a:rPr>
              <a:t>▪ K2  先分类：感染性废物单独收集</a:t>
            </a:r>
          </a:p>
          <a:p>
            <a:pPr>
              <a:spcAft>
                <a:spcPts val="800"/>
              </a:spcAft>
            </a:pPr>
            <a:r>
              <a:rPr sz="1800">
                <a:solidFill>
                  <a:srgbClr val="FFFFFF"/>
                </a:solidFill>
                <a:latin typeface="Microsoft YaHei"/>
              </a:rPr>
              <a:t>▪ K3  锐器进锐器盒，不回套针帽</a:t>
            </a:r>
          </a:p>
          <a:p>
            <a:pPr>
              <a:spcAft>
                <a:spcPts val="800"/>
              </a:spcAft>
            </a:pPr>
            <a:r>
              <a:rPr sz="1800">
                <a:solidFill>
                  <a:srgbClr val="FFFFFF"/>
                </a:solidFill>
                <a:latin typeface="Microsoft YaHei"/>
              </a:rPr>
              <a:t>▪ K4  专用袋双层包装，别装满别手压</a:t>
            </a:r>
          </a:p>
          <a:p>
            <a:pPr>
              <a:spcAft>
                <a:spcPts val="800"/>
              </a:spcAft>
            </a:pPr>
            <a:r>
              <a:rPr sz="1800">
                <a:solidFill>
                  <a:srgbClr val="FFFFFF"/>
                </a:solidFill>
                <a:latin typeface="Microsoft YaHei"/>
              </a:rPr>
              <a:t>▪ K5  液体废物不进下水道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培养物先灭活，污染瓶不开盖</a:t>
            </a:r>
          </a:p>
          <a:p>
            <a:pPr>
              <a:spcAft>
                <a:spcPts val="800"/>
              </a:spcAft>
            </a:pPr>
            <a:r>
              <a:rPr sz="1800">
                <a:solidFill>
                  <a:srgbClr val="FFFFFF"/>
                </a:solidFill>
                <a:latin typeface="Microsoft YaHei"/>
              </a:rPr>
              <a:t>▪ K7  工程菌与转基因材料：灭活、登记、不带出</a:t>
            </a:r>
          </a:p>
          <a:p>
            <a:pPr>
              <a:spcAft>
                <a:spcPts val="800"/>
              </a:spcAft>
            </a:pPr>
            <a:r>
              <a:rPr sz="1800">
                <a:solidFill>
                  <a:srgbClr val="FFFFFF"/>
                </a:solidFill>
                <a:latin typeface="Microsoft YaHei"/>
              </a:rPr>
              <a:t>▪ K8  出实验室前先灭菌，确认并登记</a:t>
            </a:r>
          </a:p>
          <a:p>
            <a:pPr>
              <a:spcAft>
                <a:spcPts val="800"/>
              </a:spcAft>
            </a:pPr>
            <a:r>
              <a:rPr sz="1800">
                <a:solidFill>
                  <a:srgbClr val="FFFFFF"/>
                </a:solidFill>
                <a:latin typeface="Microsoft YaHei"/>
              </a:rPr>
              <a:t>▪ K9  专用包装、标签、暂存，及时清运</a:t>
            </a:r>
          </a:p>
          <a:p>
            <a:pPr>
              <a:spcAft>
                <a:spcPts val="800"/>
              </a:spcAft>
            </a:pPr>
            <a:r>
              <a:rPr sz="1800">
                <a:solidFill>
                  <a:srgbClr val="FFFFFF"/>
                </a:solidFill>
                <a:latin typeface="Microsoft YaHei"/>
              </a:rPr>
              <a:t>▪ K10  交有资质单位，联单存档</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生物溢洒与暴露处置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适用对象：从事微生物、细胞、分子生物学、医学、农学、环境等生物实验和临床样本检测的高校本科生、研究生和教职工（必修）；实验室负责人和安全员重点学习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能说出生物溢洒处置的原则（先控制、不扩散、按规程）和溢洒处理包的配置，事先学会、演练过。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能做到柜内和台面小量溢洒按“盖、倒、等、清”处置：吸水材料覆盖、消毒剂由外向内、二次留置、碎片用夹子、物品器材去污。</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能判断柜外溢洒、转运洒漏和离心管破裂时先撤离或先封闭、等气溶胶沉降、报告后由专人处置。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能做到针刺伤、皮肤和眼睛沾染后立即冲洗等现场急救，逐级报告，就医评估，登记并随访。</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《中华人民共和国生物安全法》：病原微生物实验室应制定应急预案，发生意外事故及时处置、报告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《病原微生物实验室生物安全管理条例》（以现行文本为准）：实验室制定实验室感染应急处置预案；发生暴露或感染时立即采取控制措施、报告，并对有关人员进行医学观察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生物安全通用要求》：溢洒处理程序、应急预案和演练、事故报告、暴露人员医学评估与监测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233（以现行文本为准）《病原微生物实验室生物安全通用准则》：意外事故处置、消毒和报告</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号，以现行文本为准）：应急预案、应急物资配备与事故报告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本校实验室安全事故应急预案和本实验室生物溢洒、暴露处置标准操作规程（以本校规定为准）</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出了事马上行动，规定必须照做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生物事件升级很快，不能犹豫</a:t>
            </a:r>
          </a:p>
          <a:p>
            <a:pPr>
              <a:spcAft>
                <a:spcPts val="1000"/>
              </a:spcAft>
            </a:pPr>
            <a:r>
              <a:rPr sz="2000">
                <a:solidFill>
                  <a:srgbClr val="222B33"/>
                </a:solidFill>
                <a:latin typeface="Microsoft YaHei"/>
              </a:rPr>
              <a:t>▪ 停下、控制、消毒，按规程处理</a:t>
            </a:r>
          </a:p>
          <a:p>
            <a:pPr>
              <a:spcAft>
                <a:spcPts val="1000"/>
              </a:spcAft>
            </a:pPr>
            <a:r>
              <a:rPr sz="2000">
                <a:solidFill>
                  <a:srgbClr val="222B33"/>
                </a:solidFill>
                <a:latin typeface="Microsoft YaHei"/>
              </a:rPr>
              <a:t>▪ 处置规定不是建议，必须照做</a:t>
            </a:r>
          </a:p>
          <a:p>
            <a:pPr>
              <a:spcAft>
                <a:spcPts val="1000"/>
              </a:spcAft>
            </a:pPr>
            <a:r>
              <a:rPr sz="2000">
                <a:solidFill>
                  <a:srgbClr val="222B33"/>
                </a:solidFill>
                <a:latin typeface="Microsoft YaHei"/>
              </a:rPr>
              <a:t>▪ 按规范来，才能保护每一个人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病原微生物和生物毒素的溢洒、暴露事件发展很快，一旦发生，没有时间犹豫：越早控制，扩散和感染的风险越小。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慌乱中凭本能乱擦乱跑</a:t>
            </a:r>
          </a:p>
          <a:p>
            <a:pPr>
              <a:spcAft>
                <a:spcPts val="1000"/>
              </a:spcAft>
            </a:pPr>
            <a:r>
              <a:rPr sz="1500">
                <a:solidFill>
                  <a:srgbClr val="222B33"/>
                </a:solidFill>
                <a:latin typeface="Microsoft YaHei"/>
              </a:rPr>
              <a:t>▪ 觉得“洒一点没事”，不按规程处理</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事先定好规程，备好溢洒处理包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溢洒怎么处理，事先写进规程</a:t>
            </a:r>
          </a:p>
          <a:p>
            <a:pPr>
              <a:spcAft>
                <a:spcPts val="1000"/>
              </a:spcAft>
            </a:pPr>
            <a:r>
              <a:rPr sz="2000">
                <a:solidFill>
                  <a:srgbClr val="222B33"/>
                </a:solidFill>
                <a:latin typeface="Microsoft YaHei"/>
              </a:rPr>
              <a:t>▪ 溢洒处理包就近备好，人人知道在哪</a:t>
            </a:r>
          </a:p>
          <a:p>
            <a:pPr>
              <a:spcAft>
                <a:spcPts val="1000"/>
              </a:spcAft>
            </a:pPr>
            <a:r>
              <a:rPr sz="2000">
                <a:solidFill>
                  <a:srgbClr val="222B33"/>
                </a:solidFill>
                <a:latin typeface="Microsoft YaHei"/>
              </a:rPr>
              <a:t>▪ 人人提前学会、演练过</a:t>
            </a:r>
          </a:p>
          <a:p>
            <a:pPr>
              <a:spcAft>
                <a:spcPts val="1000"/>
              </a:spcAft>
            </a:pPr>
            <a:r>
              <a:rPr sz="2000">
                <a:solidFill>
                  <a:srgbClr val="222B33"/>
                </a:solidFill>
                <a:latin typeface="Microsoft YaHei"/>
              </a:rPr>
              <a:t>▪ 动手前先查防护，需要时加戴手套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每个生物实验室都要事先制定溢洒和暴露处置规程，写明不同情况（柜内、台面、柜外、离心机、转运途中、人员暴露）怎么处理、找谁报告；规程中的一般程序按本室的病原、操作和设施调整。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出了事才找消毒剂和吸水纸</a:t>
            </a:r>
          </a:p>
          <a:p>
            <a:pPr>
              <a:spcAft>
                <a:spcPts val="1000"/>
              </a:spcAft>
            </a:pPr>
            <a:r>
              <a:rPr sz="1500">
                <a:solidFill>
                  <a:srgbClr val="222B33"/>
                </a:solidFill>
                <a:latin typeface="Microsoft YaHei"/>
              </a:rPr>
              <a:t>▪ 防护不到位就上手清理</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第一步控制：警示清场，不让扩散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第一步是控制：拉警示，贴标志</a:t>
            </a:r>
          </a:p>
          <a:p>
            <a:pPr>
              <a:spcAft>
                <a:spcPts val="1000"/>
              </a:spcAft>
            </a:pPr>
            <a:r>
              <a:rPr sz="2000">
                <a:solidFill>
                  <a:srgbClr val="222B33"/>
                </a:solidFill>
                <a:latin typeface="Microsoft YaHei"/>
              </a:rPr>
              <a:t>▪ 提醒周围的人，无关人员先离开</a:t>
            </a:r>
          </a:p>
          <a:p>
            <a:pPr>
              <a:spcAft>
                <a:spcPts val="1000"/>
              </a:spcAft>
            </a:pPr>
            <a:r>
              <a:rPr sz="2000">
                <a:solidFill>
                  <a:srgbClr val="222B33"/>
                </a:solidFill>
                <a:latin typeface="Microsoft YaHei"/>
              </a:rPr>
              <a:t>▪ 目标：关住它，不让它扩散</a:t>
            </a:r>
          </a:p>
          <a:p>
            <a:pPr>
              <a:spcAft>
                <a:spcPts val="1000"/>
              </a:spcAft>
            </a:pPr>
            <a:r>
              <a:rPr sz="2000">
                <a:solidFill>
                  <a:srgbClr val="222B33"/>
                </a:solidFill>
                <a:latin typeface="Microsoft YaHei"/>
              </a:rPr>
              <a:t>▪ 平时易产生气溶胶的操作放柜里做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发生溢洒，第一步是控制：大声提醒周围的人，在溢洒区域设置警示带或警示牌，贴上生物危害标志，无关人员离开，防止有人踩踏或接触后把污染带走。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不提醒旁人，自己闷头处理</a:t>
            </a:r>
          </a:p>
          <a:p>
            <a:pPr>
              <a:spcAft>
                <a:spcPts val="1000"/>
              </a:spcAft>
            </a:pPr>
            <a:r>
              <a:rPr sz="1500">
                <a:solidFill>
                  <a:srgbClr val="222B33"/>
                </a:solidFill>
                <a:latin typeface="Microsoft YaHei"/>
              </a:rPr>
              <a:t>▪ 让别人从溢洒区域走过</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柜内溢洒：风机不关，及时清理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柜里洒了别慌，风机继续开着</a:t>
            </a:r>
          </a:p>
          <a:p>
            <a:pPr>
              <a:spcAft>
                <a:spcPts val="1000"/>
              </a:spcAft>
            </a:pPr>
            <a:r>
              <a:rPr sz="1700">
                <a:solidFill>
                  <a:srgbClr val="222B33"/>
                </a:solidFill>
                <a:latin typeface="Microsoft YaHei"/>
              </a:rPr>
              <a:t>▪ 别急着把手抽出来</a:t>
            </a:r>
          </a:p>
          <a:p>
            <a:pPr>
              <a:spcAft>
                <a:spcPts val="1000"/>
              </a:spcAft>
            </a:pPr>
            <a:r>
              <a:rPr sz="1700">
                <a:solidFill>
                  <a:srgbClr val="222B33"/>
                </a:solidFill>
                <a:latin typeface="Microsoft YaHei"/>
              </a:rPr>
              <a:t>▪ 马上清理去污，不能等以后</a:t>
            </a:r>
          </a:p>
          <a:p>
            <a:pPr>
              <a:spcAft>
                <a:spcPts val="1000"/>
              </a:spcAft>
            </a:pPr>
            <a:r>
              <a:rPr sz="1700">
                <a:solidFill>
                  <a:srgbClr val="222B33"/>
                </a:solidFill>
                <a:latin typeface="Microsoft YaHei"/>
              </a:rPr>
              <a:t>▪ 流进格栅下面的也要清理</a:t>
            </a:r>
          </a:p>
          <a:p>
            <a:pPr>
              <a:spcAft>
                <a:spcPts val="1000"/>
              </a:spcAft>
            </a:pPr>
            <a:r>
              <a:rPr sz="1700">
                <a:solidFill>
                  <a:srgbClr val="222B33"/>
                </a:solidFill>
                <a:latin typeface="Microsoft YaHei"/>
              </a:rPr>
              <a:t>▪ 量大处理不了请人协助，事后报告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在生物安全柜内发生溢洒，不要慌：风机继续运行，柜子的气流仍在保护操作者；双手不要猛地抽出柜外，以免把气溶胶带出来。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一洒就关风机</a:t>
            </a:r>
          </a:p>
          <a:p>
            <a:pPr>
              <a:spcAft>
                <a:spcPts val="1000"/>
              </a:spcAft>
            </a:pPr>
            <a:r>
              <a:rPr sz="1500">
                <a:solidFill>
                  <a:srgbClr val="222B33"/>
                </a:solidFill>
                <a:latin typeface="Microsoft YaHei"/>
              </a:rPr>
              <a:t>▪ 只擦台面，不管格栅和集液槽</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盖住，消毒剂由外向内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先用吸水纸盖住，把液体吸住</a:t>
            </a:r>
          </a:p>
          <a:p>
            <a:pPr>
              <a:spcAft>
                <a:spcPts val="1000"/>
              </a:spcAft>
            </a:pPr>
            <a:r>
              <a:rPr sz="1700">
                <a:solidFill>
                  <a:srgbClr val="222B33"/>
                </a:solidFill>
                <a:latin typeface="Microsoft YaHei"/>
              </a:rPr>
              <a:t>▪ 用指定消毒剂，从外缘往中间浇</a:t>
            </a:r>
          </a:p>
          <a:p>
            <a:pPr>
              <a:spcAft>
                <a:spcPts val="1000"/>
              </a:spcAft>
            </a:pPr>
            <a:r>
              <a:rPr sz="1700">
                <a:solidFill>
                  <a:srgbClr val="222B33"/>
                </a:solidFill>
                <a:latin typeface="Microsoft YaHei"/>
              </a:rPr>
              <a:t>▪ 由外向内，污染才不会扩大</a:t>
            </a:r>
          </a:p>
          <a:p>
            <a:pPr>
              <a:spcAft>
                <a:spcPts val="1000"/>
              </a:spcAft>
            </a:pPr>
            <a:r>
              <a:rPr sz="1700">
                <a:solidFill>
                  <a:srgbClr val="222B33"/>
                </a:solidFill>
                <a:latin typeface="Microsoft YaHei"/>
              </a:rPr>
              <a:t>▪ 沾到皮肤，立即冲洗并报告</a:t>
            </a:r>
          </a:p>
          <a:p>
            <a:pPr>
              <a:spcAft>
                <a:spcPts val="1000"/>
              </a:spcAft>
            </a:pPr>
            <a:r>
              <a:rPr sz="1700">
                <a:solidFill>
                  <a:srgbClr val="222B33"/>
                </a:solidFill>
                <a:latin typeface="Microsoft YaHei"/>
              </a:rPr>
              <a:t>▪ 记住：盖、倒、等、清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台面或柜内的小量溢洒，第一步用吸水纸、纸巾或吸水垫覆盖溢洒物，先把液体吸住，不让它流开，也减少飞溅。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直接用纸巾来回抹</a:t>
            </a:r>
          </a:p>
          <a:p>
            <a:pPr>
              <a:spcAft>
                <a:spcPts val="1000"/>
              </a:spcAft>
            </a:pPr>
            <a:r>
              <a:rPr sz="1500">
                <a:solidFill>
                  <a:srgbClr val="222B33"/>
                </a:solidFill>
                <a:latin typeface="Microsoft YaHei"/>
              </a:rPr>
              <a:t>▪ 对着溢洒中心猛倒消毒剂</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擦掉，再浇一遍留置，时间到再丢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尽量擦干净，纸巾丢进废物袋</a:t>
            </a:r>
          </a:p>
          <a:p>
            <a:pPr>
              <a:spcAft>
                <a:spcPts val="1000"/>
              </a:spcAft>
            </a:pPr>
            <a:r>
              <a:rPr sz="2000">
                <a:solidFill>
                  <a:srgbClr val="222B33"/>
                </a:solidFill>
                <a:latin typeface="Microsoft YaHei"/>
              </a:rPr>
              <a:t>▪ 换新纸巾再浇一遍，留在原处</a:t>
            </a:r>
          </a:p>
          <a:p>
            <a:pPr>
              <a:spcAft>
                <a:spcPts val="1000"/>
              </a:spcAft>
            </a:pPr>
            <a:r>
              <a:rPr sz="2000">
                <a:solidFill>
                  <a:srgbClr val="222B33"/>
                </a:solidFill>
                <a:latin typeface="Microsoft YaHei"/>
              </a:rPr>
              <a:t>▪ 等多久，以本实验室规程为准</a:t>
            </a:r>
          </a:p>
          <a:p>
            <a:pPr>
              <a:spcAft>
                <a:spcPts val="1000"/>
              </a:spcAft>
            </a:pPr>
            <a:r>
              <a:rPr sz="2000">
                <a:solidFill>
                  <a:srgbClr val="222B33"/>
                </a:solidFill>
                <a:latin typeface="Microsoft YaHei"/>
              </a:rPr>
              <a:t>▪ 时间到了，再丢进废物袋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消毒剂作用后，尽量把溢洒物擦干净，纸巾丢进生物危害废物袋。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浇完消毒剂立刻擦掉</a:t>
            </a:r>
          </a:p>
          <a:p>
            <a:pPr>
              <a:spcAft>
                <a:spcPts val="1000"/>
              </a:spcAft>
            </a:pPr>
            <a:r>
              <a:rPr sz="1500">
                <a:solidFill>
                  <a:srgbClr val="222B33"/>
                </a:solidFill>
                <a:latin typeface="Microsoft YaHei"/>
              </a:rPr>
              <a:t>▪ 用过的纸巾丢进普通垃圾桶</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碎片用夹子，物品器材都去污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碎玻璃碎管用镊子夹进锐器盒</a:t>
            </a:r>
          </a:p>
          <a:p>
            <a:pPr>
              <a:spcAft>
                <a:spcPts val="1000"/>
              </a:spcAft>
            </a:pPr>
            <a:r>
              <a:rPr sz="1700">
                <a:solidFill>
                  <a:srgbClr val="222B33"/>
                </a:solidFill>
                <a:latin typeface="Microsoft YaHei"/>
              </a:rPr>
              <a:t>▪ 千万别用手去捡</a:t>
            </a:r>
          </a:p>
          <a:p>
            <a:pPr>
              <a:spcAft>
                <a:spcPts val="1000"/>
              </a:spcAft>
            </a:pPr>
            <a:r>
              <a:rPr sz="1700">
                <a:solidFill>
                  <a:srgbClr val="222B33"/>
                </a:solidFill>
                <a:latin typeface="Microsoft YaHei"/>
              </a:rPr>
              <a:t>▪ 用了含氯消毒剂，再用清水擦一遍</a:t>
            </a:r>
          </a:p>
          <a:p>
            <a:pPr>
              <a:spcAft>
                <a:spcPts val="1000"/>
              </a:spcAft>
            </a:pPr>
            <a:r>
              <a:rPr sz="1700">
                <a:solidFill>
                  <a:srgbClr val="222B33"/>
                </a:solidFill>
                <a:latin typeface="Microsoft YaHei"/>
              </a:rPr>
              <a:t>▪ 溅到的物品也要擦，等够时间再用</a:t>
            </a:r>
          </a:p>
          <a:p>
            <a:pPr>
              <a:spcAft>
                <a:spcPts val="1000"/>
              </a:spcAft>
            </a:pPr>
            <a:r>
              <a:rPr sz="1700">
                <a:solidFill>
                  <a:srgbClr val="222B33"/>
                </a:solidFill>
                <a:latin typeface="Microsoft YaHei"/>
              </a:rPr>
              <a:t>▪ 污染器材送去高压灭菌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溢洒物里有碎玻璃、碎管时，不要用手去捡，戴着手套也不行；用镊子、夹子或小铲把碎片夹进锐器盒。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戴手套直接捡碎玻璃</a:t>
            </a:r>
          </a:p>
          <a:p>
            <a:pPr>
              <a:spcAft>
                <a:spcPts val="1000"/>
              </a:spcAft>
            </a:pPr>
            <a:r>
              <a:rPr sz="1500">
                <a:solidFill>
                  <a:srgbClr val="222B33"/>
                </a:solidFill>
                <a:latin typeface="Microsoft YaHei"/>
              </a:rPr>
              <a:t>▪ 只清理台面，不管被溅到的物品</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柜外溢洒：先撤离，关门等沉降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柜外洒了摔碎了，可能有气溶胶</a:t>
            </a:r>
          </a:p>
          <a:p>
            <a:pPr>
              <a:spcAft>
                <a:spcPts val="1000"/>
              </a:spcAft>
            </a:pPr>
            <a:r>
              <a:rPr sz="1700">
                <a:solidFill>
                  <a:srgbClr val="222B33"/>
                </a:solidFill>
                <a:latin typeface="Microsoft YaHei"/>
              </a:rPr>
              <a:t>▪ 别急着擦，提醒旁人，撤出房间</a:t>
            </a:r>
          </a:p>
          <a:p>
            <a:pPr>
              <a:spcAft>
                <a:spcPts val="1000"/>
              </a:spcAft>
            </a:pPr>
            <a:r>
              <a:rPr sz="1700">
                <a:solidFill>
                  <a:srgbClr val="222B33"/>
                </a:solidFill>
                <a:latin typeface="Microsoft YaHei"/>
              </a:rPr>
              <a:t>▪ 关好门，挂警示；身上溅到先冲洗</a:t>
            </a:r>
          </a:p>
          <a:p>
            <a:pPr>
              <a:spcAft>
                <a:spcPts val="1000"/>
              </a:spcAft>
            </a:pPr>
            <a:r>
              <a:rPr sz="1700">
                <a:solidFill>
                  <a:srgbClr val="222B33"/>
                </a:solidFill>
                <a:latin typeface="Microsoft YaHei"/>
              </a:rPr>
              <a:t>▪ 立即报告，等气溶胶沉降</a:t>
            </a:r>
          </a:p>
          <a:p>
            <a:pPr>
              <a:spcAft>
                <a:spcPts val="1000"/>
              </a:spcAft>
            </a:pPr>
            <a:r>
              <a:rPr sz="1700">
                <a:solidFill>
                  <a:srgbClr val="222B33"/>
                </a:solidFill>
                <a:latin typeface="Microsoft YaHei"/>
              </a:rPr>
              <a:t>▪ 穿好防护，由专人覆盖消毒清理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培养物等感染性材料洒在生物安全柜外，或瓶子摔碎，可能产生气溶胶。这时不要急着擦：提醒旁人，所有人立即撤出房间，关好门，门口挂上警示牌，防止有人进入。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柜外打碎了马上蹲下去擦</a:t>
            </a:r>
          </a:p>
          <a:p>
            <a:pPr>
              <a:spcAft>
                <a:spcPts val="1000"/>
              </a:spcAft>
            </a:pPr>
            <a:r>
              <a:rPr sz="1500">
                <a:solidFill>
                  <a:srgbClr val="222B33"/>
                </a:solidFill>
                <a:latin typeface="Microsoft YaHei"/>
              </a:rPr>
              <a:t>▪ 撤离时不关门、不挂警示</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转运途中洒漏：先围住，再报告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转运路上袋子掉了漏了</a:t>
            </a:r>
          </a:p>
          <a:p>
            <a:pPr>
              <a:spcAft>
                <a:spcPts val="1000"/>
              </a:spcAft>
            </a:pPr>
            <a:r>
              <a:rPr sz="2000">
                <a:solidFill>
                  <a:srgbClr val="222B33"/>
                </a:solidFill>
                <a:latin typeface="Microsoft YaHei"/>
              </a:rPr>
              <a:t>▪ 先让旁人绕开，别用手去捡</a:t>
            </a:r>
          </a:p>
          <a:p>
            <a:pPr>
              <a:spcAft>
                <a:spcPts val="1000"/>
              </a:spcAft>
            </a:pPr>
            <a:r>
              <a:rPr sz="2000">
                <a:solidFill>
                  <a:srgbClr val="222B33"/>
                </a:solidFill>
                <a:latin typeface="Microsoft YaHei"/>
              </a:rPr>
              <a:t>▪ 马上报告，取来溢洒处理包</a:t>
            </a:r>
          </a:p>
          <a:p>
            <a:pPr>
              <a:spcAft>
                <a:spcPts val="1000"/>
              </a:spcAft>
            </a:pPr>
            <a:r>
              <a:rPr sz="2000">
                <a:solidFill>
                  <a:srgbClr val="222B33"/>
                </a:solidFill>
                <a:latin typeface="Microsoft YaHei"/>
              </a:rPr>
              <a:t>▪ 穿好防护，覆盖消毒，按规程处理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在走廊、电梯等转运路上，废物袋或样品盒掉落、渗漏时，先让周围的人绕开，看住现场，不要用手去捡。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徒手把漏液的袋子捡起来</a:t>
            </a:r>
          </a:p>
          <a:p>
            <a:pPr>
              <a:spcAft>
                <a:spcPts val="1000"/>
              </a:spcAft>
            </a:pPr>
            <a:r>
              <a:rPr sz="1500">
                <a:solidFill>
                  <a:srgbClr val="222B33"/>
                </a:solidFill>
                <a:latin typeface="Microsoft YaHei"/>
              </a:rPr>
              <a:t>▪ 留下渗漏的地面不管就走</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离心管破裂：不开盖，柜内开吊篮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离心感染性样品，怀疑管子破了</a:t>
            </a:r>
          </a:p>
          <a:p>
            <a:pPr>
              <a:spcAft>
                <a:spcPts val="1000"/>
              </a:spcAft>
            </a:pPr>
            <a:r>
              <a:rPr sz="1700">
                <a:solidFill>
                  <a:srgbClr val="222B33"/>
                </a:solidFill>
                <a:latin typeface="Microsoft YaHei"/>
              </a:rPr>
              <a:t>▪ 别急着开盖，先让气溶胶沉降</a:t>
            </a:r>
          </a:p>
          <a:p>
            <a:pPr>
              <a:spcAft>
                <a:spcPts val="1000"/>
              </a:spcAft>
            </a:pPr>
            <a:r>
              <a:rPr sz="1700">
                <a:solidFill>
                  <a:srgbClr val="222B33"/>
                </a:solidFill>
                <a:latin typeface="Microsoft YaHei"/>
              </a:rPr>
              <a:t>▪ 挂上警示，静置，报告负责人</a:t>
            </a:r>
          </a:p>
          <a:p>
            <a:pPr>
              <a:spcAft>
                <a:spcPts val="1000"/>
              </a:spcAft>
            </a:pPr>
            <a:r>
              <a:rPr sz="1700">
                <a:solidFill>
                  <a:srgbClr val="222B33"/>
                </a:solidFill>
                <a:latin typeface="Microsoft YaHei"/>
              </a:rPr>
              <a:t>▪ 穿好防护，密封吊篮拿进柜里开</a:t>
            </a:r>
          </a:p>
          <a:p>
            <a:pPr>
              <a:spcAft>
                <a:spcPts val="1000"/>
              </a:spcAft>
            </a:pPr>
            <a:r>
              <a:rPr sz="1700">
                <a:solidFill>
                  <a:srgbClr val="222B33"/>
                </a:solidFill>
                <a:latin typeface="Microsoft YaHei"/>
              </a:rPr>
              <a:t>▪ 消毒剂要和转子材质相容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离心感染性样品时，如果怀疑或发现离心管破裂（听到破裂声、运行异常），停机后不要马上打开离心机盖；关闭的盖子能把气溶胶关在里面。挂上警示牌，静置规程规定的时间让气溶胶沉降，并立即报告实验室负责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离心机一停就打开盖子查看</a:t>
            </a:r>
          </a:p>
          <a:p>
            <a:pPr>
              <a:spcAft>
                <a:spcPts val="1000"/>
              </a:spcAft>
            </a:pPr>
            <a:r>
              <a:rPr sz="1500">
                <a:solidFill>
                  <a:srgbClr val="222B33"/>
                </a:solidFill>
                <a:latin typeface="Microsoft YaHei"/>
              </a:rPr>
              <a:t>▪ 用会腐蚀转子的消毒剂随意浸泡</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防护失效：停下、更换、查皮肤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隔离衣大片溅湿，先停下盖好样品</a:t>
            </a:r>
          </a:p>
          <a:p>
            <a:pPr>
              <a:spcAft>
                <a:spcPts val="1000"/>
              </a:spcAft>
            </a:pPr>
            <a:r>
              <a:rPr sz="2000">
                <a:solidFill>
                  <a:srgbClr val="222B33"/>
                </a:solidFill>
                <a:latin typeface="Microsoft YaHei"/>
              </a:rPr>
              <a:t>▪ 到脱卸区按顺序脱下，换新的</a:t>
            </a:r>
          </a:p>
          <a:p>
            <a:pPr>
              <a:spcAft>
                <a:spcPts val="1000"/>
              </a:spcAft>
            </a:pPr>
            <a:r>
              <a:rPr sz="2000">
                <a:solidFill>
                  <a:srgbClr val="222B33"/>
                </a:solidFill>
                <a:latin typeface="Microsoft YaHei"/>
              </a:rPr>
              <a:t>▪ 手套破了，脱下来仔细查皮肤</a:t>
            </a:r>
          </a:p>
          <a:p>
            <a:pPr>
              <a:spcAft>
                <a:spcPts val="1000"/>
              </a:spcAft>
            </a:pPr>
            <a:r>
              <a:rPr sz="2000">
                <a:solidFill>
                  <a:srgbClr val="222B33"/>
                </a:solidFill>
                <a:latin typeface="Microsoft YaHei"/>
              </a:rPr>
              <a:t>▪ 洗手换手套；有破皮按暴露处置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工作中隔离衣被大片溅湿、口罩被打湿、手套破损，都属于防护失效。先停下，把锐器安全放好，盖好样品容器，再到脱卸区按顺序脱下污染的防护用品（见第 075 课），换上新的。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手套破了继续操作</a:t>
            </a:r>
          </a:p>
          <a:p>
            <a:pPr>
              <a:spcAft>
                <a:spcPts val="1000"/>
              </a:spcAft>
            </a:pPr>
            <a:r>
              <a:rPr sz="1500">
                <a:solidFill>
                  <a:srgbClr val="222B33"/>
                </a:solidFill>
                <a:latin typeface="Microsoft YaHei"/>
              </a:rPr>
              <a:t>▪ 换手套时不检查皮肤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针刺伤：轻挤、冲洗、消毒、包扎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沾过血样的针扎到，就有感染风险</a:t>
            </a:r>
          </a:p>
          <a:p>
            <a:pPr>
              <a:spcAft>
                <a:spcPts val="1000"/>
              </a:spcAft>
            </a:pPr>
            <a:r>
              <a:rPr sz="1700">
                <a:solidFill>
                  <a:srgbClr val="222B33"/>
                </a:solidFill>
                <a:latin typeface="Microsoft YaHei"/>
              </a:rPr>
              <a:t>▪ 立即处理，是最关键的一步</a:t>
            </a:r>
          </a:p>
          <a:p>
            <a:pPr>
              <a:spcAft>
                <a:spcPts val="1000"/>
              </a:spcAft>
            </a:pPr>
            <a:r>
              <a:rPr sz="1700">
                <a:solidFill>
                  <a:srgbClr val="222B33"/>
                </a:solidFill>
                <a:latin typeface="Microsoft YaHei"/>
              </a:rPr>
              <a:t>▪ 从近心端向伤口方向轻挤，不用嘴吸</a:t>
            </a:r>
          </a:p>
          <a:p>
            <a:pPr>
              <a:spcAft>
                <a:spcPts val="1000"/>
              </a:spcAft>
            </a:pPr>
            <a:r>
              <a:rPr sz="1700">
                <a:solidFill>
                  <a:srgbClr val="222B33"/>
                </a:solidFill>
                <a:latin typeface="Microsoft YaHei"/>
              </a:rPr>
              <a:t>▪ 肥皂加流动水彻底冲洗</a:t>
            </a:r>
          </a:p>
          <a:p>
            <a:pPr>
              <a:spcAft>
                <a:spcPts val="1000"/>
              </a:spcAft>
            </a:pPr>
            <a:r>
              <a:rPr sz="1700">
                <a:solidFill>
                  <a:srgbClr val="222B33"/>
                </a:solidFill>
                <a:latin typeface="Microsoft YaHei"/>
              </a:rPr>
              <a:t>▪ 冲洗后消毒、包扎，马上报告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操作针头、玻片、刀片时一滑，就可能被扎伤或割伤；沾过血液、临床样本或培养物的锐器造成的伤口，就有感染风险。立即处理是最关键的一步。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被扎后用嘴吸伤口</a:t>
            </a:r>
          </a:p>
          <a:p>
            <a:pPr>
              <a:spcAft>
                <a:spcPts val="1000"/>
              </a:spcAft>
            </a:pPr>
            <a:r>
              <a:rPr sz="1500">
                <a:solidFill>
                  <a:srgbClr val="222B33"/>
                </a:solidFill>
                <a:latin typeface="Microsoft YaHei"/>
              </a:rPr>
              <a:t>▪ 觉得只是小伤，不冲洗不报告</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皮肤和眼睛沾染：马上冲洗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皮肤沾到样品，立即流水冲洗</a:t>
            </a:r>
          </a:p>
          <a:p>
            <a:pPr>
              <a:spcAft>
                <a:spcPts val="1000"/>
              </a:spcAft>
            </a:pPr>
            <a:r>
              <a:rPr sz="2000">
                <a:solidFill>
                  <a:srgbClr val="222B33"/>
                </a:solidFill>
                <a:latin typeface="Microsoft YaHei"/>
              </a:rPr>
              <a:t>▪ 溅进眼睛，马上到洗眼器反复冲洗</a:t>
            </a:r>
          </a:p>
          <a:p>
            <a:pPr>
              <a:spcAft>
                <a:spcPts val="1000"/>
              </a:spcAft>
            </a:pPr>
            <a:r>
              <a:rPr sz="2000">
                <a:solidFill>
                  <a:srgbClr val="222B33"/>
                </a:solidFill>
                <a:latin typeface="Microsoft YaHei"/>
              </a:rPr>
              <a:t>▪ 口鼻溅到，也用清水反复冲洗</a:t>
            </a:r>
          </a:p>
          <a:p>
            <a:pPr>
              <a:spcAft>
                <a:spcPts val="1000"/>
              </a:spcAft>
            </a:pPr>
            <a:r>
              <a:rPr sz="2000">
                <a:solidFill>
                  <a:srgbClr val="222B33"/>
                </a:solidFill>
                <a:latin typeface="Microsoft YaHei"/>
              </a:rPr>
              <a:t>▪ 冲洗后报告，紧急拨打120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完整皮肤沾到样品或培养物，立即脱去污染的衣物或手套，用肥皂和流动水冲洗。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溅进眼睛后用手揉</a:t>
            </a:r>
          </a:p>
          <a:p>
            <a:pPr>
              <a:spcAft>
                <a:spcPts val="1000"/>
              </a:spcAft>
            </a:pPr>
            <a:r>
              <a:rPr sz="1500">
                <a:solidFill>
                  <a:srgbClr val="222B33"/>
                </a:solidFill>
                <a:latin typeface="Microsoft YaHei"/>
              </a:rPr>
              <a:t>▪ 冲洗几秒就停</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立即逐级报告，不隐瞒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先立即处置，再马上报告</a:t>
            </a:r>
          </a:p>
          <a:p>
            <a:pPr>
              <a:spcAft>
                <a:spcPts val="1000"/>
              </a:spcAft>
            </a:pPr>
            <a:r>
              <a:rPr sz="1700">
                <a:solidFill>
                  <a:srgbClr val="222B33"/>
                </a:solidFill>
                <a:latin typeface="Microsoft YaHei"/>
              </a:rPr>
              <a:t>▪ 逐级报告负责人、学院和学校部门</a:t>
            </a:r>
          </a:p>
          <a:p>
            <a:pPr>
              <a:spcAft>
                <a:spcPts val="1000"/>
              </a:spcAft>
            </a:pPr>
            <a:r>
              <a:rPr sz="1700">
                <a:solidFill>
                  <a:srgbClr val="222B33"/>
                </a:solidFill>
                <a:latin typeface="Microsoft YaHei"/>
              </a:rPr>
              <a:t>▪ 溢洒、暴露都要报，小事也报</a:t>
            </a:r>
          </a:p>
          <a:p>
            <a:pPr>
              <a:spcAft>
                <a:spcPts val="1000"/>
              </a:spcAft>
            </a:pPr>
            <a:r>
              <a:rPr sz="1700">
                <a:solidFill>
                  <a:srgbClr val="222B33"/>
                </a:solidFill>
                <a:latin typeface="Microsoft YaHei"/>
              </a:rPr>
              <a:t>▪ 如实报告，别隐瞒，别自己扛</a:t>
            </a:r>
          </a:p>
          <a:p>
            <a:pPr>
              <a:spcAft>
                <a:spcPts val="1000"/>
              </a:spcAft>
            </a:pPr>
            <a:r>
              <a:rPr sz="1700">
                <a:solidFill>
                  <a:srgbClr val="222B33"/>
                </a:solidFill>
                <a:latin typeface="Microsoft YaHei"/>
              </a:rPr>
              <a:t>▪ 伤情严重，立即拨打120</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发生针刺、溢洒、暴露，先立即进行现场处置，处置后马上报告：实验室负责人（导师）→ 学院 → 学校实验室安全管理部门、保卫处和校医院，按本校应急预案和报告程序执行（报告程序见第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怕挨批评，暴露后不报告</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就医评估，登记随访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尽快就医，说清样本来源</a:t>
            </a:r>
          </a:p>
          <a:p>
            <a:pPr>
              <a:spcAft>
                <a:spcPts val="1000"/>
              </a:spcAft>
            </a:pPr>
            <a:r>
              <a:rPr sz="1700">
                <a:solidFill>
                  <a:srgbClr val="222B33"/>
                </a:solidFill>
                <a:latin typeface="Microsoft YaHei"/>
              </a:rPr>
              <a:t>▪ 需不需要进一步处理，听医生的</a:t>
            </a:r>
          </a:p>
          <a:p>
            <a:pPr>
              <a:spcAft>
                <a:spcPts val="1000"/>
              </a:spcAft>
            </a:pPr>
            <a:r>
              <a:rPr sz="1700">
                <a:solidFill>
                  <a:srgbClr val="222B33"/>
                </a:solidFill>
                <a:latin typeface="Microsoft YaHei"/>
              </a:rPr>
              <a:t>▪ 登记时间、样本、经过和处置</a:t>
            </a:r>
          </a:p>
          <a:p>
            <a:pPr>
              <a:spcAft>
                <a:spcPts val="1000"/>
              </a:spcAft>
            </a:pPr>
            <a:r>
              <a:rPr sz="1700">
                <a:solidFill>
                  <a:srgbClr val="222B33"/>
                </a:solidFill>
                <a:latin typeface="Microsoft YaHei"/>
              </a:rPr>
              <a:t>▪ 按医嘱随访复查，不能一扎了之</a:t>
            </a:r>
          </a:p>
          <a:p>
            <a:pPr>
              <a:spcAft>
                <a:spcPts val="1000"/>
              </a:spcAft>
            </a:pPr>
            <a:r>
              <a:rPr sz="1700">
                <a:solidFill>
                  <a:srgbClr val="222B33"/>
                </a:solidFill>
                <a:latin typeface="Microsoft YaHei"/>
              </a:rPr>
              <a:t>▪ 全组复盘，改进操作和器材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暴露后尽快到学校指定的医疗机构就医，向医生说清样本来源、可能的病原、暴露方式和已做的处置。是否需要进一步检查或预防性处理，由医生评估决定，遵医嘱执行，不要自己判断“没事”而拖延。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自认为没事，不去就医</a:t>
            </a:r>
          </a:p>
          <a:p>
            <a:pPr>
              <a:spcAft>
                <a:spcPts val="1000"/>
              </a:spcAft>
            </a:pPr>
            <a:r>
              <a:rPr sz="1500">
                <a:solidFill>
                  <a:srgbClr val="222B33"/>
                </a:solidFill>
                <a:latin typeface="Microsoft YaHei"/>
              </a:rPr>
              <a:t>▪ 就医一次就不再随访</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台面小量菌液溢洒，下列处置顺序正确的是：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直接用纸巾来回擦</a:t>
            </a:r>
          </a:p>
          <a:p>
            <a:pPr algn="l"/>
            <a:r>
              <a:rPr sz="1500" b="0">
                <a:solidFill>
                  <a:srgbClr val="222B33"/>
                </a:solidFill>
                <a:latin typeface="Microsoft YaHei"/>
              </a:rPr>
              <a:t>B. 吸水纸覆盖，消毒剂由外向内浇，作用足够时间后清理，按感染性废物处置</a:t>
            </a:r>
          </a:p>
          <a:p>
            <a:pPr algn="l"/>
            <a:r>
              <a:rPr sz="1500" b="0">
                <a:solidFill>
                  <a:srgbClr val="222B33"/>
                </a:solidFill>
                <a:latin typeface="Microsoft YaHei"/>
              </a:rPr>
              <a:t>C. 从中间往外倒消毒剂</a:t>
            </a:r>
          </a:p>
          <a:p>
            <a:pPr algn="l"/>
            <a:r>
              <a:rPr sz="1500" b="0">
                <a:solidFill>
                  <a:srgbClr val="222B33"/>
                </a:solidFill>
                <a:latin typeface="Microsoft YaHei"/>
              </a:rPr>
              <a:t>D. 用水冲进下水道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判断：生物安全柜内发生溢洒，应立即关闭风机再处理。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培养瓶在生物安全柜外摔碎，正确的第一反应是：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马上蹲下用手捡碎片</a:t>
            </a:r>
          </a:p>
          <a:p>
            <a:pPr algn="l"/>
            <a:r>
              <a:rPr sz="1500" b="0">
                <a:solidFill>
                  <a:srgbClr val="222B33"/>
                </a:solidFill>
                <a:latin typeface="Microsoft YaHei"/>
              </a:rPr>
              <a:t>B. 提醒旁人撤出房间，关门挂警示，报告负责人，等气溶胶沉降后由专人穿好防护处理</a:t>
            </a:r>
          </a:p>
          <a:p>
            <a:pPr algn="l"/>
            <a:r>
              <a:rPr sz="1500" b="0">
                <a:solidFill>
                  <a:srgbClr val="222B33"/>
                </a:solidFill>
                <a:latin typeface="Microsoft YaHei"/>
              </a:rPr>
              <a:t>C. 开窗通风后继续实验</a:t>
            </a:r>
          </a:p>
          <a:p>
            <a:pPr algn="l"/>
            <a:r>
              <a:rPr sz="1500" b="0">
                <a:solidFill>
                  <a:srgbClr val="222B33"/>
                </a:solidFill>
                <a:latin typeface="Microsoft YaHei"/>
              </a:rPr>
              <a:t>D. 用拖把拖干净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怀疑离心感染性样品时离心管破裂，应该：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停机后立即开盖查看</a:t>
            </a:r>
          </a:p>
          <a:p>
            <a:pPr algn="l"/>
            <a:r>
              <a:rPr sz="1500" b="0">
                <a:solidFill>
                  <a:srgbClr val="222B33"/>
                </a:solidFill>
                <a:latin typeface="Microsoft YaHei"/>
              </a:rPr>
              <a:t>B. 不开盖，挂警示静置让气溶胶沉降，报告后穿好防护，把密封吊篮拿进生物安全柜内打开</a:t>
            </a:r>
          </a:p>
          <a:p>
            <a:pPr algn="l"/>
            <a:r>
              <a:rPr sz="1500" b="0">
                <a:solidFill>
                  <a:srgbClr val="222B33"/>
                </a:solidFill>
                <a:latin typeface="Microsoft YaHei"/>
              </a:rPr>
              <a:t>C. 继续离心</a:t>
            </a:r>
          </a:p>
          <a:p>
            <a:pPr algn="l"/>
            <a:r>
              <a:rPr sz="1500" b="0">
                <a:solidFill>
                  <a:srgbClr val="222B33"/>
                </a:solidFill>
                <a:latin typeface="Microsoft YaHei"/>
              </a:rPr>
              <a:t>D. 用手取出碎管</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判断：被沾过血样的针头扎伤后，应从近心端向伤口方向轻轻挤出血液，用肥皂和流动水冲洗，消毒包扎后立即报告并就医。</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简答：发生生物暴露后，应向谁报告？报告后还要做什么？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出了事马上行动，规定必须照做</a:t>
            </a:r>
          </a:p>
          <a:p>
            <a:pPr>
              <a:spcAft>
                <a:spcPts val="800"/>
              </a:spcAft>
            </a:pPr>
            <a:r>
              <a:rPr sz="1500">
                <a:solidFill>
                  <a:srgbClr val="FFFFFF"/>
                </a:solidFill>
                <a:latin typeface="Microsoft YaHei"/>
              </a:rPr>
              <a:t>▪ K2  事先定好规程，备好溢洒处理包</a:t>
            </a:r>
          </a:p>
          <a:p>
            <a:pPr>
              <a:spcAft>
                <a:spcPts val="800"/>
              </a:spcAft>
            </a:pPr>
            <a:r>
              <a:rPr sz="1500">
                <a:solidFill>
                  <a:srgbClr val="FFFFFF"/>
                </a:solidFill>
                <a:latin typeface="Microsoft YaHei"/>
              </a:rPr>
              <a:t>▪ K3  第一步控制：警示清场，不让扩散</a:t>
            </a:r>
          </a:p>
          <a:p>
            <a:pPr>
              <a:spcAft>
                <a:spcPts val="800"/>
              </a:spcAft>
            </a:pPr>
            <a:r>
              <a:rPr sz="1500">
                <a:solidFill>
                  <a:srgbClr val="FFFFFF"/>
                </a:solidFill>
                <a:latin typeface="Microsoft YaHei"/>
              </a:rPr>
              <a:t>▪ K4  柜内溢洒：风机不关，及时清理</a:t>
            </a:r>
          </a:p>
          <a:p>
            <a:pPr>
              <a:spcAft>
                <a:spcPts val="800"/>
              </a:spcAft>
            </a:pPr>
            <a:r>
              <a:rPr sz="1500">
                <a:solidFill>
                  <a:srgbClr val="FFFFFF"/>
                </a:solidFill>
                <a:latin typeface="Microsoft YaHei"/>
              </a:rPr>
              <a:t>▪ K5  盖住，消毒剂由外向内</a:t>
            </a:r>
          </a:p>
          <a:p>
            <a:pPr>
              <a:spcAft>
                <a:spcPts val="800"/>
              </a:spcAft>
            </a:pPr>
            <a:r>
              <a:rPr sz="1500">
                <a:solidFill>
                  <a:srgbClr val="FFFFFF"/>
                </a:solidFill>
                <a:latin typeface="Microsoft YaHei"/>
              </a:rPr>
              <a:t>▪ K6  擦掉，再浇一遍留置，时间到再丢</a:t>
            </a:r>
          </a:p>
          <a:p>
            <a:pPr>
              <a:spcAft>
                <a:spcPts val="800"/>
              </a:spcAft>
            </a:pPr>
            <a:r>
              <a:rPr sz="1500">
                <a:solidFill>
                  <a:srgbClr val="FFFFFF"/>
                </a:solidFill>
                <a:latin typeface="Microsoft YaHei"/>
              </a:rPr>
              <a:t>▪ K7  碎片用夹子，物品器材都去污</a:t>
            </a:r>
          </a:p>
          <a:p>
            <a:pPr>
              <a:spcAft>
                <a:spcPts val="800"/>
              </a:spcAft>
            </a:pPr>
            <a:r>
              <a:rPr sz="1500">
                <a:solidFill>
                  <a:srgbClr val="FFFFFF"/>
                </a:solidFill>
                <a:latin typeface="Microsoft YaHei"/>
              </a:rPr>
              <a:t>▪ K8  柜外溢洒：先撤离，关门等沉降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转运途中洒漏：先围住，再报告</a:t>
            </a:r>
          </a:p>
          <a:p>
            <a:pPr>
              <a:spcAft>
                <a:spcPts val="800"/>
              </a:spcAft>
            </a:pPr>
            <a:r>
              <a:rPr sz="1500">
                <a:solidFill>
                  <a:srgbClr val="FFFFFF"/>
                </a:solidFill>
                <a:latin typeface="Microsoft YaHei"/>
              </a:rPr>
              <a:t>▪ K10  离心管破裂：不开盖，柜内开吊篮</a:t>
            </a:r>
          </a:p>
          <a:p>
            <a:pPr>
              <a:spcAft>
                <a:spcPts val="800"/>
              </a:spcAft>
            </a:pPr>
            <a:r>
              <a:rPr sz="1500">
                <a:solidFill>
                  <a:srgbClr val="FFFFFF"/>
                </a:solidFill>
                <a:latin typeface="Microsoft YaHei"/>
              </a:rPr>
              <a:t>▪ K11  防护失效：停下、更换、查皮肤</a:t>
            </a:r>
          </a:p>
          <a:p>
            <a:pPr>
              <a:spcAft>
                <a:spcPts val="800"/>
              </a:spcAft>
            </a:pPr>
            <a:r>
              <a:rPr sz="1500">
                <a:solidFill>
                  <a:srgbClr val="FFFFFF"/>
                </a:solidFill>
                <a:latin typeface="Microsoft YaHei"/>
              </a:rPr>
              <a:t>▪ K12  针刺伤：轻挤、冲洗、消毒、包扎</a:t>
            </a:r>
          </a:p>
          <a:p>
            <a:pPr>
              <a:spcAft>
                <a:spcPts val="800"/>
              </a:spcAft>
            </a:pPr>
            <a:r>
              <a:rPr sz="1500">
                <a:solidFill>
                  <a:srgbClr val="FFFFFF"/>
                </a:solidFill>
                <a:latin typeface="Microsoft YaHei"/>
              </a:rPr>
              <a:t>▪ K13  皮肤和眼睛沾染：马上冲洗</a:t>
            </a:r>
          </a:p>
          <a:p>
            <a:pPr>
              <a:spcAft>
                <a:spcPts val="800"/>
              </a:spcAft>
            </a:pPr>
            <a:r>
              <a:rPr sz="1500">
                <a:solidFill>
                  <a:srgbClr val="FFFFFF"/>
                </a:solidFill>
                <a:latin typeface="Microsoft YaHei"/>
              </a:rPr>
              <a:t>▪ K14  立即逐级报告，不隐瞒</a:t>
            </a:r>
          </a:p>
          <a:p>
            <a:pPr>
              <a:spcAft>
                <a:spcPts val="800"/>
              </a:spcAft>
            </a:pPr>
            <a:r>
              <a:rPr sz="1500">
                <a:solidFill>
                  <a:srgbClr val="FFFFFF"/>
                </a:solidFill>
                <a:latin typeface="Microsoft YaHei"/>
              </a:rPr>
              <a:t>▪ K15  就医评估，登记随访</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