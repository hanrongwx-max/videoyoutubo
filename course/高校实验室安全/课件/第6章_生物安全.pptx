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生命科学实验离不开细胞、微生物和各种生物样本。与其他实验室相比，生物实验室除了化学品、仪器设备、用电等常见危险，还多了一类生物危害：细菌、病毒等病原体肉眼看不见，却可能让健康人感染生病。</a:t>
            </a:r>
          </a:p>
          <a:p>
            <a:r>
              <a:t>风险往往就在手边：血液等样本可能带有病原；针头、刀片等锐器可能刺伤皮肤；移液、混匀、离心等操作可能产生肉眼看不见的气溶胶。微生物实验室的危害来自三方面——活的微生物、消毒剂和化学试剂、各种仪器设备，所以各方面的安全措施都不能少。</a:t>
            </a:r>
          </a:p>
          <a:p>
            <a:r>
              <a:t>实验室门口的生物危害标志就是提醒：门后有生物危害，进门要遵守本实验室的规定。学习本章时做好笔记，没弄懂的地方回头再看，或请教老师。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与化学品不同：它能在人群中传播。一旦从实验室失控逸出，受害的可能不只是操作者本人，还可能引起疾病流行，威胁整个社会的公共卫生。随着新发传染病不断出现，生物因子对公众健康的威胁也在增加。</a:t>
            </a:r>
          </a:p>
          <a:p>
            <a:r>
              <a:t>学习生物安全常会遇到几个词：指示病例（一起疫情中最先被发现、引起关注的病例）；医院内感染（在医疗机构内获得的感染）；经皮肤刺伤（经锐器刺破皮肤造成的暴露）；流行病学（研究疾病在人群中分布和传播规律的学科）。</a:t>
            </a:r>
          </a:p>
          <a:p>
            <a:r>
              <a:t>研发诊断方法、疫苗和治疗药物，都离不开对病原的研究；只有先把风险管好，研究才能持续开展。生物安全不是某一家实验室的事，而是每个国家、每个单位、每个实验室共同的责任。</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生物安全，讲的是怎样安全地操作有感染性的微生物和其他有危害的生物材料，并把它们控制、封闭（也称“防护”或“封闭”）在规定的范围内。所谓防护，就是给生物因子划定边界，让它留在设备和设施里，不逸出伤人。</a:t>
            </a:r>
          </a:p>
          <a:p>
            <a:r>
              <a:t>GB 19489-2008 对实验室生物安全的表述是：实验室的生物安全条件和状态不低于容许水平，可避免实验室人员、来访人员、社区及环境受到不可接受的损害，符合相关法规、标准等对实验室生物安全责任的要求（以现行文本为准）。《中华人民共和国生物安全法》则把生物安全放在国家安全的高度，病原微生物实验室生物安全是其中的重要内容。</a:t>
            </a:r>
          </a:p>
          <a:p>
            <a:r>
              <a:t>实验室安全包括很多方面，而在微生物实验室，最核心的就是生物安全：既护住自己，也不让微生物跑出去。</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生物安全依靠规范的做法、程序和设备，保护三方面：一是实验室工作人员；二是实验室和周边环境；三是社区公众。</a:t>
            </a:r>
          </a:p>
          <a:p>
            <a:r>
              <a:t>具体目标有两个：一是防止实验室获得性感染，即工作人员在实验中被感染；二是防止病原意外释放，即感染性材料因泄漏、设施故障或带出实验室而扩散到外界。防意外暴露、防病原外泄，挡住的是感染因子、毒素等各种生物危害。</a:t>
            </a:r>
          </a:p>
          <a:p>
            <a:r>
              <a:t>保护自己，保护实验室，也就保护了身边的每个人。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和公众；生物安保，重点防的是生物材料被丢失、被盗、被滥用或被故意释放。</a:t>
            </a:r>
          </a:p>
          <a:p>
            <a:r>
              <a:t>三者互相咬合：认清危害是前提，生物安全措施防止意外，生物安保措施防止人为故意。实验室既要做好生物安全，也要管好菌（毒）种和样本的保管、登记和交接。生物安保的具体要求见第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生物安全工作有两大原则：一是风险评估，二是防护。</a:t>
            </a:r>
          </a:p>
          <a:p>
            <a:r>
              <a:t>风险评估在前：开展实验前，弄清要操作的病原或材料有什么危害、怎么操作、谁来操作、在哪里操作，判断风险有多大。防护在后：按评估结果，选择相应级别的实验室、安全设备、个人防护装备和操作规程。没有评估，防护就可能不足或过度。生物风险评估的具体步骤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不是一样东西，而是一整套：规范的操作方法和程序（如规程、培训、良好的微生物操作习惯）；专门的安全设备（如生物安全柜、密封离心杯、个人防护装备）；专门设计的实验室设施（如分区、门禁、通风、洗手和消毒灭菌设施）。</a:t>
            </a:r>
          </a:p>
          <a:p>
            <a:r>
              <a:t>三要素要配套使用，合起来才是一套防护体系，缺一环就可能出事。例如有生物安全柜但不按规程操作，或操作规范但实验室级别不够，防护都有漏洞。</a:t>
            </a:r>
          </a:p>
          <a:p>
            <a:r>
              <a:t>防护的目的是减少暴露：人不暴露，环境也不暴露。能消除危害的先消除（如不必要的操作不做），不能消除的尽量减少（如用安全设备、做好个人防护）。生物安全柜的原理和使用见第 071、072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5P 是评估生物风险时常用的五个要素：</a:t>
            </a:r>
          </a:p>
          <a:p>
            <a:r>
              <a:t>1. 病原：先弄清操作的是什么，查《人间传染的病原微生物目录》确定危害程度和所需防护水平。注意：我国把病原微生物按危害程度分为四类，第一类危害最大、第四类最小；国际上通行的“风险组”则是 1 组最低、4 组最高，两者顺序相反，不能混用（详见第 058 课）。</a:t>
            </a:r>
          </a:p>
          <a:p>
            <a:r>
              <a:t>2. 人员：谁来做，能力和健康状况是否合适；先培训、考核合格，才能上岗。</a:t>
            </a:r>
          </a:p>
          <a:p>
            <a:r>
              <a:t>3. 场所：实验室的防护级别要与病原危害和实验活动相匹配（实验室分级见第 059 课）。</a:t>
            </a:r>
          </a:p>
          <a:p>
            <a:r>
              <a:t>4. 个人防护：按评估结果选择防护装备（见第 074 课）。</a:t>
            </a:r>
          </a:p>
          <a:p>
            <a:r>
              <a:t>5. 规程：操作步骤写清楚，照着做。</a:t>
            </a:r>
          </a:p>
          <a:p>
            <a:r>
              <a:t>五个 P 相互影响，要一起看，才能定准风险，再决定采取哪些控制措施；哪个 P 薄弱就先补哪个，短板补上，风险才真正降下来。在此之上还有安全文化：人人尽责，安全才稳。如何确定具体实验的防护等级见第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开展生物实验，首先要遵守国家法规。我国生物安全的主要依据包括：</a:t>
            </a:r>
          </a:p>
          <a:p>
            <a:r>
              <a:t>- 《中华人民共和国生物安全法》：生物安全领域的基础性法律，对病原微生物实验室生物安全管理、法律责任等作出规定。</a:t>
            </a:r>
          </a:p>
          <a:p>
            <a:r>
              <a:t>- 《病原微生物实验室生物安全管理条例》：把病原微生物按危害程度分为四类，把实验室按生物安全防护水平分为一级至四级，规定各级实验室可以从事的实验活动、备案和审批要求。</a:t>
            </a:r>
          </a:p>
          <a:p>
            <a:r>
              <a:t>- GB 19489-2008《实验室 生物安全通用要求》（国家标准）和 WS 233《病原微生物实验室生物安全通用准则》（行业标准）：规定风险评估、设施设备、管理体系等技术和管理要求（均以现行文本为准）。</a:t>
            </a:r>
          </a:p>
          <a:p>
            <a:r>
              <a:t>- 《人间传染的病原微生物目录》（以现行版本为准）：查病原的危害程度分类和各类实验活动所需的防护水平。</a:t>
            </a:r>
          </a:p>
          <a:p>
            <a:r>
              <a:t>- 本校生物安全管理制度。</a:t>
            </a:r>
          </a:p>
          <a:p>
            <a:r>
              <a:t>实验人员的职业安全同样有法可依：单位要为实验人员提供防护装备、培训和健康监护。开展生物实验前先做风险评估，在相应防护级别的实验室里进行。法规体系的总体框架见第 002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国际上有通行的实验室生物安全手册，从生物安全的一般原则讲起，涵盖风险评估、防护、设备、培训等内容，是学习和参照的好起点。</a:t>
            </a:r>
          </a:p>
          <a:p>
            <a:r>
              <a:t>但任何国际手册都只能在本国法律框架内使用：国家和地方法规优先，国际手册作为补充和背景；其中引用的国外法规、数值和做法不能直接照搬。在我国，一切做法以国内法律法规、国家标准、行业标准和本校规定为准。</a:t>
            </a:r>
          </a:p>
          <a:p>
            <a:r>
              <a:t>落脚点是本土化：每个实验室都要依据国家标准和本单位制度，编写适合本实验室的安全手册和操作规程，并让每个人知晓。</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合规，就是遵守法律、法规、标准和规则。遵守国家和地方的法律法规、标准，是外部合规；遵守本单位的方针、制度和规程，是内部合规。</a:t>
            </a:r>
          </a:p>
          <a:p>
            <a:r>
              <a:t>实验室要把适用的要求找全：国家法律法规、国家标准和行业标准、地方规定、学校和学院的制度，逐项对照、逐项落实，一项不落。可以问问自己：我们遵从哪些法律、指南、伦理要求、规范和标准？翻一翻本实验室的制度和记录，就知道合规做到了哪一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现行规定和本校规定为准。</a:t>
            </a:r>
          </a:p>
          <a:p>
            <a:r>
              <a:t>学生不得擅自开展高致病性病原微生物或未经评估审批的实验活动，不得在防护级别不够的实验室里做高级别的实验（越级操作），不得私自带出、转移、赠送菌（毒）种和样本。</a:t>
            </a:r>
          </a:p>
          <a:p>
            <a:r>
              <a:t>违反生物安全法律法规，要承担相应的法律责任。守规矩，既是保护自己，也是保护大家。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生物安全的知识和法规在不断更新，要持续学习新知识、新规定，按要求参加复训。</a:t>
            </a:r>
          </a:p>
          <a:p>
            <a:r>
              <a:t>工作中对异常保持警觉：设备报警、气流异常、样本容器破损、身体不适等，都要立即停止操作，报告实验室负责人，按本校规定处理。</a:t>
            </a:r>
          </a:p>
          <a:p>
            <a:r>
              <a:t>把风险挡在实验室里、防患于未然，靠的是每个人。生物安全的组织和责任见第 070 课，安全文化见第 010 课。</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答案：B。解析：我国按危害程度把病原微生物分为四类，第一类危害最大、第四类最小；国际风险组 1 组最低、4 组最高，顺序相反。</a:t>
            </a:r>
          </a:p>
          <a:p>
            <a:r>
              <a:t>第 2 题 答案：B。解析：生物安全保护人员、环境和公众，目标是防止实验室获得性感染和防止病原意外释放。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答案：C。解析：生物安全重点防无意的暴露和释放，生物安保重点防丢失、被盗、被滥用和故意释放，二者相辅相成。</a:t>
            </a:r>
          </a:p>
          <a:p>
            <a:r>
              <a:t>第 4 题 答案：D。解析：5P 指病原、人员、场所、个人防护、规程，五个要素一起看才能定准风险。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答案：B。解析：国际手册只作参考，必须在国内法律框架内使用，以国内法规、国家标准、行业标准和本校规定为准。</a:t>
            </a:r>
          </a:p>
          <a:p>
            <a:r>
              <a:t>第 6 题 答案：属于越级操作和私带样本，违反生物安全法规和本校规定，要承担法律责任；应先做风险评估，在相应防护级别的实验室开展并按规定审批，样本不得带出实验室。解析：守规矩既保护自己，也保护公众。</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生物因子是指可能对人体健康造成危害的微生物和其他生物材料，包括细菌、病毒、真菌及其他微生物，寄生虫，朊病毒这样的致病蛋白颗粒，以及它们产生的毒素等。</a:t>
            </a:r>
          </a:p>
          <a:p>
            <a:r>
              <a:t>关键在于它们会损害人的健康：轻则引起过敏，重则引起疾病甚至死亡。凡能对人造成危害的生物因子，都要纳入管理，做风险评估、按规定防护。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不同生物因子的特点不同，决定了防护的重点：</a:t>
            </a:r>
          </a:p>
          <a:p>
            <a:r>
              <a:t>- 细菌：不少来自土壤和水。有的能形成芽孢，对干燥、高温、消毒剂耐受力很强，在环境中能长期存活，操作时要特别注意防气溶胶，灭菌要彻底。支原体是一类没有细胞壁的细菌，作用于细胞壁的抗生素对它无效，常侵犯呼吸道。</a:t>
            </a:r>
          </a:p>
          <a:p>
            <a:r>
              <a:t>- 病毒：只能在活细胞内复制。有的能引起出血热等严重甚至致命的疾病，很多还没有特效药。</a:t>
            </a:r>
          </a:p>
          <a:p>
            <a:r>
              <a:t>- 真菌：酵母类中有带荚膜的致病种类，对免疫力低下的人尤其危险；霉菌等丝状真菌靠孢子随空气扩散，有的来自鸟粪和土壤，有的能产生毒素。免疫力低下时，常见的真菌也可能致病。</a:t>
            </a:r>
          </a:p>
          <a:p>
            <a:r>
              <a:t>这些特点在风险评估和选择消毒灭菌方法时都要考虑（评估要素见第 068 课，消毒灭菌见第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除细菌、病毒、真菌外，还有几类特殊的生物因子：</a:t>
            </a:r>
          </a:p>
          <a:p>
            <a:r>
              <a:t>- 朊病毒：一类具有感染性的蛋白颗粒，比较少见，可引起人和动物的慢性神经退行性疾病，对常规消毒灭菌方法抵抗力强，处理要求特殊，按本校规定和专门规程执行。</a:t>
            </a:r>
          </a:p>
          <a:p>
            <a:r>
              <a:t>- 感染性核酸：有些病毒的核酸本身就有感染性，操作核酸同样不能大意。</a:t>
            </a:r>
          </a:p>
          <a:p>
            <a:r>
              <a:t>- 寄生虫和媒介：血液寄生虫、作为中间宿主的螺，以及能传播疾病的蜱、蚤等节肢动物，都要纳入管理（实验动物与媒介生物见第 084 课）。</a:t>
            </a:r>
          </a:p>
          <a:p>
            <a:r>
              <a:t>- 生物毒素：不是活体，不会繁殖，但毒性可以很强，同样要按危险材料管理（见第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按风险高低分组，主要看两方面：一是对个体的风险——引起的疾病有多严重，有没有有效的治疗和预防手段；二是对群体（社区）的风险——会不会在人与人、动物与人之间传播，传开后对公众、家畜和环境的影响有多大。</a:t>
            </a:r>
          </a:p>
          <a:p>
            <a:r>
              <a:t>国际上通行的风险组和我国的危害程度分类，都是从这两方面判断的，但编号方向相反（见 K7）。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国际上通行把生物因子分为四个风险组，数字越大风险越高：1 组最低、4 组最高（注意：与我国病原分类的编号方向相反，见 K7）。</a:t>
            </a:r>
          </a:p>
          <a:p>
            <a:r>
              <a:t>- 第 1 组：个体风险低、群体风险低。一般不会让健康成人或动物生病，例如常用的大肠杆菌实验室菌株、用于发酵的微生物。风险低，也要按规范操作。</a:t>
            </a:r>
          </a:p>
          <a:p>
            <a:r>
              <a:t>- 第 2 组：个体风险中等、群体风险低。能让人或动物生病，但对实验人员、社区、家畜和环境危害不大；实验室暴露也可能引起严重感染，但有有效的治疗和预防手段，感染扩散的风险有限。</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第 3 组：个体风险高、群体风险低（或低到中等）。通常引起人或动物的严重疾病，甚至可能致死，但一般不会在人与人之间传开，而且一般有有效的治疗和预防手段。</a:t>
            </a:r>
          </a:p>
          <a:p>
            <a:r>
              <a:t>- 第 4 组：个体风险和群体风险都高。可引起人或动物的严重乃至致命的疾病，容易直接或间接在人与人、动物与人之间传播，通常没有有效的治疗和预防手段，只能在最高防护级别的设施里操作。</a:t>
            </a:r>
          </a:p>
          <a:p>
            <a:r>
              <a:t>学生实验不涉及这些高风险病原；相关实验活动在国内属于高致病性病原微生物管理范围（见 K9）。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按《病原微生物实验室生物安全管理条例》（以现行文本为准），我国根据传染性、感染后对个体或群体的危害程度，把病原微生物分为四类：</a:t>
            </a:r>
          </a:p>
          <a:p>
            <a:r>
              <a:t>- 第一类：能够引起人类或者动物非常严重疾病的微生物，以及我国尚未发现或者已经宣布消灭的微生物；</a:t>
            </a:r>
          </a:p>
          <a:p>
            <a:r>
              <a:t>- 第二类：能够引起人类或者动物严重疾病，比较容易直接或者间接在人与人、动物与人、动物与动物间传播的微生物；</a:t>
            </a:r>
          </a:p>
          <a:p>
            <a:r>
              <a:t>- 第三类：能够引起人类或者动物疾病，但一般情况下对人、动物或者环境不构成严重危害，传播风险有限，实验室感染后很少引起严重疾病，并且具备有效治疗和预防措施的微生物；</a:t>
            </a:r>
          </a:p>
          <a:p>
            <a:r>
              <a:t>- 第四类：在通常情况下不会引起人类或者动物疾病的微生物。</a:t>
            </a:r>
          </a:p>
          <a:p>
            <a:r>
              <a:t>一定要记住：国内数字越小越危险，国际数字越大越危险。国际第 4 组大致对应国内第一类、国际第 1 组大致对应国内第四类，但这只是大致对应，不能机械换算；某种病原属于第几类，以国内目录为准（见 K10）。填表、写报告和标签时，注明用的是哪一套编号，不要混写。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与病原分类不同，生物安全实验室的防护级别国内外方向一致：一级（BSL-1）最低，四级（BSL-4）最高（分级见第 059 课）。</a:t>
            </a:r>
          </a:p>
          <a:p>
            <a:r>
              <a:t>所以不能把病原的“第几类”和实验室的“第几级”简单对号入座：国内第一类病原危害最大，需要的是高级别实验室，绝不是一级实验室。具体某项实验在哪一级实验室做，先查目录中该实验活动所需的级别，再结合风险评估确定（定级步骤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类、第二类病原微生物统称为高致病性病原微生物。按《病原微生物实验室生物安全管理条例》（以现行文本为准），从事高致病性病原微生物相关实验活动，须在相应防护级别的实验室进行，并按规定报经批准。</a:t>
            </a:r>
          </a:p>
          <a:p>
            <a:r>
              <a:t>学生不得擅自开展涉及高致病性病原微生物的实验，也不得接触、索要、私自保存这类菌（毒）种和样本。任何涉及病原微生物的实验，都要先经导师和单位按本校规定审查。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感染实验、未经培养的感染材料操作、灭活材料和无感染性材料操作）所需的实验室防护级别，以及运输包装要求。</a:t>
            </a:r>
          </a:p>
          <a:p>
            <a:r>
              <a:t>同一病原，实验活动不同，所需级别也可能不同。国外资料和网上名单的归类可能与国内不一样，只能作参考；目录会修订，查分类和防护要求时要用现行最新版本，不要使用网上流传的旧表格。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现行规定和本校规定为准）。未知病原和来源不明的样本从严对待，定级步骤见第 060 课，生物安全委员会见第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动物病原微生物在国内另有《动物病原微生物分类名录》（以现行版本为准）。实验涉及动物或人兽共患病原时，人间传染的病原目录和动物病原名录都要查清楚。</a:t>
            </a:r>
          </a:p>
          <a:p>
            <a:r>
              <a:t>农业转基因生物另有安全等级体系，按《农业转基因生物安全管理条例》等规定（以现行文本为准）分为Ⅰ至Ⅳ级，Ⅰ级最低、Ⅳ级最高，方向又与病原分类不同（见第 081 课）。填写申请表、评估表时写清楚用的是哪一套分级，不要混用。</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风险分组是一般性的判断。同一种病原在不同地区风险可能不同，评估和确定措施时还要考虑地区因素：</a:t>
            </a:r>
          </a:p>
          <a:p>
            <a:r>
              <a:t>1. 致病性，包括本地出现的变异株；</a:t>
            </a:r>
          </a:p>
          <a:p>
            <a:r>
              <a:t>2. 传播方式和宿主范围，以及本地人群的免疫水平、人口密度和流动性、有没有适宜的传播媒介、气候等环境条件；</a:t>
            </a:r>
          </a:p>
          <a:p>
            <a:r>
              <a:t>3. 本地能否获得有效的预防措施；</a:t>
            </a:r>
          </a:p>
          <a:p>
            <a:r>
              <a:t>4. 本地能否获得有效的治疗。</a:t>
            </a:r>
          </a:p>
          <a:p>
            <a:r>
              <a:t>四个因素都考虑到，评估才完整。在国内，病原类别以目录为准，地区因素用于具体实验的风险评估（评估要素见第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化学品有安全技术说明书，病原也有类似的资料单（病原安全数据表），一种病原一份，列出它的特性、传播途径、危害、消毒灭活方法、防护和处置要求等，是做风险评估的常用参考工具。</a:t>
            </a:r>
          </a:p>
          <a:p>
            <a:r>
              <a:t>常用的病原资料单多为国外公开发布的在线资料，内容不断更新，可以参考；但其中的风险组编号和防护建议不能替代国内目录和规定，国内类别以《人间传染的病原微生物目录》为准。</a:t>
            </a:r>
          </a:p>
          <a:p>
            <a:r>
              <a:t>资料单有手机版，查阅方便；但不要把手机带进高等级实验室——手机可能被污染，成为传播感染的媒介。进入实验室的个人物品按本实验室规定管理。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常见的病原资料单分为九个部分：</a:t>
            </a:r>
          </a:p>
          <a:p>
            <a:r>
              <a:t>1. 感染因子：名称、类型、分类和特性。</a:t>
            </a:r>
          </a:p>
          <a:p>
            <a:r>
              <a:t>2. 危害识别：致病性、传播性、宿主范围、感染剂量（往往难以确定）、潜伏期。</a:t>
            </a:r>
          </a:p>
          <a:p>
            <a:r>
              <a:t>3. 传播：传播途径，有没有储存宿主和媒介，是否人兽共患。</a:t>
            </a:r>
          </a:p>
          <a:p>
            <a:r>
              <a:t>4. 稳定性与存活：是否耐药，对哪些消毒剂敏感（消毒剂要选对，并保证足够的接触时间），能否用高温灭活，离开宿主能存活多久。</a:t>
            </a:r>
          </a:p>
          <a:p>
            <a:r>
              <a:t>5. 急救与医疗：医学监测、急救，有没有疫苗和预防用药；属于法定报告传染病的要按规定上报。</a:t>
            </a:r>
          </a:p>
          <a:p>
            <a:r>
              <a:t>6. 实验室危害：已报告的实验室感染、可能带有病原的标本来源、特殊危害；患者样本中还可能含有其他病原。</a:t>
            </a:r>
          </a:p>
          <a:p>
            <a:r>
              <a:t>7. 暴露控制与个人防护：风险越高，所需实验室级别和个人防护越高（国内级别以目录和评估为准）。</a:t>
            </a:r>
          </a:p>
          <a:p>
            <a:r>
              <a:t>8. 处置与储存：溢洒清理规程、销毁处置要求，储存要登记、上锁。</a:t>
            </a:r>
          </a:p>
          <a:p>
            <a:r>
              <a:t>9. 法规与其他信息：相关法规、更新日期、编写者、参考文献。资料单是受控文档，可以按病原名称查到。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答案：B。解析：我国病原微生物分四类，第一类危害最大、第四类最小，与国际风险组（1 组最低、4 组最高）方向相反。</a:t>
            </a:r>
          </a:p>
          <a:p>
            <a:r>
              <a:t>第 2 题 答案：B。解析：实验室级别国内外同向，四级最高；第一类病原危害最大，需要高级别实验室，并须经批准。</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答案：B。解析：其相关实验活动须在相应级别实验室进行并经批准，学生不得擅自开展。</a:t>
            </a:r>
          </a:p>
          <a:p>
            <a:r>
              <a:t>第 4 题 答案：C。解析：国外资料只作参考，以国内现行目录为准，并结合具体实验活动的风险评估。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答案：B。解析：目录未列的微生物先做风险评估，报单位生物安全委员会确定级别和防护，批准后再开展。</a:t>
            </a:r>
          </a:p>
          <a:p>
            <a:r>
              <a:t>第 6 题 答案：要考虑地区因素：致病性（含本地变异株），传播方式、宿主范围、本地人群免疫、人口密度和流动性、媒介和气候，本地能否获得有效的预防和治疗。解析：四个因素都考虑到，评估才完整。</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生物安全防护级别（生物安全水平，BSL）是一整套标准化的防护措施，包括安全规程和做法、安全设备和实验室设施，用来控制操作微生物带来的风险，保护操作人员、公众和环境。</a:t>
            </a:r>
          </a:p>
          <a:p>
            <a:r>
              <a:t>我国把生物安全实验室按防护水平分为一级、二级、三级、四级（BSL-1～BSL-4），从一级到四级逐级加严：等级越高，对应的生物因子风险越高，防护措施也越严。设计实验室、编写实验室安全手册，都按级别来确定要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实验在哪一级实验室做，取决于所操作生物因子的危害和具体实验活动（如何为具体实验定级见第 060 课）。每一级对三方面都有要求：什么样的房间和设施；用什么安全设备；按什么程序操作。</a:t>
            </a:r>
          </a:p>
          <a:p>
            <a:r>
              <a:t>级别越高，设施要求越多：三级、四级实验室要与其他区域独立隔离，房间能密封，可以进行气体熏蒸消毒，并有定向气流、负压和排风高效过滤等工程措施（封闭原理见第 062 课）。各级具体的操作要求见第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实验室防护级别与病原分类是两套不同的编号：实验室级别国内外一致，一级最低、四级最高，动物生物安全实验室（ABSL）也一样；而病原微生物分类，国内第一类危害最大、第四类最小，国际风险组则是 1 组最低、4 组最高，方向相反（见第 058 课）。</a:t>
            </a:r>
          </a:p>
          <a:p>
            <a:r>
              <a:t>记口诀：病原分类反着走，实验室级别顺着走。国内第一类、第二类（高致病性）病原，需要的是高级别实验室。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生物安全实验室（BSL-1）风险最低，操作的是已知通常不会使健康成人致病的微生物，例如无害的实验室菌株、做面包的酵母、土壤和水中的常见非致病菌。许多基础教学实验、微生物学入门课就在这一级开展。</a:t>
            </a:r>
          </a:p>
          <a:p>
            <a:r>
              <a:t>一级实验室通常是开放台面，一般不需要专门的封闭设施；但仍要遵守基本操作规范，穿实验服、戴手套，做好洗手和台面消毒，限制无关人员进入。一级实验室大致对应国际第 1 组，具体以国内目录和风险评估为准。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病原微生物目录》。二级实验室多用于临床检验、高校科研和医院实验室。</a:t>
            </a:r>
          </a:p>
          <a:p>
            <a:r>
              <a:t>与一级相比，二级要受控进入：门能自动关闭，门口挂生物危害标志和防护级别、负责人等信息，有合适的通风，配备洗手池和高压灭菌器等设施；可能产生气溶胶的操作要在生物安全柜内进行。人员要先经过培训，会操作、会处置感染性材料；按风险评估，必要时加戴面屏和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在相应级别实验室并经批准。</a:t>
            </a:r>
          </a:p>
          <a:p>
            <a:r>
              <a:t>三级实验室与其他区域隔离，有门禁和缓冲间；房间保持负压，形成由清洁区向污染区的定向气流，排风经高效过滤后排出；房间可密封，能做气体熏蒸消毒；所有感染性材料操作都在生物安全柜内进行。人员须经严格培训，严格按程序操作和去污，按要求穿全身防护、戴呼吸防护。三级实验室须通过国家认可。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四级生物安全实验室（BSL-4）是最高等级的防护，对应能危及生命、可经气溶胶传播、通常缺乏有效预防和治疗手段的高危病原；已宣布消灭的病原只在极少数指定机构保存。</a:t>
            </a:r>
          </a:p>
          <a:p>
            <a:r>
              <a:t>四级实验室有两种基本形式：人员穿独立供气的正压防护服工作（即使防护服破损，空气也是向外吹），或者在三级生物安全柜（全封闭手套箱式）内操作。进出要经过多道去污缓冲区，出口设化学淋浴和人员淋浴，物品经双扉高压灭菌器传出，有专用的通风和废水处理系统。进入受到严格控制，所有工作都在有经验人员的监督下进行。</a:t>
            </a:r>
          </a:p>
          <a:p>
            <a:r>
              <a:t>四级实验室造价和运行费用都非常高，维护和监管要求极严，只在国家批准的少数设施中建设；大多数从业人员工作在二级、三级实验室，高校学生平时接触的是一级、二级。</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用动物做感染性实验，按动物生物安全实验室分级，即 ABSL-1～ABSL-4，同样一级最低、四级最高（GB 19489-2008，以现行文本为准）。动物实验除了防操作中的暴露，还要防动物咬伤、抓伤，防动物排出的分泌物、排泄物和垫料中的病原，以及动物逃逸（见第 084 课）。</a:t>
            </a:r>
          </a:p>
          <a:p>
            <a:r>
              <a:t>植物病原和转基因植物的研究设施（如封闭温室）另有专门要求（见第 082 课）。国际资料中有在级别后加“加号”的“加强型”说法，表示在本级基础上借用了更高一级的部分设计或措施；国内以现行标准和主管部门要求为准。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实验室分级的标准不是一个机构说了算。在国内，是法律、法规、标准一层层落实：最上层是《中华人民共和国生物安全法》，下面是《病原微生物实验室生物安全管理条例》；技术要求写在国家标准 GB 19489-2008《实验室 生物安全通用要求》和行业标准 WS 233《病原微生物实验室生物安全通用准则》中（均以现行文本为准），包括防护设施、个人防护、实验室设计以及每一级的具体要求；具体病原的哪类实验放在几级做，查《人间传染的病原微生物目录》。</a:t>
            </a:r>
          </a:p>
          <a:p>
            <a:r>
              <a:t>标准和目录会随着新的认识不断修订。查规定时先确认是不是现行有效版本，旧版本不要再照用；学校发布更新通知，要及时学习。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国际上也有国际组织制定实验室生物安全手册，以及针对高风险病原的专项指南，尤其帮助公共卫生体系还在建设中的国家，在全球疫情应对中发挥作用。</a:t>
            </a:r>
          </a:p>
          <a:p>
            <a:r>
              <a:t>这些手册和指南在我国只作参考和背景资料。实验室分级、设施要求、审批程序，一律以国内法律法规、国家标准、行业标准和本校规定为准。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用一张图记住谁管什么：</a:t>
            </a:r>
          </a:p>
          <a:p>
            <a:r>
              <a:t>- 国际组织：提供手册和指南，作为国际参考；</a:t>
            </a:r>
          </a:p>
          <a:p>
            <a:r>
              <a:t>- 国家：法律、行政法规确定管理框架，国家标准和行业标准规定技术要求；</a:t>
            </a:r>
          </a:p>
          <a:p>
            <a:r>
              <a:t>- 主管部门和认可机构：卫生健康、农业农村等主管部门负责实验室备案和实验活动审批，三级、四级实验室须通过国家认可（具体分工以现行规定为准）；</a:t>
            </a:r>
          </a:p>
          <a:p>
            <a:r>
              <a:t>- 单位：学校生物安全委员会和实验室管理部门负责本地的审查、监督和执行，实验室负责人负责本实验室的日常管理（见第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高校学生的教学和多数科研实验在一级、二级实验室开展。进入三级、四级实验室工作，须经单位专门批准，接受专门培训并考核合格，获得授权；学生不得自行进入或开展相关实验。</a:t>
            </a:r>
          </a:p>
          <a:p>
            <a:r>
              <a:t>任何涉及病原微生物的实验，都要按国家目录和风险评估确定实验室级别，经批准后在相应级别的实验室里做；进入实验室前先通过准入培训，做好个人防护。拿不准实验该在几级做，先问导师和实验室负责人，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答案：B。解析：实验室级别国内外同向，四级最高；病原分类国内第一类最危险，方向相反。</a:t>
            </a:r>
          </a:p>
          <a:p>
            <a:r>
              <a:t>第 2 题 答案：A。解析：二级实验室受控进入、门自动关闭、挂标识，可能产生气溶胶的操作进安全柜。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答案：C。解析：三级实验室用于可经吸入致严重疾病的病原，须通过国家认可。</a:t>
            </a:r>
          </a:p>
          <a:p>
            <a:r>
              <a:t>第 4 题 答案：A。解析：以法律、条例为框架，技术要求见 GB 19489-2008 和 WS 233（以现行文本为准），国际手册只作参考。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答案：先查现行目录、做风险评估，并请教导师和实验室负责人，按确定的级别和批准开展；拿不准时不擅自做。解析：学生实验多在一级、二级，三四级须专门批准、培训和授权。</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为一种新微生物或一项新实验确定防护等级，不是在表格里查一下就行，而是一套结构化的风险评估：评估病原本身、实验操作、对人员的风险和对环境的影响，使实验室的防护水平与病原和具体操作相匹配。</a:t>
            </a:r>
          </a:p>
          <a:p>
            <a:r>
              <a:t>注意两套编号：国内病原分类第一类危害最大、第四类最小，国际风险组 1 组最低、4 组最高，方向相反；实验室防护级别则国内外同向，四级最高（见第 058、059 课）。第一类、第二类属于高致病性病原微生物，相关实验须在相应级别实验室并经批准。</a:t>
            </a:r>
          </a:p>
          <a:p>
            <a:r>
              <a:t>先查国家目录、做风险评估、确定级别，再按级别配备设施、设备和个人防护。通用的风险评估步骤和风险矩阵见第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资料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第三步看传播途径：能不能随空气被吸入？会不会经皮肤黏膜接触、经口食入，或经针头等锐器刺伤进入人体？</a:t>
            </a:r>
          </a:p>
          <a:p>
            <a:r>
              <a:t>能经空气（气溶胶）传播、引起严重疾病的病原，通常需要更高级别的实验室（如三级）。具体某种病原、某项实验需要几级，查目录并结合评估确定，不凭印象。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第四步看防治手段：有没有有效的治疗药物和疫苗？万一发生暴露，能不能及时进行急救、预防性用药和医学观察？</a:t>
            </a:r>
          </a:p>
          <a:p>
            <a:r>
              <a:t>没有有效治疗和预防手段的病原，一旦感染后果最严重，防护级别也要相应提高。暴露后的处置见第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第五步看实验活动本身：会不会产生气溶胶（如离心、匀浆、超声、剧烈混匀），会不会用到锐器？是不是高浓度、大体积操作？涉不涉及动物感染实验？涉不涉及重组 DNA 或基因改造？</a:t>
            </a:r>
          </a:p>
          <a:p>
            <a:r>
              <a:t>同一种病原，实验活动不同，所需级别也不同：例如对未经培养的样本做检测，与大量培养活的病原，风险和要求差别很大；目录对不同实验活动分别规定了所需的实验室级别（以现行版本为准）。培养活病毒等高风险活动须经批准，学生不得擅自开展。</a:t>
            </a:r>
          </a:p>
          <a:p>
            <a:r>
              <a:t>涉及基因改造（如使用病毒载体）的实验，可能需要提高防护级别，并须先经单位生物安全委员会审批（见第 081 课）；涉及可能被滥用的两用研究，还要经过相应的伦理和安全审查（见第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第六步看本实验室的条件：实验室的防护级别和设施设备够不够？人员是否受过相应培训、考核合格？个人防护装备是否齐全？应急处置条件是否具备？防护条件必须与风险等级相匹配。</a:t>
            </a:r>
          </a:p>
          <a:p>
            <a:r>
              <a:t>条件不够，就不要硬上。涉及第一类、第二类等高致病性病原微生物的，必须在具备条件的实验室并经批准才能开展；不具备条件的，按规定移交有资质的机构处理，或者按规定销毁（以现行规定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第七步，查规范、问专家：对照国内法律法规、GB 19489、WS 233 和《人间传染的病原微生物目录》（均以现行文本或版本为准），国外手册只作参考；再向实验室负责人、生物安全员和单位生物安全委员会咨询。</a:t>
            </a:r>
          </a:p>
          <a:p>
            <a:r>
              <a:t>防护级别不是研究者自己说了算：由项目负责人组织评估、提出拟定级别，经生物安全员或单位生物安全委员会评定、审批后确定；高致病性病原微生物的实验活动还须依法审批。学生不得自行定级，不得擅自开展。生物安全委员会的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各步骤的评估结果综合起来，最终级别取最高的那个风险因素：哪怕只有一项风险高，也要按高的来。</a:t>
            </a:r>
          </a:p>
          <a:p>
            <a:r>
              <a:t>举个例子：某菌株本身属于低风险，按本体可在一级实验室操作；但经过基因改造后要重新评估改造带来的变化，实验中又有产生气溶胶的操作，综合各项取最高，给出拟定级别。拟定的级别仍要报单位生物安全委员会审批，批准后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的病原一定要进三级实验室吗？逐案评估的思路是对的，但在国内必须按规定来：先查《人间传染的病原微生物目录》，目录对不同实验活动所需的实验室级别有明确规定。</a:t>
            </a:r>
          </a:p>
          <a:p>
            <a:r>
              <a:t>在国内不能随意降级操作。想在比目录规定低一级的实验室里做，研究者不能自己决定，必须有充分的风险评估，经单位生物安全委员会审核；涉及高致病性病原微生物的，还须依法审批（以现行规定为准）。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病原还没有确认时信息不全，评估要从严，宁可防护高一档，并报单位生物安全委员会审核。</a:t>
            </a:r>
          </a:p>
          <a:p>
            <a:r>
              <a:t>细胞系、临床样本、来源不明的样本，在目录里不一定查得到，同样要做风险评估，确定在几级实验室操作；拿不准的交单位生物安全委员会把关。</a:t>
            </a:r>
          </a:p>
          <a:p>
            <a:r>
              <a:t>噬菌体实验离不开宿主菌，用于杀灭致病菌的噬菌体，宿主往往就是致病菌，防护级别要按宿主菌和样品来评估，致病宿主菌在生物安全柜内规范操作。污泥、污水常被用作接种物，里面什么菌都可能有，包括致病菌；富集培养会把杂菌一起放大，评估后一般在二级实验室操作。</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定级评估不是口头说说，要形成书面的风险评估报告，经审核批准后留档，做到可追溯（GB 19489-2008，以现行文本为准）。</a:t>
            </a:r>
          </a:p>
          <a:p>
            <a:r>
              <a:t>实验内容、病原、规模、方法、人员或设施条件发生变化时，要重新做风险评估。采取控制措施后残余风险仍然偏高的，要上报单位生物安全委员会，由委员会决定是否开展，不擅自开工。风险评估的记录与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答案：B。解析：定级是一套结构化风险评估，级别由生物安全委员会评定审批。</a:t>
            </a:r>
          </a:p>
          <a:p>
            <a:r>
              <a:t>第 2 题 答案：B。解析：改造后要重新评估，结合操作中的气溶胶等风险，综合取最高，并报委员会审批。</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答案：B。解析：在国内不得随意降级操作。</a:t>
            </a:r>
          </a:p>
          <a:p>
            <a:r>
              <a:t>第 4 题 答案：B。解析：同样要做风险评估确定级别，信息不全时从严，拿不准交生物安全委员会把关。</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答案：不硬上；涉及高致病性病原的须在具备条件的实验室并经批准开展，否则按规定移交有资质的机构处理；报告实验室负责人。解析：防护条件必须与风险等级匹配。</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见第 059 课）。举例只看类别：一级多为无害的实验室菌株，二级多为常见可治的致病菌；具体某种病原、某项实验活动放在几级，查《人间传染的病原微生物目录》并做风险评估（见第 060 课）。注意国内病原分类第一类最危险，与国际风险组 1–4 方向相反；实验室级别则国内外同向，一级最低、四级最高。</a:t>
            </a:r>
          </a:p>
          <a:p>
            <a:r>
              <a:t>每一级的防护措施分三栏来看：个人防护（穿什么）、安全设备即工程控制（用什么设备）、实验室设施（房子怎么建），再加上操作规范和人员培训。各级要求是一整套：房子够格、操作不到位，或者设备齐全、人员没培训，都不算达到该级别。检查时设施、设备、操作、人员都要查。</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随级别逐级收紧：一级实验室，经过基本培训的人员可以进入；二级实验室限制进入，无关人员不得入内；三级实验室受控进入，人员须经专门培训、批准和授权；四级实验室严格控制进入，并有高度的安保措施。</a:t>
            </a:r>
          </a:p>
          <a:p>
            <a:r>
              <a:t>进门前先看门上的标识：生物危害标志、防护级别、涉及的病原或风险、实验室负责人和联系电话，看清要求、穿戴好再进。进入生物安全实验室实行“先培训、后准入”：培训考核合格才能进门操作，使用生物安全柜等设备也要先培训、考核并获得授权；学校、学院、实验室层层负责。进三级实验室须先批准、先培训，未获准入不得进入，也不得单独进入工作。</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性检验见第 025 课）；四级在不使用全密闭安全柜时，穿独立供气的正压防护服，手部戴多层手套。</a:t>
            </a:r>
          </a:p>
          <a:p>
            <a:r>
              <a:t>具体穿戴什么、戴什么级别的呼吸防护，由风险评估决定（防护装备的选择见第 074 课，穿脱顺序见第 075 课）。实验室的定向气流、安全柜等工程措施能帮助保护人员，但不是万能的，个人防护照样要穿戴齐全。</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理防护设备内进行，离心时使用密封的离心杯或转子；四级使用全密闭的Ⅲ级生物安全柜，或在防护服型实验室中穿正压防护服配合Ⅱ级生物安全柜工作，并有独立供气（生物安全柜见第 071、072 课）。</a:t>
            </a:r>
          </a:p>
          <a:p>
            <a:r>
              <a:t>气溶胶控制的要求同样逐级提高：一级一般无专门要求；二级在可能产生气溶胶时必须防护；三级至关重要；四级要求时刻处于全封闭状态。</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间保持负压，排风经高效过滤后排出（封闭原理见第 062 课，布局与进出见第 063 课）；四级完全隔离，进风、排风都要经过高效过滤，并有专用的废水处理等系统。</a:t>
            </a:r>
          </a:p>
          <a:p>
            <a:r>
              <a:t>各级设施的具体技术要求，以 GB 19489-2008、GB 50346《生物安全实验室建筑技术规范》和 WS 233（均以现行文本为准）以及本校设施说明为准。学生要做的是认识本实验室的设施、知道它们在哪里，不擅自改动。</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口、人员走动少的最里面，空气从门口流入，经过操作者，再进入柜子，把可能的污染拉向柜内、远离人员。柜子的排风按设计连接，不能自行拆改。</a:t>
            </a:r>
          </a:p>
          <a:p>
            <a:r>
              <a:t>二级实验室同样有两道屏障：第一道是生物安全柜和个人防护，保护操作者；第二道是门、洗手池、灭菌设施和规范管理，防止污染扩散到实验室外（两道防护的原理见第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负责指导大家、理顺工作流程。</a:t>
            </a:r>
          </a:p>
          <a:p>
            <a:r>
              <a:t>良好微生物操作包括无菌操作、灭菌和去污样样到位；消毒要选对消毒剂，并等够规定的作用时间（见第 076 课）。实验室还要有应急预案，覆盖设备破损、人员发病、溢洒和火灾等情形（溢洒与暴露处置见第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移液管，使用移液器等辅助装置；尽量少用锐器，用过的锐器直接放入锐器盒。</a:t>
            </a:r>
          </a:p>
          <a:p>
            <a:r>
              <a:t>操作时动作轻缓，减少溅洒和气溶胶；实验前后和溅洒后对台面消毒。培养物、废液和污染物品灭菌后按规定处置（见第 077 课），实验菌株不得带出实验室、不得排放到外界环境。实验服不穿出实验室；做完实验先摘手套，再用洗手池按步骤洗手，然后离开。二级实验室还要保持门关闭，可能产生气溶胶的操作在安全柜内进行。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微生物涂片和湿片可能含有活菌，观察时按相应级别穿戴防护；用过的玻片放进消毒缸消毒，或放进锐器盒；显微镜载物台被污染时及时消毒。</a:t>
            </a:r>
          </a:p>
          <a:p>
            <a:r>
              <a:t>从土壤、水等环境中分离出的菌，可能混有致病菌，鉴定前一律按未知菌对待：先做风险评估，再确定防护级别，一般在二级实验室的生物安全柜内操作；分离株标清来源和日期，鉴定结果出来之前不降级（未知样本从严定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a:p>
            <a:r>
              <a:t>二级的对象是检验人员、科研人员和教学实验室人员，做二级课题的学生同样要学；重点是标准操作规程、病原材料的安全操作、预防锐器伤、正确使用生物安全柜，以及发生事件后及时报告；练习血液等样本的暴露防护、安全柜的使用和去污，以及暴露后的应急演练。</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课）、进出程序和应急程序；练习包括定期复训、熟悉设施布局、呼吸防护装备的使用和维护，以及溢洒和感染事件的模拟演练。学生未经批准，不得进入三级实验室。</a:t>
            </a:r>
          </a:p>
          <a:p>
            <a:r>
              <a:t>四级的对象是专门的病原研究和公共卫生团队，要接受长期的强化训练，重点是正压防护服的使用、全封闭操作程序和严格的去污方案，必要时评估身心状况，坚持两人同行；练习全流程模拟、进出缓冲间和化学淋浴、通讯规程和紧急撤离预案。具体要求以国家规定和所在机构的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实验室人员的必备培训有六类：第一，生物安全操作——规范操作，在防护设施里做实验，学会废物的灭活和处置；第二，生物安保意识——防止未经授权的人员接触病原材料（见第 083 课）；第三，个人防护装备——按风险评估选对防护用品，按顺序穿戴，检查是否完好，脱卸时把外面当污染面，不碰到皮肤（见第 075 课）；第四，应急程序——溢洒怎么处理，什么情况要撤离，被扎伤、溅到后第一时间怎么做（见第 078 课）；第五，设备使用——安全柜怎么开、怎么用、怎么判断是否正常，高压灭菌器怎么装载、怎么防烫伤（见第 123 课）。</a:t>
            </a:r>
          </a:p>
          <a:p>
            <a:r>
              <a:t>第六，事件报告——知道向谁报告：实验室负责人、学院和学校实验室管理部门（需要时保卫处）；事故和暴露发生后立即报告，如实记录，配合后续医学评估和随访。</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每一级的培训都要留下记录，本人签字，考核合格才能准入；还要定期复训，复训周期按本校规定，操作内容、设备或规程变化时及时补训。</a:t>
            </a:r>
          </a:p>
          <a:p>
            <a:r>
              <a:t>二级及以上的培训必须动手实练，光看书、光听课不算学会。三级、四级先由有经验的人员带教跟岗，确认能独立胜任后，才给予完全准入。</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防护装备或安全设备缺失、损坏（如手套破损、护目镜缺少、安全柜报警或气流异常），先停下相关操作，不凑合、不将就；按规定处理已在进行的操作和材料，报告实验室负责人，申领防护用品或报修设备。</a:t>
            </a:r>
          </a:p>
          <a:p>
            <a:r>
              <a:t>维修后经确认恢复正常（需要检测的设备经检测合格），再恢复工作；不得擅自拆修安全柜等设备。</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答案：B。解析：二级在一级基础上加面部防护，必须穿闭趾鞋；具体按风险评估。</a:t>
            </a:r>
          </a:p>
          <a:p>
            <a:r>
              <a:t>第 2 题 答案：A。解析：二级的工程控制要求可能产生气溶胶的操作进生物安全柜。</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答案：C。解析：不饮食、不口吸、不外带实验菌，台面消毒、摘手套洗手后离开。</a:t>
            </a:r>
          </a:p>
          <a:p>
            <a:r>
              <a:t>第 4 题 答案：B。解析：环境分离菌鉴定前按未知菌对待，先评估，一般在二级安全柜内操作，鉴定前不降级。</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答案：C。解析：装备缺了坏了不开工，报告、申领或报修，确认正常再恢复。</a:t>
            </a:r>
          </a:p>
          <a:p>
            <a:r>
              <a:t>第 6 题 答案：生物安全操作、生物安保意识、个人防护装备、应急程序、设备使用、事件报告；立即报告实验室负责人、学院和学校实验室管理部门，如实记录，配合医学评估和随访。解析：培训要记录、签字、考核合格才准入，并定期复训。</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封闭（防护）是生物安全的核心思路：把病原微生物关在受控的空间里，用设备、设施和管理等各种控制措施，挡住它外泄。病原一旦外泄，既会伤到实验室人员，也会危害公众和环境。</a:t>
            </a:r>
          </a:p>
          <a:p>
            <a:r>
              <a:t>高级别生物安全实验室本身就是一个防护区，研究人员在受控的环境里工作；进入须经批准和专门培训，学生未经批准不能进入（各级准入要求见第 061 课）。合格的防护设施是重要保障，但再好的设施也要靠人按规程使用。</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防护的规程等管理措施。</a:t>
            </a:r>
          </a:p>
          <a:p>
            <a:r>
              <a:t>生物安全柜是一级防护的主力（见第 071 课）。研究植物病原时也一样：如果植物携带对人有害的病原，就要用口罩、手套等防护把人隔开。</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废物处置等规程。</a:t>
            </a:r>
          </a:p>
          <a:p>
            <a:r>
              <a:t>植物研究设施同样有二级封闭：靠温室等设施结构，挡住花粉和植物病原外逃（见第 082 课）。工程控制依赖设施，建设和维护的成本都较高，因此更要正确使用、按期维护。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记住一句话：一级防护保护人，二级防护保护环境；简单说，“柜护人，房护环境”。两道屏障要同时做到、一起使用，缺了任何一道，风险都会漏出去。</a:t>
            </a:r>
          </a:p>
          <a:p>
            <a:r>
              <a:t>课堂上可以做一个分组练习：准备便利贴和两个盒子，一组写“护人”的措施（实验服、手套、口罩、眼罩、送风呼吸器、生物安全柜、穿脱规程），一组写“护环境”的措施（高效过滤、废水去污、通风、定期维护、运输和废物处置规程），分别贴进两个盒子；最后把两层拼在一起，就是一间生物安全实验室的雏形。</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气往外流，封闭实验室正好相反，空气往里流。</a:t>
            </a:r>
          </a:p>
          <a:p>
            <a:r>
              <a:t>定向气流是生物安全实验室常见的工程控制措施，高级别实验室要求更严（具体以 GB 19489-2008、GB 50346 和本校设施说明为准）。进门前看一眼门口的压差显示和气流飘带：飘带应朝实验室里飘；读数不对、飘带外飘或有报警，先不要进去。</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的方向还要考虑人的位置：风从病原吹向人是不允许的；正确的是风从人身后来，经过操作的病原材料，从另一头经过滤排出。地面发生溅洒时，从清洁的一侧（上风侧）处理，不要踩进溅洒区（溢洒处置见第 078 课）。</a:t>
            </a:r>
          </a:p>
          <a:p>
            <a:r>
              <a:t>不要在排风口前堆放物品，也不要在生物安全柜前面的格栅上压放本子、物品或手臂；遮挡后气流就会紊乱，屏障随之失效（安全柜使用见第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门口的压力显示面板正常时一般亮绿灯。</a:t>
            </a:r>
          </a:p>
          <a:p>
            <a:r>
              <a:t>各级、各房间的压差和换气要求由 GB 19489-2008、GB 50346（均以现行文本为准）规定，具体数值以本校设施说明为准；使用者不需要也不应自行调节，只要会看、会判断是否正常。布局与进出见第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可以把它比作商场门口的风幕，一道“气墙”把病原挡在里面——这只是比喻，真正靠的是压力差（本设施的压力设计以本校设施说明为准）。</a:t>
            </a:r>
          </a:p>
          <a:p>
            <a:r>
              <a:t>实验室的门也是二级防护的一部分：进出随手关门，不能用东西撑开；有缓冲间的，两道门不同时打开，有互锁指示灯的，灯没变绿就等一等，不强行开门。</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移液、离心、混匀等操作都会产生气溶胶。个人防护装备能护住人，但室内的气溶胶需要靠持续换气来稀释和带走，就像漂洗衣服一样，一遍遍把污染带走。</a:t>
            </a:r>
          </a:p>
          <a:p>
            <a:r>
              <a:t>在高级别封闭实验室，空气经过滤后送入，流过操作区，带走可能的污染，再经高效过滤排出去，这样实验室外的社区就是安全的。换气次数等参数以现行标准和本校设施说明为准。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风口，过滤后排出，这种靠设施的措施就是工程控制。高效过滤器有严格的效率标准，以现行国家标准为准。</a:t>
            </a:r>
          </a:p>
          <a:p>
            <a:r>
              <a:t>过滤器靠密封装置安装，不能漏风；用久了滤材会老化，要按期检测和更换。更换由经过培训的专业人员完成，采用袋进袋出等方式，旧过滤器先去污再废弃，不能重复使用。学生不得自行拆卸或更换过滤器（设施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每一道防护屏障都有局限，不能全靠它。高效过滤器效率很高，但不是百分之百，安装或老化可能造成泄漏，所以要定期检测；更重要的是从源头少产生气溶胶——安全柜在前面拦截，房间气流作为兜底。</a:t>
            </a:r>
          </a:p>
          <a:p>
            <a:r>
              <a:t>无论措施有多少，总有剩余风险，所以还要靠规范操作、培训和应急准备。回顾本课：实验室设施、定向气流和负压、生物安全柜（定期检测、放对位置、按规程使用）、高压灭菌器（按规定管理）等措施要一起用，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正常情况下，气流应该流进实验室。如果一开门，门口的飘带却朝走廊外面飘，说明空气正从实验室往外流，定向气流这道屏障失效了。这时不能“先进去干活再说”。</a:t>
            </a:r>
          </a:p>
          <a:p>
            <a:r>
              <a:t>正确做法：不进入，不开展任何实验，关好门；在门口挂牌，提醒其他人也不要进入。如果已经在里面，就停止操作，把材料收好封好，撤出并关门。</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发现气流异常后，马上报告实验室负责人，并通知设施人员检查通风系统；报告时说清发现的时间、现象（飘带方向、压差读数或报警）和位置。按本校规定，必要时报告学院和学校实验室管理部门。</a:t>
            </a:r>
          </a:p>
          <a:p>
            <a:r>
              <a:t>设施人员修好后，先验证气流已恢复向内、压差正常；经实验室负责人确认后，才能恢复实验。以后每次进门，都先看一眼飘带和压差显示。</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正在做实验时，如果通风系统报警、压差异常或停电，先停下操作，把容器盖好、样本封好，安全柜内的材料按规定收好；然后按程序脱卸个人防护装备，撤出实验室，关好门。</a:t>
            </a:r>
          </a:p>
          <a:p>
            <a:r>
              <a:t>撤出后马上按应急预案报告实验室负责人，等设施恢复并确认正常后再进入。高级别实验室的应急处置按本单位应急预案执行。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答案：B。解析：一级护人，二级护环境，两道一起用。</a:t>
            </a:r>
          </a:p>
          <a:p>
            <a:r>
              <a:t>第 2 题 答案：A。解析：负压与压力梯度让空气只往里流，具体数值以标准和本校说明为准。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答案：C。解析：门也是屏障，进出随手关，缓冲间两道门不同时开。</a:t>
            </a:r>
          </a:p>
          <a:p>
            <a:r>
              <a:t>第 4 题 答案：B。解析：高效过滤不是百分百，要定期检测、按期由专人更换；总有剩余风险。</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答案：B。解析：飘带外飘说明定向气流失效。</a:t>
            </a:r>
          </a:p>
          <a:p>
            <a:r>
              <a:t>第 6 题 答案：先停手，盖好容器、封好样本；按程序脱防护，撤出实验室并关门；按预案报告负责人，设施恢复并确认正常后再进入。解析：不在失效的屏障下继续操作。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三级生物安全实验室（BSL-3）用来关住病原，开展较高风险病原的诊断和实验。要注意两套编号的方向：病原分类国际风险组 4 组最高，国内第一类最危险，方向相反（见第 058 课）；实验室级别则国内外同向，一级最低、四级最高。</a:t>
            </a:r>
          </a:p>
          <a:p>
            <a:r>
              <a:t>所有涉及病原的诊断和实验工作，只在最里面的核心工作间进行，病原被关在各自的工作区里。三级实验室须通过国家认可，涉及高致病性病原微生物的实验活动还须经批准。高校学生平时在一级、二级实验室工作，进入三级实验室须经专门培训和授权（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三级实验室的平面按功能分区：外面是辅助工作区，放控制室、清洁更衣、办公等功能；里面是防护区，包括缓冲间和核心工作间（具体分区以 GB 19489-2008、GB 50346 和本设施设计为准）。平面图上常用颜色区分清洁区和污染区，两者的交界处设更衣、淋浴和灭菌设施。</a:t>
            </a:r>
          </a:p>
          <a:p>
            <a:r>
              <a:t>分区的原则是清洁和污染分开：人员行走和气流方向都从清洁区到污染区，不逆行、不交叉（封闭原理见第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防护区门口张贴生物危害警告标志和“非授权人员禁止入内”等禁止标志（安全标志式样按 GB 2894-2025，以现行文本为准），并设信息牌，写明防护级别、负责人和联系电话等。没有授权，任何人都不能进入。</a:t>
            </a:r>
          </a:p>
          <a:p>
            <a:r>
              <a:t>组织学生了解三级实验室时，只在外区或通过图示、视频学习，不进入防护区；看到禁入标识，就停下脚步。</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进入负压实验室前，第一件事是看门口的压差显示面板和报警灯：显示正常（如绿灯）才可以按程序进入；读数异常或报警亮起（如红灯），不要进去，马上报告实验室负责人和设施人员。</a:t>
            </a:r>
          </a:p>
          <a:p>
            <a:r>
              <a:t>各房间压差的正常范围由现行标准和本设施的设计决定，以本校设施说明为准；使用者只需会看、会判断，不得自行调节（气流异常的处置见第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正压，把外面的空气挡在外面、把病原留在里面；有的按压力梯度设计，具体以本设施说明为准。</a:t>
            </a:r>
          </a:p>
          <a:p>
            <a:r>
              <a:t>第一区里常有一间间样本处理间；再往里是负压区，设第二道门禁；经过清洁更衣室等房间，每过一道门，压力再降一级，空气始终往里流。</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员进出是单向的：一条路进，另一条路出。进入时，私人物品留在外侧储物柜，在清洁更衣室换上实验室专用服装，经过负压的气锁（缓冲间），再进入防护实验室；里面是限制区，外人不得进入。</a:t>
            </a:r>
          </a:p>
          <a:p>
            <a:r>
              <a:t>离开时，在指定位置按程序脱卸个人防护装备（见第 075 课），按规定淋浴，再换回自己的衣服。洗手用感应龙头，能不碰的表面就不碰。进出按规定登记；路线不能抄近道，也不能反着走，洁到污、不走回头路。</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区一侧装入，在外侧取出。</a:t>
            </a:r>
          </a:p>
          <a:p>
            <a:r>
              <a:t>离开实验室的物品和废物，先封好包装、经灭菌（或其他有效消毒），再按规定交有资质的单位处置（见第 077 课）。生物安全柜按设计接好排风，排气全部经过高效过滤。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防护区旁设控制室，风机、通风和空调等系统在这里集中控制，设施人员监控运行状态，异常时及时处置。</a:t>
            </a:r>
          </a:p>
          <a:p>
            <a:r>
              <a:t>监控画面和门禁记录让谁进谁出都有记录，门禁、监控和安保共同把关（生物安保见第 083 课）。发现可疑人员或有人尾随，立即报告保卫处和实验室负责人；实验室的布局、门禁和安保信息属于敏感信息，不拍照、不外传。</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行；灭菌器设在实验室内（这也对通风空调提出了新的要求）。</a:t>
            </a:r>
          </a:p>
          <a:p>
            <a:r>
              <a:t>运行中如果压力突然下降、报警，就意味着封闭可能被破坏，要立即停止工作，按应急预案处置和报告（见第 062 课）。各项技术要求以 GB 19489-2008、GB 50346 和 WS 233（均以现行文本为准）为准；设施的设计和运行见第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四级生物安全实验室（BSL-4）是独立的建筑或建筑内完全隔离的区域，人员经气锁进入，离开时要经过去污淋浴（如化学淋浴和人员淋浴）；进风和排风都经过高效过滤；并配有应急电源和通讯系统。</a:t>
            </a:r>
          </a:p>
          <a:p>
            <a:r>
              <a:t>四级实验室造价和运行要求极高，只在国家批准的少数设施中建设（分级见第 059 课），高校学生一般不会接触。</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答案：B。解析：病原分类反着走，实验室级别顺着走。</a:t>
            </a:r>
          </a:p>
          <a:p>
            <a:r>
              <a:t>第 2 题 答案：B。解析：读数异常或报警就别进，马上报告负责人和设施人员。</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答案：B。解析：单向进出，不走回头路，不抄近道。</a:t>
            </a:r>
          </a:p>
          <a:p>
            <a:r>
              <a:t>第 4 题 答案：D。解析：物品经传递窗或穿墙灭菌器，灭菌后才出来。</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答案：B。解析：一人一卡，不尾随、不借卡；发现尾随报告保卫处。</a:t>
            </a:r>
          </a:p>
          <a:p>
            <a:r>
              <a:t>第 6 题 答案：实验室的布局、门禁和安保信息属于敏感信息，外传可能被利用、危害实验室安保；有疑问向实验室负责人或保卫处咨询。解析：门禁、监控和安保一起把关。</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生物安全靠的不只是生物安全柜和个人防护装备。实验室房子怎么设计、配置什么设备，本身就是一道防护，属于控制层级中的工程控制（控制层级见第 017 课）：它不依赖每个人每次都做对，而是从源头把风险挡住。</a:t>
            </a:r>
          </a:p>
          <a:p>
            <a:r>
              <a:t>设施设计得周全，使用起来才既安全又好用；设计考虑不周，后面的操作和管理就要付出更多代价去弥补。所以，即使是学生和普通使用者，也应了解设施各部分的作用，正确使用、不随意改动。</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菌器；楼下有污水处理系统。不同级别的实验室配置不同，具体以 GB 19489-2008、GB 50346 和本校设施说明为准（各级要求见第 061 课，三级布局与进出见第 063 课）。</a:t>
            </a:r>
          </a:p>
          <a:p>
            <a:r>
              <a:t>工程设计通常包括八个部分：设施（建筑）设计、气流、过滤、暖通空调、污水处理、给排水、智能控制和安防。这类设施的楼体通常至少分三层：上层是设备层，负责空气处理；中层是实验室和办公；底层收集并处理全部废水。</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a:p>
            <a:r>
              <a:t>把机械放在实验室上方，实验室里就不放机械设备，便于密封和清洁消毒。设备层的层高要够人进去检修，灯具和过滤器都从上面更换，不必在实验室房间里开口。</a:t>
            </a:r>
          </a:p>
          <a:p>
            <a:r>
              <a:t>设备层有转动设备、高压电和高处作业等危险，不是参观区：未经允许不得进入，进入须有人陪同；维修前先停机断电、上锁挂牌（见第 144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a:p>
            <a:r>
              <a:t>每个房间连接各自独立的高效过滤器，一间出问题不连累其他房间；风阀一开一合调节风量，把各房间的气流配平，维持定向气流（原理见第 062 课）。排风过滤单元先把颗粒物滤干净，再由屋顶的高空排放风机高速射向高空，远离进风口和人群，充分扩散。注意：除去病原靠的是过滤，排高只是加一道保险。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防护设施的加热、制冷、湿度、通风等由电子系统集中控制和监测，哪台设备在运转、是否正常，在控制区一看就知道；监控、气流、门锁等也在控制区集中管理。</a:t>
            </a:r>
          </a:p>
          <a:p>
            <a:r>
              <a:t>压差显示和报警是监测的关键（会看压差面板见第 063 课）。系统设计成防护一旦失效就报警，并按设计联锁停机或转入安全状态，此时按应急预案撤离和报告（见第 062 课）。控制系统的参数由设施管理人员按规程设定，使用者不得自行更改。</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道或专门处理后再排放，排放应符合国家和地方要求。</a:t>
            </a:r>
          </a:p>
          <a:p>
            <a:r>
              <a:t>封闭设施出来的固体废物要先去污灭菌，再按《医疗废物管理条例》和本校规定交有资质的单位处置（见第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建封闭设施投入很大，决定建实验室、动笔设计之前，先要算清楚账。钱分两块：建设费和运行费。运行费（能耗、过滤器更换、检测、维修、人员）每年都有，会摊到每一次实验里。</a:t>
            </a:r>
          </a:p>
          <a:p>
            <a:r>
              <a:t>设计时就要把维护费用算进去；建得起却养不起，过滤器不能按期更换、设备不能按期检测，安全就会打折扣。设计要统筹考虑的事项包括选址、结构、控制与监测、废物与污水、安保，以及建设成本和运行成本。</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高等级实验室选址有讲究：避开地震、洪水等自然灾害多发地，避开人口稠密区；水电供应要有保障；发生事故时应急处置队伍能及时赶到；周边社会环境稳定安全。具体选址要求以 GB 19489-2008、GB 50346 等现行标准为准。</a:t>
            </a:r>
          </a:p>
          <a:p>
            <a:r>
              <a:t>植物封闭设施不要紧挨农田，以免万一泄漏扩散到作物，造成生态危害和法律纠纷（植物生物安全见第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就像住宅把卫生间集中在一处，管道省，漏了也不会到处蔓延；防护实验室相邻集中布置，通风和管道系统才经济、好管理。</a:t>
            </a:r>
          </a:p>
          <a:p>
            <a:r>
              <a:t>标准布局的原则：区域按从清洁到污染分级，人和物按规定路线走，不交叉、不走回头路（见第 063 课）。功能上分出暂存区（材料先送进暂存区，再按程序转入）、培养基制备区、遗传操作区（放转化设备，转化后的材料再送进封闭区培养）和控制区。以植物设施为例，进入的培养基、土壤要先蒸汽灭菌，去掉其中带的病原。</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设施的出入口是有两道门的缓冲间：先关外门，再开内门，两道门不同时开；开内门时空气往里流，不往外跑（缓冲间压力设计以本设施说明为准，见第 062 课）。</a:t>
            </a:r>
          </a:p>
          <a:p>
            <a:r>
              <a:t>高压灭菌器嵌在墙里，两边各有一扇门（双扉灭菌器），一侧在防护区内装料，另一侧在清洁区取出。进来的东西要干净，出去的更要去污：以植物封闭设施为例，植株、土壤、种子、工作服全部灭菌后才能出去。项目结束时，未经批准放行的材料按规程灭菌销毁。灭菌器的使用和验证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负压设施要让空气稳定地往里流，墙体、观察窗玻璃和密封都要足够结实；风机出故障时负压可能过大，结构不够会撑破玻璃，所以设计时要有相应的保护和联锁。</a:t>
            </a:r>
          </a:p>
          <a:p>
            <a:r>
              <a:t>房间表面材料要耐受消毒剂和熏蒸、耐湿耐腐蚀、易清洁；熏蒸期间按规程清场，检测合格后再进入。植物设施还要考虑采光：阳光进来热量也进来，制冷更贵，炎热地区宜用封闭生长室加人工光，凉爽地区用温室更合适（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生物安保要在设计时就考虑进去，事后补救既贵又难。门禁、监控等物理安保措施管住人员进出，防止病原材料被盗、被私自扩繁或带出；实验数据和资料也要加密、分级管理。</a:t>
            </a:r>
          </a:p>
          <a:p>
            <a:r>
              <a:t>安保措施的具体配置属于敏感信息，不对外公开、不拍照传播；使用者遵守门禁规定，不借卡、不尾随、不带无关人员进入（生物安保见第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建设一般分四步。第一步，需求和预算：按实际需要确定规模，预算有限不要贪大，并考虑每年的维护费。第二步，初步设计：对照建筑规范、消防疏散和生物安全标准（GB 19489-2008、GB 50346 等）逐项查合规。第三步，施工：设施是定制的，施工中加一根梁、隔一个间，气流就会改变，任何改动都要马上告诉设计工程师，重新评估。第四步，验收认可：建成后经检测验收合格，按规定通过认可或备案后才能开展实验。</a:t>
            </a:r>
          </a:p>
          <a:p>
            <a:r>
              <a:t>按《病原微生物实验室生物安全管理条例》，新建、改建、扩建三级、四级实验室应当依法审批，建成后通过实验室国家认可，并经主管部门批准方可从事高致病性病原微生物相关实验活动；一级、二级实验室向设区的市级主管部门备案（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设施设计要多方合作：工程师懂结构，研究者懂生物，管理者居中协调，让设施既满足工程要求又满足实验需要，并符合生物安全法规和标准。</a:t>
            </a:r>
          </a:p>
          <a:p>
            <a:r>
              <a:t>管生物安全的人也要懂一点设施设计，才能和工程师说到一块：生物安全员（生物安全管理人员）要看得懂设施图纸，懂通风空调和基本布局，从建造、验收、维护到停用，每一步都有安全问题。单位新建高等级实验室或动物设施时，生物安全员代表单位向设计方、施工方提问，并回应主管部门的要求。实验室的使用者（负责人、教师和研究生）也要在需求、设计审查和验收等关键阶段参与（生物安全组织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停用（安全柜检测见第 073 课，灭菌器验证见第 076 课）。</a:t>
            </a:r>
          </a:p>
          <a:p>
            <a:r>
              <a:t>排风过滤器上截留着病原，更换前要先原位消毒，由经过培训的专业人员按程序更换，袋进袋出、装袋带出处置；新过滤器装好后检漏合格才能再用。学生不要自己打开过滤箱。</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实验室的认可和备案都不是一劳永逸的：认可有有效期，到期要复评，有效期内还要接受监督评审和主管部门的监督检查（具体周期以现行规定为准）。</a:t>
            </a:r>
          </a:p>
          <a:p>
            <a:r>
              <a:t>设施改造、主要设备更换、实验活动或病原变化等情况发生时，要重新评估、审批，改后重新检测验收或重新评审，并按规定变更备案。</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实验室停用、设备搬走或维修之前，先由实验室按规程彻底去污（消毒灭菌），清点并妥善处置剩余的生物材料。</a:t>
            </a:r>
          </a:p>
          <a:p>
            <a:r>
              <a:t>去污完成后经实验室负责人或指定人员验收合格、签字，才能把设备搬走、交给维修人员、改作他用或报废；房间停用也要经去污验收后才能交出或改造。</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答案：B。解析：设备层集中放机械，未经允许不进入，维修先停机断电、上锁挂牌。</a:t>
            </a:r>
          </a:p>
          <a:p>
            <a:r>
              <a:t>第 2 题 答案：B。解析：除去病原靠高效过滤，高空排放只是加一道保险。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答案：B。解析：从设施出去的一切都要先去污，连水槽废水也不例外。</a:t>
            </a:r>
          </a:p>
          <a:p>
            <a:r>
              <a:t>第 4 题 答案：C。解析：建成后验收认可才能开展实验，认可有期限，设施变化要重新评审。</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答案：B。解析：过期未检或检测不合格的设备应挂牌停用，检测合格后再用。</a:t>
            </a:r>
          </a:p>
          <a:p>
            <a:r>
              <a:t>第 6 题 答案：先按规程彻底去污，处置剩余生物材料；经负责人或指定人员验收合格签字后，才能搬走、维修、改用或报废。解析：防止设备和房间带着病原交给不知情的人。</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课）。伦理意识和领导力也是这套方法的组成部分。</a:t>
            </a:r>
          </a:p>
          <a:p>
            <a:r>
              <a:t>它管的是生物材料的处理、储存和处置，从拿到手到最后销毁，每一环都要管；重点是病原微生物、生物毒素和转基因生物。国家层面的生物安全领域很广，包括重大传染病防控、遗传资源保护、外来物种入侵防范等，本课聚焦其中的实验室生物安全（概念与法规见第 057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为什么要建立生物风险管理？首先是防止实验室获得性感染：在实验室工作，不应把病带回家。其次是保护公众和环境，无论意外还是蓄意，都不让有害生物因子外泄；它也关系到国家生物安全。</a:t>
            </a:r>
          </a:p>
          <a:p>
            <a:r>
              <a:t>第三是依法依规。国际上有生物安全手册和管理标准可作参考，在国内首先要遵守《中华人民共和国生物安全法》《病原微生物实验室生物安全管理条例》和国家标准、行业标准，以及学校的规定。</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室的风险评估、规程、培训和日常管理（组织与负责人见第 070 课）。</a:t>
            </a:r>
          </a:p>
          <a:p>
            <a:r>
              <a:t>生物安全委员会负责审议实验室的风险评估、重要实验活动和规程等事项。实验室按 GB 19489-2008 等标准建立生物安全管理体系：有管理手册、程序文件、操作规程和记录，有年度安全计划，并通过内部审核和管理评审持续运行（审核见第 066 课）。本课讲的 AMP 模型是国际通行的生物风险管理方法，在这一国内框架下使用。</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AMP 模型是国际通行的管理生物风险的基本方法，由三步组成：评估（Assessment）、减缓（Mitigation）、绩效（Performance）。评估回答“有什么风险、有多大”；减缓回答“怎样把风险降下来”；绩效回答“怎么确认风险真的降下来了”。也可以概括成：找出风险、评估大小、降低风险、持续盯住。</a:t>
            </a:r>
          </a:p>
          <a:p>
            <a:r>
              <a:t>这三步是生物风险管理的基础，做完一圈再来一圈，不断改进。学习本章，就是要学会三件事：会做风险评估，找出这个病原、这项操作的具体风险；会用各类控制措施把风险降下来；会评价这些措施是不是真的管用。</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第一步是风险评估：找出实验里有哪些有害生物因子，这东西有多危险，我要做什么操作，估计出事的可能性和后果有多大，从而判断风险高低。</a:t>
            </a:r>
          </a:p>
          <a:p>
            <a:r>
              <a:t>风险评估由实验室负责人组织，生物安全管理人员审核，必要时提交生物安全委员会审议；做实验的人也要参与评估，并了解评估结论。评估是其他所有工作的出发点，具体步骤和方法见第 067、068 课。</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第二步是风险减缓：按控制层级（消除、替代、工程控制、管理控制、个人防护，见第 017 课）采取措施，把风险降到可接受的程度。设施设备、标准操作规程和个人防护用品要一起上，不能只靠一种。生物安全措施防止人员意外暴露，生物安保措施防止样本丢失、被盗。</a:t>
            </a:r>
          </a:p>
          <a:p>
            <a:r>
              <a:t>加完控制措施后要再评估残余风险：仍不可接受，就再加控制，或者不开展该实验。风险看可能性也看后果；风险越高，投入的资金和人力也要越足。具体控制措施见第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绩效评估：看控制措施选得对不对、有没有执行、管不管用，设备和防护有没有正常工作。方法包括定期检查，看措施是否真的落实；审核记录，看体系是否按规定运行；组织应急演练，看大家会不会处置。</a:t>
            </a:r>
          </a:p>
          <a:p>
            <a:r>
              <a:t>发现问题就采取纠正措施，并回到第一步重新评估、改进。绩效评估与审核的具体做法见第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管理实验室靠一个循环：计划、执行、检查、改进（PDCA），周而复始。用到生物风险上，就是 AMP 三步：策划从风险评估开始（识别危害、评估风险、确定怎样管住风险），对应“计划”；减缓对应“执行”；绩效对应“检查”和“改进”。也有人把它概括为意识、行动、反省，缺一不可。</a:t>
            </a:r>
          </a:p>
          <a:p>
            <a:r>
              <a:t>PDCA 的核心是“写下怎么做，就照写的做”，再检查做得怎么样。生物安全员观察大家实际怎么做，找出问题的根本原因，改进规程，再回到评估。检查发现的问题变成下一轮的计划，每转一圈，安全水平就提高一点。</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处置。</a:t>
            </a:r>
          </a:p>
          <a:p>
            <a:r>
              <a:t>完善的体系由几个部分撑起来（风险评估、风险减缓、绩效监测、培训与能力、事件报告、持续改进），像几根柱子撑房子，缺一根就不稳。管生物安全的人，除了懂微生物和管理，还要懂一点气流方向、通风空调、给排水等设施知识（见第 064 课），这些本事要在工作中慢慢积累。</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体系有五个要素。第一，定义：定目标、划过程，这个实验室做什么，范围到哪。建实验室之前先问几个问题：做哪些实验？要什么仪器和规程？工作怎么安排、谁做什么？牵涉运输、灭活、废物哪些环节？怎样更安全、更高效？有哪些限制？第二，结构：谁负责什么，每个人按哪份规程做。</a:t>
            </a:r>
          </a:p>
          <a:p>
            <a:r>
              <a:t>第三，理解：各环节相互依存，人也有极限，疲劳最容易出事，工作分配要均衡，培训要到位。第四，改进：盯住事故和事件，找到缺口、修订规程（见 K13）。第五，认清约束：没有完美的体系，经费不够、缺少合格的人等限制要事先认清，量力而行。即使还没在生物实验室工作，也可以设想一个实验室，练习写方针、写计划，再想怎么落实、怎么检查改进。</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体系一切从一份生物安全方针开始。方针写明单位的承诺：把安全放进主业，遵守国家法律法规和标准，持续改进。</a:t>
            </a:r>
          </a:p>
          <a:p>
            <a:r>
              <a:t>体系能否成功，地基是领导承诺：单位和实验室负责人认领方针，给足人员、经费和设施等资源，把安全放在优先位置，而不是只挂在墙上。</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方针要讲给每一个人听，包括保洁、清运、维修等进入实验室的人员；生物安全和生物安保一起管，最终变成每个人的习惯（安全文化见第 010 课）。</a:t>
            </a:r>
          </a:p>
          <a:p>
            <a:r>
              <a:t>体系能不能落地，要看安全文化：负责人带头遵守，规矩才立得住；每个人都可以提出问题和建议，发现隐患敢说、愿意报告。</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计划落地要做五件事：搭建组织架构，分配职责，任命合格的人员，抓好培训，把方针和做法讲到位。</a:t>
            </a:r>
          </a:p>
          <a:p>
            <a:r>
              <a:t>日常运行要管好八个方面：运行控制，电气、化学等一般安全，库存台账，工作计划，操作规范，废物管理，人员管理，设施的保养和维修。通用模板只是起点，要结合本单位、本实验室的实际，制定具体的生物风险管理程序。</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运行中出了事故或事件（包括未遂事件），说明规程有漏洞，要趁小补上。出了问题要查到根本原因，采取纠正措施，同时寻找改进的机会（事故调查与根本原因分析见第 162 课）。</a:t>
            </a:r>
          </a:p>
          <a:p>
            <a:r>
              <a:t>定期回顾，把程序和制度改得更好；新版本发布后，旧版本要收回，防止误用。持续改进要做到：人人有主人翁意识，定期评估，规程有效，预防在先，持续培训，定改进目标，表扬做得好的人。</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生物风险管理计划（安全计划）是把体系落到本实验室的成文安排，可以按九块内容组织：范围与目标、角色与职责、风险评估程序、标准操作规程、培训与能力、事件响应与报告、维护与检查、文件与记录、评审与审核。GB 19489-2008 对实验室年度安全计划也有要求（以现行文本为准）。</a:t>
            </a:r>
          </a:p>
          <a:p>
            <a:r>
              <a:t>写计划前先摸清家底：菌（毒）种和样本、化学品、锐器、设备都列成清单，清单随时更新，计划才对得上。第一块写范围：管哪些房间，用哪些微生物，做哪些实验；再写目标：要达到怎样的安全状态。目标和指标要具体、能检查，写成文件，事后能追溯。</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第二块是角色与职责：实验室负责人是第一责任人；实验室安全员负责日常检查和提醒；每个实验人员按规程做好自己的工作；学校管理部门和设施保障部门的职责也要写明。</a:t>
            </a:r>
          </a:p>
          <a:p>
            <a:r>
              <a:t>计划写好后交学院审核，学校存档，与三级管理衔接；组内人人学习，知道自己的职责（组织与职责见第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第三块是风险评估程序：先识别危害，再判断风险高低；写清谁来评估、用什么方法、结果谁审核；定期评估，人员、病原、操作或设施有变化时重新评估（见第 067 课）。</a:t>
            </a:r>
          </a:p>
          <a:p>
            <a:r>
              <a:t>第四块是标准操作规程：关键操作和关键设备各有一份规程，按规程一步一步做，不凭记忆（规程编写见第 019 课）。</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第五块是培训与能力：培训内容包括安全操作、应急程序，也包括科研伦理和生物安保意识。培训后要考核，确认真的会做才算有能力；用能力表记录谁会做什么、谁被授权做什么，一目了然。</a:t>
            </a:r>
          </a:p>
          <a:p>
            <a:r>
              <a:t>培训不是一次了事，要持续学习、定期复训，能力才跟得上。流程中的每一步都有专人负责：处理样本的学样本处理规程，管废物的学废物规程（准入培训见第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第六块是事件响应与报告：不管是意外事故还是安保事件，都要有渠道及时发现、报告和处理。发生溢洒、暴露，先按应急预案处置（见第 078 课），再按实验室负责人、学院、学校主管部门逐级报告，不隐瞒、不拖延；应急联系电话写进计划，贴在实验室显眼处。</a:t>
            </a:r>
          </a:p>
          <a:p>
            <a:r>
              <a:t>第七块是维护与检查计划：哪台设备、多久检查一次，写成日程；检定合格贴标签，过期停用（见第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第八块是文件与记录：文件要有版本号，旧版及时收回。每项生物安全工作都要有记录，包括培训、检查、事件、库存和规程执行；记录要及时、真实、受控、可追溯，问题才查得出来。</a:t>
            </a:r>
          </a:p>
          <a:p>
            <a:r>
              <a:t>第九块是评审与审核：定期看计划落实得怎么样，发现问题就改，计划随之更新（内部审核和管理评审见第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体系的各部分都要写成文件，一般分四层：管理手册规定方针、目标、组织和职责；程序文件规定各项管理活动怎么运转；标准操作规程（作业指导书）教你每项操作具体怎么做；记录证明确实做到了。GB 19489-2008 对管理体系文件和记录也有相应要求（以现行文本为准）。</a:t>
            </a:r>
          </a:p>
          <a:p>
            <a:r>
              <a:t>文件齐全、层次清楚、相互一致，日常照着做，检查时才拿得出来。</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答案：B。解析：评估问有什么风险，减缓问怎样降下来，绩效问怎么确认真的降下来了。</a:t>
            </a:r>
          </a:p>
          <a:p>
            <a:r>
              <a:t>第 2 题 答案：B。解析：生物风险管理包括生物安全和生物安保两部分，实验室要管好材料的全过程。</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答案：B。解析：每转一圈，管理就提高一点。</a:t>
            </a:r>
          </a:p>
          <a:p>
            <a:r>
              <a:t>第 4 题 答案：B。解析：手册定方针职责，程序管运转，规程教操作，记录证明做到。</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答案：B。解析：计划经学院审核、学校存档，组内人人学习，知道自己的职责。</a:t>
            </a:r>
          </a:p>
          <a:p>
            <a:r>
              <a:t>第 6 题 答案：范围与目标（含危险源清单）、角色与职责、风险评估程序、标准操作规程、培训与能力、事件响应与报告、维护与检查、文件与记录、评审与审核。解析：九块内容对应体系的各个要素。</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绩效评估，就是记录、测量和评价我们做过的事，目的是把生物风险降下来。它看的是整个体系：不只看病原，还要看人、物和设施。绩效测量不是另外一摊事，而是管理体系的一部分：规程写的和实际做的，都要量。</a:t>
            </a:r>
          </a:p>
          <a:p>
            <a:r>
              <a:t>做法是回头查记录：有没有发生防护失效，有没有事故、事件和未遂事件，日常检查发现了什么；出了事故或险情，就修订规程。绩效评估能看出体系哪里达标、哪里没有，没达标就要问为什么；认证认可时审核员要看这些记录；它还能预防事故、减少损失和开支。</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打个比方：计划十五分钟跑完一公里，实际跑了二十分钟。天气、体能、装备，逐一找出拖后腿的因素。计划和实际之间的差距，就是绩效要看的东西。</a:t>
            </a:r>
          </a:p>
          <a:p>
            <a:r>
              <a:t>实验室可以年初定目标（如事件、事故、溢洒的情况），年底做对比表：事件超了，可能是规程有漏洞，就修订规程、加强培训；目标是零溢洒，实际发生了一次，也要改。每一起事件和事故都要调查。绩效是每个人努力的总和，实际常常达不到计划，而且会变化，要持续用力。</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控制措施加上了，就一定有效吗？要靠绩效来验证：减缓之后再做一次风险评估，确认风险真的降下来了，这一步才算数。剩下的风险能不能接受，要再判断。</a:t>
            </a:r>
          </a:p>
          <a:p>
            <a:r>
              <a:t>风险管理是一个圆圈：收集信息、评价风险、制定策略、落实控制措施、复查，然后再转一圈。绩效评估是 AMP 循环的第三步（见第 065 课），可以用一张表来做：推荐了什么措施？真落实了吗？没有，为什么？有没有记录？再审核、修改措施。整改之后还要看效果；绩效数据也是说服领导投入资源的依据。</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单位的安全方针（政策）表明决心和方向，不讲具体做法，要再分解成职责、目标和步骤，落成具体目标后，再按标准检查有没有做到。</a:t>
            </a:r>
          </a:p>
          <a:p>
            <a:r>
              <a:t>目标是看得见、量得出的结果，比如“实验结束，人员零感染”。具体目标是限时完成的步骤，最典型的就是标准操作规程。目标要符合五个要求：具体、可测量、能实现、合理、有时限；不要定做不到的目标，审核时会被指出来。</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指标要用数字说话，能回答“多少次、多少量”。要定期使用，一直用同一把尺子，才能看出偏离，在出事之前报警。</a:t>
            </a:r>
          </a:p>
          <a:p>
            <a:r>
              <a:t>常用的生物安全绩效指标：事件报告（发生多少、什么原因），险兆（未遂）事件（差一点出事的也算），培训（该学的人是否都学完），演练有没有做（记录就是证据），防护用品配备，检查的频次和范围，做法是否符合现行标准规范。挑指标时，要量什么就选什么，不图省事；尽量能量化，并覆盖实验室、学院、学校各个层级。</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分两类。先行指标衡量过程、文化、行为和屏障（如培训完成、检查执行、规范操作的比例、设备检测按期完成），事先定好，为安全工作指方向。滞后指标衡量事件、事故、险兆和整改情况，都是事后才看得到的。</a:t>
            </a:r>
          </a:p>
          <a:p>
            <a:r>
              <a:t>只在出事后才分析就太晚了。要多观察日常行为，提前发现苗头，多听同行的经验和教训，把先行指标和滞后指标结合起来看。</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好指标由相关人员一起商量出来，具有相关、客观、及时、成本合理的特点，能指导整改，带来改进机会。</a:t>
            </a:r>
          </a:p>
          <a:p>
            <a:r>
              <a:t>指标要审慎使用：度量标准由生物安全委员会等事先定好，数据要呈现得让人看得懂。评价体系本身也要定期检查：指标还相关吗？要不要换新的？照搬别处的指标未必合用。不能为了“指标好看”而少报、瞒报事件。</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测量是改进的第一步：量出来才看得懂，看得懂才控制得住，才谈得上改进；测量要用合适的工具。一个流程可以分成输入、步骤、输出，比如检测样本，每一步都记下来。</a:t>
            </a:r>
          </a:p>
          <a:p>
            <a:r>
              <a:t>设计评估前先把问题想清楚，问四个问题：步骤做得到吗？步骤对不对？结果达标吗？量的东西对吗？方法上可以发问卷，也可以到现场跟看。生物安全绩效的常用来源：一看事件和事故报告，找规律；二看人员健康监测（如按规定留存本底血清，见第 069 课）；三是现场观察，审核操作。</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专心做完。</a:t>
            </a:r>
          </a:p>
          <a:p>
            <a:r>
              <a:t>使用监控收集数据，要事先告知相关人员；录像只用于安全管理，不外传，按规定保管，保护个人信息。</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某检测实验室的目标是降低人员感染风险，采取的措施包括上岗前体检、防护规程和项目结束后的复查。结果五名人员中有一人检测阳性——计划和实际出现了差距。</a:t>
            </a:r>
          </a:p>
          <a:p>
            <a:r>
              <a:t>这时要问：规程合适吗？是规程本身有缺陷，还是执行出了问题？哪里出了漏洞？要做事故分析，查根本原因，采取纠正措施，并按规定报告和对相关人员进行医学评估（事故调查见第 162 课，暴露处置见第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审核和评价就是“复查”这一步，看写的和做的是否一致、措施是否落实、是否达到预期目标。内部审核由本单位按计划组织，对照规程逐项检查；审核员要到实验台旁观察，看哪一步繁琐、哪一步有风险。GB 19489-2008 要求实验室按计划开展内部审核（以现行文本为准）。</a:t>
            </a:r>
          </a:p>
          <a:p>
            <a:r>
              <a:t>学院、学校也会按三级管理定期组织安全检查（见第 005 课）。查到什么，如实记下来；既要找出缺陷和不符合项，也要找改进点，再提出改进办法，发现问题回头改。</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审核看规程有没有照做，检查看设施是否按设计运行，检测看设备参数是否合格。内部审核之外，外部审核更客观。</a:t>
            </a:r>
          </a:p>
          <a:p>
            <a:r>
              <a:t>主管部门依法对实验室进行监督检查，实验室负责人陪同、如实提供资料、配合检查；新建设施要经主管部门检查验收。三级、四级实验室还要通过实验室国家认可，并接受复评和监督评审（见第 064 课）。认可和检查时，审核员会查阅各项记录。</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管理评审由单位或实验室管理层按计划定期进行（例如每年，具体以现行标准和本校规定为准），评审体系是否合适、充分、有效，并寻找下一步改进的机会。</a:t>
            </a:r>
          </a:p>
          <a:p>
            <a:r>
              <a:t>评审要看的材料包括：内部审核和外部检查结果、规程执行情况、风险评估进展、纠正和预防措施、上次评审的跟进、改进建议，以及事故和事件调查。评审后，该改的制度、程序和目标就改。每一步都有记录，评审才有依据。</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发现问题就要采取纠正措施：明确谁来改、怎么改、什么时候改完；改完拍照留证，再复查，问题关闭才算整改到位。持续改进就是把检查和事件的教训写进规程，一圈一圈越做越好（隐患整改见第 005 课）。</a:t>
            </a:r>
          </a:p>
          <a:p>
            <a:r>
              <a:t>外有法规，内有制度；有记录，才能持续改进。最好有专人管理文件和记录。人员、培训、规程、标识、台账等，个人也可以记一本安全笔记，但笔记代替不了正式规程。</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审核和检查看的恰恰是平时。被检查时，照平常一样规范操作，不需要“表演”，也不能临时改变做法。</a:t>
            </a:r>
          </a:p>
          <a:p>
            <a:r>
              <a:t>如果一紧张出错（如手滑、轻微溢洒），先停下，不要硬撑着继续；如实向检查人员和负责人说明，按规程处理（溢洒处置见第 078 课）。检查发现的问题是改进的机会，不是“丢面子”。</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答案：B。解析：找出差距和拖后腿的原因，再改进。</a:t>
            </a:r>
          </a:p>
          <a:p>
            <a:r>
              <a:t>第 2 题 答案：C。解析：先行指标看过程、文化、行为和屏障，事先指方向；事件、事故、险兆、整改属于滞后指标。</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答案：B。解析：减缓之后要再评估，确认风险真的降下来了。</a:t>
            </a:r>
          </a:p>
          <a:p>
            <a:r>
              <a:t>第 4 题 答案：B。解析：内审对照规程到现场查，外部检查负责人陪同配合，问题如实记录并整改。</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答案：A。解析：被检查时照常规范，出错先停，别硬撑，不掩饰。</a:t>
            </a:r>
          </a:p>
          <a:p>
            <a:r>
              <a:t>第 6 题 答案：明确谁来改、怎么改、何时改完；改完留证据（如照片、记录），经复查确认有效后关闭，并把教训写进规程。解析：整改要闭环。</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这里出发（风险评估的通用方法见第 014 课）。</a:t>
            </a:r>
          </a:p>
          <a:p>
            <a:r>
              <a:t>使用菌种、样本之前，先弄清它从哪里来、是什么、对人有没有危害；来历不明的环境菌不随意使用，来源不清的临床样本风险要往高处估。按评估结果，在规定级别的实验室、用规定的方法操作（防护等级的确定见第 060 课）。</a:t>
            </a:r>
          </a:p>
          <a:p>
            <a:r>
              <a:t>评估之后要实施控制（工程控制加个人防护等），再检查控制效果，发现问题就回到评估，循环改进（管理体系见第 065 课）。</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危害是任何可能造成伤害的东西，生物因子（病原微生物、毒素、感染性样本等）就是潜在的危害。风险则是这种伤害真正发生的可能性及其后果；伤害源是生物因子的，就叫生物风险。</a:t>
            </a:r>
          </a:p>
          <a:p>
            <a:r>
              <a:t>危害本身是“物”，人动手去操作它，危害才变成风险。操作、运输、被盗、容器或封闭屏障破损，都是危害变成风险的途径。所以评估时既要看“这东西有多危险”，也要看“我要拿它做什么”。</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风险是可能性和后果（严重程度）的组合。可能性指防护失效、发生暴露的几率有多大；后果指一旦发生，对人员、公众和环境造成的伤害有多大。两者结合起来，才能看出风险的高低。</a:t>
            </a:r>
          </a:p>
          <a:p>
            <a:r>
              <a:t>举例：样本转运不规范（容器不密封、没有二级包装），发生泄漏的可能性就大，后果是转运人员和沿途的人可能被感染。包装运输的要求见第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就放松防护。</a:t>
            </a:r>
          </a:p>
          <a:p>
            <a:r>
              <a:t>致病的病原关在实验室的封闭条件下，风险很低；一旦因为意外泄漏或被人故意带出、滥用，后果就很严重。因此既要防意外（生物安全），也要防滥用（生物安保，见第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把风险说清楚，可能性和后果都要分级。可能性回答“发生的概率有多大”，可从“很少”到“经常”分级；后果回答“万一发生会怎样”，可从“轻微”（无伤害或轻微不适）到“严重”（严重疾病、扩散到社区或环境）分级。</a:t>
            </a:r>
          </a:p>
          <a:p>
            <a:r>
              <a:t>常见的做法是两边各分三到五级。分几级、每一级怎么判定，以本校风险评估程序为准；同一实验室内应统一标准，评估人员对照同一张表打分，结果才可比。</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把可能性和后果的分级交叉成一张表，就是风险矩阵：可能性低、后果轻的落在绿格，风险最低；可能性大、后果重的落在红格，风险最高；中间是黄格。</a:t>
            </a:r>
          </a:p>
          <a:p>
            <a:r>
              <a:t>把实验中的每个风险点（每个操作步骤）都放进矩阵，哪里风险高一目了然，红格优先处理。风险矩阵的通用用法见第 014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种生物材料，风险随操作而变。样本密封冻存在罐里，风险较低；拿出来开盖处理、提取核酸，风险升高；培养活的病原（数量和浓度增加），风险最高。流程一步步往后走，风险一级级升高，一旦释放，后果也越大。</a:t>
            </a:r>
          </a:p>
          <a:p>
            <a:r>
              <a:t>所以评估不能只做一次笼统的结论，提取、扩增、检测、培养等步骤越多，越要逐步评估（逐步打分的方法见第 068 课）。储存也有风险：容器要密封、标签要标清、冷冻柜要上锁，库存要有记录。</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评估有固定的步骤：危害识别、风险分析、风险评价、风险控制、记录、复查。也有资料把它概括为五步（识别、评估、控制、看残余风险、再决策），内容是一致的：先认清危害，再估计风险大小，加控制后看残余风险能否接受，然后决定做不做。</a:t>
            </a:r>
          </a:p>
          <a:p>
            <a:r>
              <a:t>最后一步是复查，走完一遍还要回头再看。评估的结果用于确定防护等级（见第 060 课）和控制措施（见第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第一步是危害识别：先弄清用的是什么生物因子，查《人间传染的病原微生物目录》（以现行版本为准），认出它属于哪一类，再查病原资料拿到依据（要素清单见第 068 课）。注意两套编号：国内病原分类第一类危害最大、第四类最小，国际风险组 1 组最低、4 组最高，方向相反（见第 058 课）。</a:t>
            </a:r>
          </a:p>
          <a:p>
            <a:r>
              <a:t>再列出要做哪些实验活动，用量多少、浓度多高写清楚。看会不会溅、会不会扎，会不会产生气溶胶（离心、振荡、匀浆、超声、吹打等），这是重点。评估要把病原、操作、人员和设施四个方面都看到。</a:t>
            </a:r>
          </a:p>
          <a:p>
            <a:r>
              <a:t>风险评估别只盯着微生物：消毒剂、固定液有化学危害，锐器、高温、紫外灯也会伤人，要一起识别。</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a:p>
            <a:r>
              <a:t>资料不足、来历不清的样本（如未经检测的临床样本、环境样本），风险往高处估。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第三步是风险评价：根据分析结果和风险矩阵，给出总体风险等级——低、中还是高。等级决定要采取多强的控制措施和在哪一级实验室开展。</a:t>
            </a:r>
          </a:p>
          <a:p>
            <a:r>
              <a:t>评价时还要对照现有的控制措施：现有设施、设备、规程和防护够不够把风险控制住。够，就可以接受；不够，就要再加控制。</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第四步是风险控制：按控制层级（见第 017 课）选择措施，用什么设备、穿什么防护、怎么操作。工程控制（合适级别的实验室、生物安全柜、密封离心转子）、个人防护和标准操作规程要一起上。例如离心可能产生气溶胶的样本时，使用密封转子，离心后在生物安全柜内开盖。</a:t>
            </a:r>
          </a:p>
          <a:p>
            <a:r>
              <a:t>生物安全员可以用问卷逐项评估，按控制层级挑合适的措施，把结论和建议讲给实验室负责人和课题组。具体的控制与管理措施见第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采取控制措施后剩下的风险叫残余风险：风险能降下来，但清不了零。把要做的操作一项项列出来，每项单独评估，再合起来看总风险。</a:t>
            </a:r>
          </a:p>
          <a:p>
            <a:r>
              <a:t>残余风险能接受，经实验室负责人批准后才开展，并且要让团队都知道、都认可“我们带着这些风险工作”；不能接受，就再加措施、改方法，或者不做。残余风险较高或拿不准的，报生物安全委员会审议。各实验室情况不同，要按实际评估，不照搬别人的结论。</a:t>
            </a:r>
          </a:p>
          <a:p>
            <a:r>
              <a:t>学生拿不准时，先问导师，不擅自开展。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第五步是记录：把评估的过程、依据、结论和控制措施写成风险评估报告，按本校程序经审核批准后存档备查，新来的人也能查到和学习。书面记录的通用写法见第 015 课。</a:t>
            </a:r>
          </a:p>
          <a:p>
            <a:r>
              <a:t>写下来只是一半，更重要的是把报告里的措施真正落实到每一次操作中。</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第六步是复查：即使没有变化，也要按本校规定定期复查评估报告。遇到以下情况要及时重新评估并更新：更换病原或材料、改变实验方法或流程、人员变化、设施设备变化，以及发生事件或事故之后。</a:t>
            </a:r>
          </a:p>
          <a:p>
            <a:r>
              <a:t>新开展的实验活动，其防护级别要按本校程序报生物安全委员会审批，不自行决定（见第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答案：B。解析：危害是物，风险看可能性和后果，与怎么操作、运输、储存有关。</a:t>
            </a:r>
          </a:p>
          <a:p>
            <a:r>
              <a:t>第 2 题 答案：B。解析：规范操作降的是可能性，后果不一定变轻，防护不能放松。</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答案：B。解析：先认清危害，再分析和评价风险，然后控制、记录，最后定期复查。</a:t>
            </a:r>
          </a:p>
          <a:p>
            <a:r>
              <a:t>第 4 题 答案：D。解析：换病原、换方法、换人换设施、出了事件都要重新评估；没有变化也要定期复查。</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答案：B。解析：残余风险能降不能清零；可接受并经负责人批准才开展，不可接受就加措施或不做。</a:t>
            </a:r>
          </a:p>
          <a:p>
            <a:r>
              <a:t>第 6 题 答案：国内第一类危害最大、第四类最小；国际风险组 1 组最低、4 组最高，方向相反。解析：查目录时不能把两套编号弄混。</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验都要专门评估，不能借用别的实验室的评估报告。</a:t>
            </a:r>
          </a:p>
          <a:p>
            <a:r>
              <a:t>在评估、减缓、绩效的 AMP 循环里（见第 065 课），评估是第一步，首先要做的是找出危害。评估的步骤和风险矩阵见第 067 课，本课讲评估时要逐项考虑的要素。</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风险评估要以已知的病原信息为依据；不知道是什么，风险就看不清。病原还没有确认时，评估要从严，按较高的防护要求操作，并报单位生物安全委员会审核（定级见第 060 课）。</a:t>
            </a:r>
          </a:p>
          <a:p>
            <a:r>
              <a:t>有几类样本要特别从严对待：经过改造的核酸或生物材料、临床（医院）样本、土壤等环境样本、野生动物来源的样本；即使样本来自看起来健康的人或动物，也可能携带病原。这些样本在没有充分信息之前，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风险评估像一座冰山：水面上看得见的风险，能评估、能控制；水面下看不见的风险，同样可能出事，比如一个没人知道的过敏、一种新方法里没有先例的问题。没有先例时，常规的问题清单也可能问不到。</a:t>
            </a:r>
          </a:p>
          <a:p>
            <a:r>
              <a:t>所以评估要尽量全面：查资料、问有经验的人、让动手的人参与，对看不见的风险也尽力预判，并在复查时补充（复查见第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看一串判据，可整理成一张清单，分四块：病原本身（分类、致病性、感染剂量、途径、存活、宿主、防治、是否改造）；实验活动（工艺、用量和浓度、步骤多少、参与人数）；人员（培训、健康和免疫状态）；设施与管理（设备、防护、预案、废物、安保）。</a:t>
            </a:r>
          </a:p>
          <a:p>
            <a:r>
              <a:t>各单位可以参照国家标准、行业标准和本校程序，把清单编成本实验室的评估工具（问卷或表格），照着逐项问一遍，评估就成形了。</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病原层面的第一问是：它属于哪一类？查《人间传染的病原微生物目录》（以现行版本为准），目录还规定了不同实验活动所需的实验室防护级别。</a:t>
            </a:r>
          </a:p>
          <a:p>
            <a:r>
              <a:t>注意两套编号：国内病原微生物分为四类，第一类危害最大、第四类最小；国际风险组 1 组最低、4 组最高，方向相反（见第 058 课）。阅读国外资料时不能把编号直接套用。分类只是起点，还要继续问后面的各项要素。</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一看致病性：暴露后会不会致病，致病性有多强。二看感染剂量：多少量才会引起感染（具体数值查权威资料，不同病原差别很大）；感染剂量越低，越要格外小心。三看暴露后果：引起的疾病有多严重。</a:t>
            </a:r>
          </a:p>
          <a:p>
            <a:r>
              <a:t>培养体积在满足实验需要的前提下尽量小，万一溢洒，量少也更容易控制。</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要查清病原从哪里进入人体：吸入气溶胶、皮肤黏膜接触、锐器刺伤，还是误食入口；会不会形成气溶胶经空气传播。还要看传播方式中有没有媒介（如蜱、蚊等）或动物宿主参与，以及会不会人传人。</a:t>
            </a:r>
          </a:p>
          <a:p>
            <a:r>
              <a:t>途径决定控制重点：能经空气传播的，要特别控制产生气溶胶的操作；经血液传播的，要特别防锐器伤。</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宿主范围：有的病原能在人、多种动物甚至环境中生存，宿主和来源很多样，有的从环境中吸入就能感染；制定管理方案时要把这些都算上。</a:t>
            </a:r>
          </a:p>
          <a:p>
            <a:r>
              <a:t>环境存活：病原在台面、器材和空气中能存活多久，决定了污染范围和消毒要求（消毒见第 076 课）。本地流行情况：病原在本地流行还是外来，本地人可能已有一定免疫力，外来病原则可能没有。</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要问有没有有效的疫苗预防、有没有药物治疗，本地医疗机构能不能及时提供。没有有效的预防和治疗手段，暴露的后果就更严重，风险等级随之升高。</a:t>
            </a:r>
          </a:p>
          <a:p>
            <a:r>
              <a:t>评估要有依据：先查文献、病原资料和已有研究，了解这个病原在实验室里的已知风险和以往的感染事件。</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要问这个生物材料有没有做过基因改造。改造可能改变它的特性，带来新的风险，必须重新评估，并按规定报单位生物安全委员会审查；不能直接沿用未改造亲本的结论。</a:t>
            </a:r>
          </a:p>
          <a:p>
            <a:r>
              <a:t>经改造的植物还要问：有没有毒性，能否随花粉传播、传多远，人员有没有培训，是否在封闭条件下操作。转基因生物的风险评估见第 081 课，植物封闭温室见第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个病原，操作不同风险不同。评估先问：你拿它做什么？冻存保存风险最低，开展检测风险升高，大量培养风险最高；只提取核酸风险较低，种植改造植物并收集花粉风险较高。培养使病原数量增加，一旦溢洒后果更重。</a:t>
            </a:r>
          </a:p>
          <a:p>
            <a:r>
              <a:t>浓度越高、体积越大，风险也跟着上升。处理高风险样品或操作时，防护措施要相应升级（防护等级见第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把整个操作拆成一个个小步骤，每一步问：会不会产生气溶胶（离心、振荡、匀浆、超声、剧烈吹打等）？有没有锐器、溅洒和手接触？把这些风险点标出来。</a:t>
            </a:r>
          </a:p>
          <a:p>
            <a:r>
              <a:t>每一步操作本身的风险都要评估，并写进样本处理方案，对应具体的控制措施，例如移液时沿管壁缓慢放液、在生物安全柜内操作、使用密封离心转子（生物安全柜使用见第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评估也要看操作的人：免疫状态、健康状况、过敏史、是否怀孕等。免疫低下的人风险更高，需要额外的防护，或者调整工作安排。</a:t>
            </a:r>
          </a:p>
          <a:p>
            <a:r>
              <a:t>本人应主动向实验室负责人说明过敏、免疫低下等情况，负责人据此调整安排，并对个人健康信息保密（健康告知见第 152 课，医学监护与免疫接种见第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可以把病原要素变成一份问卷，用“是”或“否”逐条回答：是病原吗？暴露后会致病吗？经吸入传播吗？经接触传播吗？在环境中稳定吗？经过改造吗？好治吗？</a:t>
            </a:r>
          </a:p>
          <a:p>
            <a:r>
              <a:t>答“是”（或“不好治”）的地方，就是风险点，要对应到具体的控制措施。问卷的条目可按本校评估程序增减。</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再看现有控制够不够，问设施与管理：人员培训够不够？有没有应急预案？关键设备（生物安全柜、高压灭菌器等）齐不齐、合格不合格？个人防护够不够？废物怎么处置？安保措施和专门的操作规程有没有？</a:t>
            </a:r>
          </a:p>
          <a:p>
            <a:r>
              <a:t>这些要和实验室负责人一起确认。换了病原，规程要重写，人员要重新培训。</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评估要同时看两类风险：生物安全风险——操作人员和周边社区会不会暴露；生物安保风险——样本会不会丢失、被盗或被滥用（生物安保见第 083 课）。两类风险都要放进同一张评估表里打分。</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a:p>
            <a:r>
              <a:t>已掌握的信息（途径、是否人传人、要做的操作）就是评估的依据；未确证的部分按从严原则处理。</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结构化评估就是把一个流程拆成单个操作，一步一步评估。本案例拆成八步：接收与初始存放、样本编目、分离血清、免疫检测、检测后样本处置、去污、记录保存、意外暴露的应急处置。后四步常被忽略，也不能漏。</a:t>
            </a:r>
          </a:p>
          <a:p>
            <a:r>
              <a:t>更大范围的流程还包括运输、接收、储存、处理、处置和数据传输，每一步都要评一次。例如接收时先在安全柜内检查样本管的密封和标签（样本接收见第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每一步都用风险矩阵（可能性配后果，见第 067 课）打分，例如“接收和存放时意外暴露”可能性低、后果低；颜色分低、中、高、很高，一看就懂。各步汇总成累计矩阵或总表，全程风险一行看清，并找出风险最高的步骤。</a:t>
            </a:r>
          </a:p>
          <a:p>
            <a:r>
              <a:t>总表还能看出风险的变化：例如样本灭活后，被盗滥用的风险就降低了。打分要有依据：做熟了也不能随手把可能性打低，要参考实验记录、事件和险兆报告，不凭感觉。</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评估结束时有一个决策点：在现有控制下，残余风险是否可接受？不够低的，进入下一步风险减缓，对每一项风险点对应具体措施（见第 069 课）。</a:t>
            </a:r>
          </a:p>
          <a:p>
            <a:r>
              <a:t>评估结果要写成文件，按本校程序经生物安全委员会审核，再对应到一条条具体措施并落实。评清楚、控到位，再决定是否开展。</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答案：B。解析：两套编号方向相反；分类只是评估的起点。</a:t>
            </a:r>
          </a:p>
          <a:p>
            <a:r>
              <a:t>第 2 题 答案：B。解析：冻存最低、检测升高、大量培养最高，浓度和量越大风险越高。</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答案：D。解析：病原层面看分类、致病性与感染剂量、途径与媒介、宿主、存活、本地流行、防治和改造。</a:t>
            </a:r>
          </a:p>
          <a:p>
            <a:r>
              <a:t>第 4 题 答案：B。解析：应主动说明，负责人据此调整安排并为个人保密。</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答案：B。解析：每一步都要评，后几步也不能漏，汇成总表看全程风险。</a:t>
            </a:r>
          </a:p>
          <a:p>
            <a:r>
              <a:t>第 6 题 答案：病原未确认的样本、经过改造的材料、临床样本、土壤等环境样本、野生动物来源的样本（包括看似健康来源的）。解析：信息不足时风险往高处估，报生物安全委员会审核。</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风险评估（见第 067、068 课）只是在提问：有什么风险、有多大，本身不会让风险变小；风险减缓才是真正把风险降下来。流程是：识别危害、评估风险，然后进入减缓，控制措施在这一步登场。</a:t>
            </a:r>
          </a:p>
          <a:p>
            <a:r>
              <a:t>控制就是落实管理决策的行动：评估报告里定下的每一条措施，都要落实到设施、规程、培训和防护上，而且几类措施要一起用、互相补位。</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控制层级的通用讲法见第 017 课。</a:t>
            </a:r>
          </a:p>
          <a:p>
            <a:r>
              <a:t>打个比方：汽车的安全带和刹车是工程控制，驾照和交通规则是管理控制。能从源头消除或替代的风险，不要只靠口罩手套来挡。加完控制后，再看残余风险，决定做还是不做（见第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消除是最有效的控制：风险太大，或者没有合适的设施（如没有生物安全柜、没有定向气流）、人员没有培训、人手不足，这个实验就不做，或者转到具备条件的单位开展。</a:t>
            </a:r>
          </a:p>
          <a:p>
            <a:r>
              <a:t>但消除也不是一刀切：全部停掉会阻碍科研进步，要在评估的基础上给研究留出空间，通过其他控制把风险降到可接受，再谨慎开展。</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替代就是换成风险更低的方案：例如改用减毒、弱化的株，在实验室里更好管理；样本在送来之前先按规定灭活，风险就大大降低；能用塑料器材就不用玻璃，能不用锐器就不用锐器。</a:t>
            </a:r>
          </a:p>
          <a:p>
            <a:r>
              <a:t>替代方案本身也要经过评估再换，确认新方案确实风险更低、又能满足实验需要（灭活要经过验证）。</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工程控制是用专门设计的设施设备把病原关住，给人创造安全的工作环境：例如在生物安全柜内操作并接好排风，加上高效过滤和污水处理；实验室保持负压，空气从外往里流，就形成了封闭。</a:t>
            </a:r>
          </a:p>
          <a:p>
            <a:r>
              <a:t>封闭原理、设施布局和运行维护分别见第 062、063、064 课，生物安全柜见第 071–073 课。</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a:p>
            <a:r>
              <a:t>不会正确穿脱，反而可能污染自己，所以每件防护都配有使用规程。防护装备的选用见第 074 课，穿戴与脱卸见第 075 课。</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a:p>
            <a:r>
              <a:t>有了好设施，操作也不能随便：工程控制不能代替规范操作，设施加规范，才真正安全。</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在第 068 课把流程拆成单步、逐步打分之后，对每一步依次问五个控制问题：能不能不做（消除）？能不能换个办法（替代）？能不能加设备（工程控制）？要不要专门的规程（管理控制）？要什么防护（个人防护）？</a:t>
            </a:r>
          </a:p>
          <a:p>
            <a:r>
              <a:t>把每一步选定的措施汇总成一张措施表，例如“接收与存放”主要靠规程和个人防护，再据此落实和检查（绩效评估见第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管理控制是生物风险管理的基石，要在设计建设设施之前，就以安全手册和管理制度的形式定下来。它包括书面的政策、规则、工作安排、培训和记录，一切都要白纸黑字，检查时要看记录。</a:t>
            </a:r>
          </a:p>
          <a:p>
            <a:r>
              <a:t>管理控制种类很多：管理计划、生物安全委员会（以及实验动物、伦理等委员会）、人员与培训、手册、标识、库存、体检、检查审核和文件记录，也包括准入、个人防护和操作规范的要求，以及对工作人员心理和压力的关注。目标是减少接触的时间、次数和严重程度，把风险降下来。</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a:p>
            <a:r>
              <a:t>内部制度由学校、学院和实验室按需要制定，但必须放在法律框架里面，不能与法规冲突。单位要找出所有相关要求并逐条落实，不能说“我不知道有这个规定”；拿不准的，请懂法规的人把关。管理制度要有领导支持，每个人都要对自己的事负责，制度变成做法，做法留下记录。</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标准操作规程的通用原则是“写你所做，做你所写”：规程写的就是实际做的，实际做的就要和规程一致，记录也要与之相符。操作时严格按规程，一步都不能省；规程本身也要测试，确认管用。</a:t>
            </a:r>
          </a:p>
          <a:p>
            <a:r>
              <a:t>规程里要写清应急步骤：溢洒、针刺、暴露怎么处置，先处置，再逐级上报（处置见第 078 课）。记录可以是电子或纸质的：电子记录要备份、要保密，纸质记录要归档存放，记录要有人核实确认。</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核对表和操作规程配套使用：边做边勾，保持情景意识，知道自己做到了哪一步。人累了容易出错，长流程要安排轮班或休息。</a:t>
            </a:r>
          </a:p>
          <a:p>
            <a:r>
              <a:t>核对表可以自查，也可以同伴互查；填好的核对表按规定存档（电子、纸质均可），检查和审核时要查。</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人员上岗前要看学历、培训经历、实际操作能力和相关经验，由单位考核合格后准入（准入与培训制度见第 007 课，以本校规定为准）。按能力分工；换任务、遇到新情况、来了新设备、出了新规定，都要培训。培训要在本实验室、结合实际进行，在别处合格，换地方还要重新学。定期在工作台旁考核，不合格就再培训；培训要留记录，能力要能证明。</a:t>
            </a:r>
          </a:p>
          <a:p>
            <a:r>
              <a:t>风险评估做完，要讲给每个一起工作的人，看懂后签字确认，评估更新后再告诉大家。使用者还要签承诺：自己遵守规程，也提醒别人遵守；事故和未遂事件都要报告；出现相关症状或新的健康问题也要报告。</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a:p>
            <a:r>
              <a:t>标识按国家标准和本校规定的式样设置，信息变化时及时更新。</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管理从一本清单开始：有哪些菌种、毒种、样本、质粒、转基因材料和实验动物，做哪些实验，都登记清楚，变了就更新。台账写明存放位置、安保要求、领用和去向，来龙去脉随时查得到。</a:t>
            </a:r>
          </a:p>
          <a:p>
            <a:r>
              <a:t>菌毒种和样本要专柜保存、专人保管，贴好标签，领用、归还、销毁都要登记。不得私自带出实验室，不得私自转送他人；不把来历不明的菌株带进实验室。用过的菌液和平板先灭活再处理，不能直接倒进水槽（感染性废物见第 077 课）。</a:t>
            </a:r>
          </a:p>
          <a:p>
            <a:r>
              <a:t>发现菌毒种或样本丢失、被盗，立即报告实验室负责人和保卫处，并按规定逐级上报，不得隐瞒（生物安保见第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a:p>
            <a:r>
              <a:t>工作前、中、后都要关注健康，按规定定期体检和健康监测。发生暴露后，由单位负责安排医学评估、预防性处置和救治。职业健康监护的一般要求见第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有的病原有疫苗可用。风险评估认为需要接种的，按要求在上岗前完成接种，并记入健康档案（具体接种项目以评估和本校规定为准）。</a:t>
            </a:r>
          </a:p>
          <a:p>
            <a:r>
              <a:t>疫苗不是万能的：保护作用因人而异，也不覆盖其他危害，打了疫苗，个人防护和规范操作一样也不能少。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健康监测也落到每个人身上。做完实验后出现发热等身体不适，要及时就医，并主动告诉医生自己在什么实验室工作、接触过哪类微生物，便于医生及早判断。</a:t>
            </a:r>
          </a:p>
          <a:p>
            <a:r>
              <a:t>同时报告导师和实验室负责人，便于及早查明原因、采取措施，保护其他人员。</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a:p>
            <a:r>
              <a:t>疑似实验室感染要立即按规定报告并处置（以现行规定和本校规定为准），对相关人员进行医学观察和随访。生物安全员要和学校医务、职业健康部门合作，做好预防和健康监测。</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生物毒素是生物来源的有毒物质，可能少量就造成严重伤害，属于需要特别管理的材料。要专人专柜（加锁）保管，领用要登记、双人复核，定期清点数量，账物相符。</a:t>
            </a:r>
          </a:p>
          <a:p>
            <a:r>
              <a:t>用完按规定方法灭活，再作为废物处置。属于国家管制范围的，按相应规定管理和审批（以现行规定和本校规定为准）；发现丢失、被盗立即报告。</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答案：B。解析：从上往下选，越往上越有效，个人防护是最后一道防线。</a:t>
            </a:r>
          </a:p>
          <a:p>
            <a:r>
              <a:t>第 2 题 答案：B。解析：各类控制要并用，工程控制代替不了规范操作。</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答案：B。解析：清单台账，去向可查；不私自带出、不转送；用过的先灭活。</a:t>
            </a:r>
          </a:p>
          <a:p>
            <a:r>
              <a:t>第 4 题 答案：B。解析：打了疫苗，防护和规范操作也不能少。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答案：B。解析：说明接触史便于及早判断，报告负责人便于查明原因、保护他人。</a:t>
            </a:r>
          </a:p>
          <a:p>
            <a:r>
              <a:t>第 6 题 答案：专人专柜（加锁）保管，领用登记、双人复核，定期清点账物相符，用完按规定灭活再作废物处置，丢失被盗立即报告。解析：属于国家管制范围的按相应规定管理。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生物安全的概念与法规</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适用对象：进入生命科学、医学、农学、环境等涉及生物材料实验室的高校本科生、研究生和教职工（必修，进入生物实验室前完成）；实验室负责人和生物安全员重点学习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能说出生物安全的含义（安全操作、封闭控制）和目的（保护人员、环境和公众，防实验室获得性感染和病原意外释放），能区分生物危害、生物安全与生物安保。</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能说出生物安全的两大原则（风险评估与防护）、防护三要素（操作、设备、设施）和 5P 评估要素，知道国内病原分类与国际风险组顺序相反。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能说出我国生物安全的主要法规和标准（生物安全法、病原微生物实验室生物安全管理条例、GB 19489、WS 233、《人间传染的病原微生物目录》），知道国际手册只作参考。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能判断哪些做法违规（越级操作、私带样本、未经审批开展高致病性病原实验活动），知道违规要承担法律责任。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《中华人民共和国生物安全法》（2021 年 4 月 15 日起施行，以现行文本为准）：生物安全领域的基础性法律，规定病原微生物实验室生物安全管理、法律责任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《病原微生物实验室生物安全管理条例》（国务院令第 424 号公布，以现行文本为准）：病原微生物按危害程度分四类，实验室按防护水平分四级；一级、二级实验室备案，三级、四级实验室国家认可，高致病性病原微生物实验活动须经批准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生物安全通用要求》：风险评估、实验室设施设备、管理体系与安全手册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233（以现行文本为准）《病原微生物实验室生物安全通用准则》：病原微生物实验室生物安全的通用技术和管理要求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《人间传染的病原微生物目录》（国家卫生健康委发布，以现行版本为准）：病原微生物危害程度分类和实验活动所需防护水平的依据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号，以现行文本为准）及高校实验室安全检查项目表：生物安全实验室的备案、准入、培训和管理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本校生物安全管理制度：生物安全委员会审查、准入培训、实验活动审批，以本校规定为准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生物实验室多了看不见的生物危害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生物实验要和细胞、微生物打交道</a:t>
            </a:r>
          </a:p>
          <a:p>
            <a:pPr>
              <a:spcAft>
                <a:spcPts val="1000"/>
              </a:spcAft>
            </a:pPr>
            <a:r>
              <a:rPr sz="2000">
                <a:solidFill>
                  <a:srgbClr val="222B33"/>
                </a:solidFill>
                <a:latin typeface="Microsoft YaHei"/>
              </a:rPr>
              <a:t>▪ 病原体肉眼看不见，却能让健康人生病</a:t>
            </a:r>
          </a:p>
          <a:p>
            <a:pPr>
              <a:spcAft>
                <a:spcPts val="1000"/>
              </a:spcAft>
            </a:pPr>
            <a:r>
              <a:rPr sz="2000">
                <a:solidFill>
                  <a:srgbClr val="222B33"/>
                </a:solidFill>
                <a:latin typeface="Microsoft YaHei"/>
              </a:rPr>
              <a:t>▪ 样本、锐器、移液产生的气溶胶，风险就在手边</a:t>
            </a:r>
          </a:p>
          <a:p>
            <a:pPr>
              <a:spcAft>
                <a:spcPts val="1000"/>
              </a:spcAft>
            </a:pPr>
            <a:r>
              <a:rPr sz="2000">
                <a:solidFill>
                  <a:srgbClr val="222B33"/>
                </a:solidFill>
                <a:latin typeface="Microsoft YaHei"/>
              </a:rPr>
              <a:t>▪ 还有化学品和设备危害，措施一样不能少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生命科学实验离不开细胞、微生物和各种生物样本。与其他实验室相比，生物实验室除了化学品、仪器设备、用电等常见危险，还多了一类生物危害：细菌、病毒等病原体肉眼看不见，却可能让健康人感染生病。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认为“看不见就没危险”，随意对待样本和培养物</a:t>
            </a:r>
          </a:p>
          <a:p>
            <a:pPr>
              <a:spcAft>
                <a:spcPts val="1000"/>
              </a:spcAft>
            </a:pPr>
            <a:r>
              <a:rPr sz="1500">
                <a:solidFill>
                  <a:srgbClr val="222B33"/>
                </a:solidFill>
                <a:latin typeface="Microsoft YaHei"/>
              </a:rPr>
              <a:t>▪ 只注意生物危害，忽视同一实验室里的化学品和设备危险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生物因子失控，会威胁公共卫生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生物因子一旦失控，会威胁公众健康</a:t>
            </a:r>
          </a:p>
          <a:p>
            <a:pPr>
              <a:spcAft>
                <a:spcPts val="1000"/>
              </a:spcAft>
            </a:pPr>
            <a:r>
              <a:rPr sz="2000">
                <a:solidFill>
                  <a:srgbClr val="222B33"/>
                </a:solidFill>
                <a:latin typeface="Microsoft YaHei"/>
              </a:rPr>
              <a:t>▪ 一旦传开，可能引起流行</a:t>
            </a:r>
          </a:p>
          <a:p>
            <a:pPr>
              <a:spcAft>
                <a:spcPts val="1000"/>
              </a:spcAft>
            </a:pPr>
            <a:r>
              <a:rPr sz="2000">
                <a:solidFill>
                  <a:srgbClr val="222B33"/>
                </a:solidFill>
                <a:latin typeface="Microsoft YaHei"/>
              </a:rPr>
              <a:t>▪ 认识指示病例、医院内感染、经皮刺伤、流行病学</a:t>
            </a:r>
          </a:p>
          <a:p>
            <a:pPr>
              <a:spcAft>
                <a:spcPts val="1000"/>
              </a:spcAft>
            </a:pPr>
            <a:r>
              <a:rPr sz="2000">
                <a:solidFill>
                  <a:srgbClr val="222B33"/>
                </a:solidFill>
                <a:latin typeface="Microsoft YaHei"/>
              </a:rPr>
              <a:t>▪ 管好风险，研究才能走得远；这是共同的责任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因子与化学品不同：它能在人群中传播。一旦从实验室失控逸出，受害的可能不只是操作者本人，还可能引起疾病流行，威胁整个社会的公共卫生。随着新发传染病不断出现，生物因子对公众健康的威胁也在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认为实验室感染只影响自己一个人</a:t>
            </a:r>
          </a:p>
          <a:p>
            <a:pPr>
              <a:spcAft>
                <a:spcPts val="1000"/>
              </a:spcAft>
            </a:pPr>
            <a:r>
              <a:rPr sz="1500">
                <a:solidFill>
                  <a:srgbClr val="222B33"/>
                </a:solidFill>
                <a:latin typeface="Microsoft YaHei"/>
              </a:rPr>
              <a:t>▪ 认为生物安全只是生物安全员的事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什么是生物安全：安全操作、封闭控制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生物安全就是安全地操作感染性材料</a:t>
            </a:r>
          </a:p>
          <a:p>
            <a:pPr>
              <a:spcAft>
                <a:spcPts val="1000"/>
              </a:spcAft>
            </a:pPr>
            <a:r>
              <a:rPr sz="2000">
                <a:solidFill>
                  <a:srgbClr val="222B33"/>
                </a:solidFill>
                <a:latin typeface="Microsoft YaHei"/>
              </a:rPr>
              <a:t>▪ 并把它们牢牢控制、封闭在里面</a:t>
            </a:r>
          </a:p>
          <a:p>
            <a:pPr>
              <a:spcAft>
                <a:spcPts val="1000"/>
              </a:spcAft>
            </a:pPr>
            <a:r>
              <a:rPr sz="2000">
                <a:solidFill>
                  <a:srgbClr val="222B33"/>
                </a:solidFill>
                <a:latin typeface="Microsoft YaHei"/>
              </a:rPr>
              <a:t>▪ 给生物因子划好边界，不让它逸出</a:t>
            </a:r>
          </a:p>
          <a:p>
            <a:pPr>
              <a:spcAft>
                <a:spcPts val="1000"/>
              </a:spcAft>
            </a:pPr>
            <a:r>
              <a:rPr sz="2000">
                <a:solidFill>
                  <a:srgbClr val="222B33"/>
                </a:solidFill>
                <a:latin typeface="Microsoft YaHei"/>
              </a:rPr>
              <a:t>▪ 微生物实验室最核心的就是生物安全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生物安全，讲的是怎样安全地操作有感染性的微生物和其他有危害的生物材料，并把它们控制、封闭（也称“防护”或“封闭”）在规定的范围内。所谓防护，就是给生物因子划定边界，让它留在设备和设施里，不逸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把生物安全理解成“戴好手套就行”</a:t>
            </a:r>
          </a:p>
          <a:p>
            <a:pPr>
              <a:spcAft>
                <a:spcPts val="1000"/>
              </a:spcAft>
            </a:pPr>
            <a:r>
              <a:rPr sz="1500">
                <a:solidFill>
                  <a:srgbClr val="222B33"/>
                </a:solidFill>
                <a:latin typeface="Microsoft YaHei"/>
              </a:rPr>
              <a:t>▪ 只想着保护实验样品，不考虑把病原封闭在实验室内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目的：护人员、护环境、护公众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首先保护做实验的人</a:t>
            </a:r>
          </a:p>
          <a:p>
            <a:pPr>
              <a:spcAft>
                <a:spcPts val="1000"/>
              </a:spcAft>
            </a:pPr>
            <a:r>
              <a:rPr sz="2000">
                <a:solidFill>
                  <a:srgbClr val="222B33"/>
                </a:solidFill>
                <a:latin typeface="Microsoft YaHei"/>
              </a:rPr>
              <a:t>▪ 也保护实验室环境和周边社区公众</a:t>
            </a:r>
          </a:p>
          <a:p>
            <a:pPr>
              <a:spcAft>
                <a:spcPts val="1000"/>
              </a:spcAft>
            </a:pPr>
            <a:r>
              <a:rPr sz="2000">
                <a:solidFill>
                  <a:srgbClr val="222B33"/>
                </a:solidFill>
                <a:latin typeface="Microsoft YaHei"/>
              </a:rPr>
              <a:t>▪ 目标一：防止实验室获得性感染</a:t>
            </a:r>
          </a:p>
          <a:p>
            <a:pPr>
              <a:spcAft>
                <a:spcPts val="1000"/>
              </a:spcAft>
            </a:pPr>
            <a:r>
              <a:rPr sz="2000">
                <a:solidFill>
                  <a:srgbClr val="222B33"/>
                </a:solidFill>
                <a:latin typeface="Microsoft YaHei"/>
              </a:rPr>
              <a:t>▪ 目标二：防止病原意外释放到外界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生物安全依靠规范的做法、程序和设备，保护三方面：一是实验室工作人员；二是实验室和周边环境；三是社区公众。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只关心自己不被感染，把污染的物品、衣物带出实验室</a:t>
            </a:r>
          </a:p>
          <a:p>
            <a:pPr>
              <a:spcAft>
                <a:spcPts val="1000"/>
              </a:spcAft>
            </a:pPr>
            <a:r>
              <a:rPr sz="1500">
                <a:solidFill>
                  <a:srgbClr val="222B33"/>
                </a:solidFill>
                <a:latin typeface="Microsoft YaHei"/>
              </a:rPr>
              <a:t>▪ 认为病原“漏一点”不要紧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生物危害、生物安全与生物安保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生物危害：可能伤人的生物因子</a:t>
            </a:r>
          </a:p>
          <a:p>
            <a:pPr>
              <a:spcAft>
                <a:spcPts val="1000"/>
              </a:spcAft>
            </a:pPr>
            <a:r>
              <a:rPr sz="2000">
                <a:solidFill>
                  <a:srgbClr val="222B33"/>
                </a:solidFill>
                <a:latin typeface="Microsoft YaHei"/>
              </a:rPr>
              <a:t>▪ 生物安全：防无意的暴露和释放</a:t>
            </a:r>
          </a:p>
          <a:p>
            <a:pPr>
              <a:spcAft>
                <a:spcPts val="1000"/>
              </a:spcAft>
            </a:pPr>
            <a:r>
              <a:rPr sz="2000">
                <a:solidFill>
                  <a:srgbClr val="222B33"/>
                </a:solidFill>
                <a:latin typeface="Microsoft YaHei"/>
              </a:rPr>
              <a:t>▪ 生物安保：防丢失、被盗、被滥用</a:t>
            </a:r>
          </a:p>
          <a:p>
            <a:pPr>
              <a:spcAft>
                <a:spcPts val="1000"/>
              </a:spcAft>
            </a:pPr>
            <a:r>
              <a:rPr sz="2000">
                <a:solidFill>
                  <a:srgbClr val="222B33"/>
                </a:solidFill>
                <a:latin typeface="Microsoft YaHei"/>
              </a:rPr>
              <a:t>▪ 三者互相咬合，一个也不能少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认为生物安全只管操作，样本丢了与己无关</a:t>
            </a:r>
          </a:p>
          <a:p>
            <a:pPr>
              <a:spcAft>
                <a:spcPts val="1000"/>
              </a:spcAft>
            </a:pPr>
            <a:r>
              <a:rPr sz="1500">
                <a:solidFill>
                  <a:srgbClr val="222B33"/>
                </a:solidFill>
                <a:latin typeface="Microsoft YaHei"/>
              </a:rPr>
              <a:t>▪ 把菌（毒）种和样本随意放在不上锁、无登记的地方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两大原则：风险评估与防护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生物安全有两大原则：风险评估和防护</a:t>
            </a:r>
          </a:p>
          <a:p>
            <a:pPr>
              <a:spcAft>
                <a:spcPts val="1000"/>
              </a:spcAft>
            </a:pPr>
            <a:r>
              <a:rPr sz="2000">
                <a:solidFill>
                  <a:srgbClr val="222B33"/>
                </a:solidFill>
                <a:latin typeface="Microsoft YaHei"/>
              </a:rPr>
              <a:t>▪ 先评估风险有多大</a:t>
            </a:r>
          </a:p>
          <a:p>
            <a:pPr>
              <a:spcAft>
                <a:spcPts val="1000"/>
              </a:spcAft>
            </a:pPr>
            <a:r>
              <a:rPr sz="2000">
                <a:solidFill>
                  <a:srgbClr val="222B33"/>
                </a:solidFill>
                <a:latin typeface="Microsoft YaHei"/>
              </a:rPr>
              <a:t>▪ 再按评估结果配上相应的防护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生物安全工作有两大原则：一是风险评估，二是防护。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不做评估，凭经验决定在哪里做、怎么防护</a:t>
            </a:r>
          </a:p>
          <a:p>
            <a:pPr>
              <a:spcAft>
                <a:spcPts val="1000"/>
              </a:spcAft>
            </a:pPr>
            <a:r>
              <a:rPr sz="1500">
                <a:solidFill>
                  <a:srgbClr val="222B33"/>
                </a:solidFill>
                <a:latin typeface="Microsoft YaHei"/>
              </a:rPr>
              <a:t>▪ 认为防护越多越好，不看评估结果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防护三要素：操作、设备、设施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防护靠规范操作、安全设备和专门设施</a:t>
            </a:r>
          </a:p>
          <a:p>
            <a:pPr>
              <a:spcAft>
                <a:spcPts val="1000"/>
              </a:spcAft>
            </a:pPr>
            <a:r>
              <a:rPr sz="2000">
                <a:solidFill>
                  <a:srgbClr val="222B33"/>
                </a:solidFill>
                <a:latin typeface="Microsoft YaHei"/>
              </a:rPr>
              <a:t>▪ 生物安全柜就是常用的安全设备</a:t>
            </a:r>
          </a:p>
          <a:p>
            <a:pPr>
              <a:spcAft>
                <a:spcPts val="1000"/>
              </a:spcAft>
            </a:pPr>
            <a:r>
              <a:rPr sz="2000">
                <a:solidFill>
                  <a:srgbClr val="222B33"/>
                </a:solidFill>
                <a:latin typeface="Microsoft YaHei"/>
              </a:rPr>
              <a:t>▪ 三者配套，少一样防护就有漏洞</a:t>
            </a:r>
          </a:p>
          <a:p>
            <a:pPr>
              <a:spcAft>
                <a:spcPts val="1000"/>
              </a:spcAft>
            </a:pPr>
            <a:r>
              <a:rPr sz="2000">
                <a:solidFill>
                  <a:srgbClr val="222B33"/>
                </a:solidFill>
                <a:latin typeface="Microsoft YaHei"/>
              </a:rPr>
              <a:t>▪ 目的是减少暴露，能消除就消除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不是一样东西，而是一整套：规范的操作方法和程序（如规程、培训、良好的微生物操作习惯）；专门的安全设备（如生物安全柜、密封离心杯、个人防护装备）；专门设计的实验室设施（如分区、门禁、通风、洗手和消毒灭菌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有了生物安全柜就忽视操作规程</a:t>
            </a:r>
          </a:p>
          <a:p>
            <a:pPr>
              <a:spcAft>
                <a:spcPts val="1000"/>
              </a:spcAft>
            </a:pPr>
            <a:r>
              <a:rPr sz="1500">
                <a:solidFill>
                  <a:srgbClr val="222B33"/>
                </a:solidFill>
                <a:latin typeface="Microsoft YaHei"/>
              </a:rPr>
              <a:t>▪ 认为个人防护装备可以代替合格的实验室设施</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5P：评估风险的五个要素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5P：病原、人员、场所、防护、规程</a:t>
            </a:r>
          </a:p>
          <a:p>
            <a:pPr>
              <a:spcAft>
                <a:spcPts val="1000"/>
              </a:spcAft>
            </a:pPr>
            <a:r>
              <a:rPr sz="1700">
                <a:solidFill>
                  <a:srgbClr val="222B33"/>
                </a:solidFill>
                <a:latin typeface="Microsoft YaHei"/>
              </a:rPr>
              <a:t>▪ 国内第一类最危险，与国际风险组顺序相反</a:t>
            </a:r>
          </a:p>
          <a:p>
            <a:pPr>
              <a:spcAft>
                <a:spcPts val="1000"/>
              </a:spcAft>
            </a:pPr>
            <a:r>
              <a:rPr sz="1700">
                <a:solidFill>
                  <a:srgbClr val="222B33"/>
                </a:solidFill>
                <a:latin typeface="Microsoft YaHei"/>
              </a:rPr>
              <a:t>▪ 人员培训合格、身体适合；场所级别配得上危害</a:t>
            </a:r>
          </a:p>
          <a:p>
            <a:pPr>
              <a:spcAft>
                <a:spcPts val="1000"/>
              </a:spcAft>
            </a:pPr>
            <a:r>
              <a:rPr sz="1700">
                <a:solidFill>
                  <a:srgbClr val="222B33"/>
                </a:solidFill>
                <a:latin typeface="Microsoft YaHei"/>
              </a:rPr>
              <a:t>▪ 五个 P 一起看，哪个薄弱先补哪个</a:t>
            </a:r>
          </a:p>
          <a:p>
            <a:pPr>
              <a:spcAft>
                <a:spcPts val="1000"/>
              </a:spcAft>
            </a:pPr>
            <a:r>
              <a:rPr sz="1700">
                <a:solidFill>
                  <a:srgbClr val="222B33"/>
                </a:solidFill>
                <a:latin typeface="Microsoft YaHei"/>
              </a:rPr>
              <a:t>▪ 再加安全文化：人人尽责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5P 是评估生物风险时常用的五个要素：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把国际风险组的“4 组”当成国内的“第四类”，弄反危害高低</a:t>
            </a:r>
          </a:p>
          <a:p>
            <a:pPr>
              <a:spcAft>
                <a:spcPts val="1000"/>
              </a:spcAft>
            </a:pPr>
            <a:r>
              <a:rPr sz="1500">
                <a:solidFill>
                  <a:srgbClr val="222B33"/>
                </a:solidFill>
                <a:latin typeface="Microsoft YaHei"/>
              </a:rPr>
              <a:t>▪ 只看病原危害，不看人员能力和实验操作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国内生物安全法规与标准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生物安全法是生物安全领域的基本法律</a:t>
            </a:r>
          </a:p>
          <a:p>
            <a:pPr>
              <a:spcAft>
                <a:spcPts val="1000"/>
              </a:spcAft>
            </a:pPr>
            <a:r>
              <a:rPr sz="1700">
                <a:solidFill>
                  <a:srgbClr val="222B33"/>
                </a:solidFill>
                <a:latin typeface="Microsoft YaHei"/>
              </a:rPr>
              <a:t>▪ 条例规定病原分四类、实验室分四级</a:t>
            </a:r>
          </a:p>
          <a:p>
            <a:pPr>
              <a:spcAft>
                <a:spcPts val="1000"/>
              </a:spcAft>
            </a:pPr>
            <a:r>
              <a:rPr sz="1700">
                <a:solidFill>
                  <a:srgbClr val="222B33"/>
                </a:solidFill>
                <a:latin typeface="Microsoft YaHei"/>
              </a:rPr>
              <a:t>▪ 技术要求看 GB 19489 和 WS 233</a:t>
            </a:r>
          </a:p>
          <a:p>
            <a:pPr>
              <a:spcAft>
                <a:spcPts val="1000"/>
              </a:spcAft>
            </a:pPr>
            <a:r>
              <a:rPr sz="1700">
                <a:solidFill>
                  <a:srgbClr val="222B33"/>
                </a:solidFill>
                <a:latin typeface="Microsoft YaHei"/>
              </a:rPr>
              <a:t>▪ 病原分类查《人间传染的病原微生物目录》</a:t>
            </a:r>
          </a:p>
          <a:p>
            <a:pPr>
              <a:spcAft>
                <a:spcPts val="1000"/>
              </a:spcAft>
            </a:pPr>
            <a:r>
              <a:rPr sz="1700">
                <a:solidFill>
                  <a:srgbClr val="222B33"/>
                </a:solidFill>
                <a:latin typeface="Microsoft YaHei"/>
              </a:rPr>
              <a:t>▪ 单位要提供防护、培训和健康监护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开展生物实验，首先要遵守国家法规。我国生物安全的主要依据包括：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只看国外课程或教材，不了解国内法规和本校规定</a:t>
            </a:r>
          </a:p>
          <a:p>
            <a:pPr>
              <a:spcAft>
                <a:spcPts val="1000"/>
              </a:spcAft>
            </a:pPr>
            <a:r>
              <a:rPr sz="1500">
                <a:solidFill>
                  <a:srgbClr val="222B33"/>
                </a:solidFill>
                <a:latin typeface="Microsoft YaHei"/>
              </a:rPr>
              <a:t>▪ 引用法规不核对现行文本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国际手册只作参考，以国内法规为准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国际上的生物安全手册是很好的参照起点</a:t>
            </a:r>
          </a:p>
          <a:p>
            <a:pPr>
              <a:spcAft>
                <a:spcPts val="1000"/>
              </a:spcAft>
            </a:pPr>
            <a:r>
              <a:rPr sz="2000">
                <a:solidFill>
                  <a:srgbClr val="222B33"/>
                </a:solidFill>
                <a:latin typeface="Microsoft YaHei"/>
              </a:rPr>
              <a:t>▪ 它从生物安全的一般原则讲起</a:t>
            </a:r>
          </a:p>
          <a:p>
            <a:pPr>
              <a:spcAft>
                <a:spcPts val="1000"/>
              </a:spcAft>
            </a:pPr>
            <a:r>
              <a:rPr sz="2000">
                <a:solidFill>
                  <a:srgbClr val="222B33"/>
                </a:solidFill>
                <a:latin typeface="Microsoft YaHei"/>
              </a:rPr>
              <a:t>▪ 必须在国内法律框架内使用，国内法规优先</a:t>
            </a:r>
          </a:p>
          <a:p>
            <a:pPr>
              <a:spcAft>
                <a:spcPts val="1000"/>
              </a:spcAft>
            </a:pPr>
            <a:r>
              <a:rPr sz="2000">
                <a:solidFill>
                  <a:srgbClr val="222B33"/>
                </a:solidFill>
                <a:latin typeface="Microsoft YaHei"/>
              </a:rPr>
              <a:t>▪ 各实验室要编写本实验室的安全手册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国际上有通行的实验室生物安全手册，从生物安全的一般原则讲起，涵盖风险评估、防护、设备、培训等内容，是学习和参照的好起点。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照搬国外手册中的数值和做法</a:t>
            </a:r>
          </a:p>
          <a:p>
            <a:pPr>
              <a:spcAft>
                <a:spcPts val="1000"/>
              </a:spcAft>
            </a:pPr>
            <a:r>
              <a:rPr sz="1500">
                <a:solidFill>
                  <a:srgbClr val="222B33"/>
                </a:solidFill>
                <a:latin typeface="Microsoft YaHei"/>
              </a:rPr>
              <a:t>▪ 实验室没有自己的安全手册，或手册放着没人看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合规：外部合规与内部合规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守国家法规标准，是外部合规</a:t>
            </a:r>
          </a:p>
          <a:p>
            <a:pPr>
              <a:spcAft>
                <a:spcPts val="1000"/>
              </a:spcAft>
            </a:pPr>
            <a:r>
              <a:rPr sz="2000">
                <a:solidFill>
                  <a:srgbClr val="222B33"/>
                </a:solidFill>
                <a:latin typeface="Microsoft YaHei"/>
              </a:rPr>
              <a:t>▪ 守单位方针和制度，是内部合规</a:t>
            </a:r>
          </a:p>
          <a:p>
            <a:pPr>
              <a:spcAft>
                <a:spcPts val="1000"/>
              </a:spcAft>
            </a:pPr>
            <a:r>
              <a:rPr sz="2000">
                <a:solidFill>
                  <a:srgbClr val="222B33"/>
                </a:solidFill>
                <a:latin typeface="Microsoft YaHei"/>
              </a:rPr>
              <a:t>▪ 国家、地方、学校的要求，逐项找全</a:t>
            </a:r>
          </a:p>
          <a:p>
            <a:pPr>
              <a:spcAft>
                <a:spcPts val="1000"/>
              </a:spcAft>
            </a:pPr>
            <a:r>
              <a:rPr sz="2000">
                <a:solidFill>
                  <a:srgbClr val="222B33"/>
                </a:solidFill>
                <a:latin typeface="Microsoft YaHei"/>
              </a:rPr>
              <a:t>▪ 对照制度，看看合规做到哪一步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合规，就是遵守法律、法规、标准和规则。遵守国家和地方的法律法规、标准，是外部合规；遵守本单位的方针、制度和规程，是内部合规。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只知道国家法规，不知道本校、本实验室的规定</a:t>
            </a:r>
          </a:p>
          <a:p>
            <a:pPr>
              <a:spcAft>
                <a:spcPts val="1000"/>
              </a:spcAft>
            </a:pPr>
            <a:r>
              <a:rPr sz="1500">
                <a:solidFill>
                  <a:srgbClr val="222B33"/>
                </a:solidFill>
                <a:latin typeface="Microsoft YaHei"/>
              </a:rPr>
              <a:t>▪ 制度写在纸上，没有逐项落实</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依法备案审批，违规要担责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一级、二级实验室按规定备案</a:t>
            </a:r>
          </a:p>
          <a:p>
            <a:pPr>
              <a:spcAft>
                <a:spcPts val="1000"/>
              </a:spcAft>
            </a:pPr>
            <a:r>
              <a:rPr sz="2000">
                <a:solidFill>
                  <a:srgbClr val="222B33"/>
                </a:solidFill>
                <a:latin typeface="Microsoft YaHei"/>
              </a:rPr>
              <a:t>▪ 三级、四级实验室须经国家认可</a:t>
            </a:r>
          </a:p>
          <a:p>
            <a:pPr>
              <a:spcAft>
                <a:spcPts val="1000"/>
              </a:spcAft>
            </a:pPr>
            <a:r>
              <a:rPr sz="2000">
                <a:solidFill>
                  <a:srgbClr val="222B33"/>
                </a:solidFill>
                <a:latin typeface="Microsoft YaHei"/>
              </a:rPr>
              <a:t>▪ 高致病性病原的实验活动，先审批再做</a:t>
            </a:r>
          </a:p>
          <a:p>
            <a:pPr>
              <a:spcAft>
                <a:spcPts val="1000"/>
              </a:spcAft>
            </a:pPr>
            <a:r>
              <a:rPr sz="2000">
                <a:solidFill>
                  <a:srgbClr val="222B33"/>
                </a:solidFill>
                <a:latin typeface="Microsoft YaHei"/>
              </a:rPr>
              <a:t>▪ 越级操作、私带样本都是违规，要担法律责任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认为“只做一次、量很小”就可以在普通实验室里做</a:t>
            </a:r>
          </a:p>
          <a:p>
            <a:pPr>
              <a:spcAft>
                <a:spcPts val="1000"/>
              </a:spcAft>
            </a:pPr>
            <a:r>
              <a:rPr sz="1500">
                <a:solidFill>
                  <a:srgbClr val="222B33"/>
                </a:solidFill>
                <a:latin typeface="Microsoft YaHei"/>
              </a:rPr>
              <a:t>▪ 把样本带回宿舍或私自送给其他单位</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持续学习、保持警觉、防患未然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持续学习新知识、新规定</a:t>
            </a:r>
          </a:p>
          <a:p>
            <a:pPr>
              <a:spcAft>
                <a:spcPts val="1000"/>
              </a:spcAft>
            </a:pPr>
            <a:r>
              <a:rPr sz="2000">
                <a:solidFill>
                  <a:srgbClr val="222B33"/>
                </a:solidFill>
                <a:latin typeface="Microsoft YaHei"/>
              </a:rPr>
              <a:t>▪ 对异常保持警觉，及时报告</a:t>
            </a:r>
          </a:p>
          <a:p>
            <a:pPr>
              <a:spcAft>
                <a:spcPts val="1000"/>
              </a:spcAft>
            </a:pPr>
            <a:r>
              <a:rPr sz="2000">
                <a:solidFill>
                  <a:srgbClr val="222B33"/>
                </a:solidFill>
                <a:latin typeface="Microsoft YaHei"/>
              </a:rPr>
              <a:t>▪ 防患于未然，人人做到生物安全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生物安全的知识和法规在不断更新，要持续学习新知识、新规定，按要求参加复训。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培训一次就不再更新知识</a:t>
            </a:r>
          </a:p>
          <a:p>
            <a:pPr>
              <a:spcAft>
                <a:spcPts val="1000"/>
              </a:spcAft>
            </a:pPr>
            <a:r>
              <a:rPr sz="1500">
                <a:solidFill>
                  <a:srgbClr val="222B33"/>
                </a:solidFill>
                <a:latin typeface="Microsoft YaHei"/>
              </a:rPr>
              <a:t>▪ 发现异常怕麻烦不报告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下列关于我国病原微生物分类的说法，正确的是：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第一类危害最大，与国际风险组的顺序相反</a:t>
            </a:r>
          </a:p>
          <a:p>
            <a:pPr algn="l"/>
            <a:r>
              <a:rPr sz="1500" b="0">
                <a:solidFill>
                  <a:srgbClr val="222B33"/>
                </a:solidFill>
                <a:latin typeface="Microsoft YaHei"/>
              </a:rPr>
              <a:t>C. 与国际风险组顺序相同</a:t>
            </a:r>
          </a:p>
          <a:p>
            <a:pPr algn="l"/>
            <a:r>
              <a:rPr sz="1500" b="0">
                <a:solidFill>
                  <a:srgbClr val="222B33"/>
                </a:solidFill>
                <a:latin typeface="Microsoft YaHei"/>
              </a:rPr>
              <a:t>D. 只有三类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判断：生物安全的目的只是保护做实验的人不被感染。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防止菌（毒）种和样本被丢失、被盗、被滥用，主要属于：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生物危害</a:t>
            </a:r>
          </a:p>
          <a:p>
            <a:pPr algn="l"/>
            <a:r>
              <a:rPr sz="1500" b="0">
                <a:solidFill>
                  <a:srgbClr val="222B33"/>
                </a:solidFill>
                <a:latin typeface="Microsoft YaHei"/>
              </a:rPr>
              <a:t>B. 生物安全</a:t>
            </a:r>
          </a:p>
          <a:p>
            <a:pPr algn="l"/>
            <a:r>
              <a:rPr sz="1500" b="0">
                <a:solidFill>
                  <a:srgbClr val="222B33"/>
                </a:solidFill>
                <a:latin typeface="Microsoft YaHei"/>
              </a:rPr>
              <a:t>C. 生物安保</a:t>
            </a:r>
          </a:p>
          <a:p>
            <a:pPr algn="l"/>
            <a:r>
              <a:rPr sz="1500" b="0">
                <a:solidFill>
                  <a:srgbClr val="222B33"/>
                </a:solidFill>
                <a:latin typeface="Microsoft YaHei"/>
              </a:rPr>
              <a:t>D. 化学安全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5P 评估要素不包括：</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病原</a:t>
            </a:r>
          </a:p>
          <a:p>
            <a:pPr algn="l"/>
            <a:r>
              <a:rPr sz="1500" b="0">
                <a:solidFill>
                  <a:srgbClr val="222B33"/>
                </a:solidFill>
                <a:latin typeface="Microsoft YaHei"/>
              </a:rPr>
              <a:t>B. 人员</a:t>
            </a:r>
          </a:p>
          <a:p>
            <a:pPr algn="l"/>
            <a:r>
              <a:rPr sz="1500" b="0">
                <a:solidFill>
                  <a:srgbClr val="222B33"/>
                </a:solidFill>
                <a:latin typeface="Microsoft YaHei"/>
              </a:rPr>
              <a:t>C. 场所</a:t>
            </a:r>
          </a:p>
          <a:p>
            <a:pPr algn="l"/>
            <a:r>
              <a:rPr sz="1500" b="0">
                <a:solidFill>
                  <a:srgbClr val="222B33"/>
                </a:solidFill>
                <a:latin typeface="Microsoft YaHei"/>
              </a:rPr>
              <a:t>D. 价格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判断：国际实验室生物安全手册内容全面，可以直接替代我国的法规和标准。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简答：同学想在普通教学实验室里“只做一次”需要更高防护级别的实验，还打算把样本带回宿舍，这些做法有什么问题？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生物实验室多了看不见的生物危害</a:t>
            </a:r>
          </a:p>
          <a:p>
            <a:pPr>
              <a:spcAft>
                <a:spcPts val="800"/>
              </a:spcAft>
            </a:pPr>
            <a:r>
              <a:rPr sz="1500">
                <a:solidFill>
                  <a:srgbClr val="FFFFFF"/>
                </a:solidFill>
                <a:latin typeface="Microsoft YaHei"/>
              </a:rPr>
              <a:t>▪ K2  生物因子失控，会威胁公共卫生</a:t>
            </a:r>
          </a:p>
          <a:p>
            <a:pPr>
              <a:spcAft>
                <a:spcPts val="800"/>
              </a:spcAft>
            </a:pPr>
            <a:r>
              <a:rPr sz="1500">
                <a:solidFill>
                  <a:srgbClr val="FFFFFF"/>
                </a:solidFill>
                <a:latin typeface="Microsoft YaHei"/>
              </a:rPr>
              <a:t>▪ K3  什么是生物安全：安全操作、封闭控制</a:t>
            </a:r>
          </a:p>
          <a:p>
            <a:pPr>
              <a:spcAft>
                <a:spcPts val="800"/>
              </a:spcAft>
            </a:pPr>
            <a:r>
              <a:rPr sz="1500">
                <a:solidFill>
                  <a:srgbClr val="FFFFFF"/>
                </a:solidFill>
                <a:latin typeface="Microsoft YaHei"/>
              </a:rPr>
              <a:t>▪ K4  目的：护人员、护环境、护公众</a:t>
            </a:r>
          </a:p>
          <a:p>
            <a:pPr>
              <a:spcAft>
                <a:spcPts val="800"/>
              </a:spcAft>
            </a:pPr>
            <a:r>
              <a:rPr sz="1500">
                <a:solidFill>
                  <a:srgbClr val="FFFFFF"/>
                </a:solidFill>
                <a:latin typeface="Microsoft YaHei"/>
              </a:rPr>
              <a:t>▪ K5  生物危害、生物安全与生物安保</a:t>
            </a:r>
          </a:p>
          <a:p>
            <a:pPr>
              <a:spcAft>
                <a:spcPts val="800"/>
              </a:spcAft>
            </a:pPr>
            <a:r>
              <a:rPr sz="1500">
                <a:solidFill>
                  <a:srgbClr val="FFFFFF"/>
                </a:solidFill>
                <a:latin typeface="Microsoft YaHei"/>
              </a:rPr>
              <a:t>▪ K6  两大原则：风险评估与防护</a:t>
            </a:r>
          </a:p>
          <a:p>
            <a:pPr>
              <a:spcAft>
                <a:spcPts val="800"/>
              </a:spcAft>
            </a:pPr>
            <a:r>
              <a:rPr sz="1500">
                <a:solidFill>
                  <a:srgbClr val="FFFFFF"/>
                </a:solidFill>
                <a:latin typeface="Microsoft YaHei"/>
              </a:rPr>
              <a:t>▪ K7  防护三要素：操作、设备、设施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5P：评估风险的五个要素</a:t>
            </a:r>
          </a:p>
          <a:p>
            <a:pPr>
              <a:spcAft>
                <a:spcPts val="800"/>
              </a:spcAft>
            </a:pPr>
            <a:r>
              <a:rPr sz="1500">
                <a:solidFill>
                  <a:srgbClr val="FFFFFF"/>
                </a:solidFill>
                <a:latin typeface="Microsoft YaHei"/>
              </a:rPr>
              <a:t>▪ K9  国内生物安全法规与标准</a:t>
            </a:r>
          </a:p>
          <a:p>
            <a:pPr>
              <a:spcAft>
                <a:spcPts val="800"/>
              </a:spcAft>
            </a:pPr>
            <a:r>
              <a:rPr sz="1500">
                <a:solidFill>
                  <a:srgbClr val="FFFFFF"/>
                </a:solidFill>
                <a:latin typeface="Microsoft YaHei"/>
              </a:rPr>
              <a:t>▪ K10  国际手册只作参考，以国内法规为准</a:t>
            </a:r>
          </a:p>
          <a:p>
            <a:pPr>
              <a:spcAft>
                <a:spcPts val="800"/>
              </a:spcAft>
            </a:pPr>
            <a:r>
              <a:rPr sz="1500">
                <a:solidFill>
                  <a:srgbClr val="FFFFFF"/>
                </a:solidFill>
                <a:latin typeface="Microsoft YaHei"/>
              </a:rPr>
              <a:t>▪ K11  合规：外部合规与内部合规</a:t>
            </a:r>
          </a:p>
          <a:p>
            <a:pPr>
              <a:spcAft>
                <a:spcPts val="800"/>
              </a:spcAft>
            </a:pPr>
            <a:r>
              <a:rPr sz="1500">
                <a:solidFill>
                  <a:srgbClr val="FFFFFF"/>
                </a:solidFill>
                <a:latin typeface="Microsoft YaHei"/>
              </a:rPr>
              <a:t>▪ K12  依法备案审批，违规要担责</a:t>
            </a:r>
          </a:p>
          <a:p>
            <a:pPr>
              <a:spcAft>
                <a:spcPts val="800"/>
              </a:spcAft>
            </a:pPr>
            <a:r>
              <a:rPr sz="1500">
                <a:solidFill>
                  <a:srgbClr val="FFFFFF"/>
                </a:solidFill>
                <a:latin typeface="Microsoft YaHei"/>
              </a:rPr>
              <a:t>▪ K13  持续学习、保持警觉、防患未然</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病原微生物分类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能说出生物因子的主要种类（细菌、病毒、真菌、寄生虫、朊病毒、毒素、感染性核酸等）及其安全上的特点。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能说出国内病原微生物四类的含义：第一类危害最大、第四类最小，与国际风险组（1 组最低、4 组最高）顺序相反；能判断“第一类病原不在一级实验室”。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能做到以现行《人间传染的病原微生物目录》为准查分类和所需实验室级别；目录查不到的先评估、报生物安全委员会确定；知道第一、二类实验活动须经批准。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能说出评估时要考虑的地区因素，会把病原资料单作为参考工具使用。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《中华人民共和国生物安全法》（以现行文本为准）：病原微生物实验室实行分类管理和分级管理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《病原微生物实验室生物安全管理条例》（以现行文本为准）：病原微生物按危害程度分为四类，第一类、第二类统称高致病性病原微生物；高致病性病原微生物实验活动须在相应级别实验室并经批准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《人间传染的病原微生物目录》（国家卫生健康委发布，以现行版本为准）：各病原的危害程度分类、不同实验活动所需的实验室级别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《动物病原微生物分类名录》（以现行版本为准）：动物病原微生物的分类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233（以现行文本为准）《病原微生物实验室生物安全通用准则》：风险评估和实验室分级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《农业转基因生物安全管理条例》（以现行文本为准）：农业转基因生物安全等级另成体系</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本校生物安全管理制度：目录未列的微生物由生物安全委员会评估确定，以本校规定为准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什么是生物因子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细菌、病毒、真菌等微生物都可能是生物因子</a:t>
            </a:r>
          </a:p>
          <a:p>
            <a:pPr>
              <a:spcAft>
                <a:spcPts val="1000"/>
              </a:spcAft>
            </a:pPr>
            <a:r>
              <a:rPr sz="2000">
                <a:solidFill>
                  <a:srgbClr val="222B33"/>
                </a:solidFill>
                <a:latin typeface="Microsoft YaHei"/>
              </a:rPr>
              <a:t>▪ 还有朊病毒这样的致病颗粒和生物毒素</a:t>
            </a:r>
          </a:p>
          <a:p>
            <a:pPr>
              <a:spcAft>
                <a:spcPts val="1000"/>
              </a:spcAft>
            </a:pPr>
            <a:r>
              <a:rPr sz="2000">
                <a:solidFill>
                  <a:srgbClr val="222B33"/>
                </a:solidFill>
                <a:latin typeface="Microsoft YaHei"/>
              </a:rPr>
              <a:t>▪ 轻则过敏，重则患病甚至死亡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生物因子是指可能对人体健康造成危害的微生物和其他生物材料，包括细菌、病毒、真菌及其他微生物，寄生虫，朊病毒这样的致病蛋白颗粒，以及它们产生的毒素等。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认为只有“病毒、细菌”才算生物危害，忽视真菌孢子、毒素和过敏原</a:t>
            </a:r>
          </a:p>
          <a:p>
            <a:pPr>
              <a:spcAft>
                <a:spcPts val="1000"/>
              </a:spcAft>
            </a:pPr>
            <a:r>
              <a:rPr sz="1500">
                <a:solidFill>
                  <a:srgbClr val="222B33"/>
                </a:solidFill>
                <a:latin typeface="Microsoft YaHei"/>
              </a:rPr>
              <a:t>▪ 认为非活体的毒素、核酸不需要防护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细菌、病毒、真菌各有特点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细菌：不少来自土壤和水，有的形成芽孢，耐受力强</a:t>
            </a:r>
          </a:p>
          <a:p>
            <a:pPr>
              <a:spcAft>
                <a:spcPts val="1000"/>
              </a:spcAft>
            </a:pPr>
            <a:r>
              <a:rPr sz="1700">
                <a:solidFill>
                  <a:srgbClr val="222B33"/>
                </a:solidFill>
                <a:latin typeface="Microsoft YaHei"/>
              </a:rPr>
              <a:t>▪ 支原体没有细胞壁，部分抗生素对它无效</a:t>
            </a:r>
          </a:p>
          <a:p>
            <a:pPr>
              <a:spcAft>
                <a:spcPts val="1000"/>
              </a:spcAft>
            </a:pPr>
            <a:r>
              <a:rPr sz="1700">
                <a:solidFill>
                  <a:srgbClr val="222B33"/>
                </a:solidFill>
                <a:latin typeface="Microsoft YaHei"/>
              </a:rPr>
              <a:t>▪ 病毒：有的可能致命，很多没有特效药</a:t>
            </a:r>
          </a:p>
          <a:p>
            <a:pPr>
              <a:spcAft>
                <a:spcPts val="1000"/>
              </a:spcAft>
            </a:pPr>
            <a:r>
              <a:rPr sz="1700">
                <a:solidFill>
                  <a:srgbClr val="222B33"/>
                </a:solidFill>
                <a:latin typeface="Microsoft YaHei"/>
              </a:rPr>
              <a:t>▪ 真菌孢子随空气扩散，有的产毒素</a:t>
            </a:r>
          </a:p>
          <a:p>
            <a:pPr>
              <a:spcAft>
                <a:spcPts val="1000"/>
              </a:spcAft>
            </a:pPr>
            <a:r>
              <a:rPr sz="1700">
                <a:solidFill>
                  <a:srgbClr val="222B33"/>
                </a:solidFill>
                <a:latin typeface="Microsoft YaHei"/>
              </a:rPr>
              <a:t>▪ 免疫力低时，常见真菌也可能致病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不同生物因子的特点不同，决定了防护的重点：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认为普通消毒对所有细菌都同样有效，忽视芽孢的耐受性</a:t>
            </a:r>
          </a:p>
          <a:p>
            <a:pPr>
              <a:spcAft>
                <a:spcPts val="1000"/>
              </a:spcAft>
            </a:pPr>
            <a:r>
              <a:rPr sz="1500">
                <a:solidFill>
                  <a:srgbClr val="222B33"/>
                </a:solidFill>
                <a:latin typeface="Microsoft YaHei"/>
              </a:rPr>
              <a:t>▪ 认为真菌“只是发霉”，不防孢子扩散</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朊病毒、感染性核酸、寄生虫与毒素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朊病毒少见，引起人和动物慢性神经退行性病</a:t>
            </a:r>
          </a:p>
          <a:p>
            <a:pPr>
              <a:spcAft>
                <a:spcPts val="1000"/>
              </a:spcAft>
            </a:pPr>
            <a:r>
              <a:rPr sz="2000">
                <a:solidFill>
                  <a:srgbClr val="222B33"/>
                </a:solidFill>
                <a:latin typeface="Microsoft YaHei"/>
              </a:rPr>
              <a:t>▪ 有些病毒的核酸本身就有感染性</a:t>
            </a:r>
          </a:p>
          <a:p>
            <a:pPr>
              <a:spcAft>
                <a:spcPts val="1000"/>
              </a:spcAft>
            </a:pPr>
            <a:r>
              <a:rPr sz="2000">
                <a:solidFill>
                  <a:srgbClr val="222B33"/>
                </a:solidFill>
                <a:latin typeface="Microsoft YaHei"/>
              </a:rPr>
              <a:t>▪ 寄生虫、螺、蜱和蚤等也能带病</a:t>
            </a:r>
          </a:p>
          <a:p>
            <a:pPr>
              <a:spcAft>
                <a:spcPts val="1000"/>
              </a:spcAft>
            </a:pPr>
            <a:r>
              <a:rPr sz="2000">
                <a:solidFill>
                  <a:srgbClr val="222B33"/>
                </a:solidFill>
                <a:latin typeface="Microsoft YaHei"/>
              </a:rPr>
              <a:t>▪ 毒素不是活体，同样有害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除细菌、病毒、真菌外，还有几类特殊的生物因子：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用普通消毒方法处理可能含朊病毒的材料</a:t>
            </a:r>
          </a:p>
          <a:p>
            <a:pPr>
              <a:spcAft>
                <a:spcPts val="1000"/>
              </a:spcAft>
            </a:pPr>
            <a:r>
              <a:rPr sz="1500">
                <a:solidFill>
                  <a:srgbClr val="222B33"/>
                </a:solidFill>
                <a:latin typeface="Microsoft YaHei"/>
              </a:rPr>
              <a:t>▪ 认为提取出的核酸都没有感染性</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分组看两头：个体风险与群体风险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风险分组看两头：个体风险和群体风险</a:t>
            </a:r>
          </a:p>
          <a:p>
            <a:pPr>
              <a:spcAft>
                <a:spcPts val="1000"/>
              </a:spcAft>
            </a:pPr>
            <a:r>
              <a:rPr sz="2000">
                <a:solidFill>
                  <a:srgbClr val="222B33"/>
                </a:solidFill>
                <a:latin typeface="Microsoft YaHei"/>
              </a:rPr>
              <a:t>▪ 个体：病有多重，有没有有效的防治手段</a:t>
            </a:r>
          </a:p>
          <a:p>
            <a:pPr>
              <a:spcAft>
                <a:spcPts val="1000"/>
              </a:spcAft>
            </a:pPr>
            <a:r>
              <a:rPr sz="2000">
                <a:solidFill>
                  <a:srgbClr val="222B33"/>
                </a:solidFill>
                <a:latin typeface="Microsoft YaHei"/>
              </a:rPr>
              <a:t>▪ 群体：会不会在人群、动物和环境中传开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病原按风险高低分组，主要看两方面：一是对个体的风险——引起的疾病有多严重，有没有有效的治疗和预防手段；二是对群体（社区）的风险——会不会在人与人、动物与人之间传播，传开后对公众、家畜和环境的影响有多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只看病情轻重，不看传播性</a:t>
            </a:r>
          </a:p>
          <a:p>
            <a:pPr>
              <a:spcAft>
                <a:spcPts val="1000"/>
              </a:spcAft>
            </a:pPr>
            <a:r>
              <a:rPr sz="1500">
                <a:solidFill>
                  <a:srgbClr val="222B33"/>
                </a:solidFill>
                <a:latin typeface="Microsoft YaHei"/>
              </a:rPr>
              <a:t>▪ 只看传播性，不看有没有防治手段</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国际风险组第1、2组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国际风险组：1 组最低，4 组最高</a:t>
            </a:r>
          </a:p>
          <a:p>
            <a:pPr>
              <a:spcAft>
                <a:spcPts val="1000"/>
              </a:spcAft>
            </a:pPr>
            <a:r>
              <a:rPr sz="2000">
                <a:solidFill>
                  <a:srgbClr val="222B33"/>
                </a:solidFill>
                <a:latin typeface="Microsoft YaHei"/>
              </a:rPr>
              <a:t>▪ 第 1 组：个体、群体风险都低，一般不致病</a:t>
            </a:r>
          </a:p>
          <a:p>
            <a:pPr>
              <a:spcAft>
                <a:spcPts val="1000"/>
              </a:spcAft>
            </a:pPr>
            <a:r>
              <a:rPr sz="2000">
                <a:solidFill>
                  <a:srgbClr val="222B33"/>
                </a:solidFill>
                <a:latin typeface="Microsoft YaHei"/>
              </a:rPr>
              <a:t>▪ 风险最低，也要规范操作</a:t>
            </a:r>
          </a:p>
          <a:p>
            <a:pPr>
              <a:spcAft>
                <a:spcPts val="1000"/>
              </a:spcAft>
            </a:pPr>
            <a:r>
              <a:rPr sz="2000">
                <a:solidFill>
                  <a:srgbClr val="222B33"/>
                </a:solidFill>
                <a:latin typeface="Microsoft YaHei"/>
              </a:rPr>
              <a:t>▪ 第 2 组：能致病但危害有限，可防可治，扩散风险低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国际上通行把生物因子分为四个风险组，数字越大风险越高：1 组最低、4 组最高（注意：与我国病原分类的编号方向相反，见 K7）。</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 1 组微生物可以随意操作，不戴手套、不洗手</a:t>
            </a:r>
          </a:p>
          <a:p>
            <a:pPr>
              <a:spcAft>
                <a:spcPts val="1000"/>
              </a:spcAft>
            </a:pPr>
            <a:r>
              <a:rPr sz="1500">
                <a:solidFill>
                  <a:srgbClr val="222B33"/>
                </a:solidFill>
                <a:latin typeface="Microsoft YaHei"/>
              </a:rPr>
              <a:t>▪ 把国际的“第 1 组”当成国内的“第一类”</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国际风险组第3、4组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3 组：常致重病，一般不人传人</a:t>
            </a:r>
          </a:p>
          <a:p>
            <a:pPr>
              <a:spcAft>
                <a:spcPts val="1000"/>
              </a:spcAft>
            </a:pPr>
            <a:r>
              <a:rPr sz="2000">
                <a:solidFill>
                  <a:srgbClr val="222B33"/>
                </a:solidFill>
                <a:latin typeface="Microsoft YaHei"/>
              </a:rPr>
              <a:t>▪ 第 3 组一般有有效的治疗和预防手段</a:t>
            </a:r>
          </a:p>
          <a:p>
            <a:pPr>
              <a:spcAft>
                <a:spcPts val="1000"/>
              </a:spcAft>
            </a:pPr>
            <a:r>
              <a:rPr sz="2000">
                <a:solidFill>
                  <a:srgbClr val="222B33"/>
                </a:solidFill>
                <a:latin typeface="Microsoft YaHei"/>
              </a:rPr>
              <a:t>▪ 第 4 组：病重、易传播，个体群体风险都高</a:t>
            </a:r>
          </a:p>
          <a:p>
            <a:pPr>
              <a:spcAft>
                <a:spcPts val="1000"/>
              </a:spcAft>
            </a:pPr>
            <a:r>
              <a:rPr sz="2000">
                <a:solidFill>
                  <a:srgbClr val="222B33"/>
                </a:solidFill>
                <a:latin typeface="Microsoft YaHei"/>
              </a:rPr>
              <a:t>▪ 第 4 组往往缺药缺苗，只在最高级别设施操作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 第 3 组：个体风险高、群体风险低（或低到中等）。通常引起人或动物的严重疾病，甚至可能致死，但一般不会在人与人之间传开，而且一般有有效的治疗和预防手段。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看到“第 4 组”以为是国内的“第四类”，误以为风险最低</a:t>
            </a:r>
          </a:p>
          <a:p>
            <a:pPr>
              <a:spcAft>
                <a:spcPts val="1000"/>
              </a:spcAft>
            </a:pPr>
            <a:r>
              <a:rPr sz="1500">
                <a:solidFill>
                  <a:srgbClr val="222B33"/>
                </a:solidFill>
                <a:latin typeface="Microsoft YaHei"/>
              </a:rPr>
              <a:t>▪ 认为有疫苗就可以降低实验室级别</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国内分四类：第一类最危险，与国际相反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国内按危害程度把病原微生物分为四类</a:t>
            </a:r>
          </a:p>
          <a:p>
            <a:pPr>
              <a:spcAft>
                <a:spcPts val="1000"/>
              </a:spcAft>
            </a:pPr>
            <a:r>
              <a:rPr sz="2000">
                <a:solidFill>
                  <a:srgbClr val="222B33"/>
                </a:solidFill>
                <a:latin typeface="Microsoft YaHei"/>
              </a:rPr>
              <a:t>▪ 第一类危害最大，第四类最小</a:t>
            </a:r>
          </a:p>
          <a:p>
            <a:pPr>
              <a:spcAft>
                <a:spcPts val="1000"/>
              </a:spcAft>
            </a:pPr>
            <a:r>
              <a:rPr sz="2000">
                <a:solidFill>
                  <a:srgbClr val="222B33"/>
                </a:solidFill>
                <a:latin typeface="Microsoft YaHei"/>
              </a:rPr>
              <a:t>▪ 编号方向与国际风险组正好相反</a:t>
            </a:r>
          </a:p>
          <a:p>
            <a:pPr>
              <a:spcAft>
                <a:spcPts val="1000"/>
              </a:spcAft>
            </a:pPr>
            <a:r>
              <a:rPr sz="2000">
                <a:solidFill>
                  <a:srgbClr val="222B33"/>
                </a:solidFill>
                <a:latin typeface="Microsoft YaHei"/>
              </a:rPr>
              <a:t>▪ 大致对应但不能自己换算，写资料注明编号体系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按《病原微生物实验室生物安全管理条例》（以现行文本为准），我国根据传染性、感染后对个体或群体的危害程度，把病原微生物分为四类：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把国际“4 组”和国内“第四类”混为一谈，弄反危害高低</a:t>
            </a:r>
          </a:p>
          <a:p>
            <a:pPr>
              <a:spcAft>
                <a:spcPts val="1000"/>
              </a:spcAft>
            </a:pPr>
            <a:r>
              <a:rPr sz="1500">
                <a:solidFill>
                  <a:srgbClr val="222B33"/>
                </a:solidFill>
                <a:latin typeface="Microsoft YaHei"/>
              </a:rPr>
              <a:t>▪ 按国外名单自己换算国内类别</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实验室级别国内外同向，别对号入座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实验室防护级别国内外同向，四级最高</a:t>
            </a:r>
          </a:p>
          <a:p>
            <a:pPr>
              <a:spcAft>
                <a:spcPts val="1000"/>
              </a:spcAft>
            </a:pPr>
            <a:r>
              <a:rPr sz="2000">
                <a:solidFill>
                  <a:srgbClr val="222B33"/>
                </a:solidFill>
                <a:latin typeface="Microsoft YaHei"/>
              </a:rPr>
              <a:t>▪ 第一类病原绝不在一级实验室操作</a:t>
            </a:r>
          </a:p>
          <a:p>
            <a:pPr>
              <a:spcAft>
                <a:spcPts val="1000"/>
              </a:spcAft>
            </a:pPr>
            <a:r>
              <a:rPr sz="2000">
                <a:solidFill>
                  <a:srgbClr val="222B33"/>
                </a:solidFill>
                <a:latin typeface="Microsoft YaHei"/>
              </a:rPr>
              <a:t>▪ 做哪一级，查目录再评估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与病原分类不同，生物安全实验室的防护级别国内外方向一致：一级（BSL-1）最低，四级（BSL-4）最高（分级见第 059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认为“第一类病原就在一级实验室做”</a:t>
            </a:r>
          </a:p>
          <a:p>
            <a:pPr>
              <a:spcAft>
                <a:spcPts val="1000"/>
              </a:spcAft>
            </a:pPr>
            <a:r>
              <a:rPr sz="1500">
                <a:solidFill>
                  <a:srgbClr val="222B33"/>
                </a:solidFill>
                <a:latin typeface="Microsoft YaHei"/>
              </a:rPr>
              <a:t>▪ 只看病原类别，不看具体实验活动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第一、二类是高致病性，须经批准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第一类、第二类统称高致病性病原微生物</a:t>
            </a:r>
          </a:p>
          <a:p>
            <a:pPr>
              <a:spcAft>
                <a:spcPts val="1000"/>
              </a:spcAft>
            </a:pPr>
            <a:r>
              <a:rPr sz="2000">
                <a:solidFill>
                  <a:srgbClr val="222B33"/>
                </a:solidFill>
                <a:latin typeface="Microsoft YaHei"/>
              </a:rPr>
              <a:t>▪ 相关实验须在相应级别实验室并经批准</a:t>
            </a:r>
          </a:p>
          <a:p>
            <a:pPr>
              <a:spcAft>
                <a:spcPts val="1000"/>
              </a:spcAft>
            </a:pPr>
            <a:r>
              <a:rPr sz="2000">
                <a:solidFill>
                  <a:srgbClr val="222B33"/>
                </a:solidFill>
                <a:latin typeface="Microsoft YaHei"/>
              </a:rPr>
              <a:t>▪ 学生不得擅自开展这类实验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类、第二类病原微生物统称为高致病性病原微生物。按《病原微生物实验室生物安全管理条例》（以现行文本为准），从事高致病性病原微生物相关实验活动，须在相应防护级别的实验室进行，并按规定报经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以为“只做检测、不做培养”就不需要审批</a:t>
            </a:r>
          </a:p>
          <a:p>
            <a:pPr>
              <a:spcAft>
                <a:spcPts val="1000"/>
              </a:spcAft>
            </a:pPr>
            <a:r>
              <a:rPr sz="1500">
                <a:solidFill>
                  <a:srgbClr val="222B33"/>
                </a:solidFill>
                <a:latin typeface="Microsoft YaHei"/>
              </a:rPr>
              <a:t>▪ 私下从别的实验室要来菌（毒）种</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查《人间传染的病原微生物目录》，用现行版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查分类以国内目录为准，国外资料只作参考</a:t>
            </a:r>
          </a:p>
          <a:p>
            <a:pPr>
              <a:spcAft>
                <a:spcPts val="1000"/>
              </a:spcAft>
            </a:pPr>
            <a:r>
              <a:rPr sz="2000">
                <a:solidFill>
                  <a:srgbClr val="222B33"/>
                </a:solidFill>
                <a:latin typeface="Microsoft YaHei"/>
              </a:rPr>
              <a:t>▪ 目录写明类别和不同实验活动所需实验室级别</a:t>
            </a:r>
          </a:p>
          <a:p>
            <a:pPr>
              <a:spcAft>
                <a:spcPts val="1000"/>
              </a:spcAft>
            </a:pPr>
            <a:r>
              <a:rPr sz="2000">
                <a:solidFill>
                  <a:srgbClr val="222B33"/>
                </a:solidFill>
                <a:latin typeface="Microsoft YaHei"/>
              </a:rPr>
              <a:t>▪ 同一病原，不同实验活动要求不同</a:t>
            </a:r>
          </a:p>
          <a:p>
            <a:pPr>
              <a:spcAft>
                <a:spcPts val="1000"/>
              </a:spcAft>
            </a:pPr>
            <a:r>
              <a:rPr sz="2000">
                <a:solidFill>
                  <a:srgbClr val="222B33"/>
                </a:solidFill>
                <a:latin typeface="Microsoft YaHei"/>
              </a:rPr>
              <a:t>▪ 目录会修订，用现行最新版，别用网上旧表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用国外名单或旧版表格确定国内类别</a:t>
            </a:r>
          </a:p>
          <a:p>
            <a:pPr>
              <a:spcAft>
                <a:spcPts val="1000"/>
              </a:spcAft>
            </a:pPr>
            <a:r>
              <a:rPr sz="1500">
                <a:solidFill>
                  <a:srgbClr val="222B33"/>
                </a:solidFill>
                <a:latin typeface="Microsoft YaHei"/>
              </a:rPr>
              <a:t>▪ 只看病原类别，不看具体实验活动对应的级别</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目录里查不到：评估后报委员会定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目录里查不到，先做风险评估</a:t>
            </a:r>
          </a:p>
          <a:p>
            <a:pPr>
              <a:spcAft>
                <a:spcPts val="1000"/>
              </a:spcAft>
            </a:pPr>
            <a:r>
              <a:rPr sz="2000">
                <a:solidFill>
                  <a:srgbClr val="222B33"/>
                </a:solidFill>
                <a:latin typeface="Microsoft YaHei"/>
              </a:rPr>
              <a:t>▪ 报单位生物安全委员会确定级别和防护</a:t>
            </a:r>
          </a:p>
          <a:p>
            <a:pPr>
              <a:spcAft>
                <a:spcPts val="1000"/>
              </a:spcAft>
            </a:pPr>
            <a:r>
              <a:rPr sz="2000">
                <a:solidFill>
                  <a:srgbClr val="222B33"/>
                </a:solidFill>
                <a:latin typeface="Microsoft YaHei"/>
              </a:rPr>
              <a:t>▪ 批准后，按确定的级别和防护开展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目录里没有，就当作不需要防护</a:t>
            </a:r>
          </a:p>
          <a:p>
            <a:pPr>
              <a:spcAft>
                <a:spcPts val="1000"/>
              </a:spcAft>
            </a:pPr>
            <a:r>
              <a:rPr sz="1500">
                <a:solidFill>
                  <a:srgbClr val="222B33"/>
                </a:solidFill>
                <a:latin typeface="Microsoft YaHei"/>
              </a:rPr>
              <a:t>▪ 自己评估完就开始做，不报委员会</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动物病原和转基因生物另有分级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动物病原另有分类名录</a:t>
            </a:r>
          </a:p>
          <a:p>
            <a:pPr>
              <a:spcAft>
                <a:spcPts val="1000"/>
              </a:spcAft>
            </a:pPr>
            <a:r>
              <a:rPr sz="2000">
                <a:solidFill>
                  <a:srgbClr val="222B33"/>
                </a:solidFill>
                <a:latin typeface="Microsoft YaHei"/>
              </a:rPr>
              <a:t>▪ 涉及动物，人间和动物两个名录都要查</a:t>
            </a:r>
          </a:p>
          <a:p>
            <a:pPr>
              <a:spcAft>
                <a:spcPts val="1000"/>
              </a:spcAft>
            </a:pPr>
            <a:r>
              <a:rPr sz="2000">
                <a:solidFill>
                  <a:srgbClr val="222B33"/>
                </a:solidFill>
                <a:latin typeface="Microsoft YaHei"/>
              </a:rPr>
              <a:t>▪ 农业转基因生物另有安全等级，Ⅰ级最低、Ⅳ级最高</a:t>
            </a:r>
          </a:p>
          <a:p>
            <a:pPr>
              <a:spcAft>
                <a:spcPts val="1000"/>
              </a:spcAft>
            </a:pPr>
            <a:r>
              <a:rPr sz="2000">
                <a:solidFill>
                  <a:srgbClr val="222B33"/>
                </a:solidFill>
                <a:latin typeface="Microsoft YaHei"/>
              </a:rPr>
              <a:t>▪ 填表写清用的是哪套分级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动物病原微生物在国内另有《动物病原微生物分类名录》（以现行版本为准）。实验涉及动物或人兽共患病原时，人间传染的病原目录和动物病原名录都要查清楚。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涉及动物时只查人间传染的病原目录</a:t>
            </a:r>
          </a:p>
          <a:p>
            <a:pPr>
              <a:spcAft>
                <a:spcPts val="1000"/>
              </a:spcAft>
            </a:pPr>
            <a:r>
              <a:rPr sz="1500">
                <a:solidFill>
                  <a:srgbClr val="222B33"/>
                </a:solidFill>
                <a:latin typeface="Microsoft YaHei"/>
              </a:rPr>
              <a:t>▪ 把转基因安全等级和病原分类混写</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评估还要看地区因素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同一种病原，在不同地区风险不同</a:t>
            </a:r>
          </a:p>
          <a:p>
            <a:pPr>
              <a:spcAft>
                <a:spcPts val="1000"/>
              </a:spcAft>
            </a:pPr>
            <a:r>
              <a:rPr sz="2000">
                <a:solidFill>
                  <a:srgbClr val="222B33"/>
                </a:solidFill>
                <a:latin typeface="Microsoft YaHei"/>
              </a:rPr>
              <a:t>▪ 一看致病性，包括本地出现的变异株</a:t>
            </a:r>
          </a:p>
          <a:p>
            <a:pPr>
              <a:spcAft>
                <a:spcPts val="1000"/>
              </a:spcAft>
            </a:pPr>
            <a:r>
              <a:rPr sz="2000">
                <a:solidFill>
                  <a:srgbClr val="222B33"/>
                </a:solidFill>
                <a:latin typeface="Microsoft YaHei"/>
              </a:rPr>
              <a:t>▪ 二看传播方式、宿主、媒介、人口和气候</a:t>
            </a:r>
          </a:p>
          <a:p>
            <a:pPr>
              <a:spcAft>
                <a:spcPts val="1000"/>
              </a:spcAft>
            </a:pPr>
            <a:r>
              <a:rPr sz="2000">
                <a:solidFill>
                  <a:srgbClr val="222B33"/>
                </a:solidFill>
                <a:latin typeface="Microsoft YaHei"/>
              </a:rPr>
              <a:t>▪ 三看预防、四看治疗，本地能否获得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风险分组是一般性的判断。同一种病原在不同地区风险可能不同，评估和确定措施时还要考虑地区因素：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照搬其他地区的评估结论</a:t>
            </a:r>
          </a:p>
          <a:p>
            <a:pPr>
              <a:spcAft>
                <a:spcPts val="1000"/>
              </a:spcAft>
            </a:pPr>
            <a:r>
              <a:rPr sz="1500">
                <a:solidFill>
                  <a:srgbClr val="222B33"/>
                </a:solidFill>
                <a:latin typeface="Microsoft YaHei"/>
              </a:rPr>
              <a:t>▪ 忽视本地有没有传播媒介和防治条件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病原资料单：病原的“说明书”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病原也有资料单，就像化学品安全技术说明书</a:t>
            </a:r>
          </a:p>
          <a:p>
            <a:pPr>
              <a:spcAft>
                <a:spcPts val="1000"/>
              </a:spcAft>
            </a:pPr>
            <a:r>
              <a:rPr sz="2000">
                <a:solidFill>
                  <a:srgbClr val="222B33"/>
                </a:solidFill>
                <a:latin typeface="Microsoft YaHei"/>
              </a:rPr>
              <a:t>▪ 网上公开、不断更新，国外资料只作参考</a:t>
            </a:r>
          </a:p>
          <a:p>
            <a:pPr>
              <a:spcAft>
                <a:spcPts val="1000"/>
              </a:spcAft>
            </a:pPr>
            <a:r>
              <a:rPr sz="2000">
                <a:solidFill>
                  <a:srgbClr val="222B33"/>
                </a:solidFill>
                <a:latin typeface="Microsoft YaHei"/>
              </a:rPr>
              <a:t>▪ 可查风险组、传播途径、处置等信息</a:t>
            </a:r>
          </a:p>
          <a:p>
            <a:pPr>
              <a:spcAft>
                <a:spcPts val="1000"/>
              </a:spcAft>
            </a:pPr>
            <a:r>
              <a:rPr sz="2000">
                <a:solidFill>
                  <a:srgbClr val="222B33"/>
                </a:solidFill>
                <a:latin typeface="Microsoft YaHei"/>
              </a:rPr>
              <a:t>▪ 有手机版，但手机不要带进高等级实验室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化学品有安全技术说明书，病原也有类似的资料单（病原安全数据表），一种病原一份，列出它的特性、传播途径、危害、消毒灭活方法、防护和处置要求等，是做风险评估的常用参考工具。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直接按国外资料单的风险组确定国内实验室级别</a:t>
            </a:r>
          </a:p>
          <a:p>
            <a:pPr>
              <a:spcAft>
                <a:spcPts val="1000"/>
              </a:spcAft>
            </a:pPr>
            <a:r>
              <a:rPr sz="1500">
                <a:solidFill>
                  <a:srgbClr val="222B33"/>
                </a:solidFill>
                <a:latin typeface="Microsoft YaHei"/>
              </a:rPr>
              <a:t>▪ 把手机带进高等级实验室查资料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资料单的九个部分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一是谁：名称分类；二有多凶：致病性、剂量、潜伏期</a:t>
            </a:r>
          </a:p>
          <a:p>
            <a:pPr>
              <a:spcAft>
                <a:spcPts val="1000"/>
              </a:spcAft>
            </a:pPr>
            <a:r>
              <a:rPr sz="1700">
                <a:solidFill>
                  <a:srgbClr val="222B33"/>
                </a:solidFill>
                <a:latin typeface="Microsoft YaHei"/>
              </a:rPr>
              <a:t>▪ 三怎么传：宿主、媒介、人兽共患</a:t>
            </a:r>
          </a:p>
          <a:p>
            <a:pPr>
              <a:spcAft>
                <a:spcPts val="1000"/>
              </a:spcAft>
            </a:pPr>
            <a:r>
              <a:rPr sz="1700">
                <a:solidFill>
                  <a:srgbClr val="222B33"/>
                </a:solidFill>
                <a:latin typeface="Microsoft YaHei"/>
              </a:rPr>
              <a:t>▪ 四能否杀灭：耐药性、消毒剂敏感性、接触时间</a:t>
            </a:r>
          </a:p>
          <a:p>
            <a:pPr>
              <a:spcAft>
                <a:spcPts val="1000"/>
              </a:spcAft>
            </a:pPr>
            <a:r>
              <a:rPr sz="1700">
                <a:solidFill>
                  <a:srgbClr val="222B33"/>
                </a:solidFill>
                <a:latin typeface="Microsoft YaHei"/>
              </a:rPr>
              <a:t>▪ 五急救医疗：疫苗、用药，法定传染病要上报</a:t>
            </a:r>
          </a:p>
          <a:p>
            <a:pPr>
              <a:spcAft>
                <a:spcPts val="1000"/>
              </a:spcAft>
            </a:pPr>
            <a:r>
              <a:rPr sz="1700">
                <a:solidFill>
                  <a:srgbClr val="222B33"/>
                </a:solidFill>
                <a:latin typeface="Microsoft YaHei"/>
              </a:rPr>
              <a:t>▪ 六至九：实验室危害、防护、处置储存、法规信息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常见的病原资料单分为九个部分：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只看风险组编号，不看消毒灭活和应急处置部分</a:t>
            </a:r>
          </a:p>
          <a:p>
            <a:pPr>
              <a:spcAft>
                <a:spcPts val="1000"/>
              </a:spcAft>
            </a:pPr>
            <a:r>
              <a:rPr sz="1500">
                <a:solidFill>
                  <a:srgbClr val="222B33"/>
                </a:solidFill>
                <a:latin typeface="Microsoft YaHei"/>
              </a:rPr>
              <a:t>▪ 消毒时不等够接触时间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关于我国病原微生物分类，正确的是：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第一类危害最大，第四类通常不致病</a:t>
            </a:r>
          </a:p>
          <a:p>
            <a:pPr algn="l"/>
            <a:r>
              <a:rPr sz="1500" b="0">
                <a:solidFill>
                  <a:srgbClr val="222B33"/>
                </a:solidFill>
                <a:latin typeface="Microsoft YaHei"/>
              </a:rPr>
              <a:t>C. 与国际风险组编号方向相同</a:t>
            </a:r>
          </a:p>
          <a:p>
            <a:pPr algn="l"/>
            <a:r>
              <a:rPr sz="1500" b="0">
                <a:solidFill>
                  <a:srgbClr val="222B33"/>
                </a:solidFill>
                <a:latin typeface="Microsoft YaHei"/>
              </a:rPr>
              <a:t>D. 只分三类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判断：国内第一类病原微生物可以在一级生物安全实验室操作。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第一类、第二类病原微生物统称为：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条件致病菌</a:t>
            </a:r>
          </a:p>
          <a:p>
            <a:pPr algn="l"/>
            <a:r>
              <a:rPr sz="1500" b="0">
                <a:solidFill>
                  <a:srgbClr val="222B33"/>
                </a:solidFill>
                <a:latin typeface="Microsoft YaHei"/>
              </a:rPr>
              <a:t>B. 高致病性病原微生物</a:t>
            </a:r>
          </a:p>
          <a:p>
            <a:pPr algn="l"/>
            <a:r>
              <a:rPr sz="1500" b="0">
                <a:solidFill>
                  <a:srgbClr val="222B33"/>
                </a:solidFill>
                <a:latin typeface="Microsoft YaHei"/>
              </a:rPr>
              <a:t>C. 低风险微生物</a:t>
            </a:r>
          </a:p>
          <a:p>
            <a:pPr algn="l"/>
            <a:r>
              <a:rPr sz="1500" b="0">
                <a:solidFill>
                  <a:srgbClr val="222B33"/>
                </a:solidFill>
                <a:latin typeface="Microsoft YaHei"/>
              </a:rPr>
              <a:t>D. 环境微生物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要确定某种病原的国内类别和所需实验室级别，应当以什么为准：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国外病原资料单</a:t>
            </a:r>
          </a:p>
          <a:p>
            <a:pPr algn="l"/>
            <a:r>
              <a:rPr sz="1500" b="0">
                <a:solidFill>
                  <a:srgbClr val="222B33"/>
                </a:solidFill>
                <a:latin typeface="Microsoft YaHei"/>
              </a:rPr>
              <a:t>B. 网上流传的表格</a:t>
            </a:r>
          </a:p>
          <a:p>
            <a:pPr algn="l"/>
            <a:r>
              <a:rPr sz="1500" b="0">
                <a:solidFill>
                  <a:srgbClr val="222B33"/>
                </a:solidFill>
                <a:latin typeface="Microsoft YaHei"/>
              </a:rPr>
              <a:t>C. 现行版《人间传染的病原微生物目录》和风险评估</a:t>
            </a:r>
          </a:p>
          <a:p>
            <a:pPr algn="l"/>
            <a:r>
              <a:rPr sz="1500" b="0">
                <a:solidFill>
                  <a:srgbClr val="222B33"/>
                </a:solidFill>
                <a:latin typeface="Microsoft YaHei"/>
              </a:rPr>
              <a:t>D. 同学的经验</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判断：目录里查不到的微生物，说明它危害很低，可以直接在普通实验室操作。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简答：同一种病原，为什么在不同地区评估结果可能不同？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什么是生物因子</a:t>
            </a:r>
          </a:p>
          <a:p>
            <a:pPr>
              <a:spcAft>
                <a:spcPts val="800"/>
              </a:spcAft>
            </a:pPr>
            <a:r>
              <a:rPr sz="1500">
                <a:solidFill>
                  <a:srgbClr val="FFFFFF"/>
                </a:solidFill>
                <a:latin typeface="Microsoft YaHei"/>
              </a:rPr>
              <a:t>▪ K2  细菌、病毒、真菌各有特点</a:t>
            </a:r>
          </a:p>
          <a:p>
            <a:pPr>
              <a:spcAft>
                <a:spcPts val="800"/>
              </a:spcAft>
            </a:pPr>
            <a:r>
              <a:rPr sz="1500">
                <a:solidFill>
                  <a:srgbClr val="FFFFFF"/>
                </a:solidFill>
                <a:latin typeface="Microsoft YaHei"/>
              </a:rPr>
              <a:t>▪ K3  朊病毒、感染性核酸、寄生虫与毒素</a:t>
            </a:r>
          </a:p>
          <a:p>
            <a:pPr>
              <a:spcAft>
                <a:spcPts val="800"/>
              </a:spcAft>
            </a:pPr>
            <a:r>
              <a:rPr sz="1500">
                <a:solidFill>
                  <a:srgbClr val="FFFFFF"/>
                </a:solidFill>
                <a:latin typeface="Microsoft YaHei"/>
              </a:rPr>
              <a:t>▪ K4  分组看两头：个体风险与群体风险</a:t>
            </a:r>
          </a:p>
          <a:p>
            <a:pPr>
              <a:spcAft>
                <a:spcPts val="800"/>
              </a:spcAft>
            </a:pPr>
            <a:r>
              <a:rPr sz="1500">
                <a:solidFill>
                  <a:srgbClr val="FFFFFF"/>
                </a:solidFill>
                <a:latin typeface="Microsoft YaHei"/>
              </a:rPr>
              <a:t>▪ K5  国际风险组第1、2组</a:t>
            </a:r>
          </a:p>
          <a:p>
            <a:pPr>
              <a:spcAft>
                <a:spcPts val="800"/>
              </a:spcAft>
            </a:pPr>
            <a:r>
              <a:rPr sz="1500">
                <a:solidFill>
                  <a:srgbClr val="FFFFFF"/>
                </a:solidFill>
                <a:latin typeface="Microsoft YaHei"/>
              </a:rPr>
              <a:t>▪ K6  国际风险组第3、4组</a:t>
            </a:r>
          </a:p>
          <a:p>
            <a:pPr>
              <a:spcAft>
                <a:spcPts val="800"/>
              </a:spcAft>
            </a:pPr>
            <a:r>
              <a:rPr sz="1500">
                <a:solidFill>
                  <a:srgbClr val="FFFFFF"/>
                </a:solidFill>
                <a:latin typeface="Microsoft YaHei"/>
              </a:rPr>
              <a:t>▪ K7  国内分四类：第一类最危险，与国际相反</a:t>
            </a:r>
          </a:p>
          <a:p>
            <a:pPr>
              <a:spcAft>
                <a:spcPts val="800"/>
              </a:spcAft>
            </a:pPr>
            <a:r>
              <a:rPr sz="1500">
                <a:solidFill>
                  <a:srgbClr val="FFFFFF"/>
                </a:solidFill>
                <a:latin typeface="Microsoft YaHei"/>
              </a:rPr>
              <a:t>▪ K8  实验室级别国内外同向，别对号入座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第一、二类是高致病性，须经批准</a:t>
            </a:r>
          </a:p>
          <a:p>
            <a:pPr>
              <a:spcAft>
                <a:spcPts val="800"/>
              </a:spcAft>
            </a:pPr>
            <a:r>
              <a:rPr sz="1500">
                <a:solidFill>
                  <a:srgbClr val="FFFFFF"/>
                </a:solidFill>
                <a:latin typeface="Microsoft YaHei"/>
              </a:rPr>
              <a:t>▪ K10  查《人间传染的病原微生物目录》，用现行版</a:t>
            </a:r>
          </a:p>
          <a:p>
            <a:pPr>
              <a:spcAft>
                <a:spcPts val="800"/>
              </a:spcAft>
            </a:pPr>
            <a:r>
              <a:rPr sz="1500">
                <a:solidFill>
                  <a:srgbClr val="FFFFFF"/>
                </a:solidFill>
                <a:latin typeface="Microsoft YaHei"/>
              </a:rPr>
              <a:t>▪ K11  目录里查不到：评估后报委员会定</a:t>
            </a:r>
          </a:p>
          <a:p>
            <a:pPr>
              <a:spcAft>
                <a:spcPts val="800"/>
              </a:spcAft>
            </a:pPr>
            <a:r>
              <a:rPr sz="1500">
                <a:solidFill>
                  <a:srgbClr val="FFFFFF"/>
                </a:solidFill>
                <a:latin typeface="Microsoft YaHei"/>
              </a:rPr>
              <a:t>▪ K12  动物病原和转基因生物另有分级</a:t>
            </a:r>
          </a:p>
          <a:p>
            <a:pPr>
              <a:spcAft>
                <a:spcPts val="800"/>
              </a:spcAft>
            </a:pPr>
            <a:r>
              <a:rPr sz="1500">
                <a:solidFill>
                  <a:srgbClr val="FFFFFF"/>
                </a:solidFill>
                <a:latin typeface="Microsoft YaHei"/>
              </a:rPr>
              <a:t>▪ K13  评估还要看地区因素</a:t>
            </a:r>
          </a:p>
          <a:p>
            <a:pPr>
              <a:spcAft>
                <a:spcPts val="800"/>
              </a:spcAft>
            </a:pPr>
            <a:r>
              <a:rPr sz="1500">
                <a:solidFill>
                  <a:srgbClr val="FFFFFF"/>
                </a:solidFill>
                <a:latin typeface="Microsoft YaHei"/>
              </a:rPr>
              <a:t>▪ K14  病原资料单：病原的“说明书”</a:t>
            </a:r>
          </a:p>
          <a:p>
            <a:pPr>
              <a:spcAft>
                <a:spcPts val="800"/>
              </a:spcAft>
            </a:pPr>
            <a:r>
              <a:rPr sz="1500">
                <a:solidFill>
                  <a:srgbClr val="FFFFFF"/>
                </a:solidFill>
                <a:latin typeface="Microsoft YaHei"/>
              </a:rPr>
              <a:t>▪ K15  资料单的九个部分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生物安全实验室分级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能说出生物安全实验室按防护水平分为一级至四级（BSL-1～BSL-4），一级最低、四级最高，与国内病原分类的编号方向相反。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能说出各级实验室适用的病原类别、典型用途，以及在设施、设备和程序上的递进（开放台面—受控进入与安全柜—负压与缓冲间—正压防护服）。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能说出动物实验室（ABSL）的分级，知道国内标准和规定由谁制定、谁负责备案认可审批，国际手册只作参考。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能判断学生实验的级别边界：多在一级、二级实验室；三级、四级须专门批准、培训和授权；拿不准先问负责人。</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《病原微生物实验室生物安全管理条例》（以现行文本为准）：实验室按生物安全防护水平分为一级至四级；一级、二级实验室备案，三级、四级实验室须通过国家认可，高致病性病原微生物实验活动须经批准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生物安全通用要求》：各级生物安全实验室（含动物生物安全实验室 ABSL-1～ABSL-4）的设施设备和管理要求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号，以现行文本为准）：实验室准入、分级分类管理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本校生物安全管理制度：实验室级别标识、准入和授权，以本校规定为准</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防护级别：一套标准化措施，四级逐级加严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防护级别是一套标准化的防护措施</a:t>
            </a:r>
          </a:p>
          <a:p>
            <a:pPr>
              <a:spcAft>
                <a:spcPts val="1000"/>
              </a:spcAft>
            </a:pPr>
            <a:r>
              <a:rPr sz="2000">
                <a:solidFill>
                  <a:srgbClr val="222B33"/>
                </a:solidFill>
                <a:latin typeface="Microsoft YaHei"/>
              </a:rPr>
              <a:t>▪ 从一级到四级，一共四个等级</a:t>
            </a:r>
          </a:p>
          <a:p>
            <a:pPr>
              <a:spcAft>
                <a:spcPts val="1000"/>
              </a:spcAft>
            </a:pPr>
            <a:r>
              <a:rPr sz="2000">
                <a:solidFill>
                  <a:srgbClr val="222B33"/>
                </a:solidFill>
                <a:latin typeface="Microsoft YaHei"/>
              </a:rPr>
              <a:t>▪ 等级越高，对应风险越高，措施越严</a:t>
            </a:r>
          </a:p>
          <a:p>
            <a:pPr>
              <a:spcAft>
                <a:spcPts val="1000"/>
              </a:spcAft>
            </a:pPr>
            <a:r>
              <a:rPr sz="2000">
                <a:solidFill>
                  <a:srgbClr val="222B33"/>
                </a:solidFill>
                <a:latin typeface="Microsoft YaHei"/>
              </a:rPr>
              <a:t>▪ 目的是保护人员、公众和环境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生物安全防护级别（生物安全水平，BSL）是一整套标准化的防护措施，包括安全规程和做法、安全设备和实验室设施，用来控制操作微生物带来的风险，保护操作人员、公众和环境。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认为各级实验室只是“房间大小不同”</a:t>
            </a:r>
          </a:p>
          <a:p>
            <a:pPr>
              <a:spcAft>
                <a:spcPts val="1000"/>
              </a:spcAft>
            </a:pPr>
            <a:r>
              <a:rPr sz="1500">
                <a:solidFill>
                  <a:srgbClr val="222B33"/>
                </a:solidFill>
                <a:latin typeface="Microsoft YaHei"/>
              </a:rPr>
              <a:t>▪ 把病原分类的“第一类”和实验室的“一级”混为一谈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按危害定级，每级都有设施、设备、程序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定哪一级，看所操作生物因子的危害和实验活动</a:t>
            </a:r>
          </a:p>
          <a:p>
            <a:pPr>
              <a:spcAft>
                <a:spcPts val="1000"/>
              </a:spcAft>
            </a:pPr>
            <a:r>
              <a:rPr sz="2000">
                <a:solidFill>
                  <a:srgbClr val="222B33"/>
                </a:solidFill>
                <a:latin typeface="Microsoft YaHei"/>
              </a:rPr>
              <a:t>▪ 每一级都有设施、设备、程序三方面要求</a:t>
            </a:r>
          </a:p>
          <a:p>
            <a:pPr>
              <a:spcAft>
                <a:spcPts val="1000"/>
              </a:spcAft>
            </a:pPr>
            <a:r>
              <a:rPr sz="2000">
                <a:solidFill>
                  <a:srgbClr val="222B33"/>
                </a:solidFill>
                <a:latin typeface="Microsoft YaHei"/>
              </a:rPr>
              <a:t>▪ 级别越高，设施要求越多，三四级要独立隔离</a:t>
            </a:r>
          </a:p>
          <a:p>
            <a:pPr>
              <a:spcAft>
                <a:spcPts val="1000"/>
              </a:spcAft>
            </a:pPr>
            <a:r>
              <a:rPr sz="2000">
                <a:solidFill>
                  <a:srgbClr val="222B33"/>
                </a:solidFill>
                <a:latin typeface="Microsoft YaHei"/>
              </a:rPr>
              <a:t>▪ 设计实验室、写安全手册，都按级别来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实验在哪一级实验室做，取决于所操作生物因子的危害和具体实验活动（如何为具体实验定级见第 060 课）。每一级对三方面都有要求：什么样的房间和设施；用什么安全设备；按什么程序操作。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只买了生物安全柜，就以为实验室“升了级”</a:t>
            </a:r>
          </a:p>
          <a:p>
            <a:pPr>
              <a:spcAft>
                <a:spcPts val="1000"/>
              </a:spcAft>
            </a:pPr>
            <a:r>
              <a:rPr sz="1500">
                <a:solidFill>
                  <a:srgbClr val="222B33"/>
                </a:solidFill>
                <a:latin typeface="Microsoft YaHei"/>
              </a:rPr>
              <a:t>▪ 不看实验活动，只看病原名称定级</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实验室级别国内外同向，病原分类反向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实验室防护级别国内外同向：一级最低，四级最高</a:t>
            </a:r>
          </a:p>
          <a:p>
            <a:pPr>
              <a:spcAft>
                <a:spcPts val="1000"/>
              </a:spcAft>
            </a:pPr>
            <a:r>
              <a:rPr sz="2000">
                <a:solidFill>
                  <a:srgbClr val="222B33"/>
                </a:solidFill>
                <a:latin typeface="Microsoft YaHei"/>
              </a:rPr>
              <a:t>▪ 动物实验室也是同样的排法</a:t>
            </a:r>
          </a:p>
          <a:p>
            <a:pPr>
              <a:spcAft>
                <a:spcPts val="1000"/>
              </a:spcAft>
            </a:pPr>
            <a:r>
              <a:rPr sz="2000">
                <a:solidFill>
                  <a:srgbClr val="222B33"/>
                </a:solidFill>
                <a:latin typeface="Microsoft YaHei"/>
              </a:rPr>
              <a:t>▪ 病原分类国内第一类最危险，与国际风险组相反</a:t>
            </a:r>
          </a:p>
          <a:p>
            <a:pPr>
              <a:spcAft>
                <a:spcPts val="1000"/>
              </a:spcAft>
            </a:pPr>
            <a:r>
              <a:rPr sz="2000">
                <a:solidFill>
                  <a:srgbClr val="222B33"/>
                </a:solidFill>
                <a:latin typeface="Microsoft YaHei"/>
              </a:rPr>
              <a:t>▪ 口诀：病原分类反着走，实验室级别顺着走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实验室防护级别与病原分类是两套不同的编号：实验室级别国内外一致，一级最低、四级最高，动物生物安全实验室（ABSL）也一样；而病原微生物分类，国内第一类危害最大、第四类最小，国际风险组则是 1 组最低、4 组最高，方向……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认为第一类病原在一级实验室做</a:t>
            </a:r>
          </a:p>
          <a:p>
            <a:pPr>
              <a:spcAft>
                <a:spcPts val="1000"/>
              </a:spcAft>
            </a:pPr>
            <a:r>
              <a:rPr sz="1500">
                <a:solidFill>
                  <a:srgbClr val="222B33"/>
                </a:solidFill>
                <a:latin typeface="Microsoft YaHei"/>
              </a:rPr>
              <a:t>▪ 把国际风险组的数字直接当作实验室级别</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一级：不致病的微生物，基本防护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操作已知对健康成人不致病的微生物</a:t>
            </a:r>
          </a:p>
          <a:p>
            <a:pPr>
              <a:spcAft>
                <a:spcPts val="1000"/>
              </a:spcAft>
            </a:pPr>
            <a:r>
              <a:rPr sz="2000">
                <a:solidFill>
                  <a:srgbClr val="222B33"/>
                </a:solidFill>
                <a:latin typeface="Microsoft YaHei"/>
              </a:rPr>
              <a:t>▪ 如无害的实验室菌株、面包酵母、常见环境菌</a:t>
            </a:r>
          </a:p>
          <a:p>
            <a:pPr>
              <a:spcAft>
                <a:spcPts val="1000"/>
              </a:spcAft>
            </a:pPr>
            <a:r>
              <a:rPr sz="2000">
                <a:solidFill>
                  <a:srgbClr val="222B33"/>
                </a:solidFill>
                <a:latin typeface="Microsoft YaHei"/>
              </a:rPr>
              <a:t>▪ 多用于基础教学和入门实验</a:t>
            </a:r>
          </a:p>
          <a:p>
            <a:pPr>
              <a:spcAft>
                <a:spcPts val="1000"/>
              </a:spcAft>
            </a:pPr>
            <a:r>
              <a:rPr sz="2000">
                <a:solidFill>
                  <a:srgbClr val="222B33"/>
                </a:solidFill>
                <a:latin typeface="Microsoft YaHei"/>
              </a:rPr>
              <a:t>▪ 开放台面，守基本规范，穿实验服戴手套，限制进入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级生物安全实验室（BSL-1）风险最低，操作的是已知通常不会使健康成人致病的微生物，例如无害的实验室菌株、做面包的酵母、土壤和水中的常见非致病菌。许多基础教学实验、微生物学入门课就在这一级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认为一级实验室“没有风险”，在里面饮食、不洗手</a:t>
            </a:r>
          </a:p>
          <a:p>
            <a:pPr>
              <a:spcAft>
                <a:spcPts val="1000"/>
              </a:spcAft>
            </a:pPr>
            <a:r>
              <a:rPr sz="1500">
                <a:solidFill>
                  <a:srgbClr val="222B33"/>
                </a:solidFill>
                <a:latin typeface="Microsoft YaHei"/>
              </a:rPr>
              <a:t>▪ 在一级实验室操作未经评估的不明样本</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二级：中度风险，受控进入、安全柜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操作能致病、但一般不严重或可治的微生物</a:t>
            </a:r>
          </a:p>
          <a:p>
            <a:pPr>
              <a:spcAft>
                <a:spcPts val="1000"/>
              </a:spcAft>
            </a:pPr>
            <a:r>
              <a:rPr sz="2000">
                <a:solidFill>
                  <a:srgbClr val="222B33"/>
                </a:solidFill>
                <a:latin typeface="Microsoft YaHei"/>
              </a:rPr>
              <a:t>▪ 多用于临床检验、高校科研和医院实验室</a:t>
            </a:r>
          </a:p>
          <a:p>
            <a:pPr>
              <a:spcAft>
                <a:spcPts val="1000"/>
              </a:spcAft>
            </a:pPr>
            <a:r>
              <a:rPr sz="2000">
                <a:solidFill>
                  <a:srgbClr val="222B33"/>
                </a:solidFill>
                <a:latin typeface="Microsoft YaHei"/>
              </a:rPr>
              <a:t>▪ 受控进入，门能自动关闭，挂好生物危害标识</a:t>
            </a:r>
          </a:p>
          <a:p>
            <a:pPr>
              <a:spcAft>
                <a:spcPts val="1000"/>
              </a:spcAft>
            </a:pPr>
            <a:r>
              <a:rPr sz="2000">
                <a:solidFill>
                  <a:srgbClr val="222B33"/>
                </a:solidFill>
                <a:latin typeface="Microsoft YaHei"/>
              </a:rPr>
              <a:t>▪ 可能产生气溶胶的操作进生物安全柜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二级实验室的门用东西顶住常开</a:t>
            </a:r>
          </a:p>
          <a:p>
            <a:pPr>
              <a:spcAft>
                <a:spcPts val="1000"/>
              </a:spcAft>
            </a:pPr>
            <a:r>
              <a:rPr sz="1500">
                <a:solidFill>
                  <a:srgbClr val="222B33"/>
                </a:solidFill>
                <a:latin typeface="Microsoft YaHei"/>
              </a:rPr>
              <a:t>▪ 可能产生气溶胶的操作在开放台面上做</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三级：经吸入致重病，负压与严格程序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对应可经吸入传播、致严重甚至致命疾病的病原</a:t>
            </a:r>
          </a:p>
          <a:p>
            <a:pPr>
              <a:spcAft>
                <a:spcPts val="1000"/>
              </a:spcAft>
            </a:pPr>
            <a:r>
              <a:rPr sz="2000">
                <a:solidFill>
                  <a:srgbClr val="222B33"/>
                </a:solidFill>
                <a:latin typeface="Microsoft YaHei"/>
              </a:rPr>
              <a:t>▪ 独立区域、门禁，进出经缓冲间</a:t>
            </a:r>
          </a:p>
          <a:p>
            <a:pPr>
              <a:spcAft>
                <a:spcPts val="1000"/>
              </a:spcAft>
            </a:pPr>
            <a:r>
              <a:rPr sz="2000">
                <a:solidFill>
                  <a:srgbClr val="222B33"/>
                </a:solidFill>
                <a:latin typeface="Microsoft YaHei"/>
              </a:rPr>
              <a:t>▪ 房间负压，空气只往里走，排风高效过滤</a:t>
            </a:r>
          </a:p>
          <a:p>
            <a:pPr>
              <a:spcAft>
                <a:spcPts val="1000"/>
              </a:spcAft>
            </a:pPr>
            <a:r>
              <a:rPr sz="2000">
                <a:solidFill>
                  <a:srgbClr val="222B33"/>
                </a:solidFill>
                <a:latin typeface="Microsoft YaHei"/>
              </a:rPr>
              <a:t>▪ 操作都在安全柜内，严格培训、严格程序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认为学生经过一般培训就能进三级实验室</a:t>
            </a:r>
          </a:p>
          <a:p>
            <a:pPr>
              <a:spcAft>
                <a:spcPts val="1000"/>
              </a:spcAft>
            </a:pPr>
            <a:r>
              <a:rPr sz="1500">
                <a:solidFill>
                  <a:srgbClr val="222B33"/>
                </a:solidFill>
                <a:latin typeface="Microsoft YaHei"/>
              </a:rPr>
              <a:t>▪ 忽视压差、气流异常的提示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四级：最高防护，全国少数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对应危及生命、易传播、缺乏有效防治的病原</a:t>
            </a:r>
          </a:p>
          <a:p>
            <a:pPr>
              <a:spcAft>
                <a:spcPts val="1000"/>
              </a:spcAft>
            </a:pPr>
            <a:r>
              <a:rPr sz="2000">
                <a:solidFill>
                  <a:srgbClr val="222B33"/>
                </a:solidFill>
                <a:latin typeface="Microsoft YaHei"/>
              </a:rPr>
              <a:t>▪ 穿独立供气的正压防护服，破了也往外吹</a:t>
            </a:r>
          </a:p>
          <a:p>
            <a:pPr>
              <a:spcAft>
                <a:spcPts val="1000"/>
              </a:spcAft>
            </a:pPr>
            <a:r>
              <a:rPr sz="2000">
                <a:solidFill>
                  <a:srgbClr val="222B33"/>
                </a:solidFill>
                <a:latin typeface="Microsoft YaHei"/>
              </a:rPr>
              <a:t>▪ 多道去污缓冲区、出口淋浴、双扉灭菌器</a:t>
            </a:r>
          </a:p>
          <a:p>
            <a:pPr>
              <a:spcAft>
                <a:spcPts val="1000"/>
              </a:spcAft>
            </a:pPr>
            <a:r>
              <a:rPr sz="2000">
                <a:solidFill>
                  <a:srgbClr val="222B33"/>
                </a:solidFill>
                <a:latin typeface="Microsoft YaHei"/>
              </a:rPr>
              <a:t>▪ 严格准入，专人监督；造价运行昂贵，数量极少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四级生物安全实验室（BSL-4）是最高等级的防护，对应能危及生命、可经气溶胶传播、通常缺乏有效预防和治疗手段的高危病原；已宣布消灭的病原只在极少数指定机构保存。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认为穿上正压防护服就可以放松操作规范</a:t>
            </a:r>
          </a:p>
          <a:p>
            <a:pPr>
              <a:spcAft>
                <a:spcPts val="1000"/>
              </a:spcAft>
            </a:pPr>
            <a:r>
              <a:rPr sz="1500">
                <a:solidFill>
                  <a:srgbClr val="222B33"/>
                </a:solidFill>
                <a:latin typeface="Microsoft YaHei"/>
              </a:rPr>
              <a:t>▪ 把四级实验室当作参观场所</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动物ABSL、植物设施与“加强型”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动物实验另有动物生物安全一到四级（ABSL）</a:t>
            </a:r>
          </a:p>
          <a:p>
            <a:pPr>
              <a:spcAft>
                <a:spcPts val="1000"/>
              </a:spcAft>
            </a:pPr>
            <a:r>
              <a:rPr sz="2000">
                <a:solidFill>
                  <a:srgbClr val="222B33"/>
                </a:solidFill>
                <a:latin typeface="Microsoft YaHei"/>
              </a:rPr>
              <a:t>▪ 要防咬伤抓伤，也防动物排出的病原</a:t>
            </a:r>
          </a:p>
          <a:p>
            <a:pPr>
              <a:spcAft>
                <a:spcPts val="1000"/>
              </a:spcAft>
            </a:pPr>
            <a:r>
              <a:rPr sz="2000">
                <a:solidFill>
                  <a:srgbClr val="222B33"/>
                </a:solidFill>
                <a:latin typeface="Microsoft YaHei"/>
              </a:rPr>
              <a:t>▪ 植物和转基因植物设施另有要求</a:t>
            </a:r>
          </a:p>
          <a:p>
            <a:pPr>
              <a:spcAft>
                <a:spcPts val="1000"/>
              </a:spcAft>
            </a:pPr>
            <a:r>
              <a:rPr sz="2000">
                <a:solidFill>
                  <a:srgbClr val="222B33"/>
                </a:solidFill>
                <a:latin typeface="Microsoft YaHei"/>
              </a:rPr>
              <a:t>▪ “加强型”指借用了更高一级的部分设计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用动物做感染性实验，按动物生物安全实验室分级，即 ABSL-1～ABSL-4，同样一级最低、四级最高（GB 19489-2008，以现行文本为准）。动物实验除了防操作中的暴露，还要防动物咬伤、抓伤，防动物排出的分泌物……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认为动物实验只要按普通实验室的级别做</a:t>
            </a:r>
          </a:p>
          <a:p>
            <a:pPr>
              <a:spcAft>
                <a:spcPts val="1000"/>
              </a:spcAft>
            </a:pPr>
            <a:r>
              <a:rPr sz="1500">
                <a:solidFill>
                  <a:srgbClr val="222B33"/>
                </a:solidFill>
                <a:latin typeface="Microsoft YaHei"/>
              </a:rPr>
              <a:t>▪ 动物垫料、排泄物按普通垃圾处理</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谁定标准：国内法律、法规、标准层层落实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最上层是生物安全法，下面是管理条例</a:t>
            </a:r>
          </a:p>
          <a:p>
            <a:pPr>
              <a:spcAft>
                <a:spcPts val="1000"/>
              </a:spcAft>
            </a:pPr>
            <a:r>
              <a:rPr sz="2000">
                <a:solidFill>
                  <a:srgbClr val="222B33"/>
                </a:solidFill>
                <a:latin typeface="Microsoft YaHei"/>
              </a:rPr>
              <a:t>▪ 技术要求写在 GB 19489 和 WS 233 中</a:t>
            </a:r>
          </a:p>
          <a:p>
            <a:pPr>
              <a:spcAft>
                <a:spcPts val="1000"/>
              </a:spcAft>
            </a:pPr>
            <a:r>
              <a:rPr sz="2000">
                <a:solidFill>
                  <a:srgbClr val="222B33"/>
                </a:solidFill>
                <a:latin typeface="Microsoft YaHei"/>
              </a:rPr>
              <a:t>▪ 病原放几级做，查国家目录</a:t>
            </a:r>
          </a:p>
          <a:p>
            <a:pPr>
              <a:spcAft>
                <a:spcPts val="1000"/>
              </a:spcAft>
            </a:pPr>
            <a:r>
              <a:rPr sz="2000">
                <a:solidFill>
                  <a:srgbClr val="222B33"/>
                </a:solidFill>
                <a:latin typeface="Microsoft YaHei"/>
              </a:rPr>
              <a:t>▪ 标准会修订，认准现行有效版本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实验室分级的标准不是一个机构说了算。在国内，是法律、法规、标准一层层落实：最上层是《中华人民共和国生物安全法》，下面是《病原微生物实验室生物安全管理条例》；技术要求写在国家标准 GB 19489-2008《实验室 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引用已作废的旧版标准</a:t>
            </a:r>
          </a:p>
          <a:p>
            <a:pPr>
              <a:spcAft>
                <a:spcPts val="1000"/>
              </a:spcAft>
            </a:pPr>
            <a:r>
              <a:rPr sz="1500">
                <a:solidFill>
                  <a:srgbClr val="222B33"/>
                </a:solidFill>
                <a:latin typeface="Microsoft YaHei"/>
              </a:rPr>
              <a:t>▪ 只记得国外的分级说法，不知道国内标准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国际手册和指南只作参考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国际组织发布实验室生物安全手册和专项指南</a:t>
            </a:r>
          </a:p>
          <a:p>
            <a:pPr>
              <a:spcAft>
                <a:spcPts val="1000"/>
              </a:spcAft>
            </a:pPr>
            <a:r>
              <a:rPr sz="2000">
                <a:solidFill>
                  <a:srgbClr val="222B33"/>
                </a:solidFill>
                <a:latin typeface="Microsoft YaHei"/>
              </a:rPr>
              <a:t>▪ 多用于全球疫情应对和各国能力建设</a:t>
            </a:r>
          </a:p>
          <a:p>
            <a:pPr>
              <a:spcAft>
                <a:spcPts val="1000"/>
              </a:spcAft>
            </a:pPr>
            <a:r>
              <a:rPr sz="2000">
                <a:solidFill>
                  <a:srgbClr val="222B33"/>
                </a:solidFill>
                <a:latin typeface="Microsoft YaHei"/>
              </a:rPr>
              <a:t>▪ 在我国只作参考，以国内规定为准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国际上也有国际组织制定实验室生物安全手册，以及针对高风险病原的专项指南，尤其帮助公共卫生体系还在建设中的国家，在全球疫情应对中发挥作用。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按国际手册自行决定实验室级别</a:t>
            </a:r>
          </a:p>
          <a:p>
            <a:pPr>
              <a:spcAft>
                <a:spcPts val="1000"/>
              </a:spcAft>
            </a:pPr>
            <a:r>
              <a:rPr sz="1500">
                <a:solidFill>
                  <a:srgbClr val="222B33"/>
                </a:solidFill>
                <a:latin typeface="Microsoft YaHei"/>
              </a:rPr>
              <a:t>▪ 认为国际指南比国内标准“更权威”</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一张图看清谁管什么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国际组织：提供国际参考</a:t>
            </a:r>
          </a:p>
          <a:p>
            <a:pPr>
              <a:spcAft>
                <a:spcPts val="1000"/>
              </a:spcAft>
            </a:pPr>
            <a:r>
              <a:rPr sz="2000">
                <a:solidFill>
                  <a:srgbClr val="222B33"/>
                </a:solidFill>
                <a:latin typeface="Microsoft YaHei"/>
              </a:rPr>
              <a:t>▪ 国家：法律法规定框架，标准定技术要求</a:t>
            </a:r>
          </a:p>
          <a:p>
            <a:pPr>
              <a:spcAft>
                <a:spcPts val="1000"/>
              </a:spcAft>
            </a:pPr>
            <a:r>
              <a:rPr sz="2000">
                <a:solidFill>
                  <a:srgbClr val="222B33"/>
                </a:solidFill>
                <a:latin typeface="Microsoft YaHei"/>
              </a:rPr>
              <a:t>▪ 主管部门和认可机构：备案、认可和审批</a:t>
            </a:r>
          </a:p>
          <a:p>
            <a:pPr>
              <a:spcAft>
                <a:spcPts val="1000"/>
              </a:spcAft>
            </a:pPr>
            <a:r>
              <a:rPr sz="2000">
                <a:solidFill>
                  <a:srgbClr val="222B33"/>
                </a:solidFill>
                <a:latin typeface="Microsoft YaHei"/>
              </a:rPr>
              <a:t>▪ 单位生物安全委员会：本地监督和执行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用一张图记住谁管什么：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以为实验室建好就能直接用，不需要备案或认可</a:t>
            </a:r>
          </a:p>
          <a:p>
            <a:pPr>
              <a:spcAft>
                <a:spcPts val="1000"/>
              </a:spcAft>
            </a:pPr>
            <a:r>
              <a:rPr sz="1500">
                <a:solidFill>
                  <a:srgbClr val="222B33"/>
                </a:solidFill>
                <a:latin typeface="Microsoft YaHei"/>
              </a:rPr>
              <a:t>▪ 以为生物安全只是国家部门的事，学校不用管</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学生实验的级别边界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学生实验多在一级、二级实验室</a:t>
            </a:r>
          </a:p>
          <a:p>
            <a:pPr>
              <a:spcAft>
                <a:spcPts val="1000"/>
              </a:spcAft>
            </a:pPr>
            <a:r>
              <a:rPr sz="2000">
                <a:solidFill>
                  <a:srgbClr val="222B33"/>
                </a:solidFill>
                <a:latin typeface="Microsoft YaHei"/>
              </a:rPr>
              <a:t>▪ 三级、四级须专门批准、培训和授权</a:t>
            </a:r>
          </a:p>
          <a:p>
            <a:pPr>
              <a:spcAft>
                <a:spcPts val="1000"/>
              </a:spcAft>
            </a:pPr>
            <a:r>
              <a:rPr sz="2000">
                <a:solidFill>
                  <a:srgbClr val="222B33"/>
                </a:solidFill>
                <a:latin typeface="Microsoft YaHei"/>
              </a:rPr>
              <a:t>▪ 实验须在相应级别实验室，经评估和批准</a:t>
            </a:r>
          </a:p>
          <a:p>
            <a:pPr>
              <a:spcAft>
                <a:spcPts val="1000"/>
              </a:spcAft>
            </a:pPr>
            <a:r>
              <a:rPr sz="2000">
                <a:solidFill>
                  <a:srgbClr val="222B33"/>
                </a:solidFill>
                <a:latin typeface="Microsoft YaHei"/>
              </a:rPr>
              <a:t>▪ 拿不准级别，先问负责人，不擅自做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高校学生的教学和多数科研实验在一级、二级实验室开展。进入三级、四级实验室工作，须经单位专门批准，接受专门培训并考核合格，获得授权；学生不得自行进入或开展相关实验。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为了“方便”在级别不够的实验室做实验</a:t>
            </a:r>
          </a:p>
          <a:p>
            <a:pPr>
              <a:spcAft>
                <a:spcPts val="1000"/>
              </a:spcAft>
            </a:pPr>
            <a:r>
              <a:rPr sz="1500">
                <a:solidFill>
                  <a:srgbClr val="222B33"/>
                </a:solidFill>
                <a:latin typeface="Microsoft YaHei"/>
              </a:rPr>
              <a:t>▪ 未经准入培训就进入二级实验室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关于生物安全实验室防护级别，正确的是：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一级最高</a:t>
            </a:r>
          </a:p>
          <a:p>
            <a:pPr algn="l"/>
            <a:r>
              <a:rPr sz="1500" b="0">
                <a:solidFill>
                  <a:srgbClr val="222B33"/>
                </a:solidFill>
                <a:latin typeface="Microsoft YaHei"/>
              </a:rPr>
              <a:t>B. 一级最低、四级最高，国内外同向</a:t>
            </a:r>
          </a:p>
          <a:p>
            <a:pPr algn="l"/>
            <a:r>
              <a:rPr sz="1500" b="0">
                <a:solidFill>
                  <a:srgbClr val="222B33"/>
                </a:solidFill>
                <a:latin typeface="Microsoft YaHei"/>
              </a:rPr>
              <a:t>C. 与病原分类编号方向相同，第一类病原在一级实验室做</a:t>
            </a:r>
          </a:p>
          <a:p>
            <a:pPr algn="l"/>
            <a:r>
              <a:rPr sz="1500" b="0">
                <a:solidFill>
                  <a:srgbClr val="222B33"/>
                </a:solidFill>
                <a:latin typeface="Microsoft YaHei"/>
              </a:rPr>
              <a:t>D. 国内只有三级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房间保持负压、进出经缓冲间、排风经高效过滤、所有操作在安全柜内，这是哪一级实验室的特点：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a:t>
            </a:r>
          </a:p>
          <a:p>
            <a:pPr algn="l"/>
            <a:r>
              <a:rPr sz="1500" b="0">
                <a:solidFill>
                  <a:srgbClr val="222B33"/>
                </a:solidFill>
                <a:latin typeface="Microsoft YaHei"/>
              </a:rPr>
              <a:t>B. 二级</a:t>
            </a:r>
          </a:p>
          <a:p>
            <a:pPr algn="l"/>
            <a:r>
              <a:rPr sz="1500" b="0">
                <a:solidFill>
                  <a:srgbClr val="222B33"/>
                </a:solidFill>
                <a:latin typeface="Microsoft YaHei"/>
              </a:rPr>
              <a:t>C. 三级</a:t>
            </a:r>
          </a:p>
          <a:p>
            <a:pPr algn="l"/>
            <a:r>
              <a:rPr sz="1500" b="0">
                <a:solidFill>
                  <a:srgbClr val="222B33"/>
                </a:solidFill>
                <a:latin typeface="Microsoft YaHei"/>
              </a:rPr>
              <a:t>D. 只是普通化学实验室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我国生物安全实验室的技术要求主要写在：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19489 和 WS 233</a:t>
            </a:r>
          </a:p>
          <a:p>
            <a:pPr algn="l"/>
            <a:r>
              <a:rPr sz="1500" b="0">
                <a:solidFill>
                  <a:srgbClr val="222B33"/>
                </a:solidFill>
                <a:latin typeface="Microsoft YaHei"/>
              </a:rPr>
              <a:t>B. 国际组织的手册</a:t>
            </a:r>
          </a:p>
          <a:p>
            <a:pPr algn="l"/>
            <a:r>
              <a:rPr sz="1500" b="0">
                <a:solidFill>
                  <a:srgbClr val="222B33"/>
                </a:solidFill>
                <a:latin typeface="Microsoft YaHei"/>
              </a:rPr>
              <a:t>C. 化学品安全技术说明书</a:t>
            </a:r>
          </a:p>
          <a:p>
            <a:pPr algn="l"/>
            <a:r>
              <a:rPr sz="1500" b="0">
                <a:solidFill>
                  <a:srgbClr val="222B33"/>
                </a:solidFill>
                <a:latin typeface="Microsoft YaHei"/>
              </a:rPr>
              <a:t>D. 网上的经验帖</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简答：阿杰不确定自己的实验该在几级实验室做，应该怎么办？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防护级别：一套标准化措施，四级逐级加严</a:t>
            </a:r>
          </a:p>
          <a:p>
            <a:pPr>
              <a:spcAft>
                <a:spcPts val="800"/>
              </a:spcAft>
            </a:pPr>
            <a:r>
              <a:rPr sz="1500">
                <a:solidFill>
                  <a:srgbClr val="FFFFFF"/>
                </a:solidFill>
                <a:latin typeface="Microsoft YaHei"/>
              </a:rPr>
              <a:t>▪ K2  按危害定级，每级都有设施、设备、程序</a:t>
            </a:r>
          </a:p>
          <a:p>
            <a:pPr>
              <a:spcAft>
                <a:spcPts val="800"/>
              </a:spcAft>
            </a:pPr>
            <a:r>
              <a:rPr sz="1500">
                <a:solidFill>
                  <a:srgbClr val="FFFFFF"/>
                </a:solidFill>
                <a:latin typeface="Microsoft YaHei"/>
              </a:rPr>
              <a:t>▪ K3  实验室级别国内外同向，病原分类反向</a:t>
            </a:r>
          </a:p>
          <a:p>
            <a:pPr>
              <a:spcAft>
                <a:spcPts val="800"/>
              </a:spcAft>
            </a:pPr>
            <a:r>
              <a:rPr sz="1500">
                <a:solidFill>
                  <a:srgbClr val="FFFFFF"/>
                </a:solidFill>
                <a:latin typeface="Microsoft YaHei"/>
              </a:rPr>
              <a:t>▪ K4  一级：不致病的微生物，基本防护</a:t>
            </a:r>
          </a:p>
          <a:p>
            <a:pPr>
              <a:spcAft>
                <a:spcPts val="800"/>
              </a:spcAft>
            </a:pPr>
            <a:r>
              <a:rPr sz="1500">
                <a:solidFill>
                  <a:srgbClr val="FFFFFF"/>
                </a:solidFill>
                <a:latin typeface="Microsoft YaHei"/>
              </a:rPr>
              <a:t>▪ K5  二级：中度风险，受控进入、安全柜</a:t>
            </a:r>
          </a:p>
          <a:p>
            <a:pPr>
              <a:spcAft>
                <a:spcPts val="800"/>
              </a:spcAft>
            </a:pPr>
            <a:r>
              <a:rPr sz="1500">
                <a:solidFill>
                  <a:srgbClr val="FFFFFF"/>
                </a:solidFill>
                <a:latin typeface="Microsoft YaHei"/>
              </a:rPr>
              <a:t>▪ K6  三级：经吸入致重病，负压与严格程序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四级：最高防护，全国少数</a:t>
            </a:r>
          </a:p>
          <a:p>
            <a:pPr>
              <a:spcAft>
                <a:spcPts val="800"/>
              </a:spcAft>
            </a:pPr>
            <a:r>
              <a:rPr sz="1500">
                <a:solidFill>
                  <a:srgbClr val="FFFFFF"/>
                </a:solidFill>
                <a:latin typeface="Microsoft YaHei"/>
              </a:rPr>
              <a:t>▪ K8  动物ABSL、植物设施与“加强型”</a:t>
            </a:r>
          </a:p>
          <a:p>
            <a:pPr>
              <a:spcAft>
                <a:spcPts val="800"/>
              </a:spcAft>
            </a:pPr>
            <a:r>
              <a:rPr sz="1500">
                <a:solidFill>
                  <a:srgbClr val="FFFFFF"/>
                </a:solidFill>
                <a:latin typeface="Microsoft YaHei"/>
              </a:rPr>
              <a:t>▪ K9  谁定标准：国内法律、法规、标准层层落实</a:t>
            </a:r>
          </a:p>
          <a:p>
            <a:pPr>
              <a:spcAft>
                <a:spcPts val="800"/>
              </a:spcAft>
            </a:pPr>
            <a:r>
              <a:rPr sz="1500">
                <a:solidFill>
                  <a:srgbClr val="FFFFFF"/>
                </a:solidFill>
                <a:latin typeface="Microsoft YaHei"/>
              </a:rPr>
              <a:t>▪ K10  国际手册和指南只作参考</a:t>
            </a:r>
          </a:p>
          <a:p>
            <a:pPr>
              <a:spcAft>
                <a:spcPts val="800"/>
              </a:spcAft>
            </a:pPr>
            <a:r>
              <a:rPr sz="1500">
                <a:solidFill>
                  <a:srgbClr val="FFFFFF"/>
                </a:solidFill>
                <a:latin typeface="Microsoft YaHei"/>
              </a:rPr>
              <a:t>▪ K11  一张图看清谁管什么</a:t>
            </a:r>
          </a:p>
          <a:p>
            <a:pPr>
              <a:spcAft>
                <a:spcPts val="800"/>
              </a:spcAft>
            </a:pPr>
            <a:r>
              <a:rPr sz="1500">
                <a:solidFill>
                  <a:srgbClr val="FFFFFF"/>
                </a:solidFill>
                <a:latin typeface="Microsoft YaHei"/>
              </a:rPr>
              <a:t>▪ K12  学生实验的级别边界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如何确定实验活动的防护等级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59 镜）　适用对象：开展或计划开展涉及微生物、细胞、临床和环境样本实验的高校研究生、本科生和教职工；项目负责人、实验室负责人和生物安全员重点学习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能说出为新微生物或新实验确定防护等级的七个步骤：认清病原、致病性、传播途径、有无药和疫苗、实验操作、设施与人员能力、查规范问委员会。</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能做到“取最高的风险因素”定级，知道风险组不直接等于实验室级别，不得随意降级，降级须评估并经批准。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能判断未知病原、来源不明样本、细胞系、临床和环境样本、噬菌体实验都要评估定级，信息不全时从严。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能说出定级由生物安全委员会评定审批、学生不得自行定级，评估要成文、情况变化要重新评估，条件不够依法移交。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《中华人民共和国生物安全法》（以现行文本为准）：病原微生物实验室分类管理、分级管理，实验活动须在相应级别实验室开展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《病原微生物实验室生物安全管理条例》（以现行文本为准）：高致病性病原微生物实验活动须在相应级别实验室并经批准；不具备条件的单位不得从事相关活动</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《人间传染的病原微生物目录》（国家卫生健康委发布，以现行版本为准）：不同实验活动所需的实验室防护级别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本校生物安全管理制度：生物安全委员会审查、实验活动审批，以本校规定为准</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定级是一套结构化风险评估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定级不是查一下就行，是一套结构化风险评估</a:t>
            </a:r>
          </a:p>
          <a:p>
            <a:pPr>
              <a:spcAft>
                <a:spcPts val="1000"/>
              </a:spcAft>
            </a:pPr>
            <a:r>
              <a:rPr sz="2000">
                <a:solidFill>
                  <a:srgbClr val="222B33"/>
                </a:solidFill>
                <a:latin typeface="Microsoft YaHei"/>
              </a:rPr>
              <a:t>▪ 评估四件事：病原、实验操作、对人和对环境的风险</a:t>
            </a:r>
          </a:p>
          <a:p>
            <a:pPr>
              <a:spcAft>
                <a:spcPts val="1000"/>
              </a:spcAft>
            </a:pPr>
            <a:r>
              <a:rPr sz="2000">
                <a:solidFill>
                  <a:srgbClr val="222B33"/>
                </a:solidFill>
                <a:latin typeface="Microsoft YaHei"/>
              </a:rPr>
              <a:t>▪ 防护水平要匹配病原和具体操作</a:t>
            </a:r>
          </a:p>
          <a:p>
            <a:pPr>
              <a:spcAft>
                <a:spcPts val="1000"/>
              </a:spcAft>
            </a:pPr>
            <a:r>
              <a:rPr sz="2000">
                <a:solidFill>
                  <a:srgbClr val="222B33"/>
                </a:solidFill>
                <a:latin typeface="Microsoft YaHei"/>
              </a:rPr>
              <a:t>▪ 先查目录、做评估、定级别，再配装备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为一种新微生物或一项新实验确定防护等级，不是在表格里查一下就行，而是一套结构化的风险评估：评估病原本身、实验操作、对人员的风险和对环境的影响，使实验室的防护水平与病原和具体操作相匹配。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只凭病原名称“印象”定级，不做评估</a:t>
            </a:r>
          </a:p>
          <a:p>
            <a:pPr>
              <a:spcAft>
                <a:spcPts val="1000"/>
              </a:spcAft>
            </a:pPr>
            <a:r>
              <a:rPr sz="1500">
                <a:solidFill>
                  <a:srgbClr val="222B33"/>
                </a:solidFill>
                <a:latin typeface="Microsoft YaHei"/>
              </a:rPr>
              <a:t>▪ 先买好装备再考虑级别</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第一步：认清它是什么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先认清是什么种、什么株</a:t>
            </a:r>
          </a:p>
          <a:p>
            <a:pPr>
              <a:spcAft>
                <a:spcPts val="1000"/>
              </a:spcAft>
            </a:pPr>
            <a:r>
              <a:rPr sz="2000">
                <a:solidFill>
                  <a:srgbClr val="222B33"/>
                </a:solidFill>
                <a:latin typeface="Microsoft YaHei"/>
              </a:rPr>
              <a:t>▪ 有没有已知变异，有没有经过基因改造</a:t>
            </a:r>
          </a:p>
          <a:p>
            <a:pPr>
              <a:spcAft>
                <a:spcPts val="1000"/>
              </a:spcAft>
            </a:pPr>
            <a:r>
              <a:rPr sz="2000">
                <a:solidFill>
                  <a:srgbClr val="222B33"/>
                </a:solidFill>
                <a:latin typeface="Microsoft YaHei"/>
              </a:rPr>
              <a:t>▪ 再和国内目录、已有分类对照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只知道“属”，不确认具体的种和株</a:t>
            </a:r>
          </a:p>
          <a:p>
            <a:pPr>
              <a:spcAft>
                <a:spcPts val="1000"/>
              </a:spcAft>
            </a:pPr>
            <a:r>
              <a:rPr sz="1500">
                <a:solidFill>
                  <a:srgbClr val="222B33"/>
                </a:solidFill>
                <a:latin typeface="Microsoft YaHei"/>
              </a:rPr>
              <a:t>▪ 忽视菌株经过改造这一信息</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第二步：会不会致病、有多重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会不会让人或动物生病</a:t>
            </a:r>
          </a:p>
          <a:p>
            <a:pPr>
              <a:spcAft>
                <a:spcPts val="1000"/>
              </a:spcAft>
            </a:pPr>
            <a:r>
              <a:rPr sz="2000">
                <a:solidFill>
                  <a:srgbClr val="222B33"/>
                </a:solidFill>
                <a:latin typeface="Microsoft YaHei"/>
              </a:rPr>
              <a:t>▪ 病有多重，多少量就能造成感染</a:t>
            </a:r>
          </a:p>
          <a:p>
            <a:pPr>
              <a:spcAft>
                <a:spcPts val="1000"/>
              </a:spcAft>
            </a:pPr>
            <a:r>
              <a:rPr sz="2000">
                <a:solidFill>
                  <a:srgbClr val="222B33"/>
                </a:solidFill>
                <a:latin typeface="Microsoft YaHei"/>
              </a:rPr>
              <a:t>▪ 致病性越强，需要的防护级别往往越高</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认为“只让动物生病”就不需要防护</a:t>
            </a:r>
          </a:p>
          <a:p>
            <a:pPr>
              <a:spcAft>
                <a:spcPts val="1000"/>
              </a:spcAft>
            </a:pPr>
            <a:r>
              <a:rPr sz="1500">
                <a:solidFill>
                  <a:srgbClr val="222B33"/>
                </a:solidFill>
                <a:latin typeface="Microsoft YaHei"/>
              </a:rPr>
              <a:t>▪ 忽视低剂量即可感染的情况</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第三步：怎么传播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它怎么从一处传到另一处</a:t>
            </a:r>
          </a:p>
          <a:p>
            <a:pPr>
              <a:spcAft>
                <a:spcPts val="1000"/>
              </a:spcAft>
            </a:pPr>
            <a:r>
              <a:rPr sz="2000">
                <a:solidFill>
                  <a:srgbClr val="222B33"/>
                </a:solidFill>
                <a:latin typeface="Microsoft YaHei"/>
              </a:rPr>
              <a:t>▪ 经吸入、接触、食入还是锐器进入人体</a:t>
            </a:r>
          </a:p>
          <a:p>
            <a:pPr>
              <a:spcAft>
                <a:spcPts val="1000"/>
              </a:spcAft>
            </a:pPr>
            <a:r>
              <a:rPr sz="2000">
                <a:solidFill>
                  <a:srgbClr val="222B33"/>
                </a:solidFill>
                <a:latin typeface="Microsoft YaHei"/>
              </a:rPr>
              <a:t>▪ 能经空气传播的，级别往往更高</a:t>
            </a:r>
          </a:p>
          <a:p>
            <a:pPr>
              <a:spcAft>
                <a:spcPts val="1000"/>
              </a:spcAft>
            </a:pPr>
            <a:r>
              <a:rPr sz="2000">
                <a:solidFill>
                  <a:srgbClr val="222B33"/>
                </a:solidFill>
                <a:latin typeface="Microsoft YaHei"/>
              </a:rPr>
              <a:t>▪ 具体几级查目录，不靠印象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第三步看传播途径：能不能随空气被吸入？会不会经皮肤黏膜接触、经口食入，或经针头等锐器刺伤进入人体？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只考虑接触传播，忽视气溶胶吸入</a:t>
            </a:r>
          </a:p>
          <a:p>
            <a:pPr>
              <a:spcAft>
                <a:spcPts val="1000"/>
              </a:spcAft>
            </a:pPr>
            <a:r>
              <a:rPr sz="1500">
                <a:solidFill>
                  <a:srgbClr val="222B33"/>
                </a:solidFill>
                <a:latin typeface="Microsoft YaHei"/>
              </a:rPr>
              <a:t>▪ 凭记忆判断级别，不查现行目录</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第四步：有没有药和疫苗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有没有有效的治疗药物和疫苗</a:t>
            </a:r>
          </a:p>
          <a:p>
            <a:pPr>
              <a:spcAft>
                <a:spcPts val="1000"/>
              </a:spcAft>
            </a:pPr>
            <a:r>
              <a:rPr sz="2000">
                <a:solidFill>
                  <a:srgbClr val="222B33"/>
                </a:solidFill>
                <a:latin typeface="Microsoft YaHei"/>
              </a:rPr>
              <a:t>▪ 万一暴露，能不能及时处置</a:t>
            </a:r>
          </a:p>
          <a:p>
            <a:pPr>
              <a:spcAft>
                <a:spcPts val="1000"/>
              </a:spcAft>
            </a:pPr>
            <a:r>
              <a:rPr sz="2000">
                <a:solidFill>
                  <a:srgbClr val="222B33"/>
                </a:solidFill>
                <a:latin typeface="Microsoft YaHei"/>
              </a:rPr>
              <a:t>▪ 没有有效治疗手段的，级别相应往上提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第四步看防治手段：有没有有效的治疗药物和疫苗？万一发生暴露，能不能及时进行急救、预防性用药和医学观察？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认为有疫苗就可以降低防护要求</a:t>
            </a:r>
          </a:p>
          <a:p>
            <a:pPr>
              <a:spcAft>
                <a:spcPts val="1000"/>
              </a:spcAft>
            </a:pPr>
            <a:r>
              <a:rPr sz="1500">
                <a:solidFill>
                  <a:srgbClr val="222B33"/>
                </a:solidFill>
                <a:latin typeface="Microsoft YaHei"/>
              </a:rPr>
              <a:t>▪ 开展实验前不了解暴露后的处置途径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第五步：实验怎么做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会不会产生气溶胶、用到锐器</a:t>
            </a:r>
          </a:p>
          <a:p>
            <a:pPr>
              <a:spcAft>
                <a:spcPts val="1000"/>
              </a:spcAft>
            </a:pPr>
            <a:r>
              <a:rPr sz="2000">
                <a:solidFill>
                  <a:srgbClr val="222B33"/>
                </a:solidFill>
                <a:latin typeface="Microsoft YaHei"/>
              </a:rPr>
              <a:t>▪ 是不是高浓度、大体积，涉不涉及动物、重组</a:t>
            </a:r>
          </a:p>
          <a:p>
            <a:pPr>
              <a:spcAft>
                <a:spcPts val="1000"/>
              </a:spcAft>
            </a:pPr>
            <a:r>
              <a:rPr sz="2000">
                <a:solidFill>
                  <a:srgbClr val="222B33"/>
                </a:solidFill>
                <a:latin typeface="Microsoft YaHei"/>
              </a:rPr>
              <a:t>▪ 同一种菌，培养和检测要求不同</a:t>
            </a:r>
          </a:p>
          <a:p>
            <a:pPr>
              <a:spcAft>
                <a:spcPts val="1000"/>
              </a:spcAft>
            </a:pPr>
            <a:r>
              <a:rPr sz="2000">
                <a:solidFill>
                  <a:srgbClr val="222B33"/>
                </a:solidFill>
                <a:latin typeface="Microsoft YaHei"/>
              </a:rPr>
              <a:t>▪ 培养活病毒风险高；涉及基因改造可能升级，先审批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第五步看实验活动本身：会不会产生气溶胶（如离心、匀浆、超声、剧烈混匀），会不会用到锐器？是不是高浓度、大体积操作？涉不涉及动物感染实验？涉不涉及重组 DNA 或基因改造？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认为“检测时能做，培养也就能做”</a:t>
            </a:r>
          </a:p>
          <a:p>
            <a:pPr>
              <a:spcAft>
                <a:spcPts val="1000"/>
              </a:spcAft>
            </a:pPr>
            <a:r>
              <a:rPr sz="1500">
                <a:solidFill>
                  <a:srgbClr val="222B33"/>
                </a:solidFill>
                <a:latin typeface="Microsoft YaHei"/>
              </a:rPr>
              <a:t>▪ 未经审批就开展涉及基因改造的实验</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第六步：设施和人员跟得上吗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本实验室条件够不够，防护要与风险匹配</a:t>
            </a:r>
          </a:p>
          <a:p>
            <a:pPr>
              <a:spcAft>
                <a:spcPts val="1000"/>
              </a:spcAft>
            </a:pPr>
            <a:r>
              <a:rPr sz="2000">
                <a:solidFill>
                  <a:srgbClr val="222B33"/>
                </a:solidFill>
                <a:latin typeface="Microsoft YaHei"/>
              </a:rPr>
              <a:t>▪ 人员受过培训吗，防护装备备齐了吗</a:t>
            </a:r>
          </a:p>
          <a:p>
            <a:pPr>
              <a:spcAft>
                <a:spcPts val="1000"/>
              </a:spcAft>
            </a:pPr>
            <a:r>
              <a:rPr sz="2000">
                <a:solidFill>
                  <a:srgbClr val="222B33"/>
                </a:solidFill>
                <a:latin typeface="Microsoft YaHei"/>
              </a:rPr>
              <a:t>▪ 条件不够，就别硬上</a:t>
            </a:r>
          </a:p>
          <a:p>
            <a:pPr>
              <a:spcAft>
                <a:spcPts val="1000"/>
              </a:spcAft>
            </a:pPr>
            <a:r>
              <a:rPr sz="2000">
                <a:solidFill>
                  <a:srgbClr val="222B33"/>
                </a:solidFill>
                <a:latin typeface="Microsoft YaHei"/>
              </a:rPr>
              <a:t>▪ 依法移交有资质的机构处理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第六步看本实验室的条件：实验室的防护级别和设施设备够不够？人员是否受过相应培训、考核合格？个人防护装备是否齐全？应急处置条件是否具备？防护条件必须与风险等级相匹配。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明知条件不够，抱侥幸心理先做</a:t>
            </a:r>
          </a:p>
          <a:p>
            <a:pPr>
              <a:spcAft>
                <a:spcPts val="1000"/>
              </a:spcAft>
            </a:pPr>
            <a:r>
              <a:rPr sz="1500">
                <a:solidFill>
                  <a:srgbClr val="222B33"/>
                </a:solidFill>
                <a:latin typeface="Microsoft YaHei"/>
              </a:rPr>
              <a:t>▪ 把样本私自转给其他单位“帮忙做”</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第七步：查规范、问委员会，级别不自定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查国内法规、标准和目录，国外手册只作参考</a:t>
            </a:r>
          </a:p>
          <a:p>
            <a:pPr>
              <a:spcAft>
                <a:spcPts val="1000"/>
              </a:spcAft>
            </a:pPr>
            <a:r>
              <a:rPr sz="2000">
                <a:solidFill>
                  <a:srgbClr val="222B33"/>
                </a:solidFill>
                <a:latin typeface="Microsoft YaHei"/>
              </a:rPr>
              <a:t>▪ 咨询实验室负责人和生物安全委员会</a:t>
            </a:r>
          </a:p>
          <a:p>
            <a:pPr>
              <a:spcAft>
                <a:spcPts val="1000"/>
              </a:spcAft>
            </a:pPr>
            <a:r>
              <a:rPr sz="2000">
                <a:solidFill>
                  <a:srgbClr val="222B33"/>
                </a:solidFill>
                <a:latin typeface="Microsoft YaHei"/>
              </a:rPr>
              <a:t>▪ 级别由生物安全员或委员会评定审批</a:t>
            </a:r>
          </a:p>
          <a:p>
            <a:pPr>
              <a:spcAft>
                <a:spcPts val="1000"/>
              </a:spcAft>
            </a:pPr>
            <a:r>
              <a:rPr sz="2000">
                <a:solidFill>
                  <a:srgbClr val="222B33"/>
                </a:solidFill>
                <a:latin typeface="Microsoft YaHei"/>
              </a:rPr>
              <a:t>▪ 学生不得自行定级、擅自开展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第七步，查规范、问专家：对照国内法律法规、GB 19489、WS 233 和《人间传染的病原微生物目录》（均以现行文本或版本为准），国外手册只作参考；再向实验室负责人、生物安全员和单位生物安全委员会咨询。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自己在申请表上填个级别就开工</a:t>
            </a:r>
          </a:p>
          <a:p>
            <a:pPr>
              <a:spcAft>
                <a:spcPts val="1000"/>
              </a:spcAft>
            </a:pPr>
            <a:r>
              <a:rPr sz="1500">
                <a:solidFill>
                  <a:srgbClr val="222B33"/>
                </a:solidFill>
                <a:latin typeface="Microsoft YaHei"/>
              </a:rPr>
              <a:t>▪ 只问师兄师姐，不经委员会审查</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取最高的那个风险因素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最终级别取最高的那个风险因素</a:t>
            </a:r>
          </a:p>
          <a:p>
            <a:pPr>
              <a:spcAft>
                <a:spcPts val="1000"/>
              </a:spcAft>
            </a:pPr>
            <a:r>
              <a:rPr sz="2000">
                <a:solidFill>
                  <a:srgbClr val="222B33"/>
                </a:solidFill>
                <a:latin typeface="Microsoft YaHei"/>
              </a:rPr>
              <a:t>▪ 哪怕只有一项高，也按高的来</a:t>
            </a:r>
          </a:p>
          <a:p>
            <a:pPr>
              <a:spcAft>
                <a:spcPts val="1000"/>
              </a:spcAft>
            </a:pPr>
            <a:r>
              <a:rPr sz="2000">
                <a:solidFill>
                  <a:srgbClr val="222B33"/>
                </a:solidFill>
                <a:latin typeface="Microsoft YaHei"/>
              </a:rPr>
              <a:t>▪ 例子：本体风险低，改造后、有气溶胶要重新看</a:t>
            </a:r>
          </a:p>
          <a:p>
            <a:pPr>
              <a:spcAft>
                <a:spcPts val="1000"/>
              </a:spcAft>
            </a:pPr>
            <a:r>
              <a:rPr sz="2000">
                <a:solidFill>
                  <a:srgbClr val="222B33"/>
                </a:solidFill>
                <a:latin typeface="Microsoft YaHei"/>
              </a:rPr>
              <a:t>▪ 拟定级别仍要报委员会审批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各步骤的评估结果综合起来，最终级别取最高的那个风险因素：哪怕只有一项风险高，也要按高的来。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把各项风险“平均”一下定级</a:t>
            </a:r>
          </a:p>
          <a:p>
            <a:pPr>
              <a:spcAft>
                <a:spcPts val="1000"/>
              </a:spcAft>
            </a:pPr>
            <a:r>
              <a:rPr sz="1500">
                <a:solidFill>
                  <a:srgbClr val="222B33"/>
                </a:solidFill>
                <a:latin typeface="Microsoft YaHei"/>
              </a:rPr>
              <a:t>▪ 只按菌株本体定级，不考虑改造和操作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风险组不等于实验室级别，不得随意降级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风险组不直接等于实验室级别</a:t>
            </a:r>
          </a:p>
          <a:p>
            <a:pPr>
              <a:spcAft>
                <a:spcPts val="1000"/>
              </a:spcAft>
            </a:pPr>
            <a:r>
              <a:rPr sz="2000">
                <a:solidFill>
                  <a:srgbClr val="222B33"/>
                </a:solidFill>
                <a:latin typeface="Microsoft YaHei"/>
              </a:rPr>
              <a:t>▪ 逐案评估，但要按目录规定来</a:t>
            </a:r>
          </a:p>
          <a:p>
            <a:pPr>
              <a:spcAft>
                <a:spcPts val="1000"/>
              </a:spcAft>
            </a:pPr>
            <a:r>
              <a:rPr sz="2000">
                <a:solidFill>
                  <a:srgbClr val="222B33"/>
                </a:solidFill>
                <a:latin typeface="Microsoft YaHei"/>
              </a:rPr>
              <a:t>▪ 想在低一级实验室做，不能自己定</a:t>
            </a:r>
          </a:p>
          <a:p>
            <a:pPr>
              <a:spcAft>
                <a:spcPts val="1000"/>
              </a:spcAft>
            </a:pPr>
            <a:r>
              <a:rPr sz="2000">
                <a:solidFill>
                  <a:srgbClr val="222B33"/>
                </a:solidFill>
                <a:latin typeface="Microsoft YaHei"/>
              </a:rPr>
              <a:t>▪ 降级须评估、委员会审核，高致病性依法审批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以“逐案评估”为由自行降级</a:t>
            </a:r>
          </a:p>
          <a:p>
            <a:pPr>
              <a:spcAft>
                <a:spcPts val="1000"/>
              </a:spcAft>
            </a:pPr>
            <a:r>
              <a:rPr sz="1500">
                <a:solidFill>
                  <a:srgbClr val="222B33"/>
                </a:solidFill>
                <a:latin typeface="Microsoft YaHei"/>
              </a:rPr>
              <a:t>▪ 把国际风险组数字直接当成实验室级别</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未知病原、细胞系和环境样本从严定级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病原没确认，信息不全，评估从严，宁可高一档</a:t>
            </a:r>
          </a:p>
          <a:p>
            <a:pPr>
              <a:spcAft>
                <a:spcPts val="1000"/>
              </a:spcAft>
            </a:pPr>
            <a:r>
              <a:rPr sz="2000">
                <a:solidFill>
                  <a:srgbClr val="222B33"/>
                </a:solidFill>
                <a:latin typeface="Microsoft YaHei"/>
              </a:rPr>
              <a:t>▪ 细胞系、临床样本、来源不明样本也要定级</a:t>
            </a:r>
          </a:p>
          <a:p>
            <a:pPr>
              <a:spcAft>
                <a:spcPts val="1000"/>
              </a:spcAft>
            </a:pPr>
            <a:r>
              <a:rPr sz="2000">
                <a:solidFill>
                  <a:srgbClr val="222B33"/>
                </a:solidFill>
                <a:latin typeface="Microsoft YaHei"/>
              </a:rPr>
              <a:t>▪ 噬菌体实验按宿主菌和样品定级</a:t>
            </a:r>
          </a:p>
          <a:p>
            <a:pPr>
              <a:spcAft>
                <a:spcPts val="1000"/>
              </a:spcAft>
            </a:pPr>
            <a:r>
              <a:rPr sz="2000">
                <a:solidFill>
                  <a:srgbClr val="222B33"/>
                </a:solidFill>
                <a:latin typeface="Microsoft YaHei"/>
              </a:rPr>
              <a:t>▪ 污泥污水富集会放大杂菌，评估后一般二级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病原还没有确认时信息不全，评估要从严，宁可防护高一档，并报单位生物安全委员会审核。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认为“只是细胞”或“只是环境样本”就不用评估</a:t>
            </a:r>
          </a:p>
          <a:p>
            <a:pPr>
              <a:spcAft>
                <a:spcPts val="1000"/>
              </a:spcAft>
            </a:pPr>
            <a:r>
              <a:rPr sz="1500">
                <a:solidFill>
                  <a:srgbClr val="222B33"/>
                </a:solidFill>
                <a:latin typeface="Microsoft YaHei"/>
              </a:rPr>
              <a:t>▪ 在开放台面上对污水样本做富集培养</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评估成文，情况一变重新评估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评估要形成文件，经审核、留档可追溯</a:t>
            </a:r>
          </a:p>
          <a:p>
            <a:pPr>
              <a:spcAft>
                <a:spcPts val="1000"/>
              </a:spcAft>
            </a:pPr>
            <a:r>
              <a:rPr sz="2000">
                <a:solidFill>
                  <a:srgbClr val="222B33"/>
                </a:solidFill>
                <a:latin typeface="Microsoft YaHei"/>
              </a:rPr>
              <a:t>▪ 实验内容或条件一变，就重新评估</a:t>
            </a:r>
          </a:p>
          <a:p>
            <a:pPr>
              <a:spcAft>
                <a:spcPts val="1000"/>
              </a:spcAft>
            </a:pPr>
            <a:r>
              <a:rPr sz="2000">
                <a:solidFill>
                  <a:srgbClr val="222B33"/>
                </a:solidFill>
                <a:latin typeface="Microsoft YaHei"/>
              </a:rPr>
              <a:t>▪ 采取措施后残余风险仍偏高，报委员会</a:t>
            </a:r>
          </a:p>
          <a:p>
            <a:pPr>
              <a:spcAft>
                <a:spcPts val="1000"/>
              </a:spcAft>
            </a:pPr>
            <a:r>
              <a:rPr sz="2000">
                <a:solidFill>
                  <a:srgbClr val="222B33"/>
                </a:solidFill>
                <a:latin typeface="Microsoft YaHei"/>
              </a:rPr>
              <a:t>▪ 未批准前不擅自开工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定级评估不是口头说说，要形成书面的风险评估报告，经审核批准后留档，做到可追溯（GB 19489-2008，以现行文本为准）。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评估只在脑子里，不写成文件</a:t>
            </a:r>
          </a:p>
          <a:p>
            <a:pPr>
              <a:spcAft>
                <a:spcPts val="1000"/>
              </a:spcAft>
            </a:pPr>
            <a:r>
              <a:rPr sz="1500">
                <a:solidFill>
                  <a:srgbClr val="222B33"/>
                </a:solidFill>
                <a:latin typeface="Microsoft YaHei"/>
              </a:rPr>
              <a:t>▪ 换了新方法、扩大了规模，还沿用旧评估</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为一项新实验确定防护等级，正确的做法是：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按病原名称凭印象定级</a:t>
            </a:r>
          </a:p>
          <a:p>
            <a:pPr algn="l"/>
            <a:r>
              <a:rPr sz="1500" b="0">
                <a:solidFill>
                  <a:srgbClr val="222B33"/>
                </a:solidFill>
                <a:latin typeface="Microsoft YaHei"/>
              </a:rPr>
              <a:t>B. 查国内目录，按病原、传播、防治、操作、设施人员逐步评估，取最高风险因素，报委员会审批</a:t>
            </a:r>
          </a:p>
          <a:p>
            <a:pPr algn="l"/>
            <a:r>
              <a:rPr sz="1500" b="0">
                <a:solidFill>
                  <a:srgbClr val="222B33"/>
                </a:solidFill>
                <a:latin typeface="Microsoft YaHei"/>
              </a:rPr>
              <a:t>C. 按国外手册自行确定</a:t>
            </a:r>
          </a:p>
          <a:p>
            <a:pPr algn="l"/>
            <a:r>
              <a:rPr sz="1500" b="0">
                <a:solidFill>
                  <a:srgbClr val="222B33"/>
                </a:solidFill>
                <a:latin typeface="Microsoft YaHei"/>
              </a:rPr>
              <a:t>D. 先做起来，有问题再说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判断：某菌株本身风险低，经过基因改造后可以直接沿用原来的级别。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想在比目录规定低一级的实验室开展实验，应当：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研究者自己决定</a:t>
            </a:r>
          </a:p>
          <a:p>
            <a:pPr algn="l"/>
            <a:r>
              <a:rPr sz="1500" b="0">
                <a:solidFill>
                  <a:srgbClr val="222B33"/>
                </a:solidFill>
                <a:latin typeface="Microsoft YaHei"/>
              </a:rPr>
              <a:t>B. 不能随意降级，须有充分风险评估并经委员会审核，高致病性还须依法审批</a:t>
            </a:r>
          </a:p>
          <a:p>
            <a:pPr algn="l"/>
            <a:r>
              <a:rPr sz="1500" b="0">
                <a:solidFill>
                  <a:srgbClr val="222B33"/>
                </a:solidFill>
                <a:latin typeface="Microsoft YaHei"/>
              </a:rPr>
              <a:t>C. 只要戴好口罩就行</a:t>
            </a:r>
          </a:p>
          <a:p>
            <a:pPr algn="l"/>
            <a:r>
              <a:rPr sz="1500" b="0">
                <a:solidFill>
                  <a:srgbClr val="222B33"/>
                </a:solidFill>
                <a:latin typeface="Microsoft YaHei"/>
              </a:rPr>
              <a:t>D. 晚上没人时再做</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判断：细胞系和来源不明的样本在目录里查不到，所以不需要定级。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简答：本实验室的条件达不到某项实验所需的防护级别，应该怎么办？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定级是一套结构化风险评估</a:t>
            </a:r>
          </a:p>
          <a:p>
            <a:pPr>
              <a:spcAft>
                <a:spcPts val="800"/>
              </a:spcAft>
            </a:pPr>
            <a:r>
              <a:rPr sz="1500">
                <a:solidFill>
                  <a:srgbClr val="FFFFFF"/>
                </a:solidFill>
                <a:latin typeface="Microsoft YaHei"/>
              </a:rPr>
              <a:t>▪ K2  第一步：认清它是什么</a:t>
            </a:r>
          </a:p>
          <a:p>
            <a:pPr>
              <a:spcAft>
                <a:spcPts val="800"/>
              </a:spcAft>
            </a:pPr>
            <a:r>
              <a:rPr sz="1500">
                <a:solidFill>
                  <a:srgbClr val="FFFFFF"/>
                </a:solidFill>
                <a:latin typeface="Microsoft YaHei"/>
              </a:rPr>
              <a:t>▪ K3  第二步：会不会致病、有多重</a:t>
            </a:r>
          </a:p>
          <a:p>
            <a:pPr>
              <a:spcAft>
                <a:spcPts val="800"/>
              </a:spcAft>
            </a:pPr>
            <a:r>
              <a:rPr sz="1500">
                <a:solidFill>
                  <a:srgbClr val="FFFFFF"/>
                </a:solidFill>
                <a:latin typeface="Microsoft YaHei"/>
              </a:rPr>
              <a:t>▪ K4  第三步：怎么传播</a:t>
            </a:r>
          </a:p>
          <a:p>
            <a:pPr>
              <a:spcAft>
                <a:spcPts val="800"/>
              </a:spcAft>
            </a:pPr>
            <a:r>
              <a:rPr sz="1500">
                <a:solidFill>
                  <a:srgbClr val="FFFFFF"/>
                </a:solidFill>
                <a:latin typeface="Microsoft YaHei"/>
              </a:rPr>
              <a:t>▪ K5  第四步：有没有药和疫苗</a:t>
            </a:r>
          </a:p>
          <a:p>
            <a:pPr>
              <a:spcAft>
                <a:spcPts val="800"/>
              </a:spcAft>
            </a:pPr>
            <a:r>
              <a:rPr sz="1500">
                <a:solidFill>
                  <a:srgbClr val="FFFFFF"/>
                </a:solidFill>
                <a:latin typeface="Microsoft YaHei"/>
              </a:rPr>
              <a:t>▪ K6  第五步：实验怎么做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第六步：设施和人员跟得上吗</a:t>
            </a:r>
          </a:p>
          <a:p>
            <a:pPr>
              <a:spcAft>
                <a:spcPts val="800"/>
              </a:spcAft>
            </a:pPr>
            <a:r>
              <a:rPr sz="1500">
                <a:solidFill>
                  <a:srgbClr val="FFFFFF"/>
                </a:solidFill>
                <a:latin typeface="Microsoft YaHei"/>
              </a:rPr>
              <a:t>▪ K8  第七步：查规范、问委员会，级别不自定</a:t>
            </a:r>
          </a:p>
          <a:p>
            <a:pPr>
              <a:spcAft>
                <a:spcPts val="800"/>
              </a:spcAft>
            </a:pPr>
            <a:r>
              <a:rPr sz="1500">
                <a:solidFill>
                  <a:srgbClr val="FFFFFF"/>
                </a:solidFill>
                <a:latin typeface="Microsoft YaHei"/>
              </a:rPr>
              <a:t>▪ K9  取最高的那个风险因素</a:t>
            </a:r>
          </a:p>
          <a:p>
            <a:pPr>
              <a:spcAft>
                <a:spcPts val="800"/>
              </a:spcAft>
            </a:pPr>
            <a:r>
              <a:rPr sz="1500">
                <a:solidFill>
                  <a:srgbClr val="FFFFFF"/>
                </a:solidFill>
                <a:latin typeface="Microsoft YaHei"/>
              </a:rPr>
              <a:t>▪ K10  风险组不等于实验室级别，不得随意降级</a:t>
            </a:r>
          </a:p>
          <a:p>
            <a:pPr>
              <a:spcAft>
                <a:spcPts val="800"/>
              </a:spcAft>
            </a:pPr>
            <a:r>
              <a:rPr sz="1500">
                <a:solidFill>
                  <a:srgbClr val="FFFFFF"/>
                </a:solidFill>
                <a:latin typeface="Microsoft YaHei"/>
              </a:rPr>
              <a:t>▪ K11  未知病原、细胞系和环境样本从严定级</a:t>
            </a:r>
          </a:p>
          <a:p>
            <a:pPr>
              <a:spcAft>
                <a:spcPts val="800"/>
              </a:spcAft>
            </a:pPr>
            <a:r>
              <a:rPr sz="1500">
                <a:solidFill>
                  <a:srgbClr val="FFFFFF"/>
                </a:solidFill>
                <a:latin typeface="Microsoft YaHei"/>
              </a:rPr>
              <a:t>▪ K12  评估成文，情况一变重新评估</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各级实验室的防护要求</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能说出各级生物安全实验室在准入、个人防护、安全设备和设施四方面的递进差异，知道各级要求是一整套、缺一项就不达标。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能做到一级、二级实验室的日常规范：不饮食、不口吸移液、减少气溶胶、台面消毒、废物灭菌、摘手套洗手后离开；涂片和环境分离菌按要求防护。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能说出各级人员培训的重点和人人必备的六类培训，知道培训要记录、要动手实练、三四级要带教。</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能判断防护装备缺失或损坏时应停止相关操作、报告负责人、修复确认后再开工。</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《中华人民共和国生物安全法》（以现行文本为准）：病原微生物实验室分级管理，从业人员培训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《病原微生物实验室生物安全管理条例》（以现行文本为准）：实验室按防护水平分为一级至四级；实验室人员须经培训考核合格；高致病性病原微生物实验活动须经批准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生物安全通用要求》：各级实验室的设施设备要求、个人防护、人员培训和管理要求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号，以现行文本为准）：安全教育培训与准入，实验室安全管理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本校生物安全管理制度：准入培训、复训周期、带教授权和报告程序，以本校规定为准</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防护要求是一整套：缺一项就不达标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每一级措施分三栏：穿什么、用什么设备、房子怎么建</a:t>
            </a:r>
          </a:p>
          <a:p>
            <a:pPr>
              <a:spcAft>
                <a:spcPts val="1000"/>
              </a:spcAft>
            </a:pPr>
            <a:r>
              <a:rPr sz="2000">
                <a:solidFill>
                  <a:srgbClr val="222B33"/>
                </a:solidFill>
                <a:latin typeface="Microsoft YaHei"/>
              </a:rPr>
              <a:t>▪ 级别越高，对应的病原风险越大</a:t>
            </a:r>
          </a:p>
          <a:p>
            <a:pPr>
              <a:spcAft>
                <a:spcPts val="1000"/>
              </a:spcAft>
            </a:pPr>
            <a:r>
              <a:rPr sz="2000">
                <a:solidFill>
                  <a:srgbClr val="222B33"/>
                </a:solidFill>
                <a:latin typeface="Microsoft YaHei"/>
              </a:rPr>
              <a:t>▪ 具体病原放几级，查国家目录</a:t>
            </a:r>
          </a:p>
          <a:p>
            <a:pPr>
              <a:spcAft>
                <a:spcPts val="1000"/>
              </a:spcAft>
            </a:pPr>
            <a:r>
              <a:rPr sz="2000">
                <a:solidFill>
                  <a:srgbClr val="222B33"/>
                </a:solidFill>
                <a:latin typeface="Microsoft YaHei"/>
              </a:rPr>
              <a:t>▪ 设施、设备、操作、人员，缺一项不达标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买了生物安全柜，就以为实验室达到了二级</a:t>
            </a:r>
          </a:p>
          <a:p>
            <a:pPr>
              <a:spcAft>
                <a:spcPts val="1000"/>
              </a:spcAft>
            </a:pPr>
            <a:r>
              <a:rPr sz="1500">
                <a:solidFill>
                  <a:srgbClr val="222B33"/>
                </a:solidFill>
                <a:latin typeface="Microsoft YaHei"/>
              </a:rPr>
              <a:t>▪ 只看房间级别，不管操作和人员是否到位</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谁能进门：准入逐级收紧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一级：经过培训的人可进</a:t>
            </a:r>
          </a:p>
          <a:p>
            <a:pPr>
              <a:spcAft>
                <a:spcPts val="1000"/>
              </a:spcAft>
            </a:pPr>
            <a:r>
              <a:rPr sz="2000">
                <a:solidFill>
                  <a:srgbClr val="222B33"/>
                </a:solidFill>
                <a:latin typeface="Microsoft YaHei"/>
              </a:rPr>
              <a:t>▪ 二级：限制进入，门上挂标识</a:t>
            </a:r>
          </a:p>
          <a:p>
            <a:pPr>
              <a:spcAft>
                <a:spcPts val="1000"/>
              </a:spcAft>
            </a:pPr>
            <a:r>
              <a:rPr sz="2000">
                <a:solidFill>
                  <a:srgbClr val="222B33"/>
                </a:solidFill>
                <a:latin typeface="Microsoft YaHei"/>
              </a:rPr>
              <a:t>▪ 三级须专门培训和批准，四级严格控制</a:t>
            </a:r>
          </a:p>
          <a:p>
            <a:pPr>
              <a:spcAft>
                <a:spcPts val="1000"/>
              </a:spcAft>
            </a:pPr>
            <a:r>
              <a:rPr sz="2000">
                <a:solidFill>
                  <a:srgbClr val="222B33"/>
                </a:solidFill>
                <a:latin typeface="Microsoft YaHei"/>
              </a:rPr>
              <a:t>▪ 进门先看标识，培训考核合格才能操作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准入随级别逐级收紧：一级实验室，经过基本培训的人员可以进入；二级实验室限制进入，无关人员不得入内；三级实验室受控进入，人员须经专门培训、批准和授权；四级实验室严格控制进入，并有高度的安保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跟着有门禁卡的同学“蹭”进二级实验室</a:t>
            </a:r>
          </a:p>
          <a:p>
            <a:pPr>
              <a:spcAft>
                <a:spcPts val="1000"/>
              </a:spcAft>
            </a:pPr>
            <a:r>
              <a:rPr sz="1500">
                <a:solidFill>
                  <a:srgbClr val="222B33"/>
                </a:solidFill>
                <a:latin typeface="Microsoft YaHei"/>
              </a:rPr>
              <a:t>▪ 不看门口标识就进门</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个人防护逐级加码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一级：实验服为主，需要时戴手套和护目镜</a:t>
            </a:r>
          </a:p>
          <a:p>
            <a:pPr>
              <a:spcAft>
                <a:spcPts val="1000"/>
              </a:spcAft>
            </a:pPr>
            <a:r>
              <a:rPr sz="1700">
                <a:solidFill>
                  <a:srgbClr val="222B33"/>
                </a:solidFill>
                <a:latin typeface="Microsoft YaHei"/>
              </a:rPr>
              <a:t>▪ 二级：加护目镜或面屏，必须穿闭趾鞋</a:t>
            </a:r>
          </a:p>
          <a:p>
            <a:pPr>
              <a:spcAft>
                <a:spcPts val="1000"/>
              </a:spcAft>
            </a:pPr>
            <a:r>
              <a:rPr sz="1700">
                <a:solidFill>
                  <a:srgbClr val="222B33"/>
                </a:solidFill>
                <a:latin typeface="Microsoft YaHei"/>
              </a:rPr>
              <a:t>▪ 三级：前襟封闭的防护服，加呼吸防护</a:t>
            </a:r>
          </a:p>
          <a:p>
            <a:pPr>
              <a:spcAft>
                <a:spcPts val="1000"/>
              </a:spcAft>
            </a:pPr>
            <a:r>
              <a:rPr sz="1700">
                <a:solidFill>
                  <a:srgbClr val="222B33"/>
                </a:solidFill>
                <a:latin typeface="Microsoft YaHei"/>
              </a:rPr>
              <a:t>▪ 四级：正压供气防护服，多层手套</a:t>
            </a:r>
          </a:p>
          <a:p>
            <a:pPr>
              <a:spcAft>
                <a:spcPts val="1000"/>
              </a:spcAft>
            </a:pPr>
            <a:r>
              <a:rPr sz="1700">
                <a:solidFill>
                  <a:srgbClr val="222B33"/>
                </a:solidFill>
                <a:latin typeface="Microsoft YaHei"/>
              </a:rPr>
              <a:t>▪ 具体穿什么由风险评估决定，有气流也要穿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进二级实验室穿凉鞋、拖鞋</a:t>
            </a:r>
          </a:p>
          <a:p>
            <a:pPr>
              <a:spcAft>
                <a:spcPts val="1000"/>
              </a:spcAft>
            </a:pPr>
            <a:r>
              <a:rPr sz="1500">
                <a:solidFill>
                  <a:srgbClr val="222B33"/>
                </a:solidFill>
                <a:latin typeface="Microsoft YaHei"/>
              </a:rPr>
              <a:t>▪ 认为房间有负压就可以不戴呼吸防护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安全设备与气溶胶控制逐级加严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一级：洗手池和基本消毒用品</a:t>
            </a:r>
          </a:p>
          <a:p>
            <a:pPr>
              <a:spcAft>
                <a:spcPts val="1000"/>
              </a:spcAft>
            </a:pPr>
            <a:r>
              <a:rPr sz="2000">
                <a:solidFill>
                  <a:srgbClr val="222B33"/>
                </a:solidFill>
                <a:latin typeface="Microsoft YaHei"/>
              </a:rPr>
              <a:t>▪ 二级：可能产生气溶胶的操作进生物安全柜</a:t>
            </a:r>
          </a:p>
          <a:p>
            <a:pPr>
              <a:spcAft>
                <a:spcPts val="1000"/>
              </a:spcAft>
            </a:pPr>
            <a:r>
              <a:rPr sz="2000">
                <a:solidFill>
                  <a:srgbClr val="222B33"/>
                </a:solidFill>
                <a:latin typeface="Microsoft YaHei"/>
              </a:rPr>
              <a:t>▪ 三级：必须用安全柜，离心用密封离心杯</a:t>
            </a:r>
          </a:p>
          <a:p>
            <a:pPr>
              <a:spcAft>
                <a:spcPts val="1000"/>
              </a:spcAft>
            </a:pPr>
            <a:r>
              <a:rPr sz="2000">
                <a:solidFill>
                  <a:srgbClr val="222B33"/>
                </a:solidFill>
                <a:latin typeface="Microsoft YaHei"/>
              </a:rPr>
              <a:t>▪ 四级：全密闭安全柜，或正压服配安全柜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在二级实验室开放台面上振荡、研磨感染性材料</a:t>
            </a:r>
          </a:p>
          <a:p>
            <a:pPr>
              <a:spcAft>
                <a:spcPts val="1000"/>
              </a:spcAft>
            </a:pPr>
            <a:r>
              <a:rPr sz="1500">
                <a:solidFill>
                  <a:srgbClr val="222B33"/>
                </a:solidFill>
                <a:latin typeface="Microsoft YaHei"/>
              </a:rPr>
              <a:t>▪ 离心感染性材料不用密封离心杯</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实验室设施逐级递进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一级：普通开放实验室，有洗手池</a:t>
            </a:r>
          </a:p>
          <a:p>
            <a:pPr>
              <a:spcAft>
                <a:spcPts val="1000"/>
              </a:spcAft>
            </a:pPr>
            <a:r>
              <a:rPr sz="2000">
                <a:solidFill>
                  <a:srgbClr val="222B33"/>
                </a:solidFill>
                <a:latin typeface="Microsoft YaHei"/>
              </a:rPr>
              <a:t>▪ 二级：自闭门、洗手池、洗眼装置、灭菌器</a:t>
            </a:r>
          </a:p>
          <a:p>
            <a:pPr>
              <a:spcAft>
                <a:spcPts val="1000"/>
              </a:spcAft>
            </a:pPr>
            <a:r>
              <a:rPr sz="2000">
                <a:solidFill>
                  <a:srgbClr val="222B33"/>
                </a:solidFill>
                <a:latin typeface="Microsoft YaHei"/>
              </a:rPr>
              <a:t>▪ 三级：房间负压，排风经高效过滤</a:t>
            </a:r>
          </a:p>
          <a:p>
            <a:pPr>
              <a:spcAft>
                <a:spcPts val="1000"/>
              </a:spcAft>
            </a:pPr>
            <a:r>
              <a:rPr sz="2000">
                <a:solidFill>
                  <a:srgbClr val="222B33"/>
                </a:solidFill>
                <a:latin typeface="Microsoft YaHei"/>
              </a:rPr>
              <a:t>▪ 四级：完全隔离，进风排风都要过滤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不知道本实验室的洗眼装置和灭菌器在哪里</a:t>
            </a:r>
          </a:p>
          <a:p>
            <a:pPr>
              <a:spcAft>
                <a:spcPts val="1000"/>
              </a:spcAft>
            </a:pPr>
            <a:r>
              <a:rPr sz="1500">
                <a:solidFill>
                  <a:srgbClr val="222B33"/>
                </a:solidFill>
                <a:latin typeface="Microsoft YaHei"/>
              </a:rPr>
              <a:t>▪ 用东西顶住二级实验室的自闭门</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二级实验室的布局与两道屏障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入口附近有灭菌器，门上有生物危害标志</a:t>
            </a:r>
          </a:p>
          <a:p>
            <a:pPr>
              <a:spcAft>
                <a:spcPts val="1000"/>
              </a:spcAft>
            </a:pPr>
            <a:r>
              <a:rPr sz="1700">
                <a:solidFill>
                  <a:srgbClr val="222B33"/>
                </a:solidFill>
                <a:latin typeface="Microsoft YaHei"/>
              </a:rPr>
              <a:t>▪ 门可装门禁，防止无关人员进入</a:t>
            </a:r>
          </a:p>
          <a:p>
            <a:pPr>
              <a:spcAft>
                <a:spcPts val="1000"/>
              </a:spcAft>
            </a:pPr>
            <a:r>
              <a:rPr sz="1700">
                <a:solidFill>
                  <a:srgbClr val="222B33"/>
                </a:solidFill>
                <a:latin typeface="Microsoft YaHei"/>
              </a:rPr>
              <a:t>▪ 安全柜放最里面，气流从门口流向柜子</a:t>
            </a:r>
          </a:p>
          <a:p>
            <a:pPr>
              <a:spcAft>
                <a:spcPts val="1000"/>
              </a:spcAft>
            </a:pPr>
            <a:r>
              <a:rPr sz="1700">
                <a:solidFill>
                  <a:srgbClr val="222B33"/>
                </a:solidFill>
                <a:latin typeface="Microsoft YaHei"/>
              </a:rPr>
              <a:t>▪ 柜子按设计接好排风，不能随意改动</a:t>
            </a:r>
          </a:p>
          <a:p>
            <a:pPr>
              <a:spcAft>
                <a:spcPts val="1000"/>
              </a:spcAft>
            </a:pPr>
            <a:r>
              <a:rPr sz="1700">
                <a:solidFill>
                  <a:srgbClr val="222B33"/>
                </a:solidFill>
                <a:latin typeface="Microsoft YaHei"/>
              </a:rPr>
              <a:t>▪ 第一道：柜和防护；第二道：设施和管理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把生物安全柜放在门口或人来人往的通道旁</a:t>
            </a:r>
          </a:p>
          <a:p>
            <a:pPr>
              <a:spcAft>
                <a:spcPts val="1000"/>
              </a:spcAft>
            </a:pPr>
            <a:r>
              <a:rPr sz="1500">
                <a:solidFill>
                  <a:srgbClr val="222B33"/>
                </a:solidFill>
                <a:latin typeface="Microsoft YaHei"/>
              </a:rPr>
              <a:t>▪ 自行改动安全柜的排风连接</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良好微生物操作是基本功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良好微生物操作是各级安全的基本功</a:t>
            </a:r>
          </a:p>
          <a:p>
            <a:pPr>
              <a:spcAft>
                <a:spcPts val="1000"/>
              </a:spcAft>
            </a:pPr>
            <a:r>
              <a:rPr sz="1700">
                <a:solidFill>
                  <a:srgbClr val="222B33"/>
                </a:solidFill>
                <a:latin typeface="Microsoft YaHei"/>
              </a:rPr>
              <a:t>▪ 先定行为规范，把基本操作一条条写清</a:t>
            </a:r>
          </a:p>
          <a:p>
            <a:pPr>
              <a:spcAft>
                <a:spcPts val="1000"/>
              </a:spcAft>
            </a:pPr>
            <a:r>
              <a:rPr sz="1700">
                <a:solidFill>
                  <a:srgbClr val="222B33"/>
                </a:solidFill>
                <a:latin typeface="Microsoft YaHei"/>
              </a:rPr>
              <a:t>▪ 无菌操作、灭菌、去污，样样到位</a:t>
            </a:r>
          </a:p>
          <a:p>
            <a:pPr>
              <a:spcAft>
                <a:spcPts val="1000"/>
              </a:spcAft>
            </a:pPr>
            <a:r>
              <a:rPr sz="1700">
                <a:solidFill>
                  <a:srgbClr val="222B33"/>
                </a:solidFill>
                <a:latin typeface="Microsoft YaHei"/>
              </a:rPr>
              <a:t>▪ 消毒剂要用对，作用时间要等够</a:t>
            </a:r>
          </a:p>
          <a:p>
            <a:pPr>
              <a:spcAft>
                <a:spcPts val="1000"/>
              </a:spcAft>
            </a:pPr>
            <a:r>
              <a:rPr sz="1700">
                <a:solidFill>
                  <a:srgbClr val="222B33"/>
                </a:solidFill>
                <a:latin typeface="Microsoft YaHei"/>
              </a:rPr>
              <a:t>▪ 要有应急预案：破损、发病、溢洒、火</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消毒剂喷上马上擦掉，不等作用时间</a:t>
            </a:r>
          </a:p>
          <a:p>
            <a:pPr>
              <a:spcAft>
                <a:spcPts val="1000"/>
              </a:spcAft>
            </a:pPr>
            <a:r>
              <a:rPr sz="1500">
                <a:solidFill>
                  <a:srgbClr val="222B33"/>
                </a:solidFill>
                <a:latin typeface="Microsoft YaHei"/>
              </a:rPr>
              <a:t>▪ 认为有了安全柜，操作可以随意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一级、二级实验室的日常规范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不饮食、不化妆，不用手摸脸和手机</a:t>
            </a:r>
          </a:p>
          <a:p>
            <a:pPr>
              <a:spcAft>
                <a:spcPts val="1000"/>
              </a:spcAft>
            </a:pPr>
            <a:r>
              <a:rPr sz="1700">
                <a:solidFill>
                  <a:srgbClr val="222B33"/>
                </a:solidFill>
                <a:latin typeface="Microsoft YaHei"/>
              </a:rPr>
              <a:t>▪ 严禁口吸移液，用移液器</a:t>
            </a:r>
          </a:p>
          <a:p>
            <a:pPr>
              <a:spcAft>
                <a:spcPts val="1000"/>
              </a:spcAft>
            </a:pPr>
            <a:r>
              <a:rPr sz="1700">
                <a:solidFill>
                  <a:srgbClr val="222B33"/>
                </a:solidFill>
                <a:latin typeface="Microsoft YaHei"/>
              </a:rPr>
              <a:t>▪ 动作轻缓，减少溅洒和气溶胶</a:t>
            </a:r>
          </a:p>
          <a:p>
            <a:pPr>
              <a:spcAft>
                <a:spcPts val="1000"/>
              </a:spcAft>
            </a:pPr>
            <a:r>
              <a:rPr sz="1700">
                <a:solidFill>
                  <a:srgbClr val="222B33"/>
                </a:solidFill>
                <a:latin typeface="Microsoft YaHei"/>
              </a:rPr>
              <a:t>▪ 实验前后台面消毒，废物灭菌，实验菌不外带</a:t>
            </a:r>
          </a:p>
          <a:p>
            <a:pPr>
              <a:spcAft>
                <a:spcPts val="1000"/>
              </a:spcAft>
            </a:pPr>
            <a:r>
              <a:rPr sz="1700">
                <a:solidFill>
                  <a:srgbClr val="222B33"/>
                </a:solidFill>
                <a:latin typeface="Microsoft YaHei"/>
              </a:rPr>
              <a:t>▪ 做完实验摘手套、洗手再离开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戴着手套接电话、开门</a:t>
            </a:r>
          </a:p>
          <a:p>
            <a:pPr>
              <a:spcAft>
                <a:spcPts val="1000"/>
              </a:spcAft>
            </a:pPr>
            <a:r>
              <a:rPr sz="1500">
                <a:solidFill>
                  <a:srgbClr val="222B33"/>
                </a:solidFill>
                <a:latin typeface="Microsoft YaHei"/>
              </a:rPr>
              <a:t>▪ 把实验菌带回宿舍或倒进下水道</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涂片和环境分离菌也要防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涂片和湿片可能有活菌，按级别防护观察</a:t>
            </a:r>
          </a:p>
          <a:p>
            <a:pPr>
              <a:spcAft>
                <a:spcPts val="1000"/>
              </a:spcAft>
            </a:pPr>
            <a:r>
              <a:rPr sz="1700">
                <a:solidFill>
                  <a:srgbClr val="222B33"/>
                </a:solidFill>
                <a:latin typeface="Microsoft YaHei"/>
              </a:rPr>
              <a:t>▪ 用过的玻片消毒或放进锐器盒</a:t>
            </a:r>
          </a:p>
          <a:p>
            <a:pPr>
              <a:spcAft>
                <a:spcPts val="1000"/>
              </a:spcAft>
            </a:pPr>
            <a:r>
              <a:rPr sz="1700">
                <a:solidFill>
                  <a:srgbClr val="222B33"/>
                </a:solidFill>
                <a:latin typeface="Microsoft YaHei"/>
              </a:rPr>
              <a:t>▪ 土壤、水中分出的菌，鉴定前先当未知菌</a:t>
            </a:r>
          </a:p>
          <a:p>
            <a:pPr>
              <a:spcAft>
                <a:spcPts val="1000"/>
              </a:spcAft>
            </a:pPr>
            <a:r>
              <a:rPr sz="1700">
                <a:solidFill>
                  <a:srgbClr val="222B33"/>
                </a:solidFill>
                <a:latin typeface="Microsoft YaHei"/>
              </a:rPr>
              <a:t>▪ 先评估，一般在二级安全柜里操作</a:t>
            </a:r>
          </a:p>
          <a:p>
            <a:pPr>
              <a:spcAft>
                <a:spcPts val="1000"/>
              </a:spcAft>
            </a:pPr>
            <a:r>
              <a:rPr sz="1700">
                <a:solidFill>
                  <a:srgbClr val="222B33"/>
                </a:solidFill>
                <a:latin typeface="Microsoft YaHei"/>
              </a:rPr>
              <a:t>▪ 分离株标清来源，鉴定前不降级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微生物涂片和湿片可能含有活菌，观察时按相应级别穿戴防护；用过的玻片放进消毒缸消毒，或放进锐器盒；显微镜载物台被污染时及时消毒。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认为涂片“已经固定了”，徒手拿取或随手丢弃</a:t>
            </a:r>
          </a:p>
          <a:p>
            <a:pPr>
              <a:spcAft>
                <a:spcPts val="1000"/>
              </a:spcAft>
            </a:pPr>
            <a:r>
              <a:rPr sz="1500">
                <a:solidFill>
                  <a:srgbClr val="222B33"/>
                </a:solidFill>
                <a:latin typeface="Microsoft YaHei"/>
              </a:rPr>
              <a:t>▪ 环境分离菌没鉴定就在开放台面上大量操作</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一级、二级的培训：基本功与规程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培训分级：学什么、谁来学、怎么练</a:t>
            </a:r>
          </a:p>
          <a:p>
            <a:pPr>
              <a:spcAft>
                <a:spcPts val="1000"/>
              </a:spcAft>
            </a:pPr>
            <a:r>
              <a:rPr sz="1700">
                <a:solidFill>
                  <a:srgbClr val="222B33"/>
                </a:solidFill>
                <a:latin typeface="Microsoft YaHei"/>
              </a:rPr>
              <a:t>▪ 一级：学生和初学者，学基本功和手卫生</a:t>
            </a:r>
          </a:p>
          <a:p>
            <a:pPr>
              <a:spcAft>
                <a:spcPts val="1000"/>
              </a:spcAft>
            </a:pPr>
            <a:r>
              <a:rPr sz="1700">
                <a:solidFill>
                  <a:srgbClr val="222B33"/>
                </a:solidFill>
                <a:latin typeface="Microsoft YaHei"/>
              </a:rPr>
              <a:t>▪ 一级练穿戴防护、处理溅洒、认生物危害</a:t>
            </a:r>
          </a:p>
          <a:p>
            <a:pPr>
              <a:spcAft>
                <a:spcPts val="1000"/>
              </a:spcAft>
            </a:pPr>
            <a:r>
              <a:rPr sz="1700">
                <a:solidFill>
                  <a:srgbClr val="222B33"/>
                </a:solidFill>
                <a:latin typeface="Microsoft YaHei"/>
              </a:rPr>
              <a:t>▪ 二级：学规程、防锐器伤、用安全柜、报告</a:t>
            </a:r>
          </a:p>
          <a:p>
            <a:pPr>
              <a:spcAft>
                <a:spcPts val="1000"/>
              </a:spcAft>
            </a:pPr>
            <a:r>
              <a:rPr sz="1700">
                <a:solidFill>
                  <a:srgbClr val="222B33"/>
                </a:solidFill>
                <a:latin typeface="Microsoft YaHei"/>
              </a:rPr>
              <a:t>▪ 二级练样本防护、柜子去污、暴露演练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认为只有老师和技术员要培训，学生跟着做就行</a:t>
            </a:r>
          </a:p>
          <a:p>
            <a:pPr>
              <a:spcAft>
                <a:spcPts val="1000"/>
              </a:spcAft>
            </a:pPr>
            <a:r>
              <a:rPr sz="1500">
                <a:solidFill>
                  <a:srgbClr val="222B33"/>
                </a:solidFill>
                <a:latin typeface="Microsoft YaHei"/>
              </a:rPr>
              <a:t>▪ 只学一级的内容就进入二级实验室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三级、四级的培训：专人长期强化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三级：学空气传播防护、进出和应急程序</a:t>
            </a:r>
          </a:p>
          <a:p>
            <a:pPr>
              <a:spcAft>
                <a:spcPts val="1000"/>
              </a:spcAft>
            </a:pPr>
            <a:r>
              <a:rPr sz="1700">
                <a:solidFill>
                  <a:srgbClr val="222B33"/>
                </a:solidFill>
                <a:latin typeface="Microsoft YaHei"/>
              </a:rPr>
              <a:t>▪ 三级做呼吸防护适合性检验，定期复训演练</a:t>
            </a:r>
          </a:p>
          <a:p>
            <a:pPr>
              <a:spcAft>
                <a:spcPts val="1000"/>
              </a:spcAft>
            </a:pPr>
            <a:r>
              <a:rPr sz="1700">
                <a:solidFill>
                  <a:srgbClr val="222B33"/>
                </a:solidFill>
                <a:latin typeface="Microsoft YaHei"/>
              </a:rPr>
              <a:t>▪ 三级为有经验的专业人员，学生未批准不得进</a:t>
            </a:r>
          </a:p>
          <a:p>
            <a:pPr>
              <a:spcAft>
                <a:spcPts val="1000"/>
              </a:spcAft>
            </a:pPr>
            <a:r>
              <a:rPr sz="1700">
                <a:solidFill>
                  <a:srgbClr val="222B33"/>
                </a:solidFill>
                <a:latin typeface="Microsoft YaHei"/>
              </a:rPr>
              <a:t>▪ 四级：专门团队长期强化训练，两人同行</a:t>
            </a:r>
          </a:p>
          <a:p>
            <a:pPr>
              <a:spcAft>
                <a:spcPts val="1000"/>
              </a:spcAft>
            </a:pPr>
            <a:r>
              <a:rPr sz="1700">
                <a:solidFill>
                  <a:srgbClr val="222B33"/>
                </a:solidFill>
                <a:latin typeface="Microsoft YaHei"/>
              </a:rPr>
              <a:t>▪ 四级练全流程：进出、淋浴、通讯、撤离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认为看过录像就可以进三级实验室</a:t>
            </a:r>
          </a:p>
          <a:p>
            <a:pPr>
              <a:spcAft>
                <a:spcPts val="1000"/>
              </a:spcAft>
            </a:pPr>
            <a:r>
              <a:rPr sz="1500">
                <a:solidFill>
                  <a:srgbClr val="222B33"/>
                </a:solidFill>
                <a:latin typeface="Microsoft YaHei"/>
              </a:rPr>
              <a:t>▪ 认为呼吸防护随便戴上就有效，不做适合性检验</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人人必备的六类培训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生物安全操作：规范操作、防护设施、废物灭活</a:t>
            </a:r>
          </a:p>
          <a:p>
            <a:pPr>
              <a:spcAft>
                <a:spcPts val="1000"/>
              </a:spcAft>
            </a:pPr>
            <a:r>
              <a:rPr sz="1700">
                <a:solidFill>
                  <a:srgbClr val="222B33"/>
                </a:solidFill>
                <a:latin typeface="Microsoft YaHei"/>
              </a:rPr>
              <a:t>▪ 生物安保意识：防止无关人员接触材料</a:t>
            </a:r>
          </a:p>
          <a:p>
            <a:pPr>
              <a:spcAft>
                <a:spcPts val="1000"/>
              </a:spcAft>
            </a:pPr>
            <a:r>
              <a:rPr sz="1700">
                <a:solidFill>
                  <a:srgbClr val="222B33"/>
                </a:solidFill>
                <a:latin typeface="Microsoft YaHei"/>
              </a:rPr>
              <a:t>▪ 防护装备：会选、会穿、会脱</a:t>
            </a:r>
          </a:p>
          <a:p>
            <a:pPr>
              <a:spcAft>
                <a:spcPts val="1000"/>
              </a:spcAft>
            </a:pPr>
            <a:r>
              <a:rPr sz="1700">
                <a:solidFill>
                  <a:srgbClr val="222B33"/>
                </a:solidFill>
                <a:latin typeface="Microsoft YaHei"/>
              </a:rPr>
              <a:t>▪ 应急程序与设备使用：溢洒、撤离、安全柜、灭菌器</a:t>
            </a:r>
          </a:p>
          <a:p>
            <a:pPr>
              <a:spcAft>
                <a:spcPts val="1000"/>
              </a:spcAft>
            </a:pPr>
            <a:r>
              <a:rPr sz="1700">
                <a:solidFill>
                  <a:srgbClr val="222B33"/>
                </a:solidFill>
                <a:latin typeface="Microsoft YaHei"/>
              </a:rPr>
              <a:t>▪ 事件报告：立即报负责人、学院、学校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实验室人员的必备培训有六类：第一，生物安全操作——规范操作，在防护设施里做实验，学会废物的灭活和处置；第二，生物安保意识——防止未经授权的人员接触病原材料（见第 083 课）；第三，个人防护装备——按风险评估选对防护……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被扎伤后觉得“没事”，不报告</a:t>
            </a:r>
          </a:p>
          <a:p>
            <a:pPr>
              <a:spcAft>
                <a:spcPts val="1000"/>
              </a:spcAft>
            </a:pPr>
            <a:r>
              <a:rPr sz="1500">
                <a:solidFill>
                  <a:srgbClr val="222B33"/>
                </a:solidFill>
                <a:latin typeface="Microsoft YaHei"/>
              </a:rPr>
              <a:t>▪ 只学操作，不学应急和报告</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培训要记录、要动手、要带教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培训留记录，本人签字，考核合格才准入</a:t>
            </a:r>
          </a:p>
          <a:p>
            <a:pPr>
              <a:spcAft>
                <a:spcPts val="1000"/>
              </a:spcAft>
            </a:pPr>
            <a:r>
              <a:rPr sz="2000">
                <a:solidFill>
                  <a:srgbClr val="222B33"/>
                </a:solidFill>
                <a:latin typeface="Microsoft YaHei"/>
              </a:rPr>
              <a:t>▪ 定期复训，周期按本校规定</a:t>
            </a:r>
          </a:p>
          <a:p>
            <a:pPr>
              <a:spcAft>
                <a:spcPts val="1000"/>
              </a:spcAft>
            </a:pPr>
            <a:r>
              <a:rPr sz="2000">
                <a:solidFill>
                  <a:srgbClr val="222B33"/>
                </a:solidFill>
                <a:latin typeface="Microsoft YaHei"/>
              </a:rPr>
              <a:t>▪ 二级及以上必须动手实练</a:t>
            </a:r>
          </a:p>
          <a:p>
            <a:pPr>
              <a:spcAft>
                <a:spcPts val="1000"/>
              </a:spcAft>
            </a:pPr>
            <a:r>
              <a:rPr sz="2000">
                <a:solidFill>
                  <a:srgbClr val="222B33"/>
                </a:solidFill>
                <a:latin typeface="Microsoft YaHei"/>
              </a:rPr>
              <a:t>▪ 三四级先带教跟岗，能胜任才完全准入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每一级的培训都要留下记录，本人签字，考核合格才能准入；还要定期复训，复训周期按本校规定，操作内容、设备或规程变化时及时补训。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培训签到由别人代签</a:t>
            </a:r>
          </a:p>
          <a:p>
            <a:pPr>
              <a:spcAft>
                <a:spcPts val="1000"/>
              </a:spcAft>
            </a:pPr>
            <a:r>
              <a:rPr sz="1500">
                <a:solidFill>
                  <a:srgbClr val="222B33"/>
                </a:solidFill>
                <a:latin typeface="Microsoft YaHei"/>
              </a:rPr>
              <a:t>▪ 培训过一次就再也不复训</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装备缺了坏了，不开工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装备缺了、坏了，先停下相关操作，不凑合</a:t>
            </a:r>
          </a:p>
          <a:p>
            <a:pPr>
              <a:spcAft>
                <a:spcPts val="1000"/>
              </a:spcAft>
            </a:pPr>
            <a:r>
              <a:rPr sz="2000">
                <a:solidFill>
                  <a:srgbClr val="222B33"/>
                </a:solidFill>
                <a:latin typeface="Microsoft YaHei"/>
              </a:rPr>
              <a:t>▪ 报告负责人，申领或报修</a:t>
            </a:r>
          </a:p>
          <a:p>
            <a:pPr>
              <a:spcAft>
                <a:spcPts val="1000"/>
              </a:spcAft>
            </a:pPr>
            <a:r>
              <a:rPr sz="2000">
                <a:solidFill>
                  <a:srgbClr val="222B33"/>
                </a:solidFill>
                <a:latin typeface="Microsoft YaHei"/>
              </a:rPr>
              <a:t>▪ 确认恢复正常，再开工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防护装备或安全设备缺失、损坏（如手套破损、护目镜缺少、安全柜报警或气流异常），先停下相关操作，不凑合、不将就；按规定处理已在进行的操作和材料，报告实验室负责人，申领防护用品或报修设备。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手套破了继续做完再说</a:t>
            </a:r>
          </a:p>
          <a:p>
            <a:pPr>
              <a:spcAft>
                <a:spcPts val="1000"/>
              </a:spcAft>
            </a:pPr>
            <a:r>
              <a:rPr sz="1500">
                <a:solidFill>
                  <a:srgbClr val="222B33"/>
                </a:solidFill>
                <a:latin typeface="Microsoft YaHei"/>
              </a:rPr>
              <a:t>▪ 安全柜报警时关掉报警继续操作</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关于二级实验室的个人防护，正确的是：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只穿实验服即可</a:t>
            </a:r>
          </a:p>
          <a:p>
            <a:pPr algn="l"/>
            <a:r>
              <a:rPr sz="1500" b="0">
                <a:solidFill>
                  <a:srgbClr val="222B33"/>
                </a:solidFill>
                <a:latin typeface="Microsoft YaHei"/>
              </a:rPr>
              <a:t>B. 实验服、手套，加护目镜或面屏，必须穿闭趾鞋</a:t>
            </a:r>
          </a:p>
          <a:p>
            <a:pPr algn="l"/>
            <a:r>
              <a:rPr sz="1500" b="0">
                <a:solidFill>
                  <a:srgbClr val="222B33"/>
                </a:solidFill>
                <a:latin typeface="Microsoft YaHei"/>
              </a:rPr>
              <a:t>C. 必须穿正压防护服</a:t>
            </a:r>
          </a:p>
          <a:p>
            <a:pPr algn="l"/>
            <a:r>
              <a:rPr sz="1500" b="0">
                <a:solidFill>
                  <a:srgbClr val="222B33"/>
                </a:solidFill>
                <a:latin typeface="Microsoft YaHei"/>
              </a:rPr>
              <a:t>D. 有安全柜就不用戴手套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判断：二级实验室里，吸液、混匀等可能产生气溶胶的操作应在生物安全柜内进行。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下列做法符合一级、二级实验室日常规范的是：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戴手套接电话</a:t>
            </a:r>
          </a:p>
          <a:p>
            <a:pPr algn="l"/>
            <a:r>
              <a:rPr sz="1500" b="0">
                <a:solidFill>
                  <a:srgbClr val="222B33"/>
                </a:solidFill>
                <a:latin typeface="Microsoft YaHei"/>
              </a:rPr>
              <a:t>B. 用嘴吸移液管</a:t>
            </a:r>
          </a:p>
          <a:p>
            <a:pPr algn="l"/>
            <a:r>
              <a:rPr sz="1500" b="0">
                <a:solidFill>
                  <a:srgbClr val="222B33"/>
                </a:solidFill>
                <a:latin typeface="Microsoft YaHei"/>
              </a:rPr>
              <a:t>C. 实验前后台面消毒，做完实验摘手套、洗手再离开</a:t>
            </a:r>
          </a:p>
          <a:p>
            <a:pPr algn="l"/>
            <a:r>
              <a:rPr sz="1500" b="0">
                <a:solidFill>
                  <a:srgbClr val="222B33"/>
                </a:solidFill>
                <a:latin typeface="Microsoft YaHei"/>
              </a:rPr>
              <a:t>D. 把实验菌带回宿舍继续观察</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判断：从土壤中分离出的菌，鉴定前可以按无害菌在开放台面上操作。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阿杰发现安全柜报警、手套也破了，应该：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关掉报警继续做</a:t>
            </a:r>
          </a:p>
          <a:p>
            <a:pPr algn="l"/>
            <a:r>
              <a:rPr sz="1500" b="0">
                <a:solidFill>
                  <a:srgbClr val="222B33"/>
                </a:solidFill>
                <a:latin typeface="Microsoft YaHei"/>
              </a:rPr>
              <a:t>B. 先做完再换手套</a:t>
            </a:r>
          </a:p>
          <a:p>
            <a:pPr algn="l"/>
            <a:r>
              <a:rPr sz="1500" b="0">
                <a:solidFill>
                  <a:srgbClr val="222B33"/>
                </a:solidFill>
                <a:latin typeface="Microsoft YaHei"/>
              </a:rPr>
              <a:t>C. 停下相关操作，报告负责人，修复确认后再开工</a:t>
            </a:r>
          </a:p>
          <a:p>
            <a:pPr algn="l"/>
            <a:r>
              <a:rPr sz="1500" b="0">
                <a:solidFill>
                  <a:srgbClr val="222B33"/>
                </a:solidFill>
                <a:latin typeface="Microsoft YaHei"/>
              </a:rPr>
              <a:t>D. 自己拆开安全柜检查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简答：实验室人员必备的六类培训是什么？发生针刺暴露后向谁报告？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防护要求是一整套：缺一项就不达标</a:t>
            </a:r>
          </a:p>
          <a:p>
            <a:pPr>
              <a:spcAft>
                <a:spcPts val="800"/>
              </a:spcAft>
            </a:pPr>
            <a:r>
              <a:rPr sz="1500">
                <a:solidFill>
                  <a:srgbClr val="FFFFFF"/>
                </a:solidFill>
                <a:latin typeface="Microsoft YaHei"/>
              </a:rPr>
              <a:t>▪ K2  谁能进门：准入逐级收紧</a:t>
            </a:r>
          </a:p>
          <a:p>
            <a:pPr>
              <a:spcAft>
                <a:spcPts val="800"/>
              </a:spcAft>
            </a:pPr>
            <a:r>
              <a:rPr sz="1500">
                <a:solidFill>
                  <a:srgbClr val="FFFFFF"/>
                </a:solidFill>
                <a:latin typeface="Microsoft YaHei"/>
              </a:rPr>
              <a:t>▪ K3  个人防护逐级加码</a:t>
            </a:r>
          </a:p>
          <a:p>
            <a:pPr>
              <a:spcAft>
                <a:spcPts val="800"/>
              </a:spcAft>
            </a:pPr>
            <a:r>
              <a:rPr sz="1500">
                <a:solidFill>
                  <a:srgbClr val="FFFFFF"/>
                </a:solidFill>
                <a:latin typeface="Microsoft YaHei"/>
              </a:rPr>
              <a:t>▪ K4  安全设备与气溶胶控制逐级加严</a:t>
            </a:r>
          </a:p>
          <a:p>
            <a:pPr>
              <a:spcAft>
                <a:spcPts val="800"/>
              </a:spcAft>
            </a:pPr>
            <a:r>
              <a:rPr sz="1500">
                <a:solidFill>
                  <a:srgbClr val="FFFFFF"/>
                </a:solidFill>
                <a:latin typeface="Microsoft YaHei"/>
              </a:rPr>
              <a:t>▪ K5  实验室设施逐级递进</a:t>
            </a:r>
          </a:p>
          <a:p>
            <a:pPr>
              <a:spcAft>
                <a:spcPts val="800"/>
              </a:spcAft>
            </a:pPr>
            <a:r>
              <a:rPr sz="1500">
                <a:solidFill>
                  <a:srgbClr val="FFFFFF"/>
                </a:solidFill>
                <a:latin typeface="Microsoft YaHei"/>
              </a:rPr>
              <a:t>▪ K6  二级实验室的布局与两道屏障</a:t>
            </a:r>
          </a:p>
          <a:p>
            <a:pPr>
              <a:spcAft>
                <a:spcPts val="800"/>
              </a:spcAft>
            </a:pPr>
            <a:r>
              <a:rPr sz="1500">
                <a:solidFill>
                  <a:srgbClr val="FFFFFF"/>
                </a:solidFill>
                <a:latin typeface="Microsoft YaHei"/>
              </a:rPr>
              <a:t>▪ K7  良好微生物操作是基本功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一级、二级实验室的日常规范</a:t>
            </a:r>
          </a:p>
          <a:p>
            <a:pPr>
              <a:spcAft>
                <a:spcPts val="800"/>
              </a:spcAft>
            </a:pPr>
            <a:r>
              <a:rPr sz="1500">
                <a:solidFill>
                  <a:srgbClr val="FFFFFF"/>
                </a:solidFill>
                <a:latin typeface="Microsoft YaHei"/>
              </a:rPr>
              <a:t>▪ K9  涂片和环境分离菌也要防</a:t>
            </a:r>
          </a:p>
          <a:p>
            <a:pPr>
              <a:spcAft>
                <a:spcPts val="800"/>
              </a:spcAft>
            </a:pPr>
            <a:r>
              <a:rPr sz="1500">
                <a:solidFill>
                  <a:srgbClr val="FFFFFF"/>
                </a:solidFill>
                <a:latin typeface="Microsoft YaHei"/>
              </a:rPr>
              <a:t>▪ K10  一级、二级的培训：基本功与规程</a:t>
            </a:r>
          </a:p>
          <a:p>
            <a:pPr>
              <a:spcAft>
                <a:spcPts val="800"/>
              </a:spcAft>
            </a:pPr>
            <a:r>
              <a:rPr sz="1500">
                <a:solidFill>
                  <a:srgbClr val="FFFFFF"/>
                </a:solidFill>
                <a:latin typeface="Microsoft YaHei"/>
              </a:rPr>
              <a:t>▪ K11  三级、四级的培训：专人长期强化</a:t>
            </a:r>
          </a:p>
          <a:p>
            <a:pPr>
              <a:spcAft>
                <a:spcPts val="800"/>
              </a:spcAft>
            </a:pPr>
            <a:r>
              <a:rPr sz="1500">
                <a:solidFill>
                  <a:srgbClr val="FFFFFF"/>
                </a:solidFill>
                <a:latin typeface="Microsoft YaHei"/>
              </a:rPr>
              <a:t>▪ K12  人人必备的六类培训</a:t>
            </a:r>
          </a:p>
          <a:p>
            <a:pPr>
              <a:spcAft>
                <a:spcPts val="800"/>
              </a:spcAft>
            </a:pPr>
            <a:r>
              <a:rPr sz="1500">
                <a:solidFill>
                  <a:srgbClr val="FFFFFF"/>
                </a:solidFill>
                <a:latin typeface="Microsoft YaHei"/>
              </a:rPr>
              <a:t>▪ K13  培训要记录、要动手、要带教</a:t>
            </a:r>
          </a:p>
          <a:p>
            <a:pPr>
              <a:spcAft>
                <a:spcPts val="800"/>
              </a:spcAft>
            </a:pPr>
            <a:r>
              <a:rPr sz="1500">
                <a:solidFill>
                  <a:srgbClr val="FFFFFF"/>
                </a:solidFill>
                <a:latin typeface="Microsoft YaHei"/>
              </a:rPr>
              <a:t>▪ K14  装备缺了坏了，不开工</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生物封闭原理：屏障与定向气流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能说出一级防护（安全设备与个人防护，保护人员）和二级防护（设施与规程，保护环境）的含义和组成，知道两道屏障要一起用。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能说出定向气流、负压与压力梯度、气锁（缓冲间）、持续换气和高效过滤的作用，以及屏障的局限和剩余风险。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能做到进门前看压差表和飘带，进出随手关门、缓冲间两道门不同时开，不遮挡排风口和柜前格栅。</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能判断气流方向异常（飘带外飘、压差报警、停电）时的处置：停止工作、关门挂牌、报告负责人和设施人员、修复验证后再恢复。</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《病原微生物实验室生物安全管理条例》（以现行文本为准）：实验室设施设备符合国家标准，三级、四级实验室须通过国家认可</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生物安全通用要求》：一级屏障与二级屏障、定向气流和压力梯度、缓冲间、排风高效过滤及其检测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50346（以现行文本为准）《生物安全实验室建筑技术规范》：生物安全实验室的建筑、通风空调和过滤等工程技术要求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233（以现行文本为准）《病原微生物实验室生物安全通用准则》：各级病原微生物实验室的设施和设备要求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号，以现行文本为准）：设施设备运行和隐患报告</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本校设施说明与应急预案：压差、气流方向和报警的具体要求以本校设施说明为准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什么是封闭：把病原关在受控空间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封闭：把病原关在受控空间，挡住外泄</a:t>
            </a:r>
          </a:p>
          <a:p>
            <a:pPr>
              <a:spcAft>
                <a:spcPts val="1000"/>
              </a:spcAft>
            </a:pPr>
            <a:r>
              <a:rPr sz="1700">
                <a:solidFill>
                  <a:srgbClr val="222B33"/>
                </a:solidFill>
                <a:latin typeface="Microsoft YaHei"/>
              </a:rPr>
              <a:t>▪ 一旦外泄，伤到人员，也伤到公众</a:t>
            </a:r>
          </a:p>
          <a:p>
            <a:pPr>
              <a:spcAft>
                <a:spcPts val="1000"/>
              </a:spcAft>
            </a:pPr>
            <a:r>
              <a:rPr sz="1700">
                <a:solidFill>
                  <a:srgbClr val="222B33"/>
                </a:solidFill>
                <a:latin typeface="Microsoft YaHei"/>
              </a:rPr>
              <a:t>▪ 高级别实验室本身就是一个防护区</a:t>
            </a:r>
          </a:p>
          <a:p>
            <a:pPr>
              <a:spcAft>
                <a:spcPts val="1000"/>
              </a:spcAft>
            </a:pPr>
            <a:r>
              <a:rPr sz="1700">
                <a:solidFill>
                  <a:srgbClr val="222B33"/>
                </a:solidFill>
                <a:latin typeface="Microsoft YaHei"/>
              </a:rPr>
              <a:t>▪ 未经批准和培训，学生不能进</a:t>
            </a:r>
          </a:p>
          <a:p>
            <a:pPr>
              <a:spcAft>
                <a:spcPts val="1000"/>
              </a:spcAft>
            </a:pPr>
            <a:r>
              <a:rPr sz="1700">
                <a:solidFill>
                  <a:srgbClr val="222B33"/>
                </a:solidFill>
                <a:latin typeface="Microsoft YaHei"/>
              </a:rPr>
              <a:t>▪ 设施再好，也要人按规程用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封闭（防护）是生物安全的核心思路：把病原微生物关在受控的空间里，用设备、设施和管理等各种控制措施，挡住它外泄。病原一旦外泄，既会伤到实验室人员，也会危害公众和环境。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认为实验室“有负压”就万无一失，操作可以随意</a:t>
            </a:r>
          </a:p>
          <a:p>
            <a:pPr>
              <a:spcAft>
                <a:spcPts val="1000"/>
              </a:spcAft>
            </a:pPr>
            <a:r>
              <a:rPr sz="1500">
                <a:solidFill>
                  <a:srgbClr val="222B33"/>
                </a:solidFill>
                <a:latin typeface="Microsoft YaHei"/>
              </a:rPr>
              <a:t>▪ 未经批准跟随他人进入防护区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一级防护：护住做实验的人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一级防护（一级屏障）保护操作人员</a:t>
            </a:r>
          </a:p>
          <a:p>
            <a:pPr>
              <a:spcAft>
                <a:spcPts val="1000"/>
              </a:spcAft>
            </a:pPr>
            <a:r>
              <a:rPr sz="2000">
                <a:solidFill>
                  <a:srgbClr val="222B33"/>
                </a:solidFill>
                <a:latin typeface="Microsoft YaHei"/>
              </a:rPr>
              <a:t>▪ 靠安全柜和个人防护装备</a:t>
            </a:r>
          </a:p>
          <a:p>
            <a:pPr>
              <a:spcAft>
                <a:spcPts val="1000"/>
              </a:spcAft>
            </a:pPr>
            <a:r>
              <a:rPr sz="2000">
                <a:solidFill>
                  <a:srgbClr val="222B33"/>
                </a:solidFill>
                <a:latin typeface="Microsoft YaHei"/>
              </a:rPr>
              <a:t>▪ 也靠规范操作和穿脱防护的规程</a:t>
            </a:r>
          </a:p>
          <a:p>
            <a:pPr>
              <a:spcAft>
                <a:spcPts val="1000"/>
              </a:spcAft>
            </a:pPr>
            <a:r>
              <a:rPr sz="2000">
                <a:solidFill>
                  <a:srgbClr val="222B33"/>
                </a:solidFill>
                <a:latin typeface="Microsoft YaHei"/>
              </a:rPr>
              <a:t>▪ 生物安全柜是一级防护的主力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认为一级防护只是“穿防护服”，忽视安全柜和操作规程</a:t>
            </a:r>
          </a:p>
          <a:p>
            <a:pPr>
              <a:spcAft>
                <a:spcPts val="1000"/>
              </a:spcAft>
            </a:pPr>
            <a:r>
              <a:rPr sz="1500">
                <a:solidFill>
                  <a:srgbClr val="222B33"/>
                </a:solidFill>
                <a:latin typeface="Microsoft YaHei"/>
              </a:rPr>
              <a:t>▪ 在安全柜外开放操作可能产生气溶胶的材料</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二级防护：护住外面的环境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二级防护（二级屏障）保护外面的环境</a:t>
            </a:r>
          </a:p>
          <a:p>
            <a:pPr>
              <a:spcAft>
                <a:spcPts val="1000"/>
              </a:spcAft>
            </a:pPr>
            <a:r>
              <a:rPr sz="1700">
                <a:solidFill>
                  <a:srgbClr val="222B33"/>
                </a:solidFill>
                <a:latin typeface="Microsoft YaHei"/>
              </a:rPr>
              <a:t>▪ 靠工程控制：墙、门、通风、过滤</a:t>
            </a:r>
          </a:p>
          <a:p>
            <a:pPr>
              <a:spcAft>
                <a:spcPts val="1000"/>
              </a:spcAft>
            </a:pPr>
            <a:r>
              <a:rPr sz="1700">
                <a:solidFill>
                  <a:srgbClr val="222B33"/>
                </a:solidFill>
                <a:latin typeface="Microsoft YaHei"/>
              </a:rPr>
              <a:t>▪ 也靠废水去污、维护、运输和废物规程</a:t>
            </a:r>
          </a:p>
          <a:p>
            <a:pPr>
              <a:spcAft>
                <a:spcPts val="1000"/>
              </a:spcAft>
            </a:pPr>
            <a:r>
              <a:rPr sz="1700">
                <a:solidFill>
                  <a:srgbClr val="222B33"/>
                </a:solidFill>
                <a:latin typeface="Microsoft YaHei"/>
              </a:rPr>
              <a:t>▪ 植物设施靠结构挡住花粉和病原</a:t>
            </a:r>
          </a:p>
          <a:p>
            <a:pPr>
              <a:spcAft>
                <a:spcPts val="1000"/>
              </a:spcAft>
            </a:pPr>
            <a:r>
              <a:rPr sz="1700">
                <a:solidFill>
                  <a:srgbClr val="222B33"/>
                </a:solidFill>
                <a:latin typeface="Microsoft YaHei"/>
              </a:rPr>
              <a:t>▪ 工程控制建设维护成本较高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认为二级防护只是设施部门的事，与使用者无关</a:t>
            </a:r>
          </a:p>
          <a:p>
            <a:pPr>
              <a:spcAft>
                <a:spcPts val="1000"/>
              </a:spcAft>
            </a:pPr>
            <a:r>
              <a:rPr sz="1500">
                <a:solidFill>
                  <a:srgbClr val="222B33"/>
                </a:solidFill>
                <a:latin typeface="Microsoft YaHei"/>
              </a:rPr>
              <a:t>▪ 自行改动通风、排水等设施</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两道屏障一起守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一级护人，二级护环境</a:t>
            </a:r>
          </a:p>
          <a:p>
            <a:pPr>
              <a:spcAft>
                <a:spcPts val="1000"/>
              </a:spcAft>
            </a:pPr>
            <a:r>
              <a:rPr sz="2000">
                <a:solidFill>
                  <a:srgbClr val="222B33"/>
                </a:solidFill>
                <a:latin typeface="Microsoft YaHei"/>
              </a:rPr>
              <a:t>▪ 练习：护人的、护环境的分两盒</a:t>
            </a:r>
          </a:p>
          <a:p>
            <a:pPr>
              <a:spcAft>
                <a:spcPts val="1000"/>
              </a:spcAft>
            </a:pPr>
            <a:r>
              <a:rPr sz="2000">
                <a:solidFill>
                  <a:srgbClr val="222B33"/>
                </a:solidFill>
                <a:latin typeface="Microsoft YaHei"/>
              </a:rPr>
              <a:t>▪ 两层拼起来，就是一间生物安全实验室</a:t>
            </a:r>
          </a:p>
          <a:p>
            <a:pPr>
              <a:spcAft>
                <a:spcPts val="1000"/>
              </a:spcAft>
            </a:pPr>
            <a:r>
              <a:rPr sz="2000">
                <a:solidFill>
                  <a:srgbClr val="222B33"/>
                </a:solidFill>
                <a:latin typeface="Microsoft YaHei"/>
              </a:rPr>
              <a:t>▪ 两道一起用，缺一道风险就漏出去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记住一句话：一级防护保护人，二级防护保护环境；简单说，“柜护人，房护环境”。两道屏障要同时做到、一起使用，缺了任何一道，风险都会漏出去。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只重视个人防护，忽视关门、废物和废水处理</a:t>
            </a:r>
          </a:p>
          <a:p>
            <a:pPr>
              <a:spcAft>
                <a:spcPts val="1000"/>
              </a:spcAft>
            </a:pPr>
            <a:r>
              <a:rPr sz="1500">
                <a:solidFill>
                  <a:srgbClr val="222B33"/>
                </a:solidFill>
                <a:latin typeface="Microsoft YaHei"/>
              </a:rPr>
              <a:t>▪ 认为设施好就可以不穿戴个人防护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定向气流：从清洁区流向污染区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封闭的核心是定向气流</a:t>
            </a:r>
          </a:p>
          <a:p>
            <a:pPr>
              <a:spcAft>
                <a:spcPts val="1000"/>
              </a:spcAft>
            </a:pPr>
            <a:r>
              <a:rPr sz="1700">
                <a:solidFill>
                  <a:srgbClr val="222B33"/>
                </a:solidFill>
                <a:latin typeface="Microsoft YaHei"/>
              </a:rPr>
              <a:t>▪ 空气从清洁区流向污染区，只进不出</a:t>
            </a:r>
          </a:p>
          <a:p>
            <a:pPr>
              <a:spcAft>
                <a:spcPts val="1000"/>
              </a:spcAft>
            </a:pPr>
            <a:r>
              <a:rPr sz="1700">
                <a:solidFill>
                  <a:srgbClr val="222B33"/>
                </a:solidFill>
                <a:latin typeface="Microsoft YaHei"/>
              </a:rPr>
              <a:t>▪ 普通房间开门往外，封闭实验室往里</a:t>
            </a:r>
          </a:p>
          <a:p>
            <a:pPr>
              <a:spcAft>
                <a:spcPts val="1000"/>
              </a:spcAft>
            </a:pPr>
            <a:r>
              <a:rPr sz="1700">
                <a:solidFill>
                  <a:srgbClr val="222B33"/>
                </a:solidFill>
                <a:latin typeface="Microsoft YaHei"/>
              </a:rPr>
              <a:t>▪ 定向气流让室内气溶胶跑不出来</a:t>
            </a:r>
          </a:p>
          <a:p>
            <a:pPr>
              <a:spcAft>
                <a:spcPts val="1000"/>
              </a:spcAft>
            </a:pPr>
            <a:r>
              <a:rPr sz="1700">
                <a:solidFill>
                  <a:srgbClr val="222B33"/>
                </a:solidFill>
                <a:latin typeface="Microsoft YaHei"/>
              </a:rPr>
              <a:t>▪ 进门前先看压差表和飘带</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进门从不看压差表和飘带</a:t>
            </a:r>
          </a:p>
          <a:p>
            <a:pPr>
              <a:spcAft>
                <a:spcPts val="1000"/>
              </a:spcAft>
            </a:pPr>
            <a:r>
              <a:rPr sz="1500">
                <a:solidFill>
                  <a:srgbClr val="222B33"/>
                </a:solidFill>
                <a:latin typeface="Microsoft YaHei"/>
              </a:rPr>
              <a:t>▪ 看到飘带外飘仍然进门</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风不能从病原吹向人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风从病原吹向人，不行</a:t>
            </a:r>
          </a:p>
          <a:p>
            <a:pPr>
              <a:spcAft>
                <a:spcPts val="1000"/>
              </a:spcAft>
            </a:pPr>
            <a:r>
              <a:rPr sz="2000">
                <a:solidFill>
                  <a:srgbClr val="222B33"/>
                </a:solidFill>
                <a:latin typeface="Microsoft YaHei"/>
              </a:rPr>
              <a:t>▪ 风从人身后来，经过病原再过滤排出</a:t>
            </a:r>
          </a:p>
          <a:p>
            <a:pPr>
              <a:spcAft>
                <a:spcPts val="1000"/>
              </a:spcAft>
            </a:pPr>
            <a:r>
              <a:rPr sz="2000">
                <a:solidFill>
                  <a:srgbClr val="222B33"/>
                </a:solidFill>
                <a:latin typeface="Microsoft YaHei"/>
              </a:rPr>
              <a:t>▪ 地上洒了，从清洁一侧处理，不踩进去</a:t>
            </a:r>
          </a:p>
          <a:p>
            <a:pPr>
              <a:spcAft>
                <a:spcPts val="1000"/>
              </a:spcAft>
            </a:pPr>
            <a:r>
              <a:rPr sz="2000">
                <a:solidFill>
                  <a:srgbClr val="222B33"/>
                </a:solidFill>
                <a:latin typeface="Microsoft YaHei"/>
              </a:rPr>
              <a:t>▪ 排风口和柜前格栅，别堆东西遮挡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的方向还要考虑人的位置：风从病原吹向人是不允许的；正确的是风从人身后来，经过操作的病原材料，从另一头经过滤排出。地面发生溅洒时，从清洁的一侧（上风侧）处理，不要踩进溅洒区（溢洒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在排风口前堆放纸箱</a:t>
            </a:r>
          </a:p>
          <a:p>
            <a:pPr>
              <a:spcAft>
                <a:spcPts val="1000"/>
              </a:spcAft>
            </a:pPr>
            <a:r>
              <a:rPr sz="1500">
                <a:solidFill>
                  <a:srgbClr val="222B33"/>
                </a:solidFill>
                <a:latin typeface="Microsoft YaHei"/>
              </a:rPr>
              <a:t>▪ 把记录本压在安全柜前格栅上</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负压与压力梯度：越往里压力越低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封闭实验室气压比外面低，叫负压</a:t>
            </a:r>
          </a:p>
          <a:p>
            <a:pPr>
              <a:spcAft>
                <a:spcPts val="1000"/>
              </a:spcAft>
            </a:pPr>
            <a:r>
              <a:rPr sz="1700">
                <a:solidFill>
                  <a:srgbClr val="222B33"/>
                </a:solidFill>
                <a:latin typeface="Microsoft YaHei"/>
              </a:rPr>
              <a:t>▪ 负压让含病原的气溶胶跑不出去</a:t>
            </a:r>
          </a:p>
          <a:p>
            <a:pPr>
              <a:spcAft>
                <a:spcPts val="1000"/>
              </a:spcAft>
            </a:pPr>
            <a:r>
              <a:rPr sz="1700">
                <a:solidFill>
                  <a:srgbClr val="222B33"/>
                </a:solidFill>
                <a:latin typeface="Microsoft YaHei"/>
              </a:rPr>
              <a:t>▪ 从入口往里，压力一级比一级低</a:t>
            </a:r>
          </a:p>
          <a:p>
            <a:pPr>
              <a:spcAft>
                <a:spcPts val="1000"/>
              </a:spcAft>
            </a:pPr>
            <a:r>
              <a:rPr sz="1700">
                <a:solidFill>
                  <a:srgbClr val="222B33"/>
                </a:solidFill>
                <a:latin typeface="Microsoft YaHei"/>
              </a:rPr>
              <a:t>▪ 涉病原的操作都在负压间里做</a:t>
            </a:r>
          </a:p>
          <a:p>
            <a:pPr>
              <a:spcAft>
                <a:spcPts val="1000"/>
              </a:spcAft>
            </a:pPr>
            <a:r>
              <a:rPr sz="1700">
                <a:solidFill>
                  <a:srgbClr val="222B33"/>
                </a:solidFill>
                <a:latin typeface="Microsoft YaHei"/>
              </a:rPr>
              <a:t>▪ 具体数值以标准和本校说明为准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把“越往里负压越大”理解成“越往里气压越高”</a:t>
            </a:r>
          </a:p>
          <a:p>
            <a:pPr>
              <a:spcAft>
                <a:spcPts val="1000"/>
              </a:spcAft>
            </a:pPr>
            <a:r>
              <a:rPr sz="1500">
                <a:solidFill>
                  <a:srgbClr val="222B33"/>
                </a:solidFill>
                <a:latin typeface="Microsoft YaHei"/>
              </a:rPr>
              <a:t>▪ 自行调节房间的压差或风量</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气锁与缓冲间：两道门不同时开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外界和防护区之间的一小段叫气锁或缓冲间</a:t>
            </a:r>
          </a:p>
          <a:p>
            <a:pPr>
              <a:spcAft>
                <a:spcPts val="1000"/>
              </a:spcAft>
            </a:pPr>
            <a:r>
              <a:rPr sz="1700">
                <a:solidFill>
                  <a:srgbClr val="222B33"/>
                </a:solidFill>
                <a:latin typeface="Microsoft YaHei"/>
              </a:rPr>
              <a:t>▪ 靠压力差把两边的空气隔开</a:t>
            </a:r>
          </a:p>
          <a:p>
            <a:pPr>
              <a:spcAft>
                <a:spcPts val="1000"/>
              </a:spcAft>
            </a:pPr>
            <a:r>
              <a:rPr sz="1700">
                <a:solidFill>
                  <a:srgbClr val="222B33"/>
                </a:solidFill>
                <a:latin typeface="Microsoft YaHei"/>
              </a:rPr>
              <a:t>▪ 像风幕的比喻，真正靠的是压力差</a:t>
            </a:r>
          </a:p>
          <a:p>
            <a:pPr>
              <a:spcAft>
                <a:spcPts val="1000"/>
              </a:spcAft>
            </a:pPr>
            <a:r>
              <a:rPr sz="1700">
                <a:solidFill>
                  <a:srgbClr val="222B33"/>
                </a:solidFill>
                <a:latin typeface="Microsoft YaHei"/>
              </a:rPr>
              <a:t>▪ 两道门不同时开，进出随手关</a:t>
            </a:r>
          </a:p>
          <a:p>
            <a:pPr>
              <a:spcAft>
                <a:spcPts val="1000"/>
              </a:spcAft>
            </a:pPr>
            <a:r>
              <a:rPr sz="1700">
                <a:solidFill>
                  <a:srgbClr val="222B33"/>
                </a:solidFill>
                <a:latin typeface="Microsoft YaHei"/>
              </a:rPr>
              <a:t>▪ 指示灯没变绿就等一等，门不能撑开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a:t>
            </a:r>
          </a:p>
          <a:p>
            <a:pPr>
              <a:spcAft>
                <a:spcPts val="1000"/>
              </a:spcAft>
            </a:pPr>
            <a:r>
              <a:rPr sz="1500">
                <a:solidFill>
                  <a:srgbClr val="222B33"/>
                </a:solidFill>
                <a:latin typeface="Microsoft YaHei"/>
              </a:rPr>
              <a:t>▪ 门互锁未解除时强行拉门</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持续换气，把气溶胶带走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移液、离心等操作都会产生气溶胶</a:t>
            </a:r>
          </a:p>
          <a:p>
            <a:pPr>
              <a:spcAft>
                <a:spcPts val="1000"/>
              </a:spcAft>
            </a:pPr>
            <a:r>
              <a:rPr sz="2000">
                <a:solidFill>
                  <a:srgbClr val="222B33"/>
                </a:solidFill>
                <a:latin typeface="Microsoft YaHei"/>
              </a:rPr>
              <a:t>▪ 持续换气像漂洗衣服，把气溶胶带走</a:t>
            </a:r>
          </a:p>
          <a:p>
            <a:pPr>
              <a:spcAft>
                <a:spcPts val="1000"/>
              </a:spcAft>
            </a:pPr>
            <a:r>
              <a:rPr sz="2000">
                <a:solidFill>
                  <a:srgbClr val="222B33"/>
                </a:solidFill>
                <a:latin typeface="Microsoft YaHei"/>
              </a:rPr>
              <a:t>▪ 进风过滤进来，带走污染再过滤排出</a:t>
            </a:r>
          </a:p>
          <a:p>
            <a:pPr>
              <a:spcAft>
                <a:spcPts val="1000"/>
              </a:spcAft>
            </a:pPr>
            <a:r>
              <a:rPr sz="2000">
                <a:solidFill>
                  <a:srgbClr val="222B33"/>
                </a:solidFill>
                <a:latin typeface="Microsoft YaHei"/>
              </a:rPr>
              <a:t>▪ 这样外面的社区就安全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移液、离心、混匀等操作都会产生气溶胶。个人防护装备能护住人，但室内的气溶胶需要靠持续换气来稀释和带走，就像漂洗衣服一样，一遍遍把污染带走。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认为有换气就可以在开放台面产生大量气溶胶</a:t>
            </a:r>
          </a:p>
          <a:p>
            <a:pPr>
              <a:spcAft>
                <a:spcPts val="1000"/>
              </a:spcAft>
            </a:pPr>
            <a:r>
              <a:rPr sz="1500">
                <a:solidFill>
                  <a:srgbClr val="222B33"/>
                </a:solidFill>
                <a:latin typeface="Microsoft YaHei"/>
              </a:rPr>
              <a:t>▪ 为了“安静”“保暖”私自关闭或调小通风</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高效过滤：截住病原再排出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排出去的空气必须先过高效过滤器</a:t>
            </a:r>
          </a:p>
          <a:p>
            <a:pPr>
              <a:spcAft>
                <a:spcPts val="1000"/>
              </a:spcAft>
            </a:pPr>
            <a:r>
              <a:rPr sz="1700">
                <a:solidFill>
                  <a:srgbClr val="222B33"/>
                </a:solidFill>
                <a:latin typeface="Microsoft YaHei"/>
              </a:rPr>
              <a:t>▪ 层层纤维截住颗粒和病原，小颗粒也能抓住</a:t>
            </a:r>
          </a:p>
          <a:p>
            <a:pPr>
              <a:spcAft>
                <a:spcPts val="1000"/>
              </a:spcAft>
            </a:pPr>
            <a:r>
              <a:rPr sz="1700">
                <a:solidFill>
                  <a:srgbClr val="222B33"/>
                </a:solidFill>
                <a:latin typeface="Microsoft YaHei"/>
              </a:rPr>
              <a:t>▪ 气流导向顶部过滤口排出，属于工程控制</a:t>
            </a:r>
          </a:p>
          <a:p>
            <a:pPr>
              <a:spcAft>
                <a:spcPts val="1000"/>
              </a:spcAft>
            </a:pPr>
            <a:r>
              <a:rPr sz="1700">
                <a:solidFill>
                  <a:srgbClr val="222B33"/>
                </a:solidFill>
                <a:latin typeface="Microsoft YaHei"/>
              </a:rPr>
              <a:t>▪ 过滤器靠密封装好，不能漏风</a:t>
            </a:r>
          </a:p>
          <a:p>
            <a:pPr>
              <a:spcAft>
                <a:spcPts val="1000"/>
              </a:spcAft>
            </a:pPr>
            <a:r>
              <a:rPr sz="1700">
                <a:solidFill>
                  <a:srgbClr val="222B33"/>
                </a:solidFill>
                <a:latin typeface="Microsoft YaHei"/>
              </a:rPr>
              <a:t>▪ 专人袋进袋出更换，去污废弃，按期检测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认为过滤器“装上就永远有效”</a:t>
            </a:r>
          </a:p>
          <a:p>
            <a:pPr>
              <a:spcAft>
                <a:spcPts val="1000"/>
              </a:spcAft>
            </a:pPr>
            <a:r>
              <a:rPr sz="1500">
                <a:solidFill>
                  <a:srgbClr val="222B33"/>
                </a:solidFill>
                <a:latin typeface="Microsoft YaHei"/>
              </a:rPr>
              <a:t>▪ 非专业人员自行拆卸过滤器</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屏障有局限，总有剩余风险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高效过滤很高效，但不是百分百</a:t>
            </a:r>
          </a:p>
          <a:p>
            <a:pPr>
              <a:spcAft>
                <a:spcPts val="1000"/>
              </a:spcAft>
            </a:pPr>
            <a:r>
              <a:rPr sz="1700">
                <a:solidFill>
                  <a:srgbClr val="222B33"/>
                </a:solidFill>
                <a:latin typeface="Microsoft YaHei"/>
              </a:rPr>
              <a:t>▪ 要定期检测，确认没有泄漏</a:t>
            </a:r>
          </a:p>
          <a:p>
            <a:pPr>
              <a:spcAft>
                <a:spcPts val="1000"/>
              </a:spcAft>
            </a:pPr>
            <a:r>
              <a:rPr sz="1700">
                <a:solidFill>
                  <a:srgbClr val="222B33"/>
                </a:solidFill>
                <a:latin typeface="Microsoft YaHei"/>
              </a:rPr>
              <a:t>▪ 源头少产气溶胶，安全柜在前，房间兜底</a:t>
            </a:r>
          </a:p>
          <a:p>
            <a:pPr>
              <a:spcAft>
                <a:spcPts val="1000"/>
              </a:spcAft>
            </a:pPr>
            <a:r>
              <a:rPr sz="1700">
                <a:solidFill>
                  <a:srgbClr val="222B33"/>
                </a:solidFill>
                <a:latin typeface="Microsoft YaHei"/>
              </a:rPr>
              <a:t>▪ 屏障再多，也总有剩余风险</a:t>
            </a:r>
          </a:p>
          <a:p>
            <a:pPr>
              <a:spcAft>
                <a:spcPts val="1000"/>
              </a:spcAft>
            </a:pPr>
            <a:r>
              <a:rPr sz="1700">
                <a:solidFill>
                  <a:srgbClr val="222B33"/>
                </a:solidFill>
                <a:latin typeface="Microsoft YaHei"/>
              </a:rPr>
              <a:t>▪ 设施、气流、柜子、灭菌器要一起用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每一道防护屏障都有局限，不能全靠它。高效过滤器效率很高，但不是百分之百，安装或老化可能造成泄漏，所以要定期检测；更重要的是从源头少产生气溶胶——安全柜在前面拦截，房间气流作为兜底。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认为有高效过滤就可以随意产生气溶胶</a:t>
            </a:r>
          </a:p>
          <a:p>
            <a:pPr>
              <a:spcAft>
                <a:spcPts val="1000"/>
              </a:spcAft>
            </a:pPr>
            <a:r>
              <a:rPr sz="1500">
                <a:solidFill>
                  <a:srgbClr val="222B33"/>
                </a:solidFill>
                <a:latin typeface="Microsoft YaHei"/>
              </a:rPr>
              <a:t>▪ 认为措施足够多就“零风险”</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飘带外飘：不进入，关门挂牌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飘带外飘：空气正往外流，屏障失效</a:t>
            </a:r>
          </a:p>
          <a:p>
            <a:pPr>
              <a:spcAft>
                <a:spcPts val="1000"/>
              </a:spcAft>
            </a:pPr>
            <a:r>
              <a:rPr sz="2000">
                <a:solidFill>
                  <a:srgbClr val="222B33"/>
                </a:solidFill>
                <a:latin typeface="Microsoft YaHei"/>
              </a:rPr>
              <a:t>▪ 不进入，不开展任何实验，关好门</a:t>
            </a:r>
          </a:p>
          <a:p>
            <a:pPr>
              <a:spcAft>
                <a:spcPts val="1000"/>
              </a:spcAft>
            </a:pPr>
            <a:r>
              <a:rPr sz="2000">
                <a:solidFill>
                  <a:srgbClr val="222B33"/>
                </a:solidFill>
                <a:latin typeface="Microsoft YaHei"/>
              </a:rPr>
              <a:t>▪ 门口挂牌，提醒别人也别进</a:t>
            </a:r>
          </a:p>
          <a:p>
            <a:pPr>
              <a:spcAft>
                <a:spcPts val="1000"/>
              </a:spcAft>
            </a:pPr>
            <a:r>
              <a:rPr sz="2000">
                <a:solidFill>
                  <a:srgbClr val="222B33"/>
                </a:solidFill>
                <a:latin typeface="Microsoft YaHei"/>
              </a:rPr>
              <a:t>▪ 已在里面，收好材料，撤出关门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正常情况下，气流应该流进实验室。如果一开门，门口的飘带却朝走廊外面飘，说明空气正从实验室往外流，定向气流这道屏障失效了。这时不能“先进去干活再说”。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看到飘带外飘，觉得“一会儿就好”，照常进门</a:t>
            </a:r>
          </a:p>
          <a:p>
            <a:pPr>
              <a:spcAft>
                <a:spcPts val="1000"/>
              </a:spcAft>
            </a:pPr>
            <a:r>
              <a:rPr sz="1500">
                <a:solidFill>
                  <a:srgbClr val="222B33"/>
                </a:solidFill>
                <a:latin typeface="Microsoft YaHei"/>
              </a:rPr>
              <a:t>▪ 发现异常不挂牌，其他人不知情进入</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报告，修好验证再恢复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马上报告实验室负责人，通知设施人员</a:t>
            </a:r>
          </a:p>
          <a:p>
            <a:pPr>
              <a:spcAft>
                <a:spcPts val="1000"/>
              </a:spcAft>
            </a:pPr>
            <a:r>
              <a:rPr sz="2000">
                <a:solidFill>
                  <a:srgbClr val="222B33"/>
                </a:solidFill>
                <a:latin typeface="Microsoft YaHei"/>
              </a:rPr>
              <a:t>▪ 说清发现的时间、现象和位置</a:t>
            </a:r>
          </a:p>
          <a:p>
            <a:pPr>
              <a:spcAft>
                <a:spcPts val="1000"/>
              </a:spcAft>
            </a:pPr>
            <a:r>
              <a:rPr sz="2000">
                <a:solidFill>
                  <a:srgbClr val="222B33"/>
                </a:solidFill>
                <a:latin typeface="Microsoft YaHei"/>
              </a:rPr>
              <a:t>▪ 修好后先确认气流恢复向内</a:t>
            </a:r>
          </a:p>
          <a:p>
            <a:pPr>
              <a:spcAft>
                <a:spcPts val="1000"/>
              </a:spcAft>
            </a:pPr>
            <a:r>
              <a:rPr sz="2000">
                <a:solidFill>
                  <a:srgbClr val="222B33"/>
                </a:solidFill>
                <a:latin typeface="Microsoft YaHei"/>
              </a:rPr>
              <a:t>▪ 负责人确认后才恢复实验；以后进门先看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发现气流异常后，马上报告实验室负责人，并通知设施人员检查通风系统；报告时说清发现的时间、现象（飘带方向、压差读数或报警）和位置。按本校规定，必要时报告学院和学校实验室管理部门。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自己“拍一拍”通风设备觉得好了就开始实验</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工作中通风报警或停电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做实验时报警或停电，先停手</a:t>
            </a:r>
          </a:p>
          <a:p>
            <a:pPr>
              <a:spcAft>
                <a:spcPts val="1000"/>
              </a:spcAft>
            </a:pPr>
            <a:r>
              <a:rPr sz="2000">
                <a:solidFill>
                  <a:srgbClr val="222B33"/>
                </a:solidFill>
                <a:latin typeface="Microsoft YaHei"/>
              </a:rPr>
              <a:t>▪ 把容器盖好封好</a:t>
            </a:r>
          </a:p>
          <a:p>
            <a:pPr>
              <a:spcAft>
                <a:spcPts val="1000"/>
              </a:spcAft>
            </a:pPr>
            <a:r>
              <a:rPr sz="2000">
                <a:solidFill>
                  <a:srgbClr val="222B33"/>
                </a:solidFill>
                <a:latin typeface="Microsoft YaHei"/>
              </a:rPr>
              <a:t>▪ 按程序脱防护，撤出实验室</a:t>
            </a:r>
          </a:p>
          <a:p>
            <a:pPr>
              <a:spcAft>
                <a:spcPts val="1000"/>
              </a:spcAft>
            </a:pPr>
            <a:r>
              <a:rPr sz="2000">
                <a:solidFill>
                  <a:srgbClr val="222B33"/>
                </a:solidFill>
                <a:latin typeface="Microsoft YaHei"/>
              </a:rPr>
              <a:t>▪ 按预案报告负责人，恢复后再进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正在做实验时，如果通风系统报警、压差异常或停电，先停下操作，把容器盖好、样本封好，安全柜内的材料按规定收好；然后按程序脱卸个人防护装备，撤出实验室，关好门。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停电时继续在安全柜内操作</a:t>
            </a:r>
          </a:p>
          <a:p>
            <a:pPr>
              <a:spcAft>
                <a:spcPts val="1000"/>
              </a:spcAft>
            </a:pPr>
            <a:r>
              <a:rPr sz="1500">
                <a:solidFill>
                  <a:srgbClr val="222B33"/>
                </a:solidFill>
                <a:latin typeface="Microsoft YaHei"/>
              </a:rPr>
              <a:t>▪ 慌忙撤出，不脱防护直接离开</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关于一级防护和二级防护，正确的是：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一级防护保护环境，二级防护保护人</a:t>
            </a:r>
          </a:p>
          <a:p>
            <a:pPr algn="l"/>
            <a:r>
              <a:rPr sz="1500" b="0">
                <a:solidFill>
                  <a:srgbClr val="222B33"/>
                </a:solidFill>
                <a:latin typeface="Microsoft YaHei"/>
              </a:rPr>
              <a:t>B. 一级防护靠安全柜和个人防护保护人，二级防护靠设施和规程保护环境</a:t>
            </a:r>
          </a:p>
          <a:p>
            <a:pPr algn="l"/>
            <a:r>
              <a:rPr sz="1500" b="0">
                <a:solidFill>
                  <a:srgbClr val="222B33"/>
                </a:solidFill>
                <a:latin typeface="Microsoft YaHei"/>
              </a:rPr>
              <a:t>C. 有了二级防护就不需要一级防护</a:t>
            </a:r>
          </a:p>
          <a:p>
            <a:pPr algn="l"/>
            <a:r>
              <a:rPr sz="1500" b="0">
                <a:solidFill>
                  <a:srgbClr val="222B33"/>
                </a:solidFill>
                <a:latin typeface="Microsoft YaHei"/>
              </a:rPr>
              <a:t>D. 两者只在四级实验室才有</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判断：封闭实验室的定向气流应从清洁区流向污染区，越往里压力越低。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有缓冲间的实验室，正确的做法是：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两道门同时打开方便搬东西</a:t>
            </a:r>
          </a:p>
          <a:p>
            <a:pPr algn="l"/>
            <a:r>
              <a:rPr sz="1500" b="0">
                <a:solidFill>
                  <a:srgbClr val="222B33"/>
                </a:solidFill>
                <a:latin typeface="Microsoft YaHei"/>
              </a:rPr>
              <a:t>B. 用箱子把门撑开</a:t>
            </a:r>
          </a:p>
          <a:p>
            <a:pPr algn="l"/>
            <a:r>
              <a:rPr sz="1500" b="0">
                <a:solidFill>
                  <a:srgbClr val="222B33"/>
                </a:solidFill>
                <a:latin typeface="Microsoft YaHei"/>
              </a:rPr>
              <a:t>C. 两道门不同时开，指示灯没变绿就等一等</a:t>
            </a:r>
          </a:p>
          <a:p>
            <a:pPr algn="l"/>
            <a:r>
              <a:rPr sz="1500" b="0">
                <a:solidFill>
                  <a:srgbClr val="222B33"/>
                </a:solidFill>
                <a:latin typeface="Microsoft YaHei"/>
              </a:rPr>
              <a:t>D. 互锁没解除就用力拉门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判断：高效过滤器能截住全部病原，装上后不需要检测和更换。</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清晨开门，阿杰发现门口飘带朝走廊外飘，应该：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先进去干活</a:t>
            </a:r>
          </a:p>
          <a:p>
            <a:pPr algn="l"/>
            <a:r>
              <a:rPr sz="1500" b="0">
                <a:solidFill>
                  <a:srgbClr val="222B33"/>
                </a:solidFill>
                <a:latin typeface="Microsoft YaHei"/>
              </a:rPr>
              <a:t>B. 不进入、关门挂牌，报告负责人和设施人员，修好验证后再恢复</a:t>
            </a:r>
          </a:p>
          <a:p>
            <a:pPr algn="l"/>
            <a:r>
              <a:rPr sz="1500" b="0">
                <a:solidFill>
                  <a:srgbClr val="222B33"/>
                </a:solidFill>
                <a:latin typeface="Microsoft YaHei"/>
              </a:rPr>
              <a:t>C. 开窗通风</a:t>
            </a:r>
          </a:p>
          <a:p>
            <a:pPr algn="l"/>
            <a:r>
              <a:rPr sz="1500" b="0">
                <a:solidFill>
                  <a:srgbClr val="222B33"/>
                </a:solidFill>
                <a:latin typeface="Microsoft YaHei"/>
              </a:rPr>
              <a:t>D. 自己调大排风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简答：做实验时通风系统报警或停电，应该怎么做？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什么是封闭：把病原关在受控空间</a:t>
            </a:r>
          </a:p>
          <a:p>
            <a:pPr>
              <a:spcAft>
                <a:spcPts val="800"/>
              </a:spcAft>
            </a:pPr>
            <a:r>
              <a:rPr sz="1500">
                <a:solidFill>
                  <a:srgbClr val="FFFFFF"/>
                </a:solidFill>
                <a:latin typeface="Microsoft YaHei"/>
              </a:rPr>
              <a:t>▪ K2  一级防护：护住做实验的人</a:t>
            </a:r>
          </a:p>
          <a:p>
            <a:pPr>
              <a:spcAft>
                <a:spcPts val="800"/>
              </a:spcAft>
            </a:pPr>
            <a:r>
              <a:rPr sz="1500">
                <a:solidFill>
                  <a:srgbClr val="FFFFFF"/>
                </a:solidFill>
                <a:latin typeface="Microsoft YaHei"/>
              </a:rPr>
              <a:t>▪ K3  二级防护：护住外面的环境</a:t>
            </a:r>
          </a:p>
          <a:p>
            <a:pPr>
              <a:spcAft>
                <a:spcPts val="800"/>
              </a:spcAft>
            </a:pPr>
            <a:r>
              <a:rPr sz="1500">
                <a:solidFill>
                  <a:srgbClr val="FFFFFF"/>
                </a:solidFill>
                <a:latin typeface="Microsoft YaHei"/>
              </a:rPr>
              <a:t>▪ K4  两道屏障一起守</a:t>
            </a:r>
          </a:p>
          <a:p>
            <a:pPr>
              <a:spcAft>
                <a:spcPts val="800"/>
              </a:spcAft>
            </a:pPr>
            <a:r>
              <a:rPr sz="1500">
                <a:solidFill>
                  <a:srgbClr val="FFFFFF"/>
                </a:solidFill>
                <a:latin typeface="Microsoft YaHei"/>
              </a:rPr>
              <a:t>▪ K5  定向气流：从清洁区流向污染区</a:t>
            </a:r>
          </a:p>
          <a:p>
            <a:pPr>
              <a:spcAft>
                <a:spcPts val="800"/>
              </a:spcAft>
            </a:pPr>
            <a:r>
              <a:rPr sz="1500">
                <a:solidFill>
                  <a:srgbClr val="FFFFFF"/>
                </a:solidFill>
                <a:latin typeface="Microsoft YaHei"/>
              </a:rPr>
              <a:t>▪ K6  风不能从病原吹向人</a:t>
            </a:r>
          </a:p>
          <a:p>
            <a:pPr>
              <a:spcAft>
                <a:spcPts val="800"/>
              </a:spcAft>
            </a:pPr>
            <a:r>
              <a:rPr sz="1500">
                <a:solidFill>
                  <a:srgbClr val="FFFFFF"/>
                </a:solidFill>
                <a:latin typeface="Microsoft YaHei"/>
              </a:rPr>
              <a:t>▪ K7  负压与压力梯度：越往里压力越低</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气锁与缓冲间：两道门不同时开</a:t>
            </a:r>
          </a:p>
          <a:p>
            <a:pPr>
              <a:spcAft>
                <a:spcPts val="800"/>
              </a:spcAft>
            </a:pPr>
            <a:r>
              <a:rPr sz="1500">
                <a:solidFill>
                  <a:srgbClr val="FFFFFF"/>
                </a:solidFill>
                <a:latin typeface="Microsoft YaHei"/>
              </a:rPr>
              <a:t>▪ K9  持续换气，把气溶胶带走</a:t>
            </a:r>
          </a:p>
          <a:p>
            <a:pPr>
              <a:spcAft>
                <a:spcPts val="800"/>
              </a:spcAft>
            </a:pPr>
            <a:r>
              <a:rPr sz="1500">
                <a:solidFill>
                  <a:srgbClr val="FFFFFF"/>
                </a:solidFill>
                <a:latin typeface="Microsoft YaHei"/>
              </a:rPr>
              <a:t>▪ K10  高效过滤：截住病原再排出</a:t>
            </a:r>
          </a:p>
          <a:p>
            <a:pPr>
              <a:spcAft>
                <a:spcPts val="800"/>
              </a:spcAft>
            </a:pPr>
            <a:r>
              <a:rPr sz="1500">
                <a:solidFill>
                  <a:srgbClr val="FFFFFF"/>
                </a:solidFill>
                <a:latin typeface="Microsoft YaHei"/>
              </a:rPr>
              <a:t>▪ K11  屏障有局限，总有剩余风险</a:t>
            </a:r>
          </a:p>
          <a:p>
            <a:pPr>
              <a:spcAft>
                <a:spcPts val="800"/>
              </a:spcAft>
            </a:pPr>
            <a:r>
              <a:rPr sz="1500">
                <a:solidFill>
                  <a:srgbClr val="FFFFFF"/>
                </a:solidFill>
                <a:latin typeface="Microsoft YaHei"/>
              </a:rPr>
              <a:t>▪ K12  飘带外飘：不进入，关门挂牌</a:t>
            </a:r>
          </a:p>
          <a:p>
            <a:pPr>
              <a:spcAft>
                <a:spcPts val="800"/>
              </a:spcAft>
            </a:pPr>
            <a:r>
              <a:rPr sz="1500">
                <a:solidFill>
                  <a:srgbClr val="FFFFFF"/>
                </a:solidFill>
                <a:latin typeface="Microsoft YaHei"/>
              </a:rPr>
              <a:t>▪ K13  报告，修好验证再恢复</a:t>
            </a:r>
          </a:p>
          <a:p>
            <a:pPr>
              <a:spcAft>
                <a:spcPts val="800"/>
              </a:spcAft>
            </a:pPr>
            <a:r>
              <a:rPr sz="1500">
                <a:solidFill>
                  <a:srgbClr val="FFFFFF"/>
                </a:solidFill>
                <a:latin typeface="Microsoft YaHei"/>
              </a:rPr>
              <a:t>▪ K14  工作中通风报警或停电</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三级生物安全实验室的布局与进出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适用对象：进入生命科学、医学、农学、环境等涉及生物材料实验室的高校本科生、研究生和教职工（必修）；拟进入三级实验室工作的人员、实验室负责人和生物安全员重点学习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能说出三级生物安全实验室的用途和功能分区（辅助工作区与防护区、清洁区与污染区），知道国内病原分类与国际风险组方向相反、实验室级别国内外同向。</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能做到进门前看懂门口标识和压差面板，异常不进、及时报告；一人一卡、不尾随，非授权不进入。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能说出单向进出路线（更衣—气锁—实验室；脱防护—淋浴—换回便服）和人流物流分开（传递窗、穿墙灭菌器）的规矩。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能说出三级、四级设施的主要要素，以及监控、门禁和安保的作用，布局和门禁信息不外传。</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《中华人民共和国生物安全法》（以现行文本为准）：高等级病原微生物实验室的设立、安全保卫和管理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《病原微生物实验室生物安全管理条例》（以现行文本为准）：三级、四级实验室须通过国家认可，高致病性病原微生物实验活动须经批准，实验室安保要求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生物安全通用要求》：三级、四级实验室的平面布局（辅助工作区、防护区）、缓冲间、压力梯度、人员和物品进出、标识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50346（以现行文本为准）《生物安全实验室建筑技术规范》：生物安全实验室的平面布局、围护结构、通风空调和配套设施</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233（以现行文本为准）《病原微生物实验室生物安全通用准则》：病原微生物实验室的设施和进出要求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2894-2025（以现行文本为准）《安全色和安全标志》：禁止标志和警告标志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本校三级实验室管理制度与设施说明：准入授权、进出程序、压差范围和应急预案，以本校规定为准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三级实验室做什么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三级实验室用来关住高风险病原</a:t>
            </a:r>
          </a:p>
          <a:p>
            <a:pPr>
              <a:spcAft>
                <a:spcPts val="1000"/>
              </a:spcAft>
            </a:pPr>
            <a:r>
              <a:rPr sz="1700">
                <a:solidFill>
                  <a:srgbClr val="222B33"/>
                </a:solidFill>
                <a:latin typeface="Microsoft YaHei"/>
              </a:rPr>
              <a:t>▪ 国际风险组4组最高，国内第一类最高</a:t>
            </a:r>
          </a:p>
          <a:p>
            <a:pPr>
              <a:spcAft>
                <a:spcPts val="1000"/>
              </a:spcAft>
            </a:pPr>
            <a:r>
              <a:rPr sz="1700">
                <a:solidFill>
                  <a:srgbClr val="222B33"/>
                </a:solidFill>
                <a:latin typeface="Microsoft YaHei"/>
              </a:rPr>
              <a:t>▪ 实验室级别国内外同向，四级最高</a:t>
            </a:r>
          </a:p>
          <a:p>
            <a:pPr>
              <a:spcAft>
                <a:spcPts val="1000"/>
              </a:spcAft>
            </a:pPr>
            <a:r>
              <a:rPr sz="1700">
                <a:solidFill>
                  <a:srgbClr val="222B33"/>
                </a:solidFill>
                <a:latin typeface="Microsoft YaHei"/>
              </a:rPr>
              <a:t>▪ 涉病原工作只在最里间，各自关住</a:t>
            </a:r>
          </a:p>
          <a:p>
            <a:pPr>
              <a:spcAft>
                <a:spcPts val="1000"/>
              </a:spcAft>
            </a:pPr>
            <a:r>
              <a:rPr sz="1700">
                <a:solidFill>
                  <a:srgbClr val="222B33"/>
                </a:solidFill>
                <a:latin typeface="Microsoft YaHei"/>
              </a:rPr>
              <a:t>▪ 须国家认可，学生须专门授权才可进入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三级生物安全实验室（BSL-3）用来关住病原，开展较高风险病原的诊断和实验。要注意两套编号的方向：病原分类国际风险组 4 组最高，国内第一类最危险，方向相反（见第 058 课）；实验室级别则国内外同向，一级最低、四级……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认为“三级”对应国内“第三类”病原</a:t>
            </a:r>
          </a:p>
          <a:p>
            <a:pPr>
              <a:spcAft>
                <a:spcPts val="1000"/>
              </a:spcAft>
            </a:pPr>
            <a:r>
              <a:rPr sz="1500">
                <a:solidFill>
                  <a:srgbClr val="222B33"/>
                </a:solidFill>
                <a:latin typeface="Microsoft YaHei"/>
              </a:rPr>
              <a:t>▪ 认为参观者可以随意进入三级实验室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功能分区：清洁区与污染区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平面上清洁区和污染区分开</a:t>
            </a:r>
          </a:p>
          <a:p>
            <a:pPr>
              <a:spcAft>
                <a:spcPts val="1000"/>
              </a:spcAft>
            </a:pPr>
            <a:r>
              <a:rPr sz="1700">
                <a:solidFill>
                  <a:srgbClr val="222B33"/>
                </a:solidFill>
                <a:latin typeface="Microsoft YaHei"/>
              </a:rPr>
              <a:t>▪ 交界处是更衣、淋浴和灭菌设施</a:t>
            </a:r>
          </a:p>
          <a:p>
            <a:pPr>
              <a:spcAft>
                <a:spcPts val="1000"/>
              </a:spcAft>
            </a:pPr>
            <a:r>
              <a:rPr sz="1700">
                <a:solidFill>
                  <a:srgbClr val="222B33"/>
                </a:solidFill>
                <a:latin typeface="Microsoft YaHei"/>
              </a:rPr>
              <a:t>▪ 外面是辅助工作区，里面是防护区</a:t>
            </a:r>
          </a:p>
          <a:p>
            <a:pPr>
              <a:spcAft>
                <a:spcPts val="1000"/>
              </a:spcAft>
            </a:pPr>
            <a:r>
              <a:rPr sz="1700">
                <a:solidFill>
                  <a:srgbClr val="222B33"/>
                </a:solidFill>
                <a:latin typeface="Microsoft YaHei"/>
              </a:rPr>
              <a:t>▪ 防护区包括缓冲间和核心工作间</a:t>
            </a:r>
          </a:p>
          <a:p>
            <a:pPr>
              <a:spcAft>
                <a:spcPts val="1000"/>
              </a:spcAft>
            </a:pPr>
            <a:r>
              <a:rPr sz="1700">
                <a:solidFill>
                  <a:srgbClr val="222B33"/>
                </a:solidFill>
                <a:latin typeface="Microsoft YaHei"/>
              </a:rPr>
              <a:t>▪ 人和气流都从洁到污，不逆行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三级实验室的平面按功能分区：外面是辅助工作区，放控制室、清洁更衣、办公等功能；里面是防护区，包括缓冲间和核心工作间（具体分区以 GB 19489-2008、GB 50346 和本设施设计为准）。平面图上常用颜色区分清……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把污染区的物品拿到清洁区放置</a:t>
            </a:r>
          </a:p>
          <a:p>
            <a:pPr>
              <a:spcAft>
                <a:spcPts val="1000"/>
              </a:spcAft>
            </a:pPr>
            <a:r>
              <a:rPr sz="1500">
                <a:solidFill>
                  <a:srgbClr val="222B33"/>
                </a:solidFill>
                <a:latin typeface="Microsoft YaHei"/>
              </a:rPr>
              <a:t>▪ 在清洁区和污染区之间来回走</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门口标识：非授权禁入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门口有生物危害警告和禁止擅入标识</a:t>
            </a:r>
          </a:p>
          <a:p>
            <a:pPr>
              <a:spcAft>
                <a:spcPts val="1000"/>
              </a:spcAft>
            </a:pPr>
            <a:r>
              <a:rPr sz="2000">
                <a:solidFill>
                  <a:srgbClr val="222B33"/>
                </a:solidFill>
                <a:latin typeface="Microsoft YaHei"/>
              </a:rPr>
              <a:t>▪ 没有授权，谁都不能进</a:t>
            </a:r>
          </a:p>
          <a:p>
            <a:pPr>
              <a:spcAft>
                <a:spcPts val="1000"/>
              </a:spcAft>
            </a:pPr>
            <a:r>
              <a:rPr sz="2000">
                <a:solidFill>
                  <a:srgbClr val="222B33"/>
                </a:solidFill>
                <a:latin typeface="Microsoft YaHei"/>
              </a:rPr>
              <a:t>▪ 信息牌写明级别、负责人和联系电话</a:t>
            </a:r>
          </a:p>
          <a:p>
            <a:pPr>
              <a:spcAft>
                <a:spcPts val="1000"/>
              </a:spcAft>
            </a:pPr>
            <a:r>
              <a:rPr sz="2000">
                <a:solidFill>
                  <a:srgbClr val="222B33"/>
                </a:solidFill>
                <a:latin typeface="Microsoft YaHei"/>
              </a:rPr>
              <a:t>▪ 参观只在外区，不进防护区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防护区门口张贴生物危害警告标志和“非授权人员禁止入内”等禁止标志（安全标志式样按 GB 2894-2025，以现行文本为准），并设信息牌，写明防护级别、负责人和联系电话等。没有授权，任何人都不能进入。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看到门开着就进去“看一眼”</a:t>
            </a:r>
          </a:p>
          <a:p>
            <a:pPr>
              <a:spcAft>
                <a:spcPts val="1000"/>
              </a:spcAft>
            </a:pPr>
            <a:r>
              <a:rPr sz="1500">
                <a:solidFill>
                  <a:srgbClr val="222B33"/>
                </a:solidFill>
                <a:latin typeface="Microsoft YaHei"/>
              </a:rPr>
              <a:t>▪ 把禁入标识当作提示，不当作禁令</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进门先看压差面板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进门第一件事，看压力面板</a:t>
            </a:r>
          </a:p>
          <a:p>
            <a:pPr>
              <a:spcAft>
                <a:spcPts val="1000"/>
              </a:spcAft>
            </a:pPr>
            <a:r>
              <a:rPr sz="2000">
                <a:solidFill>
                  <a:srgbClr val="222B33"/>
                </a:solidFill>
                <a:latin typeface="Microsoft YaHei"/>
              </a:rPr>
              <a:t>▪ 绿灯正常，红灯报警就别进</a:t>
            </a:r>
          </a:p>
          <a:p>
            <a:pPr>
              <a:spcAft>
                <a:spcPts val="1000"/>
              </a:spcAft>
            </a:pPr>
            <a:r>
              <a:rPr sz="2000">
                <a:solidFill>
                  <a:srgbClr val="222B33"/>
                </a:solidFill>
                <a:latin typeface="Microsoft YaHei"/>
              </a:rPr>
              <a:t>▪ 读数异常，马上报告负责人和设施人员</a:t>
            </a:r>
          </a:p>
          <a:p>
            <a:pPr>
              <a:spcAft>
                <a:spcPts val="1000"/>
              </a:spcAft>
            </a:pPr>
            <a:r>
              <a:rPr sz="2000">
                <a:solidFill>
                  <a:srgbClr val="222B33"/>
                </a:solidFill>
                <a:latin typeface="Microsoft YaHei"/>
              </a:rPr>
              <a:t>▪ 正常范围以本校设施说明为准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进入负压实验室前，第一件事是看门口的压差显示面板和报警灯：显示正常（如绿灯）才可以按程序进入；读数异常或报警亮起（如红灯），不要进去，马上报告实验室负责人和设施人员。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报警灯亮着仍然进门</a:t>
            </a:r>
          </a:p>
          <a:p>
            <a:pPr>
              <a:spcAft>
                <a:spcPts val="1000"/>
              </a:spcAft>
            </a:pPr>
            <a:r>
              <a:rPr sz="1500">
                <a:solidFill>
                  <a:srgbClr val="222B33"/>
                </a:solidFill>
                <a:latin typeface="Microsoft YaHei"/>
              </a:rPr>
              <a:t>▪ 自己调节压差或关闭报警</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门禁与前室：一道门一道关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授权人员刷卡进门，一人一卡，不尾随</a:t>
            </a:r>
          </a:p>
          <a:p>
            <a:pPr>
              <a:spcAft>
                <a:spcPts val="1000"/>
              </a:spcAft>
            </a:pPr>
            <a:r>
              <a:rPr sz="1700">
                <a:solidFill>
                  <a:srgbClr val="222B33"/>
                </a:solidFill>
                <a:latin typeface="Microsoft YaHei"/>
              </a:rPr>
              <a:t>▪ 先过前室，像气闸，压力平衡了再进</a:t>
            </a:r>
          </a:p>
          <a:p>
            <a:pPr>
              <a:spcAft>
                <a:spcPts val="1000"/>
              </a:spcAft>
            </a:pPr>
            <a:r>
              <a:rPr sz="1700">
                <a:solidFill>
                  <a:srgbClr val="222B33"/>
                </a:solidFill>
                <a:latin typeface="Microsoft YaHei"/>
              </a:rPr>
              <a:t>▪ 前室压力把里外空气隔开，设计以本设施为准</a:t>
            </a:r>
          </a:p>
          <a:p>
            <a:pPr>
              <a:spcAft>
                <a:spcPts val="1000"/>
              </a:spcAft>
            </a:pPr>
            <a:r>
              <a:rPr sz="1700">
                <a:solidFill>
                  <a:srgbClr val="222B33"/>
                </a:solidFill>
                <a:latin typeface="Microsoft YaHei"/>
              </a:rPr>
              <a:t>▪ 再往里是负压区，还有第二道门禁</a:t>
            </a:r>
          </a:p>
          <a:p>
            <a:pPr>
              <a:spcAft>
                <a:spcPts val="1000"/>
              </a:spcAft>
            </a:pPr>
            <a:r>
              <a:rPr sz="1700">
                <a:solidFill>
                  <a:srgbClr val="222B33"/>
                </a:solidFill>
                <a:latin typeface="Microsoft YaHei"/>
              </a:rPr>
              <a:t>▪ 每过一道门，压力再降一级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跟在别人身后“蹭门禁”进入</a:t>
            </a:r>
          </a:p>
          <a:p>
            <a:pPr>
              <a:spcAft>
                <a:spcPts val="1000"/>
              </a:spcAft>
            </a:pPr>
            <a:r>
              <a:rPr sz="1500">
                <a:solidFill>
                  <a:srgbClr val="222B33"/>
                </a:solidFill>
                <a:latin typeface="Microsoft YaHei"/>
              </a:rPr>
              <a:t>▪ 前室两道门同时打开</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单向进出：更衣淋浴不走回头路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一条路进，另一条路出</a:t>
            </a:r>
          </a:p>
          <a:p>
            <a:pPr>
              <a:spcAft>
                <a:spcPts val="1000"/>
              </a:spcAft>
            </a:pPr>
            <a:r>
              <a:rPr sz="1700">
                <a:solidFill>
                  <a:srgbClr val="222B33"/>
                </a:solidFill>
                <a:latin typeface="Microsoft YaHei"/>
              </a:rPr>
              <a:t>▪ 进：先更衣换装，过气锁再进实验室</a:t>
            </a:r>
          </a:p>
          <a:p>
            <a:pPr>
              <a:spcAft>
                <a:spcPts val="1000"/>
              </a:spcAft>
            </a:pPr>
            <a:r>
              <a:rPr sz="1700">
                <a:solidFill>
                  <a:srgbClr val="222B33"/>
                </a:solidFill>
                <a:latin typeface="Microsoft YaHei"/>
              </a:rPr>
              <a:t>▪ 出：在指定位置按程序脱防护，淋浴后换便服</a:t>
            </a:r>
          </a:p>
          <a:p>
            <a:pPr>
              <a:spcAft>
                <a:spcPts val="1000"/>
              </a:spcAft>
            </a:pPr>
            <a:r>
              <a:rPr sz="1700">
                <a:solidFill>
                  <a:srgbClr val="222B33"/>
                </a:solidFill>
                <a:latin typeface="Microsoft YaHei"/>
              </a:rPr>
              <a:t>▪ 私人物品留在外面，进出按规定登记</a:t>
            </a:r>
          </a:p>
          <a:p>
            <a:pPr>
              <a:spcAft>
                <a:spcPts val="1000"/>
              </a:spcAft>
            </a:pPr>
            <a:r>
              <a:rPr sz="1700">
                <a:solidFill>
                  <a:srgbClr val="222B33"/>
                </a:solidFill>
                <a:latin typeface="Microsoft YaHei"/>
              </a:rPr>
              <a:t>▪ 感应龙头少碰表面；不抄近道，不反着走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员进出是单向的：一条路进，另一条路出。进入时，私人物品留在外侧储物柜，在清洁更衣室换上实验室专用服装，经过负压的气锁（缓冲间），再进入防护实验室；里面是限制区，外人不得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穿着防护服原路返回清洁区</a:t>
            </a:r>
          </a:p>
          <a:p>
            <a:pPr>
              <a:spcAft>
                <a:spcPts val="1000"/>
              </a:spcAft>
            </a:pPr>
            <a:r>
              <a:rPr sz="1500">
                <a:solidFill>
                  <a:srgbClr val="222B33"/>
                </a:solidFill>
                <a:latin typeface="Microsoft YaHei"/>
              </a:rPr>
              <a:t>▪ 把手机、钥匙等私人物品带进防护区</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人流物流分开：传递窗与灭菌器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人走人道，物走物道</a:t>
            </a:r>
          </a:p>
          <a:p>
            <a:pPr>
              <a:spcAft>
                <a:spcPts val="1000"/>
              </a:spcAft>
            </a:pPr>
            <a:r>
              <a:rPr sz="1700">
                <a:solidFill>
                  <a:srgbClr val="222B33"/>
                </a:solidFill>
                <a:latin typeface="Microsoft YaHei"/>
              </a:rPr>
              <a:t>▪ 小件样本走传递窗，两门不同时开，用后消毒</a:t>
            </a:r>
          </a:p>
          <a:p>
            <a:pPr>
              <a:spcAft>
                <a:spcPts val="1000"/>
              </a:spcAft>
            </a:pPr>
            <a:r>
              <a:rPr sz="1700">
                <a:solidFill>
                  <a:srgbClr val="222B33"/>
                </a:solidFill>
                <a:latin typeface="Microsoft YaHei"/>
              </a:rPr>
              <a:t>▪ 灭菌器在实验室内，常为穿墙双门</a:t>
            </a:r>
          </a:p>
          <a:p>
            <a:pPr>
              <a:spcAft>
                <a:spcPts val="1000"/>
              </a:spcAft>
            </a:pPr>
            <a:r>
              <a:rPr sz="1700">
                <a:solidFill>
                  <a:srgbClr val="222B33"/>
                </a:solidFill>
                <a:latin typeface="Microsoft YaHei"/>
              </a:rPr>
              <a:t>▪ 出来的物品先灭菌，再按规定处置</a:t>
            </a:r>
          </a:p>
          <a:p>
            <a:pPr>
              <a:spcAft>
                <a:spcPts val="1000"/>
              </a:spcAft>
            </a:pPr>
            <a:r>
              <a:rPr sz="1700">
                <a:solidFill>
                  <a:srgbClr val="222B33"/>
                </a:solidFill>
                <a:latin typeface="Microsoft YaHei"/>
              </a:rPr>
              <a:t>▪ 安全柜接好排风，排气全部过滤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把未灭菌的物品直接从人员通道带出</a:t>
            </a:r>
          </a:p>
          <a:p>
            <a:pPr>
              <a:spcAft>
                <a:spcPts val="1000"/>
              </a:spcAft>
            </a:pPr>
            <a:r>
              <a:rPr sz="1500">
                <a:solidFill>
                  <a:srgbClr val="222B33"/>
                </a:solidFill>
                <a:latin typeface="Microsoft YaHei"/>
              </a:rPr>
              <a:t>▪ 传递窗两侧门同时打开</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控制室、监控与安保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防护区旁有控制室，管风机和空调</a:t>
            </a:r>
          </a:p>
          <a:p>
            <a:pPr>
              <a:spcAft>
                <a:spcPts val="1000"/>
              </a:spcAft>
            </a:pPr>
            <a:r>
              <a:rPr sz="1700">
                <a:solidFill>
                  <a:srgbClr val="222B33"/>
                </a:solidFill>
                <a:latin typeface="Microsoft YaHei"/>
              </a:rPr>
              <a:t>▪ 设施人员监控运行状态</a:t>
            </a:r>
          </a:p>
          <a:p>
            <a:pPr>
              <a:spcAft>
                <a:spcPts val="1000"/>
              </a:spcAft>
            </a:pPr>
            <a:r>
              <a:rPr sz="1700">
                <a:solidFill>
                  <a:srgbClr val="222B33"/>
                </a:solidFill>
                <a:latin typeface="Microsoft YaHei"/>
              </a:rPr>
              <a:t>▪ 监控画面和门禁记录，谁进谁出都有记录</a:t>
            </a:r>
          </a:p>
          <a:p>
            <a:pPr>
              <a:spcAft>
                <a:spcPts val="1000"/>
              </a:spcAft>
            </a:pPr>
            <a:r>
              <a:rPr sz="1700">
                <a:solidFill>
                  <a:srgbClr val="222B33"/>
                </a:solidFill>
                <a:latin typeface="Microsoft YaHei"/>
              </a:rPr>
              <a:t>▪ 发现可疑人员，立即报告保卫处</a:t>
            </a:r>
          </a:p>
          <a:p>
            <a:pPr>
              <a:spcAft>
                <a:spcPts val="1000"/>
              </a:spcAft>
            </a:pPr>
            <a:r>
              <a:rPr sz="1700">
                <a:solidFill>
                  <a:srgbClr val="222B33"/>
                </a:solidFill>
                <a:latin typeface="Microsoft YaHei"/>
              </a:rPr>
              <a:t>▪ 布局和门禁信息不拍照、不外传</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防护区旁设控制室，风机、通风和空调等系统在这里集中控制，设施人员监控运行状态，异常时及时处置。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在三级实验室外拍照发到网上</a:t>
            </a:r>
          </a:p>
          <a:p>
            <a:pPr>
              <a:spcAft>
                <a:spcPts val="1000"/>
              </a:spcAft>
            </a:pPr>
            <a:r>
              <a:rPr sz="1500">
                <a:solidFill>
                  <a:srgbClr val="222B33"/>
                </a:solidFill>
                <a:latin typeface="Microsoft YaHei"/>
              </a:rPr>
              <a:t>▪ 发现陌生人尾随却不报告</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三级设施要素一览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负压定向气流，排风经高效过滤</a:t>
            </a:r>
          </a:p>
          <a:p>
            <a:pPr>
              <a:spcAft>
                <a:spcPts val="1000"/>
              </a:spcAft>
            </a:pPr>
            <a:r>
              <a:rPr sz="2000">
                <a:solidFill>
                  <a:srgbClr val="222B33"/>
                </a:solidFill>
                <a:latin typeface="Microsoft YaHei"/>
              </a:rPr>
              <a:t>▪ 两道自闭门，免手动洗手池，旁有洗眼器</a:t>
            </a:r>
          </a:p>
          <a:p>
            <a:pPr>
              <a:spcAft>
                <a:spcPts val="1000"/>
              </a:spcAft>
            </a:pPr>
            <a:r>
              <a:rPr sz="2000">
                <a:solidFill>
                  <a:srgbClr val="222B33"/>
                </a:solidFill>
                <a:latin typeface="Microsoft YaHei"/>
              </a:rPr>
              <a:t>▪ 安全柜等防护设备，灭菌器在室内</a:t>
            </a:r>
          </a:p>
          <a:p>
            <a:pPr>
              <a:spcAft>
                <a:spcPts val="1000"/>
              </a:spcAft>
            </a:pPr>
            <a:r>
              <a:rPr sz="2000">
                <a:solidFill>
                  <a:srgbClr val="222B33"/>
                </a:solidFill>
                <a:latin typeface="Microsoft YaHei"/>
              </a:rPr>
              <a:t>▪ 压力一掉就是封闭破坏，立即启动应急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认为三级实验室只是“加了门禁的二级实验室”</a:t>
            </a:r>
          </a:p>
          <a:p>
            <a:pPr>
              <a:spcAft>
                <a:spcPts val="1000"/>
              </a:spcAft>
            </a:pPr>
            <a:r>
              <a:rPr sz="1500">
                <a:solidFill>
                  <a:srgbClr val="222B33"/>
                </a:solidFill>
                <a:latin typeface="Microsoft YaHei"/>
              </a:rPr>
              <a:t>▪ 压力报警时继续工作</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四级设施：独立隔离、层层去污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独立建筑或隔离区</a:t>
            </a:r>
          </a:p>
          <a:p>
            <a:pPr>
              <a:spcAft>
                <a:spcPts val="1000"/>
              </a:spcAft>
            </a:pPr>
            <a:r>
              <a:rPr sz="2000">
                <a:solidFill>
                  <a:srgbClr val="222B33"/>
                </a:solidFill>
                <a:latin typeface="Microsoft YaHei"/>
              </a:rPr>
              <a:t>▪ 气锁进入，出来去污淋浴</a:t>
            </a:r>
          </a:p>
          <a:p>
            <a:pPr>
              <a:spcAft>
                <a:spcPts val="1000"/>
              </a:spcAft>
            </a:pPr>
            <a:r>
              <a:rPr sz="2000">
                <a:solidFill>
                  <a:srgbClr val="222B33"/>
                </a:solidFill>
                <a:latin typeface="Microsoft YaHei"/>
              </a:rPr>
              <a:t>▪ 进风排风都经高效过滤</a:t>
            </a:r>
          </a:p>
          <a:p>
            <a:pPr>
              <a:spcAft>
                <a:spcPts val="1000"/>
              </a:spcAft>
            </a:pPr>
            <a:r>
              <a:rPr sz="2000">
                <a:solidFill>
                  <a:srgbClr val="222B33"/>
                </a:solidFill>
                <a:latin typeface="Microsoft YaHei"/>
              </a:rPr>
              <a:t>▪ 有应急电源和通讯系统，全国只有少数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四级生物安全实验室（BSL-4）是独立的建筑或建筑内完全隔离的区域，人员经气锁进入，离开时要经过去污淋浴（如化学淋浴和人员淋浴）；进风和排风都经过高效过滤；并配有应急电源和通讯系统。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把四级实验室当作参观场所</a:t>
            </a:r>
          </a:p>
          <a:p>
            <a:pPr>
              <a:spcAft>
                <a:spcPts val="1000"/>
              </a:spcAft>
            </a:pPr>
            <a:r>
              <a:rPr sz="1500">
                <a:solidFill>
                  <a:srgbClr val="222B33"/>
                </a:solidFill>
                <a:latin typeface="Microsoft YaHei"/>
              </a:rPr>
              <a:t>▪ 认为四级与三级的区别只是防护服不同</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关于编号方向，正确的是：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三级实验室对应国内第三类病原</a:t>
            </a:r>
          </a:p>
          <a:p>
            <a:pPr algn="l"/>
            <a:r>
              <a:rPr sz="1500" b="0">
                <a:solidFill>
                  <a:srgbClr val="222B33"/>
                </a:solidFill>
                <a:latin typeface="Microsoft YaHei"/>
              </a:rPr>
              <a:t>B. 国内病原分类第一类最危险，与国际风险组方向相反；实验室级别国内外同向，四级最高</a:t>
            </a:r>
          </a:p>
          <a:p>
            <a:pPr algn="l"/>
            <a:r>
              <a:rPr sz="1500" b="0">
                <a:solidFill>
                  <a:srgbClr val="222B33"/>
                </a:solidFill>
                <a:latin typeface="Microsoft YaHei"/>
              </a:rPr>
              <a:t>C. 国内实验室级别一级最高</a:t>
            </a:r>
          </a:p>
          <a:p>
            <a:pPr algn="l"/>
            <a:r>
              <a:rPr sz="1500" b="0">
                <a:solidFill>
                  <a:srgbClr val="222B33"/>
                </a:solidFill>
                <a:latin typeface="Microsoft YaHei"/>
              </a:rPr>
              <a:t>D. 两套编号完全相同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判断：进入三级实验室前，压差面板报警亮红灯，可以先进去再报告。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三级实验室人员离开时的正确顺序是：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原路返回，到办公室再脱防护</a:t>
            </a:r>
          </a:p>
          <a:p>
            <a:pPr algn="l"/>
            <a:r>
              <a:rPr sz="1500" b="0">
                <a:solidFill>
                  <a:srgbClr val="222B33"/>
                </a:solidFill>
                <a:latin typeface="Microsoft YaHei"/>
              </a:rPr>
              <a:t>B. 在指定位置按程序脱防护，按规定淋浴，再换回自己的衣服</a:t>
            </a:r>
          </a:p>
          <a:p>
            <a:pPr algn="l"/>
            <a:r>
              <a:rPr sz="1500" b="0">
                <a:solidFill>
                  <a:srgbClr val="222B33"/>
                </a:solidFill>
                <a:latin typeface="Microsoft YaHei"/>
              </a:rPr>
              <a:t>C. 先换便服再脱防护</a:t>
            </a:r>
          </a:p>
          <a:p>
            <a:pPr algn="l"/>
            <a:r>
              <a:rPr sz="1500" b="0">
                <a:solidFill>
                  <a:srgbClr val="222B33"/>
                </a:solidFill>
                <a:latin typeface="Microsoft YaHei"/>
              </a:rPr>
              <a:t>D. 抄近道从物品通道出去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关于人流物流，错误的是：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人走人道，物走物道</a:t>
            </a:r>
          </a:p>
          <a:p>
            <a:pPr algn="l"/>
            <a:r>
              <a:rPr sz="1500" b="0">
                <a:solidFill>
                  <a:srgbClr val="222B33"/>
                </a:solidFill>
                <a:latin typeface="Microsoft YaHei"/>
              </a:rPr>
              <a:t>B. 小件样本走传递窗，两门不同时开</a:t>
            </a:r>
          </a:p>
          <a:p>
            <a:pPr algn="l"/>
            <a:r>
              <a:rPr sz="1500" b="0">
                <a:solidFill>
                  <a:srgbClr val="222B33"/>
                </a:solidFill>
                <a:latin typeface="Microsoft YaHei"/>
              </a:rPr>
              <a:t>C. 出来的物品先灭菌再处置</a:t>
            </a:r>
          </a:p>
          <a:p>
            <a:pPr algn="l"/>
            <a:r>
              <a:rPr sz="1500" b="0">
                <a:solidFill>
                  <a:srgbClr val="222B33"/>
                </a:solidFill>
                <a:latin typeface="Microsoft YaHei"/>
              </a:rPr>
              <a:t>D. 物品可以随人从人员通道直接带出</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判断：跟在有门禁卡的人身后进入三级实验室，也算有授权。</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简答：在三级实验室外区学习时，为什么不能拍照外传？</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三级实验室做什么</a:t>
            </a:r>
          </a:p>
          <a:p>
            <a:pPr>
              <a:spcAft>
                <a:spcPts val="800"/>
              </a:spcAft>
            </a:pPr>
            <a:r>
              <a:rPr sz="1800">
                <a:solidFill>
                  <a:srgbClr val="FFFFFF"/>
                </a:solidFill>
                <a:latin typeface="Microsoft YaHei"/>
              </a:rPr>
              <a:t>▪ K2  功能分区：清洁区与污染区</a:t>
            </a:r>
          </a:p>
          <a:p>
            <a:pPr>
              <a:spcAft>
                <a:spcPts val="800"/>
              </a:spcAft>
            </a:pPr>
            <a:r>
              <a:rPr sz="1800">
                <a:solidFill>
                  <a:srgbClr val="FFFFFF"/>
                </a:solidFill>
                <a:latin typeface="Microsoft YaHei"/>
              </a:rPr>
              <a:t>▪ K3  门口标识：非授权禁入</a:t>
            </a:r>
          </a:p>
          <a:p>
            <a:pPr>
              <a:spcAft>
                <a:spcPts val="800"/>
              </a:spcAft>
            </a:pPr>
            <a:r>
              <a:rPr sz="1800">
                <a:solidFill>
                  <a:srgbClr val="FFFFFF"/>
                </a:solidFill>
                <a:latin typeface="Microsoft YaHei"/>
              </a:rPr>
              <a:t>▪ K4  进门先看压差面板</a:t>
            </a:r>
          </a:p>
          <a:p>
            <a:pPr>
              <a:spcAft>
                <a:spcPts val="800"/>
              </a:spcAft>
            </a:pPr>
            <a:r>
              <a:rPr sz="1800">
                <a:solidFill>
                  <a:srgbClr val="FFFFFF"/>
                </a:solidFill>
                <a:latin typeface="Microsoft YaHei"/>
              </a:rPr>
              <a:t>▪ K5  门禁与前室：一道门一道关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单向进出：更衣淋浴不走回头路</a:t>
            </a:r>
          </a:p>
          <a:p>
            <a:pPr>
              <a:spcAft>
                <a:spcPts val="800"/>
              </a:spcAft>
            </a:pPr>
            <a:r>
              <a:rPr sz="1800">
                <a:solidFill>
                  <a:srgbClr val="FFFFFF"/>
                </a:solidFill>
                <a:latin typeface="Microsoft YaHei"/>
              </a:rPr>
              <a:t>▪ K7  人流物流分开：传递窗与灭菌器</a:t>
            </a:r>
          </a:p>
          <a:p>
            <a:pPr>
              <a:spcAft>
                <a:spcPts val="800"/>
              </a:spcAft>
            </a:pPr>
            <a:r>
              <a:rPr sz="1800">
                <a:solidFill>
                  <a:srgbClr val="FFFFFF"/>
                </a:solidFill>
                <a:latin typeface="Microsoft YaHei"/>
              </a:rPr>
              <a:t>▪ K8  控制室、监控与安保</a:t>
            </a:r>
          </a:p>
          <a:p>
            <a:pPr>
              <a:spcAft>
                <a:spcPts val="800"/>
              </a:spcAft>
            </a:pPr>
            <a:r>
              <a:rPr sz="1800">
                <a:solidFill>
                  <a:srgbClr val="FFFFFF"/>
                </a:solidFill>
                <a:latin typeface="Microsoft YaHei"/>
              </a:rPr>
              <a:t>▪ K9  三级设施要素一览</a:t>
            </a:r>
          </a:p>
          <a:p>
            <a:pPr>
              <a:spcAft>
                <a:spcPts val="800"/>
              </a:spcAft>
            </a:pPr>
            <a:r>
              <a:rPr sz="1800">
                <a:solidFill>
                  <a:srgbClr val="FFFFFF"/>
                </a:solidFill>
                <a:latin typeface="Microsoft YaHei"/>
              </a:rPr>
              <a:t>▪ K10  四级设施：独立隔离、层层去污</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生物安全设施的设计、建造与运行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6.75 分钟（卡通视频 81 镜）　适用对象：进入生命科学、医学、农学、环境等涉及生物材料实验室的高校本科生、研究生和教职工（必修）；实验室负责人、生物安全员、设施管理人员和参与实验室新建改造的人员重点学习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能说出防护设施的组成（设备层、进排风过滤与高空排放、控制与监测、污水与废物处理、出入口缓冲间和穿墙灭菌器、物理安保），知道设施本身就是工程控制。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能说出设施设计的主要原则：先算建设费和运行费、选址避开风险并保障支援、相邻集中和分区分流的布局、结构材料经得住负压和消毒。</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能说出建设流程（需求预算—初步设计—施工—验收认可），以及一级、二级实验室备案，三级、四级实验室审批并通过国家认可的要求。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能做到不进入设备层、不碰过滤箱，用前查看安全柜和灭菌器的检测标识；能判断设施改造、条件变化、停用搬迁时须重新评审或先去污验收。</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《中华人民共和国生物安全法》（以现行文本为准）：病原微生物实验室应当符合生物安全国家标准和要求，设立单位负责实验室的生物安全管理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新建、改建、扩建三级、四级实验室依法审批，建成后通过实验室国家认可并经主管部门批准方可从事相应活动；一级、二级实验室向设区的市级主管部门备案</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生物安全通用要求》：实验室设施和设备要求、废物和污水去污、设施设备的维护和检测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50346（以现行文本为准）《生物安全实验室建筑技术规范》：生物安全实验室的选址、平面布局、建筑结构、通风空调、给排水和电气控制等工程技术要求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233（以现行文本为准）《病原微生物实验室生物安全通用准则》：各级病原微生物实验室的设施、设备和管理要求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《医疗废物管理条例》（以现行文本为准）：感染性废物的收集、处理和交接</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号，以现行文本为准）：实验室建设与改造的安全论证、设施设备运行维护和检测</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本校实验室建设管理规定与设施说明：压差、风量、过滤效率、污水消毒等具体参数以现行标准和本校设施说明为准</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设施本身就是防护：工程控制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生物安全不只靠安全柜和防护服</a:t>
            </a:r>
          </a:p>
          <a:p>
            <a:pPr>
              <a:spcAft>
                <a:spcPts val="1000"/>
              </a:spcAft>
            </a:pPr>
            <a:r>
              <a:rPr sz="2000">
                <a:solidFill>
                  <a:srgbClr val="222B33"/>
                </a:solidFill>
                <a:latin typeface="Microsoft YaHei"/>
              </a:rPr>
              <a:t>▪ 房子怎么设计、配什么设备，都是工程控制</a:t>
            </a:r>
          </a:p>
          <a:p>
            <a:pPr>
              <a:spcAft>
                <a:spcPts val="1000"/>
              </a:spcAft>
            </a:pPr>
            <a:r>
              <a:rPr sz="2000">
                <a:solidFill>
                  <a:srgbClr val="222B33"/>
                </a:solidFill>
                <a:latin typeface="Microsoft YaHei"/>
              </a:rPr>
              <a:t>▪ 工程控制从源头挡住风险</a:t>
            </a:r>
          </a:p>
          <a:p>
            <a:pPr>
              <a:spcAft>
                <a:spcPts val="1000"/>
              </a:spcAft>
            </a:pPr>
            <a:r>
              <a:rPr sz="2000">
                <a:solidFill>
                  <a:srgbClr val="222B33"/>
                </a:solidFill>
                <a:latin typeface="Microsoft YaHei"/>
              </a:rPr>
              <a:t>▪ 设计想周全，设施才安全好用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生物安全靠的不只是生物安全柜和个人防护装备。实验室房子怎么设计、配置什么设备，本身就是一道防护，属于控制层级中的工程控制（控制层级见第 017 课）：它不依赖每个人每次都做对，而是从源头把风险挡住。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认为设施是工程师的事，与做实验的人无关</a:t>
            </a:r>
          </a:p>
          <a:p>
            <a:pPr>
              <a:spcAft>
                <a:spcPts val="1000"/>
              </a:spcAft>
            </a:pPr>
            <a:r>
              <a:rPr sz="1500">
                <a:solidFill>
                  <a:srgbClr val="222B33"/>
                </a:solidFill>
                <a:latin typeface="Microsoft YaHei"/>
              </a:rPr>
              <a:t>▪ 设施有缺陷时靠“自己小心点”凑合使用</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一座防护设施由什么组成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门口标志，房间可密封，气流向内、过滤排出</a:t>
            </a:r>
          </a:p>
          <a:p>
            <a:pPr>
              <a:spcAft>
                <a:spcPts val="1000"/>
              </a:spcAft>
            </a:pPr>
            <a:r>
              <a:rPr sz="1700">
                <a:solidFill>
                  <a:srgbClr val="222B33"/>
                </a:solidFill>
                <a:latin typeface="Microsoft YaHei"/>
              </a:rPr>
              <a:t>▪ 整座设施相对外界负压</a:t>
            </a:r>
          </a:p>
          <a:p>
            <a:pPr>
              <a:spcAft>
                <a:spcPts val="1000"/>
              </a:spcAft>
            </a:pPr>
            <a:r>
              <a:rPr sz="1700">
                <a:solidFill>
                  <a:srgbClr val="222B33"/>
                </a:solidFill>
                <a:latin typeface="Microsoft YaHei"/>
              </a:rPr>
              <a:t>▪ 气锁进入、淋浴出，内有安全柜和灭菌器</a:t>
            </a:r>
          </a:p>
          <a:p>
            <a:pPr>
              <a:spcAft>
                <a:spcPts val="1000"/>
              </a:spcAft>
            </a:pPr>
            <a:r>
              <a:rPr sz="1700">
                <a:solidFill>
                  <a:srgbClr val="222B33"/>
                </a:solidFill>
                <a:latin typeface="Microsoft YaHei"/>
              </a:rPr>
              <a:t>▪ 工程设计含气流、过滤、空调、污水、控制、安保等</a:t>
            </a:r>
          </a:p>
          <a:p>
            <a:pPr>
              <a:spcAft>
                <a:spcPts val="1000"/>
              </a:spcAft>
            </a:pPr>
            <a:r>
              <a:rPr sz="1700">
                <a:solidFill>
                  <a:srgbClr val="222B33"/>
                </a:solidFill>
                <a:latin typeface="Microsoft YaHei"/>
              </a:rPr>
              <a:t>▪ 一栋楼常分三层：上管空气，中做实验，下管废水</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以为防护设施只是“装了安全柜的普通房间”</a:t>
            </a:r>
          </a:p>
          <a:p>
            <a:pPr>
              <a:spcAft>
                <a:spcPts val="1000"/>
              </a:spcAft>
            </a:pPr>
            <a:r>
              <a:rPr sz="1500">
                <a:solidFill>
                  <a:srgbClr val="222B33"/>
                </a:solidFill>
                <a:latin typeface="Microsoft YaHei"/>
              </a:rPr>
              <a:t>▪ 只关注实验层，忽视设备层和污水系统也是防护的一部分</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设备层：机器在上，实验室里不放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设备层统一控制全楼通风空调</a:t>
            </a:r>
          </a:p>
          <a:p>
            <a:pPr>
              <a:spcAft>
                <a:spcPts val="1000"/>
              </a:spcAft>
            </a:pPr>
            <a:r>
              <a:rPr sz="1700">
                <a:solidFill>
                  <a:srgbClr val="222B33"/>
                </a:solidFill>
                <a:latin typeface="Microsoft YaHei"/>
              </a:rPr>
              <a:t>▪ 风机、过滤器、电控柜放在实验室上方</a:t>
            </a:r>
          </a:p>
          <a:p>
            <a:pPr>
              <a:spcAft>
                <a:spcPts val="1000"/>
              </a:spcAft>
            </a:pPr>
            <a:r>
              <a:rPr sz="1700">
                <a:solidFill>
                  <a:srgbClr val="222B33"/>
                </a:solidFill>
                <a:latin typeface="Microsoft YaHei"/>
              </a:rPr>
              <a:t>▪ 实验室里不放机械，便于密封和清洁</a:t>
            </a:r>
          </a:p>
          <a:p>
            <a:pPr>
              <a:spcAft>
                <a:spcPts val="1000"/>
              </a:spcAft>
            </a:pPr>
            <a:r>
              <a:rPr sz="1700">
                <a:solidFill>
                  <a:srgbClr val="222B33"/>
                </a:solidFill>
                <a:latin typeface="Microsoft YaHei"/>
              </a:rPr>
              <a:t>▪ 层高够检修，灯和过滤器从上面换</a:t>
            </a:r>
          </a:p>
          <a:p>
            <a:pPr>
              <a:spcAft>
                <a:spcPts val="1000"/>
              </a:spcAft>
            </a:pPr>
            <a:r>
              <a:rPr sz="1700">
                <a:solidFill>
                  <a:srgbClr val="222B33"/>
                </a:solidFill>
                <a:latin typeface="Microsoft YaHei"/>
              </a:rPr>
              <a:t>▪ 设备层不是参观区，未经允许不进入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好奇进入设备层参观、触碰设备</a:t>
            </a:r>
          </a:p>
          <a:p>
            <a:pPr>
              <a:spcAft>
                <a:spcPts val="1000"/>
              </a:spcAft>
            </a:pPr>
            <a:r>
              <a:rPr sz="1500">
                <a:solidFill>
                  <a:srgbClr val="222B33"/>
                </a:solidFill>
                <a:latin typeface="Microsoft YaHei"/>
              </a:rPr>
              <a:t>▪ 设备维修不停机、不上锁挂牌</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进排风都过滤，排风高空排放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进楼的空气先过高效过滤器</a:t>
            </a:r>
          </a:p>
          <a:p>
            <a:pPr>
              <a:spcAft>
                <a:spcPts val="1000"/>
              </a:spcAft>
            </a:pPr>
            <a:r>
              <a:rPr sz="1700">
                <a:solidFill>
                  <a:srgbClr val="222B33"/>
                </a:solidFill>
                <a:latin typeface="Microsoft YaHei"/>
              </a:rPr>
              <a:t>▪ 高等级实验室排风也要过滤，两头把关</a:t>
            </a:r>
          </a:p>
          <a:p>
            <a:pPr>
              <a:spcAft>
                <a:spcPts val="1000"/>
              </a:spcAft>
            </a:pPr>
            <a:r>
              <a:rPr sz="1700">
                <a:solidFill>
                  <a:srgbClr val="222B33"/>
                </a:solidFill>
                <a:latin typeface="Microsoft YaHei"/>
              </a:rPr>
              <a:t>▪ 每个房间各有过滤器，风阀把气流配平</a:t>
            </a:r>
          </a:p>
          <a:p>
            <a:pPr>
              <a:spcAft>
                <a:spcPts val="1000"/>
              </a:spcAft>
            </a:pPr>
            <a:r>
              <a:rPr sz="1700">
                <a:solidFill>
                  <a:srgbClr val="222B33"/>
                </a:solidFill>
                <a:latin typeface="Microsoft YaHei"/>
              </a:rPr>
              <a:t>▪ 屋顶风机把排风送向高空扩散</a:t>
            </a:r>
          </a:p>
          <a:p>
            <a:pPr>
              <a:spcAft>
                <a:spcPts val="1000"/>
              </a:spcAft>
            </a:pPr>
            <a:r>
              <a:rPr sz="1700">
                <a:solidFill>
                  <a:srgbClr val="222B33"/>
                </a:solidFill>
                <a:latin typeface="Microsoft YaHei"/>
              </a:rPr>
              <a:t>▪ 除病原靠过滤，高空排放只是加保险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认为排风“排得高就安全”，可以不过滤</a:t>
            </a:r>
          </a:p>
          <a:p>
            <a:pPr>
              <a:spcAft>
                <a:spcPts val="1000"/>
              </a:spcAft>
            </a:pPr>
            <a:r>
              <a:rPr sz="1500">
                <a:solidFill>
                  <a:srgbClr val="222B33"/>
                </a:solidFill>
                <a:latin typeface="Microsoft YaHei"/>
              </a:rPr>
              <a:t>▪ 使用者自行调节风阀或风量</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控制与监测集中管理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全楼设备由电脑集中控制和监测</a:t>
            </a:r>
          </a:p>
          <a:p>
            <a:pPr>
              <a:spcAft>
                <a:spcPts val="1000"/>
              </a:spcAft>
            </a:pPr>
            <a:r>
              <a:rPr sz="2000">
                <a:solidFill>
                  <a:srgbClr val="222B33"/>
                </a:solidFill>
                <a:latin typeface="Microsoft YaHei"/>
              </a:rPr>
              <a:t>▪ 温湿度、气流、门锁在控制区一处管理</a:t>
            </a:r>
          </a:p>
          <a:p>
            <a:pPr>
              <a:spcAft>
                <a:spcPts val="1000"/>
              </a:spcAft>
            </a:pPr>
            <a:r>
              <a:rPr sz="2000">
                <a:solidFill>
                  <a:srgbClr val="222B33"/>
                </a:solidFill>
                <a:latin typeface="Microsoft YaHei"/>
              </a:rPr>
              <a:t>▪ 压差表是监测的关键</a:t>
            </a:r>
          </a:p>
          <a:p>
            <a:pPr>
              <a:spcAft>
                <a:spcPts val="1000"/>
              </a:spcAft>
            </a:pPr>
            <a:r>
              <a:rPr sz="2000">
                <a:solidFill>
                  <a:srgbClr val="222B33"/>
                </a:solidFill>
                <a:latin typeface="Microsoft YaHei"/>
              </a:rPr>
              <a:t>▪ 防护失效时报警，系统按设计停机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防护设施的加热、制冷、湿度、通风等由电子系统集中控制和监测，哪台设备在运转、是否正常，在控制区一看就知道；监控、气流、门锁等也在控制区集中管理。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报警时关掉报警器继续实验</a:t>
            </a:r>
          </a:p>
          <a:p>
            <a:pPr>
              <a:spcAft>
                <a:spcPts val="1000"/>
              </a:spcAft>
            </a:pPr>
            <a:r>
              <a:rPr sz="1500">
                <a:solidFill>
                  <a:srgbClr val="222B33"/>
                </a:solidFill>
                <a:latin typeface="Microsoft YaHei"/>
              </a:rPr>
              <a:t>▪ 使用者私自修改控制系统设定</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污水与废物：出去之前先去污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从设施出去的一切都要先去污</a:t>
            </a:r>
          </a:p>
          <a:p>
            <a:pPr>
              <a:spcAft>
                <a:spcPts val="1000"/>
              </a:spcAft>
            </a:pPr>
            <a:r>
              <a:rPr sz="1700">
                <a:solidFill>
                  <a:srgbClr val="222B33"/>
                </a:solidFill>
                <a:latin typeface="Microsoft YaHei"/>
              </a:rPr>
              <a:t>▪ 淋浴、洗手、灭菌器废水先进暂存罐</a:t>
            </a:r>
          </a:p>
          <a:p>
            <a:pPr>
              <a:spcAft>
                <a:spcPts val="1000"/>
              </a:spcAft>
            </a:pPr>
            <a:r>
              <a:rPr sz="1700">
                <a:solidFill>
                  <a:srgbClr val="222B33"/>
                </a:solidFill>
                <a:latin typeface="Microsoft YaHei"/>
              </a:rPr>
              <a:t>▪ 再消毒、中和，全程监测，合格才排</a:t>
            </a:r>
          </a:p>
          <a:p>
            <a:pPr>
              <a:spcAft>
                <a:spcPts val="1000"/>
              </a:spcAft>
            </a:pPr>
            <a:r>
              <a:rPr sz="1700">
                <a:solidFill>
                  <a:srgbClr val="222B33"/>
                </a:solidFill>
                <a:latin typeface="Microsoft YaHei"/>
              </a:rPr>
              <a:t>▪ 污水不能直接进市政管网</a:t>
            </a:r>
          </a:p>
          <a:p>
            <a:pPr>
              <a:spcAft>
                <a:spcPts val="1000"/>
              </a:spcAft>
            </a:pPr>
            <a:r>
              <a:rPr sz="1700">
                <a:solidFill>
                  <a:srgbClr val="222B33"/>
                </a:solidFill>
                <a:latin typeface="Microsoft YaHei"/>
              </a:rPr>
              <a:t>▪ 固体废物先灭菌，再按规定处置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把含病原的废液直接倒入水槽</a:t>
            </a:r>
          </a:p>
          <a:p>
            <a:pPr>
              <a:spcAft>
                <a:spcPts val="1000"/>
              </a:spcAft>
            </a:pPr>
            <a:r>
              <a:rPr sz="1500">
                <a:solidFill>
                  <a:srgbClr val="222B33"/>
                </a:solidFill>
                <a:latin typeface="Microsoft YaHei"/>
              </a:rPr>
              <a:t>▪ 未经灭菌的废物混入生活垃圾</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先算账：建得起，也要养得起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动笔设计之前，先把钱算清楚</a:t>
            </a:r>
          </a:p>
          <a:p>
            <a:pPr>
              <a:spcAft>
                <a:spcPts val="1000"/>
              </a:spcAft>
            </a:pPr>
            <a:r>
              <a:rPr sz="1700">
                <a:solidFill>
                  <a:srgbClr val="222B33"/>
                </a:solidFill>
                <a:latin typeface="Microsoft YaHei"/>
              </a:rPr>
              <a:t>▪ 钱分两块：建设费和运行费</a:t>
            </a:r>
          </a:p>
          <a:p>
            <a:pPr>
              <a:spcAft>
                <a:spcPts val="1000"/>
              </a:spcAft>
            </a:pPr>
            <a:r>
              <a:rPr sz="1700">
                <a:solidFill>
                  <a:srgbClr val="222B33"/>
                </a:solidFill>
                <a:latin typeface="Microsoft YaHei"/>
              </a:rPr>
              <a:t>▪ 运行费会摊到每一次实验里</a:t>
            </a:r>
          </a:p>
          <a:p>
            <a:pPr>
              <a:spcAft>
                <a:spcPts val="1000"/>
              </a:spcAft>
            </a:pPr>
            <a:r>
              <a:rPr sz="1700">
                <a:solidFill>
                  <a:srgbClr val="222B33"/>
                </a:solidFill>
                <a:latin typeface="Microsoft YaHei"/>
              </a:rPr>
              <a:t>▪ 建得起养不起，安全就打折扣</a:t>
            </a:r>
          </a:p>
          <a:p>
            <a:pPr>
              <a:spcAft>
                <a:spcPts val="1000"/>
              </a:spcAft>
            </a:pPr>
            <a:r>
              <a:rPr sz="1700">
                <a:solidFill>
                  <a:srgbClr val="222B33"/>
                </a:solidFill>
                <a:latin typeface="Microsoft YaHei"/>
              </a:rPr>
              <a:t>▪ 成本是设计要考虑的事项之一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建封闭设施投入很大，决定建实验室、动笔设计之前，先要算清楚账。钱分两块：建设费和运行费。运行费（能耗、过滤器更换、检测、维修、人员）每年都有，会摊到每一次实验里。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只争取建设经费，不落实运行维护经费</a:t>
            </a:r>
          </a:p>
          <a:p>
            <a:pPr>
              <a:spcAft>
                <a:spcPts val="1000"/>
              </a:spcAft>
            </a:pPr>
            <a:r>
              <a:rPr sz="1500">
                <a:solidFill>
                  <a:srgbClr val="222B33"/>
                </a:solidFill>
                <a:latin typeface="Microsoft YaHei"/>
              </a:rPr>
              <a:t>▪ 为省钱推迟过滤器更换和设备检测</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选址：避开风险，保障支援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避开自然灾害多发地和人口稠密区</a:t>
            </a:r>
          </a:p>
          <a:p>
            <a:pPr>
              <a:spcAft>
                <a:spcPts val="1000"/>
              </a:spcAft>
            </a:pPr>
            <a:r>
              <a:rPr sz="1700">
                <a:solidFill>
                  <a:srgbClr val="222B33"/>
                </a:solidFill>
                <a:latin typeface="Microsoft YaHei"/>
              </a:rPr>
              <a:t>▪ 水电供应要有保障</a:t>
            </a:r>
          </a:p>
          <a:p>
            <a:pPr>
              <a:spcAft>
                <a:spcPts val="1000"/>
              </a:spcAft>
            </a:pPr>
            <a:r>
              <a:rPr sz="1700">
                <a:solidFill>
                  <a:srgbClr val="222B33"/>
                </a:solidFill>
                <a:latin typeface="Microsoft YaHei"/>
              </a:rPr>
              <a:t>▪ 应急队伍能及时赶到</a:t>
            </a:r>
          </a:p>
          <a:p>
            <a:pPr>
              <a:spcAft>
                <a:spcPts val="1000"/>
              </a:spcAft>
            </a:pPr>
            <a:r>
              <a:rPr sz="1700">
                <a:solidFill>
                  <a:srgbClr val="222B33"/>
                </a:solidFill>
                <a:latin typeface="Microsoft YaHei"/>
              </a:rPr>
              <a:t>▪ 周边环境稳定安全</a:t>
            </a:r>
          </a:p>
          <a:p>
            <a:pPr>
              <a:spcAft>
                <a:spcPts val="1000"/>
              </a:spcAft>
            </a:pPr>
            <a:r>
              <a:rPr sz="1700">
                <a:solidFill>
                  <a:srgbClr val="222B33"/>
                </a:solidFill>
                <a:latin typeface="Microsoft YaHei"/>
              </a:rPr>
              <a:t>▪ 植物封闭设施不紧挨农田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高等级实验室选址有讲究：避开地震、洪水等自然灾害多发地，避开人口稠密区；水电供应要有保障；发生事故时应急处置队伍能及时赶到；周边社会环境稳定安全。具体选址要求以 GB 19489-2008、GB 50346 等现行标……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为了方便把高等级实验室设在人员密集的教学楼中</a:t>
            </a:r>
          </a:p>
          <a:p>
            <a:pPr>
              <a:spcAft>
                <a:spcPts val="1000"/>
              </a:spcAft>
            </a:pPr>
            <a:r>
              <a:rPr sz="1500">
                <a:solidFill>
                  <a:srgbClr val="222B33"/>
                </a:solidFill>
                <a:latin typeface="Microsoft YaHei"/>
              </a:rPr>
              <a:t>▪ 忽视停水停电和应急支援条件</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布局：相邻集中，分区分流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防护实验室相邻集中，管道省、漏了不蔓延</a:t>
            </a:r>
          </a:p>
          <a:p>
            <a:pPr>
              <a:spcAft>
                <a:spcPts val="1000"/>
              </a:spcAft>
            </a:pPr>
            <a:r>
              <a:rPr sz="1700">
                <a:solidFill>
                  <a:srgbClr val="222B33"/>
                </a:solidFill>
                <a:latin typeface="Microsoft YaHei"/>
              </a:rPr>
              <a:t>▪ 相邻布置，通风系统才经济</a:t>
            </a:r>
          </a:p>
          <a:p>
            <a:pPr>
              <a:spcAft>
                <a:spcPts val="1000"/>
              </a:spcAft>
            </a:pPr>
            <a:r>
              <a:rPr sz="1700">
                <a:solidFill>
                  <a:srgbClr val="222B33"/>
                </a:solidFill>
                <a:latin typeface="Microsoft YaHei"/>
              </a:rPr>
              <a:t>▪ 区域按清洁到污染分级，人物按路线走</a:t>
            </a:r>
          </a:p>
          <a:p>
            <a:pPr>
              <a:spcAft>
                <a:spcPts val="1000"/>
              </a:spcAft>
            </a:pPr>
            <a:r>
              <a:rPr sz="1700">
                <a:solidFill>
                  <a:srgbClr val="222B33"/>
                </a:solidFill>
                <a:latin typeface="Microsoft YaHei"/>
              </a:rPr>
              <a:t>▪ 暂存、培养基制备、遗传操作各有分区</a:t>
            </a:r>
          </a:p>
          <a:p>
            <a:pPr>
              <a:spcAft>
                <a:spcPts val="1000"/>
              </a:spcAft>
            </a:pPr>
            <a:r>
              <a:rPr sz="1700">
                <a:solidFill>
                  <a:srgbClr val="222B33"/>
                </a:solidFill>
                <a:latin typeface="Microsoft YaHei"/>
              </a:rPr>
              <a:t>▪ 进设施的土壤和培养基先蒸汽灭菌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就像住宅把卫生间集中在一处，管道省，漏了也不会到处蔓延；防护实验室相邻集中布置，通风和管道系统才经济、好管理。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人流和物流共用一条路线、来回穿行</a:t>
            </a:r>
          </a:p>
          <a:p>
            <a:pPr>
              <a:spcAft>
                <a:spcPts val="1000"/>
              </a:spcAft>
            </a:pPr>
            <a:r>
              <a:rPr sz="1500">
                <a:solidFill>
                  <a:srgbClr val="222B33"/>
                </a:solidFill>
                <a:latin typeface="Microsoft YaHei"/>
              </a:rPr>
              <a:t>▪ 未经处理的土壤、培养基直接带入设施</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出入口缓冲间与穿墙灭菌器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出入口是缓冲间，两道门不同时开</a:t>
            </a:r>
          </a:p>
          <a:p>
            <a:pPr>
              <a:spcAft>
                <a:spcPts val="1000"/>
              </a:spcAft>
            </a:pPr>
            <a:r>
              <a:rPr sz="1700">
                <a:solidFill>
                  <a:srgbClr val="222B33"/>
                </a:solidFill>
                <a:latin typeface="Microsoft YaHei"/>
              </a:rPr>
              <a:t>▪ 先关外门再开内门，空气往里流</a:t>
            </a:r>
          </a:p>
          <a:p>
            <a:pPr>
              <a:spcAft>
                <a:spcPts val="1000"/>
              </a:spcAft>
            </a:pPr>
            <a:r>
              <a:rPr sz="1700">
                <a:solidFill>
                  <a:srgbClr val="222B33"/>
                </a:solidFill>
                <a:latin typeface="Microsoft YaHei"/>
              </a:rPr>
              <a:t>▪ 灭菌器嵌在墙里，两边开门</a:t>
            </a:r>
          </a:p>
          <a:p>
            <a:pPr>
              <a:spcAft>
                <a:spcPts val="1000"/>
              </a:spcAft>
            </a:pPr>
            <a:r>
              <a:rPr sz="1700">
                <a:solidFill>
                  <a:srgbClr val="222B33"/>
                </a:solidFill>
                <a:latin typeface="Microsoft YaHei"/>
              </a:rPr>
              <a:t>▪ 出去的材料、衣物都灭菌后才出去</a:t>
            </a:r>
          </a:p>
          <a:p>
            <a:pPr>
              <a:spcAft>
                <a:spcPts val="1000"/>
              </a:spcAft>
            </a:pPr>
            <a:r>
              <a:rPr sz="1700">
                <a:solidFill>
                  <a:srgbClr val="222B33"/>
                </a:solidFill>
                <a:latin typeface="Microsoft YaHei"/>
              </a:rPr>
              <a:t>▪ 未批准放行的材料，按规程销毁</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设施的出入口是有两道门的缓冲间：先关外门，再开内门，两道门不同时开；开内门时空气往里流，不往外跑（缓冲间压力设计以本设施说明为准，见第 062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缓冲间两道门同时打开搬运物品</a:t>
            </a:r>
          </a:p>
          <a:p>
            <a:pPr>
              <a:spcAft>
                <a:spcPts val="1000"/>
              </a:spcAft>
            </a:pPr>
            <a:r>
              <a:rPr sz="1500">
                <a:solidFill>
                  <a:srgbClr val="222B33"/>
                </a:solidFill>
                <a:latin typeface="Microsoft YaHei"/>
              </a:rPr>
              <a:t>▪ 未经灭菌把材料或工作服从防护区带出</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结构和材料要经得住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负压设施的墙、玻璃、密封要结实</a:t>
            </a:r>
          </a:p>
          <a:p>
            <a:pPr>
              <a:spcAft>
                <a:spcPts val="1000"/>
              </a:spcAft>
            </a:pPr>
            <a:r>
              <a:rPr sz="2000">
                <a:solidFill>
                  <a:srgbClr val="222B33"/>
                </a:solidFill>
                <a:latin typeface="Microsoft YaHei"/>
              </a:rPr>
              <a:t>▪ 风机故障、负压过大可能撑破玻璃</a:t>
            </a:r>
          </a:p>
          <a:p>
            <a:pPr>
              <a:spcAft>
                <a:spcPts val="1000"/>
              </a:spcAft>
            </a:pPr>
            <a:r>
              <a:rPr sz="2000">
                <a:solidFill>
                  <a:srgbClr val="222B33"/>
                </a:solidFill>
                <a:latin typeface="Microsoft YaHei"/>
              </a:rPr>
              <a:t>▪ 要熏蒸消毒，材料须耐湿耐腐蚀、易清洁</a:t>
            </a:r>
          </a:p>
          <a:p>
            <a:pPr>
              <a:spcAft>
                <a:spcPts val="1000"/>
              </a:spcAft>
            </a:pPr>
            <a:r>
              <a:rPr sz="2000">
                <a:solidFill>
                  <a:srgbClr val="222B33"/>
                </a:solidFill>
                <a:latin typeface="Microsoft YaHei"/>
              </a:rPr>
              <a:t>▪ 植物设施的采光要看当地气候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负压设施要让空气稳定地往里流，墙体、观察窗玻璃和密封都要足够结实；风机出故障时负压可能过大，结构不够会撑破玻璃，所以设计时要有相应的保护和联锁。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在负压实验室墙面随意打孔、钉挂物品</a:t>
            </a:r>
          </a:p>
          <a:p>
            <a:pPr>
              <a:spcAft>
                <a:spcPts val="1000"/>
              </a:spcAft>
            </a:pPr>
            <a:r>
              <a:rPr sz="1500">
                <a:solidFill>
                  <a:srgbClr val="222B33"/>
                </a:solidFill>
                <a:latin typeface="Microsoft YaHei"/>
              </a:rPr>
              <a:t>▪ 熏蒸消毒后未经确认就进入房间</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设计时就考虑物理安保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安保要在设计时就考虑进去</a:t>
            </a:r>
          </a:p>
          <a:p>
            <a:pPr>
              <a:spcAft>
                <a:spcPts val="1000"/>
              </a:spcAft>
            </a:pPr>
            <a:r>
              <a:rPr sz="2000">
                <a:solidFill>
                  <a:srgbClr val="222B33"/>
                </a:solidFill>
                <a:latin typeface="Microsoft YaHei"/>
              </a:rPr>
              <a:t>▪ 门禁和监控管住人员进出</a:t>
            </a:r>
          </a:p>
          <a:p>
            <a:pPr>
              <a:spcAft>
                <a:spcPts val="1000"/>
              </a:spcAft>
            </a:pPr>
            <a:r>
              <a:rPr sz="2000">
                <a:solidFill>
                  <a:srgbClr val="222B33"/>
                </a:solidFill>
                <a:latin typeface="Microsoft YaHei"/>
              </a:rPr>
              <a:t>▪ 防止材料被盗、被私自扩繁</a:t>
            </a:r>
          </a:p>
          <a:p>
            <a:pPr>
              <a:spcAft>
                <a:spcPts val="1000"/>
              </a:spcAft>
            </a:pPr>
            <a:r>
              <a:rPr sz="2000">
                <a:solidFill>
                  <a:srgbClr val="222B33"/>
                </a:solidFill>
                <a:latin typeface="Microsoft YaHei"/>
              </a:rPr>
              <a:t>▪ 数据和资料也要加密管好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生物安保要在设计时就考虑进去，事后补救既贵又难。门禁、监控等物理安保措施管住人员进出，防止病原材料被盗、被私自扩繁或带出；实验数据和资料也要加密、分级管理。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把门禁卡借给他人或让他人尾随进入</a:t>
            </a:r>
          </a:p>
          <a:p>
            <a:pPr>
              <a:spcAft>
                <a:spcPts val="1000"/>
              </a:spcAft>
            </a:pPr>
            <a:r>
              <a:rPr sz="1500">
                <a:solidFill>
                  <a:srgbClr val="222B33"/>
                </a:solidFill>
                <a:latin typeface="Microsoft YaHei"/>
              </a:rPr>
              <a:t>▪ 在网上发布实验室布局和安保设施照片</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需求、设计、施工、认可四步走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第一步：定需求和预算，量力而行</a:t>
            </a:r>
          </a:p>
          <a:p>
            <a:pPr>
              <a:spcAft>
                <a:spcPts val="1000"/>
              </a:spcAft>
            </a:pPr>
            <a:r>
              <a:rPr sz="1700">
                <a:solidFill>
                  <a:srgbClr val="222B33"/>
                </a:solidFill>
                <a:latin typeface="Microsoft YaHei"/>
              </a:rPr>
              <a:t>▪ 第二步：初步设计，对照建筑消防等标准查合规</a:t>
            </a:r>
          </a:p>
          <a:p>
            <a:pPr>
              <a:spcAft>
                <a:spcPts val="1000"/>
              </a:spcAft>
            </a:pPr>
            <a:r>
              <a:rPr sz="1700">
                <a:solidFill>
                  <a:srgbClr val="222B33"/>
                </a:solidFill>
                <a:latin typeface="Microsoft YaHei"/>
              </a:rPr>
              <a:t>▪ 第三步：施工中改动要马上告诉工程师</a:t>
            </a:r>
          </a:p>
          <a:p>
            <a:pPr>
              <a:spcAft>
                <a:spcPts val="1000"/>
              </a:spcAft>
            </a:pPr>
            <a:r>
              <a:rPr sz="1700">
                <a:solidFill>
                  <a:srgbClr val="222B33"/>
                </a:solidFill>
                <a:latin typeface="Microsoft YaHei"/>
              </a:rPr>
              <a:t>▪ 第四步：验收认可，没通过不能开展实验</a:t>
            </a:r>
          </a:p>
          <a:p>
            <a:pPr>
              <a:spcAft>
                <a:spcPts val="1000"/>
              </a:spcAft>
            </a:pPr>
            <a:r>
              <a:rPr sz="1700">
                <a:solidFill>
                  <a:srgbClr val="222B33"/>
                </a:solidFill>
                <a:latin typeface="Microsoft YaHei"/>
              </a:rPr>
              <a:t>▪ 一二级备案，三四级审批并通过国家认可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建设一般分四步。第一步，需求和预算：按实际需要确定规模，预算有限不要贪大，并考虑每年的维护费。第二步，初步设计：对照建筑规范、消防疏散和生物安全标准（GB 19489-2008、GB 50346 等）逐项查合规。第三……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施工中随意增加隔墙或改变管线而不告知设计方</a:t>
            </a:r>
          </a:p>
          <a:p>
            <a:pPr>
              <a:spcAft>
                <a:spcPts val="1000"/>
              </a:spcAft>
            </a:pPr>
            <a:r>
              <a:rPr sz="1500">
                <a:solidFill>
                  <a:srgbClr val="222B33"/>
                </a:solidFill>
                <a:latin typeface="Microsoft YaHei"/>
              </a:rPr>
              <a:t>▪ 实验室刚装修完就开始做病原实验</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使用者和生物安全员参与建设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工程师懂结构，研究者懂生物，管理者协调</a:t>
            </a:r>
          </a:p>
          <a:p>
            <a:pPr>
              <a:spcAft>
                <a:spcPts val="1000"/>
              </a:spcAft>
            </a:pPr>
            <a:r>
              <a:rPr sz="1700">
                <a:solidFill>
                  <a:srgbClr val="222B33"/>
                </a:solidFill>
                <a:latin typeface="Microsoft YaHei"/>
              </a:rPr>
              <a:t>▪ 生物安全员要看懂图纸、懂通风空调</a:t>
            </a:r>
          </a:p>
          <a:p>
            <a:pPr>
              <a:spcAft>
                <a:spcPts val="1000"/>
              </a:spcAft>
            </a:pPr>
            <a:r>
              <a:rPr sz="1700">
                <a:solidFill>
                  <a:srgbClr val="222B33"/>
                </a:solidFill>
                <a:latin typeface="Microsoft YaHei"/>
              </a:rPr>
              <a:t>▪ 从建造、验收、维护到停用都参与</a:t>
            </a:r>
          </a:p>
          <a:p>
            <a:pPr>
              <a:spcAft>
                <a:spcPts val="1000"/>
              </a:spcAft>
            </a:pPr>
            <a:r>
              <a:rPr sz="1700">
                <a:solidFill>
                  <a:srgbClr val="222B33"/>
                </a:solidFill>
                <a:latin typeface="Microsoft YaHei"/>
              </a:rPr>
              <a:t>▪ 代表单位与设计方、主管部门沟通</a:t>
            </a:r>
          </a:p>
          <a:p>
            <a:pPr>
              <a:spcAft>
                <a:spcPts val="1000"/>
              </a:spcAft>
            </a:pPr>
            <a:r>
              <a:rPr sz="1700">
                <a:solidFill>
                  <a:srgbClr val="222B33"/>
                </a:solidFill>
                <a:latin typeface="Microsoft YaHei"/>
              </a:rPr>
              <a:t>▪ 使用者在关键阶段参与</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设施设计要多方合作：工程师懂结构，研究者懂生物，管理者居中协调，让设施既满足工程要求又满足实验需要，并符合生物安全法规和标准。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设计全部交给施工方，使用者和安全员到验收时才看</a:t>
            </a:r>
          </a:p>
          <a:p>
            <a:pPr>
              <a:spcAft>
                <a:spcPts val="1000"/>
              </a:spcAft>
            </a:pPr>
            <a:r>
              <a:rPr sz="1500">
                <a:solidFill>
                  <a:srgbClr val="222B33"/>
                </a:solidFill>
                <a:latin typeface="Microsoft YaHei"/>
              </a:rPr>
              <a:t>▪ 生物安全员只管制度，不了解设施</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运行维护：过滤器和关键设备定期检测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安全柜、灭菌器、过滤器、负压要定期检测</a:t>
            </a:r>
          </a:p>
          <a:p>
            <a:pPr>
              <a:spcAft>
                <a:spcPts val="1000"/>
              </a:spcAft>
            </a:pPr>
            <a:r>
              <a:rPr sz="1700">
                <a:solidFill>
                  <a:srgbClr val="222B33"/>
                </a:solidFill>
                <a:latin typeface="Microsoft YaHei"/>
              </a:rPr>
              <a:t>▪ 用前看一眼检测标识是否在有效期内</a:t>
            </a:r>
          </a:p>
          <a:p>
            <a:pPr>
              <a:spcAft>
                <a:spcPts val="1000"/>
              </a:spcAft>
            </a:pPr>
            <a:r>
              <a:rPr sz="1700">
                <a:solidFill>
                  <a:srgbClr val="222B33"/>
                </a:solidFill>
                <a:latin typeface="Microsoft YaHei"/>
              </a:rPr>
              <a:t>▪ 过期未检或检测不合格，停用</a:t>
            </a:r>
          </a:p>
          <a:p>
            <a:pPr>
              <a:spcAft>
                <a:spcPts val="1000"/>
              </a:spcAft>
            </a:pPr>
            <a:r>
              <a:rPr sz="1700">
                <a:solidFill>
                  <a:srgbClr val="222B33"/>
                </a:solidFill>
                <a:latin typeface="Microsoft YaHei"/>
              </a:rPr>
              <a:t>▪ 换过滤器先原位消毒，专人装袋更换</a:t>
            </a:r>
          </a:p>
          <a:p>
            <a:pPr>
              <a:spcAft>
                <a:spcPts val="1000"/>
              </a:spcAft>
            </a:pPr>
            <a:r>
              <a:rPr sz="1700">
                <a:solidFill>
                  <a:srgbClr val="222B33"/>
                </a:solidFill>
                <a:latin typeface="Microsoft YaHei"/>
              </a:rPr>
              <a:t>▪ 装好检漏合格才能用，学生不碰过滤箱</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使用检测过期的生物安全柜</a:t>
            </a:r>
          </a:p>
          <a:p>
            <a:pPr>
              <a:spcAft>
                <a:spcPts val="1000"/>
              </a:spcAft>
            </a:pPr>
            <a:r>
              <a:rPr sz="1500">
                <a:solidFill>
                  <a:srgbClr val="222B33"/>
                </a:solidFill>
                <a:latin typeface="Microsoft YaHei"/>
              </a:rPr>
              <a:t>▪ 非专业人员自行打开过滤箱或更换过滤器</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认可有期限，变化要重新评审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认可和备案不是一劳永逸</a:t>
            </a:r>
          </a:p>
          <a:p>
            <a:pPr>
              <a:spcAft>
                <a:spcPts val="1000"/>
              </a:spcAft>
            </a:pPr>
            <a:r>
              <a:rPr sz="2000">
                <a:solidFill>
                  <a:srgbClr val="222B33"/>
                </a:solidFill>
                <a:latin typeface="Microsoft YaHei"/>
              </a:rPr>
              <a:t>▪ 要接受定期复评和监督检查</a:t>
            </a:r>
          </a:p>
          <a:p>
            <a:pPr>
              <a:spcAft>
                <a:spcPts val="1000"/>
              </a:spcAft>
            </a:pPr>
            <a:r>
              <a:rPr sz="2000">
                <a:solidFill>
                  <a:srgbClr val="222B33"/>
                </a:solidFill>
                <a:latin typeface="Microsoft YaHei"/>
              </a:rPr>
              <a:t>▪ 设施改动、条件变化，要重新评审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实验室的认可和备案都不是一劳永逸的：认可有有效期，到期要复评，有效期内还要接受监督评审和主管部门的监督检查（具体周期以现行规定为准）。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认为一次通过认可就可以长期不管</a:t>
            </a:r>
          </a:p>
          <a:p>
            <a:pPr>
              <a:spcAft>
                <a:spcPts val="1000"/>
              </a:spcAft>
            </a:pPr>
            <a:r>
              <a:rPr sz="1500">
                <a:solidFill>
                  <a:srgbClr val="222B33"/>
                </a:solidFill>
                <a:latin typeface="Microsoft YaHei"/>
              </a:rPr>
              <a:t>▪ 改造房间或更换关键设备后不重新检测和评审</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停用搬迁：先去污，再验收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实验室停用、设备搬迁前先彻底去污</a:t>
            </a:r>
          </a:p>
          <a:p>
            <a:pPr>
              <a:spcAft>
                <a:spcPts val="1000"/>
              </a:spcAft>
            </a:pPr>
            <a:r>
              <a:rPr sz="2000">
                <a:solidFill>
                  <a:srgbClr val="222B33"/>
                </a:solidFill>
                <a:latin typeface="Microsoft YaHei"/>
              </a:rPr>
              <a:t>▪ 去污后验收合格并签字</a:t>
            </a:r>
          </a:p>
          <a:p>
            <a:pPr>
              <a:spcAft>
                <a:spcPts val="1000"/>
              </a:spcAft>
            </a:pPr>
            <a:r>
              <a:rPr sz="2000">
                <a:solidFill>
                  <a:srgbClr val="222B33"/>
                </a:solidFill>
                <a:latin typeface="Microsoft YaHei"/>
              </a:rPr>
              <a:t>▪ 合格后才能搬走、改用或报废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实验室停用、设备搬走或维修之前，先由实验室按规程彻底去污（消毒灭菌），清点并妥善处置剩余的生物材料。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未经去污直接把生物安全柜交给维修或搬家公司</a:t>
            </a:r>
          </a:p>
          <a:p>
            <a:pPr>
              <a:spcAft>
                <a:spcPts val="1000"/>
              </a:spcAft>
            </a:pPr>
            <a:r>
              <a:rPr sz="1500">
                <a:solidFill>
                  <a:srgbClr val="222B33"/>
                </a:solidFill>
                <a:latin typeface="Microsoft YaHei"/>
              </a:rPr>
              <a:t>▪ 实验室停用后遗留菌种、样本无人处置</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关于防护设施的设备层，正确的是：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设备层是参观区，可以随意进入</a:t>
            </a:r>
          </a:p>
          <a:p>
            <a:pPr algn="l"/>
            <a:r>
              <a:rPr sz="1500" b="0">
                <a:solidFill>
                  <a:srgbClr val="222B33"/>
                </a:solidFill>
                <a:latin typeface="Microsoft YaHei"/>
              </a:rPr>
              <a:t>B. 风机、过滤器和电控柜放在实验室上方，实验室里不放机械，便于密封清洁</a:t>
            </a:r>
          </a:p>
          <a:p>
            <a:pPr algn="l"/>
            <a:r>
              <a:rPr sz="1500" b="0">
                <a:solidFill>
                  <a:srgbClr val="222B33"/>
                </a:solidFill>
                <a:latin typeface="Microsoft YaHei"/>
              </a:rPr>
              <a:t>C. 过滤器应从实验室房间里拆换</a:t>
            </a:r>
          </a:p>
          <a:p>
            <a:pPr algn="l"/>
            <a:r>
              <a:rPr sz="1500" b="0">
                <a:solidFill>
                  <a:srgbClr val="222B33"/>
                </a:solidFill>
                <a:latin typeface="Microsoft YaHei"/>
              </a:rPr>
              <a:t>D. 维修设备层设备不需要断电</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判断：防护设施的排风只要由屋顶风机排到高空，就可以不经过滤。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防护设施的废水处理，正确的是：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直接排入市政管网</a:t>
            </a:r>
          </a:p>
          <a:p>
            <a:pPr algn="l"/>
            <a:r>
              <a:rPr sz="1500" b="0">
                <a:solidFill>
                  <a:srgbClr val="222B33"/>
                </a:solidFill>
                <a:latin typeface="Microsoft YaHei"/>
              </a:rPr>
              <a:t>B. 先进暂存罐，再消毒、中和，监测合格后排放</a:t>
            </a:r>
          </a:p>
          <a:p>
            <a:pPr algn="l"/>
            <a:r>
              <a:rPr sz="1500" b="0">
                <a:solidFill>
                  <a:srgbClr val="222B33"/>
                </a:solidFill>
                <a:latin typeface="Microsoft YaHei"/>
              </a:rPr>
              <a:t>C. 只处理灭菌器的废水</a:t>
            </a:r>
          </a:p>
          <a:p>
            <a:pPr algn="l"/>
            <a:r>
              <a:rPr sz="1500" b="0">
                <a:solidFill>
                  <a:srgbClr val="222B33"/>
                </a:solidFill>
                <a:latin typeface="Microsoft YaHei"/>
              </a:rPr>
              <a:t>D. 洗手水不需要处理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关于实验室建设与认可，正确的是：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施工中加隔墙不必告诉工程师</a:t>
            </a:r>
          </a:p>
          <a:p>
            <a:pPr algn="l"/>
            <a:r>
              <a:rPr sz="1500" b="0">
                <a:solidFill>
                  <a:srgbClr val="222B33"/>
                </a:solidFill>
                <a:latin typeface="Microsoft YaHei"/>
              </a:rPr>
              <a:t>B. 实验室装修完就可以开始做病原实验</a:t>
            </a:r>
          </a:p>
          <a:p>
            <a:pPr algn="l"/>
            <a:r>
              <a:rPr sz="1500" b="0">
                <a:solidFill>
                  <a:srgbClr val="222B33"/>
                </a:solidFill>
                <a:latin typeface="Microsoft YaHei"/>
              </a:rPr>
              <a:t>C. 三级、四级实验室须依法审批并通过国家认可，一级、二级实验室须备案</a:t>
            </a:r>
          </a:p>
          <a:p>
            <a:pPr algn="l"/>
            <a:r>
              <a:rPr sz="1500" b="0">
                <a:solidFill>
                  <a:srgbClr val="222B33"/>
                </a:solidFill>
                <a:latin typeface="Microsoft YaHei"/>
              </a:rPr>
              <a:t>D. 认可一次长期有效</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判断：生物安全柜检测标识已过期，但看起来运转正常，可以继续使用。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简答：实验室停用、生物安全柜要搬迁时应怎么做？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设施本身就是防护：工程控制</a:t>
            </a:r>
          </a:p>
          <a:p>
            <a:pPr>
              <a:spcAft>
                <a:spcPts val="800"/>
              </a:spcAft>
            </a:pPr>
            <a:r>
              <a:rPr sz="1500">
                <a:solidFill>
                  <a:srgbClr val="FFFFFF"/>
                </a:solidFill>
                <a:latin typeface="Microsoft YaHei"/>
              </a:rPr>
              <a:t>▪ K2  一座防护设施由什么组成</a:t>
            </a:r>
          </a:p>
          <a:p>
            <a:pPr>
              <a:spcAft>
                <a:spcPts val="800"/>
              </a:spcAft>
            </a:pPr>
            <a:r>
              <a:rPr sz="1500">
                <a:solidFill>
                  <a:srgbClr val="FFFFFF"/>
                </a:solidFill>
                <a:latin typeface="Microsoft YaHei"/>
              </a:rPr>
              <a:t>▪ K3  设备层：机器在上，实验室里不放</a:t>
            </a:r>
          </a:p>
          <a:p>
            <a:pPr>
              <a:spcAft>
                <a:spcPts val="800"/>
              </a:spcAft>
            </a:pPr>
            <a:r>
              <a:rPr sz="1500">
                <a:solidFill>
                  <a:srgbClr val="FFFFFF"/>
                </a:solidFill>
                <a:latin typeface="Microsoft YaHei"/>
              </a:rPr>
              <a:t>▪ K4  进排风都过滤，排风高空排放</a:t>
            </a:r>
          </a:p>
          <a:p>
            <a:pPr>
              <a:spcAft>
                <a:spcPts val="800"/>
              </a:spcAft>
            </a:pPr>
            <a:r>
              <a:rPr sz="1500">
                <a:solidFill>
                  <a:srgbClr val="FFFFFF"/>
                </a:solidFill>
                <a:latin typeface="Microsoft YaHei"/>
              </a:rPr>
              <a:t>▪ K5  控制与监测集中管理</a:t>
            </a:r>
          </a:p>
          <a:p>
            <a:pPr>
              <a:spcAft>
                <a:spcPts val="800"/>
              </a:spcAft>
            </a:pPr>
            <a:r>
              <a:rPr sz="1500">
                <a:solidFill>
                  <a:srgbClr val="FFFFFF"/>
                </a:solidFill>
                <a:latin typeface="Microsoft YaHei"/>
              </a:rPr>
              <a:t>▪ K6  污水与废物：出去之前先去污</a:t>
            </a:r>
          </a:p>
          <a:p>
            <a:pPr>
              <a:spcAft>
                <a:spcPts val="800"/>
              </a:spcAft>
            </a:pPr>
            <a:r>
              <a:rPr sz="1500">
                <a:solidFill>
                  <a:srgbClr val="FFFFFF"/>
                </a:solidFill>
                <a:latin typeface="Microsoft YaHei"/>
              </a:rPr>
              <a:t>▪ K7  先算账：建得起，也要养得起</a:t>
            </a:r>
          </a:p>
          <a:p>
            <a:pPr>
              <a:spcAft>
                <a:spcPts val="800"/>
              </a:spcAft>
            </a:pPr>
            <a:r>
              <a:rPr sz="1500">
                <a:solidFill>
                  <a:srgbClr val="FFFFFF"/>
                </a:solidFill>
                <a:latin typeface="Microsoft YaHei"/>
              </a:rPr>
              <a:t>▪ K8  选址：避开风险，保障支援</a:t>
            </a:r>
          </a:p>
          <a:p>
            <a:pPr>
              <a:spcAft>
                <a:spcPts val="800"/>
              </a:spcAft>
            </a:pPr>
            <a:r>
              <a:rPr sz="1500">
                <a:solidFill>
                  <a:srgbClr val="FFFFFF"/>
                </a:solidFill>
                <a:latin typeface="Microsoft YaHei"/>
              </a:rPr>
              <a:t>▪ K9  布局：相邻集中，分区分流</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出入口缓冲间与穿墙灭菌器</a:t>
            </a:r>
          </a:p>
          <a:p>
            <a:pPr>
              <a:spcAft>
                <a:spcPts val="800"/>
              </a:spcAft>
            </a:pPr>
            <a:r>
              <a:rPr sz="1500">
                <a:solidFill>
                  <a:srgbClr val="FFFFFF"/>
                </a:solidFill>
                <a:latin typeface="Microsoft YaHei"/>
              </a:rPr>
              <a:t>▪ K11  结构和材料要经得住</a:t>
            </a:r>
          </a:p>
          <a:p>
            <a:pPr>
              <a:spcAft>
                <a:spcPts val="800"/>
              </a:spcAft>
            </a:pPr>
            <a:r>
              <a:rPr sz="1500">
                <a:solidFill>
                  <a:srgbClr val="FFFFFF"/>
                </a:solidFill>
                <a:latin typeface="Microsoft YaHei"/>
              </a:rPr>
              <a:t>▪ K12  设计时就考虑物理安保</a:t>
            </a:r>
          </a:p>
          <a:p>
            <a:pPr>
              <a:spcAft>
                <a:spcPts val="800"/>
              </a:spcAft>
            </a:pPr>
            <a:r>
              <a:rPr sz="1500">
                <a:solidFill>
                  <a:srgbClr val="FFFFFF"/>
                </a:solidFill>
                <a:latin typeface="Microsoft YaHei"/>
              </a:rPr>
              <a:t>▪ K13  需求、设计、施工、认可四步走</a:t>
            </a:r>
          </a:p>
          <a:p>
            <a:pPr>
              <a:spcAft>
                <a:spcPts val="800"/>
              </a:spcAft>
            </a:pPr>
            <a:r>
              <a:rPr sz="1500">
                <a:solidFill>
                  <a:srgbClr val="FFFFFF"/>
                </a:solidFill>
                <a:latin typeface="Microsoft YaHei"/>
              </a:rPr>
              <a:t>▪ K14  使用者和生物安全员参与建设</a:t>
            </a:r>
          </a:p>
          <a:p>
            <a:pPr>
              <a:spcAft>
                <a:spcPts val="800"/>
              </a:spcAft>
            </a:pPr>
            <a:r>
              <a:rPr sz="1500">
                <a:solidFill>
                  <a:srgbClr val="FFFFFF"/>
                </a:solidFill>
                <a:latin typeface="Microsoft YaHei"/>
              </a:rPr>
              <a:t>▪ K15  运行维护：过滤器和关键设备定期检测</a:t>
            </a:r>
          </a:p>
          <a:p>
            <a:pPr>
              <a:spcAft>
                <a:spcPts val="800"/>
              </a:spcAft>
            </a:pPr>
            <a:r>
              <a:rPr sz="1500">
                <a:solidFill>
                  <a:srgbClr val="FFFFFF"/>
                </a:solidFill>
                <a:latin typeface="Microsoft YaHei"/>
              </a:rPr>
              <a:t>▪ K16  认可有期限，变化要重新评审</a:t>
            </a:r>
          </a:p>
          <a:p>
            <a:pPr>
              <a:spcAft>
                <a:spcPts val="800"/>
              </a:spcAft>
            </a:pPr>
            <a:r>
              <a:rPr sz="1500">
                <a:solidFill>
                  <a:srgbClr val="FFFFFF"/>
                </a:solidFill>
                <a:latin typeface="Microsoft YaHei"/>
              </a:rPr>
              <a:t>▪ K17  停用搬迁：先去污，再验收</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生物风险管理体系与AMP模型</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96 镜）　适用对象：进入生命科学、医学、农学、环境等涉及生物材料实验室的高校本科生、研究生和教职工（必修）；实验室负责人、生物安全员和编写实验室生物安全管理文件的人员重点学习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能说出生物风险管理的含义（生物安全加生物安保）、目的，以及国内“设立单位负责、三级管理、生物安全委员会、按国家标准建立管理体系”的框架。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AMP 模型（评估、减缓、绩效）三步各回答什么问题，以及它与“计划—执行—检查—改进”循环的对应关系。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能说出管理体系的要素（方针、领导承诺、人人知晓、实施运行、检查与纠正、持续改进）和体系文件的四个层次。</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能做到参与起草或学习本实验室的生物风险管理计划，知道其中的范围目标、角色职责、风险评估程序、操作规程、培训、事件响应、维护检查、文件记录和评审。</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《中华人民共和国生物安全法》（以现行文本为准）：病原微生物实验室的设立单位负责实验室的生物安全管理，建立健全管理制度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《病原微生物实验室生物安全管理条例》（以现行文本为准）：实验室设立单位及其主管部门负责生物安全管理；实验室负责人为第一责任人；制定操作规程、培训、档案和事故报告制度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生物安全通用要求》：管理体系、安全管理手册和程序文件、安全计划、风险评估、记录控制、内部审核与管理评审</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233（以现行文本为准）《病原微生物实验室生物安全通用准则》：实验室生物安全管理体系和管理要求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45001-2020、GB/T 24001-2016（以现行文本为准）：管理体系“策划—实施—检查—改进”（PDCA）的思路，可作参照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号，以现行文本为准）：学校—学院—实验室三级管理，实验室安全责任体系和制度建设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本校实验室生物安全管理办法、生物安全委员会章程和实验室安全管理手册（以本校规定为准）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生物风险管理：生物安全加生物安保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生物风险管理包括生物安全和生物安保两部分</a:t>
            </a:r>
          </a:p>
          <a:p>
            <a:pPr>
              <a:spcAft>
                <a:spcPts val="1000"/>
              </a:spcAft>
            </a:pPr>
            <a:r>
              <a:rPr sz="1700">
                <a:solidFill>
                  <a:srgbClr val="222B33"/>
                </a:solidFill>
                <a:latin typeface="Microsoft YaHei"/>
              </a:rPr>
              <a:t>▪ 生物安全防意外暴露，生物安保防丢失、被盗和滥用</a:t>
            </a:r>
          </a:p>
          <a:p>
            <a:pPr>
              <a:spcAft>
                <a:spcPts val="1000"/>
              </a:spcAft>
            </a:pPr>
            <a:r>
              <a:rPr sz="1700">
                <a:solidFill>
                  <a:srgbClr val="222B33"/>
                </a:solidFill>
                <a:latin typeface="Microsoft YaHei"/>
              </a:rPr>
              <a:t>▪ 管材料的接收、使用、储存到销毁全过程</a:t>
            </a:r>
          </a:p>
          <a:p>
            <a:pPr>
              <a:spcAft>
                <a:spcPts val="1000"/>
              </a:spcAft>
            </a:pPr>
            <a:r>
              <a:rPr sz="1700">
                <a:solidFill>
                  <a:srgbClr val="222B33"/>
                </a:solidFill>
                <a:latin typeface="Microsoft YaHei"/>
              </a:rPr>
              <a:t>▪ 重点是病原、毒素和转基因生物</a:t>
            </a:r>
          </a:p>
          <a:p>
            <a:pPr>
              <a:spcAft>
                <a:spcPts val="1000"/>
              </a:spcAft>
            </a:pPr>
            <a:r>
              <a:rPr sz="1700">
                <a:solidFill>
                  <a:srgbClr val="222B33"/>
                </a:solidFill>
                <a:latin typeface="Microsoft YaHei"/>
              </a:rPr>
              <a:t>▪ 生物安全领域很广，本课聚焦实验室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认为生物风险管理只是“防感染”，忽视样本丢失和被盗</a:t>
            </a:r>
          </a:p>
          <a:p>
            <a:pPr>
              <a:spcAft>
                <a:spcPts val="1000"/>
              </a:spcAft>
            </a:pPr>
            <a:r>
              <a:rPr sz="1500">
                <a:solidFill>
                  <a:srgbClr val="222B33"/>
                </a:solidFill>
                <a:latin typeface="Microsoft YaHei"/>
              </a:rPr>
              <a:t>▪ 认为管理只是负责人和管理员的事</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为什么要管：保护人员、公众和环境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首先防实验室获得性感染，不把病带回家</a:t>
            </a:r>
          </a:p>
          <a:p>
            <a:pPr>
              <a:spcAft>
                <a:spcPts val="1000"/>
              </a:spcAft>
            </a:pPr>
            <a:r>
              <a:rPr sz="2000">
                <a:solidFill>
                  <a:srgbClr val="222B33"/>
                </a:solidFill>
                <a:latin typeface="Microsoft YaHei"/>
              </a:rPr>
              <a:t>▪ 保护公众和环境，不让有害因子外泄</a:t>
            </a:r>
          </a:p>
          <a:p>
            <a:pPr>
              <a:spcAft>
                <a:spcPts val="1000"/>
              </a:spcAft>
            </a:pPr>
            <a:r>
              <a:rPr sz="2000">
                <a:solidFill>
                  <a:srgbClr val="222B33"/>
                </a:solidFill>
                <a:latin typeface="Microsoft YaHei"/>
              </a:rPr>
              <a:t>▪ 也关系到国家安全</a:t>
            </a:r>
          </a:p>
          <a:p>
            <a:pPr>
              <a:spcAft>
                <a:spcPts val="1000"/>
              </a:spcAft>
            </a:pPr>
            <a:r>
              <a:rPr sz="2000">
                <a:solidFill>
                  <a:srgbClr val="222B33"/>
                </a:solidFill>
                <a:latin typeface="Microsoft YaHei"/>
              </a:rPr>
              <a:t>▪ 国际手册可参考，国内依法律和国家标准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为什么要建立生物风险管理？首先是防止实验室获得性感染：在实验室工作，不应把病带回家。其次是保护公众和环境，无论意外还是蓄意，都不让有害生物因子外泄；它也关系到国家生物安全。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以国外手册的数值和做法代替国内法规和标准</a:t>
            </a:r>
          </a:p>
          <a:p>
            <a:pPr>
              <a:spcAft>
                <a:spcPts val="1000"/>
              </a:spcAft>
            </a:pPr>
            <a:r>
              <a:rPr sz="1500">
                <a:solidFill>
                  <a:srgbClr val="222B33"/>
                </a:solidFill>
                <a:latin typeface="Microsoft YaHei"/>
              </a:rPr>
              <a:t>▪ 认为“没出过事”就不需要管理体系</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国内要求：设立单位负责，体系化管理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依据：生物安全法、条例和国家标准</a:t>
            </a:r>
          </a:p>
          <a:p>
            <a:pPr>
              <a:spcAft>
                <a:spcPts val="1000"/>
              </a:spcAft>
            </a:pPr>
            <a:r>
              <a:rPr sz="2000">
                <a:solidFill>
                  <a:srgbClr val="222B33"/>
                </a:solidFill>
                <a:latin typeface="Microsoft YaHei"/>
              </a:rPr>
              <a:t>▪ 设立单位负责，学校—学院—实验室三级落实</a:t>
            </a:r>
          </a:p>
          <a:p>
            <a:pPr>
              <a:spcAft>
                <a:spcPts val="1000"/>
              </a:spcAft>
            </a:pPr>
            <a:r>
              <a:rPr sz="2000">
                <a:solidFill>
                  <a:srgbClr val="222B33"/>
                </a:solidFill>
                <a:latin typeface="Microsoft YaHei"/>
              </a:rPr>
              <a:t>▪ 生物安全委员会审议重要事项</a:t>
            </a:r>
          </a:p>
          <a:p>
            <a:pPr>
              <a:spcAft>
                <a:spcPts val="1000"/>
              </a:spcAft>
            </a:pPr>
            <a:r>
              <a:rPr sz="2000">
                <a:solidFill>
                  <a:srgbClr val="222B33"/>
                </a:solidFill>
                <a:latin typeface="Microsoft YaHei"/>
              </a:rPr>
              <a:t>▪ 按国家标准建立管理体系并持续运行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把生物安全委员会当成“走形式”，重要实验不提交审议</a:t>
            </a:r>
          </a:p>
          <a:p>
            <a:pPr>
              <a:spcAft>
                <a:spcPts val="1000"/>
              </a:spcAft>
            </a:pPr>
            <a:r>
              <a:rPr sz="1500">
                <a:solidFill>
                  <a:srgbClr val="222B33"/>
                </a:solidFill>
                <a:latin typeface="Microsoft YaHei"/>
              </a:rPr>
              <a:t>▪ 只有制度条文，没有按体系运行和检查</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AMP模型：评估、减缓、绩效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国际通行的生物风险管理方法：AMP 模型</a:t>
            </a:r>
          </a:p>
          <a:p>
            <a:pPr>
              <a:spcAft>
                <a:spcPts val="1000"/>
              </a:spcAft>
            </a:pPr>
            <a:r>
              <a:rPr sz="1700">
                <a:solidFill>
                  <a:srgbClr val="222B33"/>
                </a:solidFill>
                <a:latin typeface="Microsoft YaHei"/>
              </a:rPr>
              <a:t>▪ 评估问：有什么风险，有多大？</a:t>
            </a:r>
          </a:p>
          <a:p>
            <a:pPr>
              <a:spcAft>
                <a:spcPts val="1000"/>
              </a:spcAft>
            </a:pPr>
            <a:r>
              <a:rPr sz="1700">
                <a:solidFill>
                  <a:srgbClr val="222B33"/>
                </a:solidFill>
                <a:latin typeface="Microsoft YaHei"/>
              </a:rPr>
              <a:t>▪ 减缓问：怎样把风险降下来？</a:t>
            </a:r>
          </a:p>
          <a:p>
            <a:pPr>
              <a:spcAft>
                <a:spcPts val="1000"/>
              </a:spcAft>
            </a:pPr>
            <a:r>
              <a:rPr sz="1700">
                <a:solidFill>
                  <a:srgbClr val="222B33"/>
                </a:solidFill>
                <a:latin typeface="Microsoft YaHei"/>
              </a:rPr>
              <a:t>▪ 绩效问：怎么确认真的降下来了？</a:t>
            </a:r>
          </a:p>
          <a:p>
            <a:pPr>
              <a:spcAft>
                <a:spcPts val="1000"/>
              </a:spcAft>
            </a:pPr>
            <a:r>
              <a:rPr sz="1700">
                <a:solidFill>
                  <a:srgbClr val="222B33"/>
                </a:solidFill>
                <a:latin typeface="Microsoft YaHei"/>
              </a:rPr>
              <a:t>▪ 三步是生物风险管理的基础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AMP 模型是国际通行的管理生物风险的基本方法，由三步组成：评估（Assessment）、减缓（Mitigation）、绩效（Performance）。评估回答“有什么风险、有多大”；减缓回答“怎样把风险降下来”；绩……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只做评估，不落实控制措施</a:t>
            </a:r>
          </a:p>
          <a:p>
            <a:pPr>
              <a:spcAft>
                <a:spcPts val="1000"/>
              </a:spcAft>
            </a:pPr>
            <a:r>
              <a:rPr sz="1500">
                <a:solidFill>
                  <a:srgbClr val="222B33"/>
                </a:solidFill>
                <a:latin typeface="Microsoft YaHei"/>
              </a:rPr>
              <a:t>▪ 采取措施后从不检查效果</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看病原多危险、要做什么操作</a:t>
            </a:r>
          </a:p>
          <a:p>
            <a:pPr>
              <a:spcAft>
                <a:spcPts val="1000"/>
              </a:spcAft>
            </a:pPr>
            <a:r>
              <a:rPr sz="2000">
                <a:solidFill>
                  <a:srgbClr val="222B33"/>
                </a:solidFill>
                <a:latin typeface="Microsoft YaHei"/>
              </a:rPr>
              <a:t>▪ 估计出事的可能性和后果有多大</a:t>
            </a:r>
          </a:p>
          <a:p>
            <a:pPr>
              <a:spcAft>
                <a:spcPts val="1000"/>
              </a:spcAft>
            </a:pPr>
            <a:r>
              <a:rPr sz="2000">
                <a:solidFill>
                  <a:srgbClr val="222B33"/>
                </a:solidFill>
                <a:latin typeface="Microsoft YaHei"/>
              </a:rPr>
              <a:t>▪ 负责人组织，管理人员审核，动手的人参与</a:t>
            </a:r>
          </a:p>
          <a:p>
            <a:pPr>
              <a:spcAft>
                <a:spcPts val="1000"/>
              </a:spcAft>
            </a:pPr>
            <a:r>
              <a:rPr sz="2000">
                <a:solidFill>
                  <a:srgbClr val="222B33"/>
                </a:solidFill>
                <a:latin typeface="Microsoft YaHei"/>
              </a:rPr>
              <a:t>▪ 评估是其他所有工作的出发点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第一步是风险评估：找出实验里有哪些有害生物因子，这东西有多危险，我要做什么操作，估计出事的可能性和后果有多大，从而判断风险高低。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照抄别的实验室的评估报告</a:t>
            </a:r>
          </a:p>
          <a:p>
            <a:pPr>
              <a:spcAft>
                <a:spcPts val="1000"/>
              </a:spcAft>
            </a:pPr>
            <a:r>
              <a:rPr sz="1500">
                <a:solidFill>
                  <a:srgbClr val="222B33"/>
                </a:solidFill>
                <a:latin typeface="Microsoft YaHei"/>
              </a:rPr>
              <a:t>▪ 学生只签字，不了解评估内容</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第二步：风险减缓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按控制层级，从消除到个人防护一层层加</a:t>
            </a:r>
          </a:p>
          <a:p>
            <a:pPr>
              <a:spcAft>
                <a:spcPts val="1000"/>
              </a:spcAft>
            </a:pPr>
            <a:r>
              <a:rPr sz="1700">
                <a:solidFill>
                  <a:srgbClr val="222B33"/>
                </a:solidFill>
                <a:latin typeface="Microsoft YaHei"/>
              </a:rPr>
              <a:t>▪ 设施、规程、防护用品一起上</a:t>
            </a:r>
          </a:p>
          <a:p>
            <a:pPr>
              <a:spcAft>
                <a:spcPts val="1000"/>
              </a:spcAft>
            </a:pPr>
            <a:r>
              <a:rPr sz="1700">
                <a:solidFill>
                  <a:srgbClr val="222B33"/>
                </a:solidFill>
                <a:latin typeface="Microsoft YaHei"/>
              </a:rPr>
              <a:t>▪ 安全措施防暴露，安保措施防丢失被盗</a:t>
            </a:r>
          </a:p>
          <a:p>
            <a:pPr>
              <a:spcAft>
                <a:spcPts val="1000"/>
              </a:spcAft>
            </a:pPr>
            <a:r>
              <a:rPr sz="1700">
                <a:solidFill>
                  <a:srgbClr val="222B33"/>
                </a:solidFill>
                <a:latin typeface="Microsoft YaHei"/>
              </a:rPr>
              <a:t>▪ 加完再评估，不可接受就再加</a:t>
            </a:r>
          </a:p>
          <a:p>
            <a:pPr>
              <a:spcAft>
                <a:spcPts val="1000"/>
              </a:spcAft>
            </a:pPr>
            <a:r>
              <a:rPr sz="1700">
                <a:solidFill>
                  <a:srgbClr val="222B33"/>
                </a:solidFill>
                <a:latin typeface="Microsoft YaHei"/>
              </a:rPr>
              <a:t>▪ 风险越高，投入的资金和人力越足</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第二步是风险减缓：按控制层级（消除、替代、工程控制、管理控制、个人防护，见第 017 课）采取措施，把风险降到可接受的程度。设施设备、标准操作规程和个人防护用品要一起上，不能只靠一种。生物安全措施防止人员意外暴露，生……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只靠个人防护，不考虑工程和管理控制</a:t>
            </a:r>
          </a:p>
          <a:p>
            <a:pPr>
              <a:spcAft>
                <a:spcPts val="1000"/>
              </a:spcAft>
            </a:pPr>
            <a:r>
              <a:rPr sz="1500">
                <a:solidFill>
                  <a:srgbClr val="222B33"/>
                </a:solidFill>
                <a:latin typeface="Microsoft YaHei"/>
              </a:rPr>
              <a:t>▪ 加了措施不再评估残余风险</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第三步：绩效评估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看措施执行了没有、管不管用</a:t>
            </a:r>
          </a:p>
          <a:p>
            <a:pPr>
              <a:spcAft>
                <a:spcPts val="1000"/>
              </a:spcAft>
            </a:pPr>
            <a:r>
              <a:rPr sz="2000">
                <a:solidFill>
                  <a:srgbClr val="222B33"/>
                </a:solidFill>
                <a:latin typeface="Microsoft YaHei"/>
              </a:rPr>
              <a:t>▪ 定期检查设备，审核记录</a:t>
            </a:r>
          </a:p>
          <a:p>
            <a:pPr>
              <a:spcAft>
                <a:spcPts val="1000"/>
              </a:spcAft>
            </a:pPr>
            <a:r>
              <a:rPr sz="2000">
                <a:solidFill>
                  <a:srgbClr val="222B33"/>
                </a:solidFill>
                <a:latin typeface="Microsoft YaHei"/>
              </a:rPr>
              <a:t>▪ 组织演练，看大家会不会处置</a:t>
            </a:r>
          </a:p>
          <a:p>
            <a:pPr>
              <a:spcAft>
                <a:spcPts val="1000"/>
              </a:spcAft>
            </a:pPr>
            <a:r>
              <a:rPr sz="2000">
                <a:solidFill>
                  <a:srgbClr val="222B33"/>
                </a:solidFill>
                <a:latin typeface="Microsoft YaHei"/>
              </a:rPr>
              <a:t>▪ 发现问题，回到第一步改进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绩效评估：看控制措施选得对不对、有没有执行、管不管用，设备和防护有没有正常工作。方法包括定期检查，看措施是否真的落实；审核记录，看体系是否按规定运行；组织应急演练，看大家会不会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检查只看文件，不看现场操作</a:t>
            </a:r>
          </a:p>
          <a:p>
            <a:pPr>
              <a:spcAft>
                <a:spcPts val="1000"/>
              </a:spcAft>
            </a:pPr>
            <a:r>
              <a:rPr sz="1500">
                <a:solidFill>
                  <a:srgbClr val="222B33"/>
                </a:solidFill>
                <a:latin typeface="Microsoft YaHei"/>
              </a:rPr>
              <a:t>▪ 发现问题只口头提醒，不记录、不跟踪整改</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一圈圈转：AMP与PDCA循环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管理靠计划、执行、检查、改进循环</a:t>
            </a:r>
          </a:p>
          <a:p>
            <a:pPr>
              <a:spcAft>
                <a:spcPts val="1000"/>
              </a:spcAft>
            </a:pPr>
            <a:r>
              <a:rPr sz="1700">
                <a:solidFill>
                  <a:srgbClr val="222B33"/>
                </a:solidFill>
                <a:latin typeface="Microsoft YaHei"/>
              </a:rPr>
              <a:t>▪ 评估对应计划，减缓对应执行，绩效对应检查改进</a:t>
            </a:r>
          </a:p>
          <a:p>
            <a:pPr>
              <a:spcAft>
                <a:spcPts val="1000"/>
              </a:spcAft>
            </a:pPr>
            <a:r>
              <a:rPr sz="1700">
                <a:solidFill>
                  <a:srgbClr val="222B33"/>
                </a:solidFill>
                <a:latin typeface="Microsoft YaHei"/>
              </a:rPr>
              <a:t>▪ 写下怎么做，就照写的做</a:t>
            </a:r>
          </a:p>
          <a:p>
            <a:pPr>
              <a:spcAft>
                <a:spcPts val="1000"/>
              </a:spcAft>
            </a:pPr>
            <a:r>
              <a:rPr sz="1700">
                <a:solidFill>
                  <a:srgbClr val="222B33"/>
                </a:solidFill>
                <a:latin typeface="Microsoft YaHei"/>
              </a:rPr>
              <a:t>▪ 安全员观察找根源，改进规程再回到评估</a:t>
            </a:r>
          </a:p>
          <a:p>
            <a:pPr>
              <a:spcAft>
                <a:spcPts val="1000"/>
              </a:spcAft>
            </a:pPr>
            <a:r>
              <a:rPr sz="1700">
                <a:solidFill>
                  <a:srgbClr val="222B33"/>
                </a:solidFill>
                <a:latin typeface="Microsoft YaHei"/>
              </a:rPr>
              <a:t>▪ 每转一圈，管理就提高一点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管理实验室靠一个循环：计划、执行、检查、改进（PDCA），周而复始。用到生物风险上，就是 AMP 三步：策划从风险评估开始（识别危害、评估风险、确定怎样管住风险），对应“计划”；减缓对应“执行”；绩效对应“检查”和“……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规程写好后多年不修订</a:t>
            </a:r>
          </a:p>
          <a:p>
            <a:pPr>
              <a:spcAft>
                <a:spcPts val="1000"/>
              </a:spcAft>
            </a:pPr>
            <a:r>
              <a:rPr sz="1500">
                <a:solidFill>
                  <a:srgbClr val="222B33"/>
                </a:solidFill>
                <a:latin typeface="Microsoft YaHei"/>
              </a:rPr>
              <a:t>▪ 实际做法和书面规程两张皮</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体系：一环扣一环的过程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体系是一组相互关联的过程</a:t>
            </a:r>
          </a:p>
          <a:p>
            <a:pPr>
              <a:spcAft>
                <a:spcPts val="1000"/>
              </a:spcAft>
            </a:pPr>
            <a:r>
              <a:rPr sz="1700">
                <a:solidFill>
                  <a:srgbClr val="222B33"/>
                </a:solidFill>
                <a:latin typeface="Microsoft YaHei"/>
              </a:rPr>
              <a:t>▪ 一环出错，整条链都受影响</a:t>
            </a:r>
          </a:p>
          <a:p>
            <a:pPr>
              <a:spcAft>
                <a:spcPts val="1000"/>
              </a:spcAft>
            </a:pPr>
            <a:r>
              <a:rPr sz="1700">
                <a:solidFill>
                  <a:srgbClr val="222B33"/>
                </a:solidFill>
                <a:latin typeface="Microsoft YaHei"/>
              </a:rPr>
              <a:t>▪ 把流程画出来，每步都会产生废物</a:t>
            </a:r>
          </a:p>
          <a:p>
            <a:pPr>
              <a:spcAft>
                <a:spcPts val="1000"/>
              </a:spcAft>
            </a:pPr>
            <a:r>
              <a:rPr sz="1700">
                <a:solidFill>
                  <a:srgbClr val="222B33"/>
                </a:solidFill>
                <a:latin typeface="Microsoft YaHei"/>
              </a:rPr>
              <a:t>▪ 体系各部分缺一不可</a:t>
            </a:r>
          </a:p>
          <a:p>
            <a:pPr>
              <a:spcAft>
                <a:spcPts val="1000"/>
              </a:spcAft>
            </a:pPr>
            <a:r>
              <a:rPr sz="1700">
                <a:solidFill>
                  <a:srgbClr val="222B33"/>
                </a:solidFill>
                <a:latin typeface="Microsoft YaHei"/>
              </a:rPr>
              <a:t>▪ 管体系的人，设施等各环节都要懂一点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只管实验操作环节，不管运输、记录和废物环节</a:t>
            </a:r>
          </a:p>
          <a:p>
            <a:pPr>
              <a:spcAft>
                <a:spcPts val="1000"/>
              </a:spcAft>
            </a:pPr>
            <a:r>
              <a:rPr sz="1500">
                <a:solidFill>
                  <a:srgbClr val="222B33"/>
                </a:solidFill>
                <a:latin typeface="Microsoft YaHei"/>
              </a:rPr>
              <a:t>▪ 各环节各管各的，出了问题互相推诿</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建体系：定义、结构、理解、改进、认清约束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五要素：定义、结构、理解、改进、认清约束</a:t>
            </a:r>
          </a:p>
          <a:p>
            <a:pPr>
              <a:spcAft>
                <a:spcPts val="1000"/>
              </a:spcAft>
            </a:pPr>
            <a:r>
              <a:rPr sz="1700">
                <a:solidFill>
                  <a:srgbClr val="222B33"/>
                </a:solidFill>
                <a:latin typeface="Microsoft YaHei"/>
              </a:rPr>
              <a:t>▪ 先问：做什么实验、要什么仪器、谁来做</a:t>
            </a:r>
          </a:p>
          <a:p>
            <a:pPr>
              <a:spcAft>
                <a:spcPts val="1000"/>
              </a:spcAft>
            </a:pPr>
            <a:r>
              <a:rPr sz="1700">
                <a:solidFill>
                  <a:srgbClr val="222B33"/>
                </a:solidFill>
                <a:latin typeface="Microsoft YaHei"/>
              </a:rPr>
              <a:t>▪ 还牵涉运输、灭活、废物几个环节</a:t>
            </a:r>
          </a:p>
          <a:p>
            <a:pPr>
              <a:spcAft>
                <a:spcPts val="1000"/>
              </a:spcAft>
            </a:pPr>
            <a:r>
              <a:rPr sz="1700">
                <a:solidFill>
                  <a:srgbClr val="222B33"/>
                </a:solidFill>
                <a:latin typeface="Microsoft YaHei"/>
              </a:rPr>
              <a:t>▪ 人有极限，疲劳最易出事，分工要均衡</a:t>
            </a:r>
          </a:p>
          <a:p>
            <a:pPr>
              <a:spcAft>
                <a:spcPts val="1000"/>
              </a:spcAft>
            </a:pPr>
            <a:r>
              <a:rPr sz="1700">
                <a:solidFill>
                  <a:srgbClr val="222B33"/>
                </a:solidFill>
                <a:latin typeface="Microsoft YaHei"/>
              </a:rPr>
              <a:t>▪ 没有完美的体系，钱和人事先认清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体系有五个要素。第一，定义：定目标、划过程，这个实验室做什么，范围到哪。建实验室之前先问几个问题：做哪些实验？要什么仪器和规程？工作怎么安排、谁做什么？牵涉运输、灭活、废物哪些环节？怎样更安全、更高效？有哪些限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人手不足时长时间连续加班做高风险操作</a:t>
            </a:r>
          </a:p>
          <a:p>
            <a:pPr>
              <a:spcAft>
                <a:spcPts val="1000"/>
              </a:spcAft>
            </a:pPr>
            <a:r>
              <a:rPr sz="1500">
                <a:solidFill>
                  <a:srgbClr val="222B33"/>
                </a:solidFill>
                <a:latin typeface="Microsoft YaHei"/>
              </a:rPr>
              <a:t>▪ 不考虑经费和人员条件，计划定得做不到</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方针与领导承诺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一切从一份方针开始</a:t>
            </a:r>
          </a:p>
          <a:p>
            <a:pPr>
              <a:spcAft>
                <a:spcPts val="1000"/>
              </a:spcAft>
            </a:pPr>
            <a:r>
              <a:rPr sz="2000">
                <a:solidFill>
                  <a:srgbClr val="222B33"/>
                </a:solidFill>
                <a:latin typeface="Microsoft YaHei"/>
              </a:rPr>
              <a:t>▪ 方针写明：承诺安全、遵守法规、持续改进</a:t>
            </a:r>
          </a:p>
          <a:p>
            <a:pPr>
              <a:spcAft>
                <a:spcPts val="1000"/>
              </a:spcAft>
            </a:pPr>
            <a:r>
              <a:rPr sz="2000">
                <a:solidFill>
                  <a:srgbClr val="222B33"/>
                </a:solidFill>
                <a:latin typeface="Microsoft YaHei"/>
              </a:rPr>
              <a:t>▪ 领导承诺是体系成功的地基</a:t>
            </a:r>
          </a:p>
          <a:p>
            <a:pPr>
              <a:spcAft>
                <a:spcPts val="1000"/>
              </a:spcAft>
            </a:pPr>
            <a:r>
              <a:rPr sz="2000">
                <a:solidFill>
                  <a:srgbClr val="222B33"/>
                </a:solidFill>
                <a:latin typeface="Microsoft YaHei"/>
              </a:rPr>
              <a:t>▪ 负责人认领方针，给足资源，安全优先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体系一切从一份生物安全方针开始。方针写明单位的承诺：把安全放进主业，遵守国家法律法规和标准，持续改进。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方针照抄模板，与本单位实际无关</a:t>
            </a:r>
          </a:p>
          <a:p>
            <a:pPr>
              <a:spcAft>
                <a:spcPts val="1000"/>
              </a:spcAft>
            </a:pPr>
            <a:r>
              <a:rPr sz="1500">
                <a:solidFill>
                  <a:srgbClr val="222B33"/>
                </a:solidFill>
                <a:latin typeface="Microsoft YaHei"/>
              </a:rPr>
              <a:t>▪ 有方针无资源，安全经费和人员落实不了</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人人知晓，融入安全文化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方针讲给每个人，保洁清运人员也不例外</a:t>
            </a:r>
          </a:p>
          <a:p>
            <a:pPr>
              <a:spcAft>
                <a:spcPts val="1000"/>
              </a:spcAft>
            </a:pPr>
            <a:r>
              <a:rPr sz="2000">
                <a:solidFill>
                  <a:srgbClr val="222B33"/>
                </a:solidFill>
                <a:latin typeface="Microsoft YaHei"/>
              </a:rPr>
              <a:t>▪ 生物安全和生物安保一起管</a:t>
            </a:r>
          </a:p>
          <a:p>
            <a:pPr>
              <a:spcAft>
                <a:spcPts val="1000"/>
              </a:spcAft>
            </a:pPr>
            <a:r>
              <a:rPr sz="2000">
                <a:solidFill>
                  <a:srgbClr val="222B33"/>
                </a:solidFill>
                <a:latin typeface="Microsoft YaHei"/>
              </a:rPr>
              <a:t>▪ 负责人带头，规矩才立得住</a:t>
            </a:r>
          </a:p>
          <a:p>
            <a:pPr>
              <a:spcAft>
                <a:spcPts val="1000"/>
              </a:spcAft>
            </a:pPr>
            <a:r>
              <a:rPr sz="2000">
                <a:solidFill>
                  <a:srgbClr val="222B33"/>
                </a:solidFill>
                <a:latin typeface="Microsoft YaHei"/>
              </a:rPr>
              <a:t>▪ 每个人都可以提问题、提建议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方针要讲给每一个人听，包括保洁、清运、维修等进入实验室的人员；生物安全和生物安保一起管，最终变成每个人的习惯（安全文化见第 010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培训只覆盖学生，忽视保洁、维修等外来人员</a:t>
            </a:r>
          </a:p>
          <a:p>
            <a:pPr>
              <a:spcAft>
                <a:spcPts val="1000"/>
              </a:spcAft>
            </a:pPr>
            <a:r>
              <a:rPr sz="1500">
                <a:solidFill>
                  <a:srgbClr val="222B33"/>
                </a:solidFill>
                <a:latin typeface="Microsoft YaHei"/>
              </a:rPr>
              <a:t>▪ 负责人自己不遵守规定</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实施与运行：落到日常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搭架构、分职责、用合格的人、抓培训、讲到位</a:t>
            </a:r>
          </a:p>
          <a:p>
            <a:pPr>
              <a:spcAft>
                <a:spcPts val="1000"/>
              </a:spcAft>
            </a:pPr>
            <a:r>
              <a:rPr sz="2000">
                <a:solidFill>
                  <a:srgbClr val="222B33"/>
                </a:solidFill>
                <a:latin typeface="Microsoft YaHei"/>
              </a:rPr>
              <a:t>▪ 日常运行要管好八个方面</a:t>
            </a:r>
          </a:p>
          <a:p>
            <a:pPr>
              <a:spcAft>
                <a:spcPts val="1000"/>
              </a:spcAft>
            </a:pPr>
            <a:r>
              <a:rPr sz="2000">
                <a:solidFill>
                  <a:srgbClr val="222B33"/>
                </a:solidFill>
                <a:latin typeface="Microsoft YaHei"/>
              </a:rPr>
              <a:t>▪ 电气、化学等一般安全也在其中</a:t>
            </a:r>
          </a:p>
          <a:p>
            <a:pPr>
              <a:spcAft>
                <a:spcPts val="1000"/>
              </a:spcAft>
            </a:pPr>
            <a:r>
              <a:rPr sz="2000">
                <a:solidFill>
                  <a:srgbClr val="222B33"/>
                </a:solidFill>
                <a:latin typeface="Microsoft YaHei"/>
              </a:rPr>
              <a:t>▪ 结合本单位实际，制定具体程序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计划落地要做五件事：搭建组织架构，分配职责，任命合格的人员，抓好培训，把方针和做法讲到位。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直接套用其他单位的程序文件，不结合本实验室实际</a:t>
            </a:r>
          </a:p>
          <a:p>
            <a:pPr>
              <a:spcAft>
                <a:spcPts val="1000"/>
              </a:spcAft>
            </a:pPr>
            <a:r>
              <a:rPr sz="1500">
                <a:solidFill>
                  <a:srgbClr val="222B33"/>
                </a:solidFill>
                <a:latin typeface="Microsoft YaHei"/>
              </a:rPr>
              <a:t>▪ 只管生物危害，忽视同一实验室的电气和化学安全</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查根因、做纠正、持续改进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事故事件说明规程有缺口，趁小补上</a:t>
            </a:r>
          </a:p>
          <a:p>
            <a:pPr>
              <a:spcAft>
                <a:spcPts val="1000"/>
              </a:spcAft>
            </a:pPr>
            <a:r>
              <a:rPr sz="1700">
                <a:solidFill>
                  <a:srgbClr val="222B33"/>
                </a:solidFill>
                <a:latin typeface="Microsoft YaHei"/>
              </a:rPr>
              <a:t>▪ 查到根本原因，采取纠正措施</a:t>
            </a:r>
          </a:p>
          <a:p>
            <a:pPr>
              <a:spcAft>
                <a:spcPts val="1000"/>
              </a:spcAft>
            </a:pPr>
            <a:r>
              <a:rPr sz="1700">
                <a:solidFill>
                  <a:srgbClr val="222B33"/>
                </a:solidFill>
                <a:latin typeface="Microsoft YaHei"/>
              </a:rPr>
              <a:t>▪ 定期修订规程，新版发布，旧版收回</a:t>
            </a:r>
          </a:p>
          <a:p>
            <a:pPr>
              <a:spcAft>
                <a:spcPts val="1000"/>
              </a:spcAft>
            </a:pPr>
            <a:r>
              <a:rPr sz="1700">
                <a:solidFill>
                  <a:srgbClr val="222B33"/>
                </a:solidFill>
                <a:latin typeface="Microsoft YaHei"/>
              </a:rPr>
              <a:t>▪ 人人主人翁，预防在先，持续培训</a:t>
            </a:r>
          </a:p>
          <a:p>
            <a:pPr>
              <a:spcAft>
                <a:spcPts val="1000"/>
              </a:spcAft>
            </a:pPr>
            <a:r>
              <a:rPr sz="1700">
                <a:solidFill>
                  <a:srgbClr val="222B33"/>
                </a:solidFill>
                <a:latin typeface="Microsoft YaHei"/>
              </a:rPr>
              <a:t>▪ 定改进目标，也表扬做得好的人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运行中出了事故或事件（包括未遂事件），说明规程有漏洞，要趁小补上。出了问题要查到根本原因，采取纠正措施，同时寻找改进的机会（事故调查与根本原因分析见第 162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出了事只追究个人，不查流程和管理上的原因</a:t>
            </a:r>
          </a:p>
          <a:p>
            <a:pPr>
              <a:spcAft>
                <a:spcPts val="1000"/>
              </a:spcAft>
            </a:pPr>
            <a:r>
              <a:rPr sz="1500">
                <a:solidFill>
                  <a:srgbClr val="222B33"/>
                </a:solidFill>
                <a:latin typeface="Microsoft YaHei"/>
              </a:rPr>
              <a:t>▪ 规程修订后旧版仍留在现场</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生物风险管理计划：范围与目标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一份完整的计划有九块内容</a:t>
            </a:r>
          </a:p>
          <a:p>
            <a:pPr>
              <a:spcAft>
                <a:spcPts val="1000"/>
              </a:spcAft>
            </a:pPr>
            <a:r>
              <a:rPr sz="2000">
                <a:solidFill>
                  <a:srgbClr val="222B33"/>
                </a:solidFill>
                <a:latin typeface="Microsoft YaHei"/>
              </a:rPr>
              <a:t>▪ 先摸清家底，列出危险源清单并随时更新</a:t>
            </a:r>
          </a:p>
          <a:p>
            <a:pPr>
              <a:spcAft>
                <a:spcPts val="1000"/>
              </a:spcAft>
            </a:pPr>
            <a:r>
              <a:rPr sz="2000">
                <a:solidFill>
                  <a:srgbClr val="222B33"/>
                </a:solidFill>
                <a:latin typeface="Microsoft YaHei"/>
              </a:rPr>
              <a:t>▪ 范围：管哪些房间、用哪些微生物、做哪些实验</a:t>
            </a:r>
          </a:p>
          <a:p>
            <a:pPr>
              <a:spcAft>
                <a:spcPts val="1000"/>
              </a:spcAft>
            </a:pPr>
            <a:r>
              <a:rPr sz="2000">
                <a:solidFill>
                  <a:srgbClr val="222B33"/>
                </a:solidFill>
                <a:latin typeface="Microsoft YaHei"/>
              </a:rPr>
              <a:t>▪ 目标要具体、能检查，写成文件可追溯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生物风险管理计划（安全计划）是把体系落到本实验室的成文安排，可以按九块内容组织：范围与目标、角色与职责、风险评估程序、标准操作规程、培训与能力、事件响应与报告、维护与检查、文件与记录、评审与审核。GB 194……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计划里的范围和实际使用的病原、房间对不上</a:t>
            </a:r>
          </a:p>
          <a:p>
            <a:pPr>
              <a:spcAft>
                <a:spcPts val="1000"/>
              </a:spcAft>
            </a:pPr>
            <a:r>
              <a:rPr sz="1500">
                <a:solidFill>
                  <a:srgbClr val="222B33"/>
                </a:solidFill>
                <a:latin typeface="Microsoft YaHei"/>
              </a:rPr>
              <a:t>▪ 目标写成“确保安全”之类无法检查的空话</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计划：角色与职责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安全员负责日常检查和提醒</a:t>
            </a:r>
          </a:p>
          <a:p>
            <a:pPr>
              <a:spcAft>
                <a:spcPts val="1000"/>
              </a:spcAft>
            </a:pPr>
            <a:r>
              <a:rPr sz="2000">
                <a:solidFill>
                  <a:srgbClr val="222B33"/>
                </a:solidFill>
                <a:latin typeface="Microsoft YaHei"/>
              </a:rPr>
              <a:t>▪ 每个实验人员按规程做好自己</a:t>
            </a:r>
          </a:p>
          <a:p>
            <a:pPr>
              <a:spcAft>
                <a:spcPts val="1000"/>
              </a:spcAft>
            </a:pPr>
            <a:r>
              <a:rPr sz="2000">
                <a:solidFill>
                  <a:srgbClr val="222B33"/>
                </a:solidFill>
                <a:latin typeface="Microsoft YaHei"/>
              </a:rPr>
              <a:t>▪ 计划经学院审核、学校存档，人人学习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第二块是角色与职责：实验室负责人是第一责任人；实验室安全员负责日常检查和提醒；每个实验人员按规程做好自己的工作；学校管理部门和设施保障部门的职责也要写明。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职责写得笼统，出了问题找不到具体负责人</a:t>
            </a:r>
          </a:p>
          <a:p>
            <a:pPr>
              <a:spcAft>
                <a:spcPts val="1000"/>
              </a:spcAft>
            </a:pPr>
            <a:r>
              <a:rPr sz="1500">
                <a:solidFill>
                  <a:srgbClr val="222B33"/>
                </a:solidFill>
                <a:latin typeface="Microsoft YaHei"/>
              </a:rPr>
              <a:t>▪ 计划只存在负责人电脑里，组内无人知晓</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计划：风险评估程序与标准操作规程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写清评估谁来做、用什么方法</a:t>
            </a:r>
          </a:p>
          <a:p>
            <a:pPr>
              <a:spcAft>
                <a:spcPts val="1000"/>
              </a:spcAft>
            </a:pPr>
            <a:r>
              <a:rPr sz="2000">
                <a:solidFill>
                  <a:srgbClr val="222B33"/>
                </a:solidFill>
                <a:latin typeface="Microsoft YaHei"/>
              </a:rPr>
              <a:t>▪ 先识别危害，再判断风险高低</a:t>
            </a:r>
          </a:p>
          <a:p>
            <a:pPr>
              <a:spcAft>
                <a:spcPts val="1000"/>
              </a:spcAft>
            </a:pPr>
            <a:r>
              <a:rPr sz="2000">
                <a:solidFill>
                  <a:srgbClr val="222B33"/>
                </a:solidFill>
                <a:latin typeface="Microsoft YaHei"/>
              </a:rPr>
              <a:t>▪ 定期评估，有变化时重新评估</a:t>
            </a:r>
          </a:p>
          <a:p>
            <a:pPr>
              <a:spcAft>
                <a:spcPts val="1000"/>
              </a:spcAft>
            </a:pPr>
            <a:r>
              <a:rPr sz="2000">
                <a:solidFill>
                  <a:srgbClr val="222B33"/>
                </a:solidFill>
                <a:latin typeface="Microsoft YaHei"/>
              </a:rPr>
              <a:t>▪ 关键操作和设备各有一份规程，不凭记忆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第三块是风险评估程序：先识别危害，再判断风险高低；写清谁来评估、用什么方法、结果谁审核；定期评估，人员、病原、操作或设施有变化时重新评估（见第 067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新增病原或操作后不重新评估</a:t>
            </a:r>
          </a:p>
          <a:p>
            <a:pPr>
              <a:spcAft>
                <a:spcPts val="1000"/>
              </a:spcAft>
            </a:pPr>
            <a:r>
              <a:rPr sz="1500">
                <a:solidFill>
                  <a:srgbClr val="222B33"/>
                </a:solidFill>
                <a:latin typeface="Microsoft YaHei"/>
              </a:rPr>
              <a:t>▪ 凭记忆操作，规程放在柜子里没人看</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计划：培训与能力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培训后要考核，会做才算数</a:t>
            </a:r>
          </a:p>
          <a:p>
            <a:pPr>
              <a:spcAft>
                <a:spcPts val="1000"/>
              </a:spcAft>
            </a:pPr>
            <a:r>
              <a:rPr sz="2000">
                <a:solidFill>
                  <a:srgbClr val="222B33"/>
                </a:solidFill>
                <a:latin typeface="Microsoft YaHei"/>
              </a:rPr>
              <a:t>▪ 能力表上谁会做什么一目了然</a:t>
            </a:r>
          </a:p>
          <a:p>
            <a:pPr>
              <a:spcAft>
                <a:spcPts val="1000"/>
              </a:spcAft>
            </a:pPr>
            <a:r>
              <a:rPr sz="2000">
                <a:solidFill>
                  <a:srgbClr val="222B33"/>
                </a:solidFill>
                <a:latin typeface="Microsoft YaHei"/>
              </a:rPr>
              <a:t>▪ 培训不是一次了事，定期复训</a:t>
            </a:r>
          </a:p>
          <a:p>
            <a:pPr>
              <a:spcAft>
                <a:spcPts val="1000"/>
              </a:spcAft>
            </a:pPr>
            <a:r>
              <a:rPr sz="2000">
                <a:solidFill>
                  <a:srgbClr val="222B33"/>
                </a:solidFill>
                <a:latin typeface="Microsoft YaHei"/>
              </a:rPr>
              <a:t>▪ 每一步都有专人，各学各的规程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第五块是培训与能力：培训内容包括安全操作、应急程序，也包括科研伦理和生物安保意识。培训后要考核，确认真的会做才算有能力；用能力表记录谁会做什么、谁被授权做什么，一目了然。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只听课不考核，未经能力确认就独立操作</a:t>
            </a:r>
          </a:p>
          <a:p>
            <a:pPr>
              <a:spcAft>
                <a:spcPts val="1000"/>
              </a:spcAft>
            </a:pPr>
            <a:r>
              <a:rPr sz="1500">
                <a:solidFill>
                  <a:srgbClr val="222B33"/>
                </a:solidFill>
                <a:latin typeface="Microsoft YaHei"/>
              </a:rPr>
              <a:t>▪ 新换岗位的人员不学新岗位的规程</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计划：事件响应、维护与检查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溢洒、暴露等事件先按预案处置</a:t>
            </a:r>
          </a:p>
          <a:p>
            <a:pPr>
              <a:spcAft>
                <a:spcPts val="1000"/>
              </a:spcAft>
            </a:pPr>
            <a:r>
              <a:rPr sz="2000">
                <a:solidFill>
                  <a:srgbClr val="222B33"/>
                </a:solidFill>
                <a:latin typeface="Microsoft YaHei"/>
              </a:rPr>
              <a:t>▪ 逐级报告，不隐瞒不拖延</a:t>
            </a:r>
          </a:p>
          <a:p>
            <a:pPr>
              <a:spcAft>
                <a:spcPts val="1000"/>
              </a:spcAft>
            </a:pPr>
            <a:r>
              <a:rPr sz="2000">
                <a:solidFill>
                  <a:srgbClr val="222B33"/>
                </a:solidFill>
                <a:latin typeface="Microsoft YaHei"/>
              </a:rPr>
              <a:t>▪ 应急联系电话写进计划、贴上墙</a:t>
            </a:r>
          </a:p>
          <a:p>
            <a:pPr>
              <a:spcAft>
                <a:spcPts val="1000"/>
              </a:spcAft>
            </a:pPr>
            <a:r>
              <a:rPr sz="2000">
                <a:solidFill>
                  <a:srgbClr val="222B33"/>
                </a:solidFill>
                <a:latin typeface="Microsoft YaHei"/>
              </a:rPr>
              <a:t>▪ 维护检查写成日程，检定合格贴标签，过期停用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第六块是事件响应与报告：不管是意外事故还是安保事件，都要有渠道及时发现、报告和处理。发生溢洒、暴露，先按应急预案处置（见第 078 课），再按实验室负责人、学院、学校主管部门逐级报告，不隐瞒、不拖延；应急联系电话写进……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小的暴露事件怕麻烦不报告</a:t>
            </a:r>
          </a:p>
          <a:p>
            <a:pPr>
              <a:spcAft>
                <a:spcPts val="1000"/>
              </a:spcAft>
            </a:pPr>
            <a:r>
              <a:rPr sz="1500">
                <a:solidFill>
                  <a:srgbClr val="222B33"/>
                </a:solidFill>
                <a:latin typeface="Microsoft YaHei"/>
              </a:rPr>
              <a:t>▪ 设备维护检查没有日程，坏了才修</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计划：文件记录与评审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文件要有版本，旧版及时收回</a:t>
            </a:r>
          </a:p>
          <a:p>
            <a:pPr>
              <a:spcAft>
                <a:spcPts val="1000"/>
              </a:spcAft>
            </a:pPr>
            <a:r>
              <a:rPr sz="2000">
                <a:solidFill>
                  <a:srgbClr val="222B33"/>
                </a:solidFill>
                <a:latin typeface="Microsoft YaHei"/>
              </a:rPr>
              <a:t>▪ 培训、检查、事件、库存都要留记录</a:t>
            </a:r>
          </a:p>
          <a:p>
            <a:pPr>
              <a:spcAft>
                <a:spcPts val="1000"/>
              </a:spcAft>
            </a:pPr>
            <a:r>
              <a:rPr sz="2000">
                <a:solidFill>
                  <a:srgbClr val="222B33"/>
                </a:solidFill>
                <a:latin typeface="Microsoft YaHei"/>
              </a:rPr>
              <a:t>▪ 记录及时、真实、受控、可追溯</a:t>
            </a:r>
          </a:p>
          <a:p>
            <a:pPr>
              <a:spcAft>
                <a:spcPts val="1000"/>
              </a:spcAft>
            </a:pPr>
            <a:r>
              <a:rPr sz="2000">
                <a:solidFill>
                  <a:srgbClr val="222B33"/>
                </a:solidFill>
                <a:latin typeface="Microsoft YaHei"/>
              </a:rPr>
              <a:t>▪ 定期评审，发现问题就改，计划随之更新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第八块是文件与记录：文件要有版本号，旧版及时收回。每项生物安全工作都要有记录，包括培训、检查、事件、库存和规程执行；记录要及时、真实、受控、可追溯，问题才查得出来。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事后补记录、编记录</a:t>
            </a:r>
          </a:p>
          <a:p>
            <a:pPr>
              <a:spcAft>
                <a:spcPts val="1000"/>
              </a:spcAft>
            </a:pPr>
            <a:r>
              <a:rPr sz="1500">
                <a:solidFill>
                  <a:srgbClr val="222B33"/>
                </a:solidFill>
                <a:latin typeface="Microsoft YaHei"/>
              </a:rPr>
              <a:t>▪ 计划制定后从不评审更新</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体系文件分四层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第一层管理手册：定方针和职责</a:t>
            </a:r>
          </a:p>
          <a:p>
            <a:pPr>
              <a:spcAft>
                <a:spcPts val="1000"/>
              </a:spcAft>
            </a:pPr>
            <a:r>
              <a:rPr sz="2000">
                <a:solidFill>
                  <a:srgbClr val="222B33"/>
                </a:solidFill>
                <a:latin typeface="Microsoft YaHei"/>
              </a:rPr>
              <a:t>▪ 第二层程序文件：管体系怎么运转</a:t>
            </a:r>
          </a:p>
          <a:p>
            <a:pPr>
              <a:spcAft>
                <a:spcPts val="1000"/>
              </a:spcAft>
            </a:pPr>
            <a:r>
              <a:rPr sz="2000">
                <a:solidFill>
                  <a:srgbClr val="222B33"/>
                </a:solidFill>
                <a:latin typeface="Microsoft YaHei"/>
              </a:rPr>
              <a:t>▪ 第三层操作规程：教你具体怎么做</a:t>
            </a:r>
          </a:p>
          <a:p>
            <a:pPr>
              <a:spcAft>
                <a:spcPts val="1000"/>
              </a:spcAft>
            </a:pPr>
            <a:r>
              <a:rPr sz="2000">
                <a:solidFill>
                  <a:srgbClr val="222B33"/>
                </a:solidFill>
                <a:latin typeface="Microsoft YaHei"/>
              </a:rPr>
              <a:t>▪ 第四层记录：证明已经做到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体系的各部分都要写成文件，一般分四层：管理手册规定方针、目标、组织和职责；程序文件规定各项管理活动怎么运转；标准操作规程（作业指导书）教你每项操作具体怎么做；记录证明确实做到了。GB 19489-2008 对管理体系……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手册、程序、规程内容相互矛盾</a:t>
            </a:r>
          </a:p>
          <a:p>
            <a:pPr>
              <a:spcAft>
                <a:spcPts val="1000"/>
              </a:spcAft>
            </a:pPr>
            <a:r>
              <a:rPr sz="1500">
                <a:solidFill>
                  <a:srgbClr val="222B33"/>
                </a:solidFill>
                <a:latin typeface="Microsoft YaHei"/>
              </a:rPr>
              <a:t>▪ 只有文件，没有记录证明执行</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AMP 模型三步依次是：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申请、批准、实施</a:t>
            </a:r>
          </a:p>
          <a:p>
            <a:pPr algn="l"/>
            <a:r>
              <a:rPr sz="1500" b="0">
                <a:solidFill>
                  <a:srgbClr val="222B33"/>
                </a:solidFill>
                <a:latin typeface="Microsoft YaHei"/>
              </a:rPr>
              <a:t>B. 评估、减缓、绩效</a:t>
            </a:r>
          </a:p>
          <a:p>
            <a:pPr algn="l"/>
            <a:r>
              <a:rPr sz="1500" b="0">
                <a:solidFill>
                  <a:srgbClr val="222B33"/>
                </a:solidFill>
                <a:latin typeface="Microsoft YaHei"/>
              </a:rPr>
              <a:t>C. 计划、采购、验收</a:t>
            </a:r>
          </a:p>
          <a:p>
            <a:pPr algn="l"/>
            <a:r>
              <a:rPr sz="1500" b="0">
                <a:solidFill>
                  <a:srgbClr val="222B33"/>
                </a:solidFill>
                <a:latin typeface="Microsoft YaHei"/>
              </a:rPr>
              <a:t>D. 培训、考核、上岗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判断：生物风险管理只包括防止实验室感染，样本丢失被盗属于保卫部门的事，与实验室无关。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 AMP 与 PDCA 的关系，正确的是：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两者毫无关系</a:t>
            </a:r>
          </a:p>
          <a:p>
            <a:pPr algn="l"/>
            <a:r>
              <a:rPr sz="1500" b="0">
                <a:solidFill>
                  <a:srgbClr val="222B33"/>
                </a:solidFill>
                <a:latin typeface="Microsoft YaHei"/>
              </a:rPr>
              <a:t>B. 评估对应计划，减缓对应执行，绩效对应检查和改进，一圈圈循环</a:t>
            </a:r>
          </a:p>
          <a:p>
            <a:pPr algn="l"/>
            <a:r>
              <a:rPr sz="1500" b="0">
                <a:solidFill>
                  <a:srgbClr val="222B33"/>
                </a:solidFill>
                <a:latin typeface="Microsoft YaHei"/>
              </a:rPr>
              <a:t>C. 做完一次就结束</a:t>
            </a:r>
          </a:p>
          <a:p>
            <a:pPr algn="l"/>
            <a:r>
              <a:rPr sz="1500" b="0">
                <a:solidFill>
                  <a:srgbClr val="222B33"/>
                </a:solidFill>
                <a:latin typeface="Microsoft YaHei"/>
              </a:rPr>
              <a:t>D. 只需要绩效，不需要评估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体系文件四层从上到下依次是：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记录、规程、程序文件、手册</a:t>
            </a:r>
          </a:p>
          <a:p>
            <a:pPr algn="l"/>
            <a:r>
              <a:rPr sz="1500" b="0">
                <a:solidFill>
                  <a:srgbClr val="222B33"/>
                </a:solidFill>
                <a:latin typeface="Microsoft YaHei"/>
              </a:rPr>
              <a:t>B. 管理手册、程序文件、操作规程、记录</a:t>
            </a:r>
          </a:p>
          <a:p>
            <a:pPr algn="l"/>
            <a:r>
              <a:rPr sz="1500" b="0">
                <a:solidFill>
                  <a:srgbClr val="222B33"/>
                </a:solidFill>
                <a:latin typeface="Microsoft YaHei"/>
              </a:rPr>
              <a:t>C. 规程、手册、记录、程序文件</a:t>
            </a:r>
          </a:p>
          <a:p>
            <a:pPr algn="l"/>
            <a:r>
              <a:rPr sz="1500" b="0">
                <a:solidFill>
                  <a:srgbClr val="222B33"/>
                </a:solidFill>
                <a:latin typeface="Microsoft YaHei"/>
              </a:rPr>
              <a:t>D. 只有操作规程一层</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判断：生物风险管理计划写好后只需负责人保存，组内成员不必学习。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简答：一份实验室生物风险管理计划通常包括哪些内容？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生物风险管理：生物安全加生物安保</a:t>
            </a:r>
          </a:p>
          <a:p>
            <a:pPr>
              <a:spcAft>
                <a:spcPts val="800"/>
              </a:spcAft>
            </a:pPr>
            <a:r>
              <a:rPr sz="1500">
                <a:solidFill>
                  <a:srgbClr val="FFFFFF"/>
                </a:solidFill>
                <a:latin typeface="Microsoft YaHei"/>
              </a:rPr>
              <a:t>▪ K2  为什么要管：保护人员、公众和环境</a:t>
            </a:r>
          </a:p>
          <a:p>
            <a:pPr>
              <a:spcAft>
                <a:spcPts val="800"/>
              </a:spcAft>
            </a:pPr>
            <a:r>
              <a:rPr sz="1500">
                <a:solidFill>
                  <a:srgbClr val="FFFFFF"/>
                </a:solidFill>
                <a:latin typeface="Microsoft YaHei"/>
              </a:rPr>
              <a:t>▪ S1  国内要求：设立单位负责，体系化管理</a:t>
            </a:r>
          </a:p>
          <a:p>
            <a:pPr>
              <a:spcAft>
                <a:spcPts val="800"/>
              </a:spcAft>
            </a:pPr>
            <a:r>
              <a:rPr sz="1500">
                <a:solidFill>
                  <a:srgbClr val="FFFFFF"/>
                </a:solidFill>
                <a:latin typeface="Microsoft YaHei"/>
              </a:rPr>
              <a:t>▪ K3  AMP模型：评估、减缓、绩效</a:t>
            </a:r>
          </a:p>
          <a:p>
            <a:pPr>
              <a:spcAft>
                <a:spcPts val="800"/>
              </a:spcAft>
            </a:pPr>
            <a:r>
              <a:rPr sz="1500">
                <a:solidFill>
                  <a:srgbClr val="FFFFFF"/>
                </a:solidFill>
                <a:latin typeface="Microsoft YaHei"/>
              </a:rPr>
              <a:t>▪ K4  第一步：风险评估</a:t>
            </a:r>
          </a:p>
          <a:p>
            <a:pPr>
              <a:spcAft>
                <a:spcPts val="800"/>
              </a:spcAft>
            </a:pPr>
            <a:r>
              <a:rPr sz="1500">
                <a:solidFill>
                  <a:srgbClr val="FFFFFF"/>
                </a:solidFill>
                <a:latin typeface="Microsoft YaHei"/>
              </a:rPr>
              <a:t>▪ K5  第二步：风险减缓</a:t>
            </a:r>
          </a:p>
          <a:p>
            <a:pPr>
              <a:spcAft>
                <a:spcPts val="800"/>
              </a:spcAft>
            </a:pPr>
            <a:r>
              <a:rPr sz="1500">
                <a:solidFill>
                  <a:srgbClr val="FFFFFF"/>
                </a:solidFill>
                <a:latin typeface="Microsoft YaHei"/>
              </a:rPr>
              <a:t>▪ K6  第三步：绩效评估</a:t>
            </a:r>
          </a:p>
          <a:p>
            <a:pPr>
              <a:spcAft>
                <a:spcPts val="800"/>
              </a:spcAft>
            </a:pPr>
            <a:r>
              <a:rPr sz="1500">
                <a:solidFill>
                  <a:srgbClr val="FFFFFF"/>
                </a:solidFill>
                <a:latin typeface="Microsoft YaHei"/>
              </a:rPr>
              <a:t>▪ K7  一圈圈转：AMP与PDCA循环</a:t>
            </a:r>
          </a:p>
          <a:p>
            <a:pPr>
              <a:spcAft>
                <a:spcPts val="800"/>
              </a:spcAft>
            </a:pPr>
            <a:r>
              <a:rPr sz="1500">
                <a:solidFill>
                  <a:srgbClr val="FFFFFF"/>
                </a:solidFill>
                <a:latin typeface="Microsoft YaHei"/>
              </a:rPr>
              <a:t>▪ K8  体系：一环扣一环的过程</a:t>
            </a:r>
          </a:p>
          <a:p>
            <a:pPr>
              <a:spcAft>
                <a:spcPts val="800"/>
              </a:spcAft>
            </a:pPr>
            <a:r>
              <a:rPr sz="1500">
                <a:solidFill>
                  <a:srgbClr val="FFFFFF"/>
                </a:solidFill>
                <a:latin typeface="Microsoft YaHei"/>
              </a:rPr>
              <a:t>▪ K9  建体系：定义、结构、理解、改进、认清约束</a:t>
            </a:r>
          </a:p>
          <a:p>
            <a:pPr>
              <a:spcAft>
                <a:spcPts val="800"/>
              </a:spcAft>
            </a:pPr>
            <a:r>
              <a:rPr sz="1500">
                <a:solidFill>
                  <a:srgbClr val="FFFFFF"/>
                </a:solidFill>
                <a:latin typeface="Microsoft YaHei"/>
              </a:rPr>
              <a:t>▪ K10  方针与领导承诺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人人知晓，融入安全文化</a:t>
            </a:r>
          </a:p>
          <a:p>
            <a:pPr>
              <a:spcAft>
                <a:spcPts val="800"/>
              </a:spcAft>
            </a:pPr>
            <a:r>
              <a:rPr sz="1500">
                <a:solidFill>
                  <a:srgbClr val="FFFFFF"/>
                </a:solidFill>
                <a:latin typeface="Microsoft YaHei"/>
              </a:rPr>
              <a:t>▪ K12  实施与运行：落到日常</a:t>
            </a:r>
          </a:p>
          <a:p>
            <a:pPr>
              <a:spcAft>
                <a:spcPts val="800"/>
              </a:spcAft>
            </a:pPr>
            <a:r>
              <a:rPr sz="1500">
                <a:solidFill>
                  <a:srgbClr val="FFFFFF"/>
                </a:solidFill>
                <a:latin typeface="Microsoft YaHei"/>
              </a:rPr>
              <a:t>▪ K13  查根因、做纠正、持续改进</a:t>
            </a:r>
          </a:p>
          <a:p>
            <a:pPr>
              <a:spcAft>
                <a:spcPts val="800"/>
              </a:spcAft>
            </a:pPr>
            <a:r>
              <a:rPr sz="1500">
                <a:solidFill>
                  <a:srgbClr val="FFFFFF"/>
                </a:solidFill>
                <a:latin typeface="Microsoft YaHei"/>
              </a:rPr>
              <a:t>▪ K14  生物风险管理计划：范围与目标</a:t>
            </a:r>
          </a:p>
          <a:p>
            <a:pPr>
              <a:spcAft>
                <a:spcPts val="800"/>
              </a:spcAft>
            </a:pPr>
            <a:r>
              <a:rPr sz="1500">
                <a:solidFill>
                  <a:srgbClr val="FFFFFF"/>
                </a:solidFill>
                <a:latin typeface="Microsoft YaHei"/>
              </a:rPr>
              <a:t>▪ K15  计划：角色与职责</a:t>
            </a:r>
          </a:p>
          <a:p>
            <a:pPr>
              <a:spcAft>
                <a:spcPts val="800"/>
              </a:spcAft>
            </a:pPr>
            <a:r>
              <a:rPr sz="1500">
                <a:solidFill>
                  <a:srgbClr val="FFFFFF"/>
                </a:solidFill>
                <a:latin typeface="Microsoft YaHei"/>
              </a:rPr>
              <a:t>▪ K16  计划：风险评估程序与标准操作规程</a:t>
            </a:r>
          </a:p>
          <a:p>
            <a:pPr>
              <a:spcAft>
                <a:spcPts val="800"/>
              </a:spcAft>
            </a:pPr>
            <a:r>
              <a:rPr sz="1500">
                <a:solidFill>
                  <a:srgbClr val="FFFFFF"/>
                </a:solidFill>
                <a:latin typeface="Microsoft YaHei"/>
              </a:rPr>
              <a:t>▪ K17  计划：培训与能力</a:t>
            </a:r>
          </a:p>
          <a:p>
            <a:pPr>
              <a:spcAft>
                <a:spcPts val="800"/>
              </a:spcAft>
            </a:pPr>
            <a:r>
              <a:rPr sz="1500">
                <a:solidFill>
                  <a:srgbClr val="FFFFFF"/>
                </a:solidFill>
                <a:latin typeface="Microsoft YaHei"/>
              </a:rPr>
              <a:t>▪ K18  计划：事件响应、维护与检查</a:t>
            </a:r>
          </a:p>
          <a:p>
            <a:pPr>
              <a:spcAft>
                <a:spcPts val="800"/>
              </a:spcAft>
            </a:pPr>
            <a:r>
              <a:rPr sz="1500">
                <a:solidFill>
                  <a:srgbClr val="FFFFFF"/>
                </a:solidFill>
                <a:latin typeface="Microsoft YaHei"/>
              </a:rPr>
              <a:t>▪ K19  计划：文件记录与评审</a:t>
            </a:r>
          </a:p>
          <a:p>
            <a:pPr>
              <a:spcAft>
                <a:spcPts val="800"/>
              </a:spcAft>
            </a:pPr>
            <a:r>
              <a:rPr sz="1500">
                <a:solidFill>
                  <a:srgbClr val="FFFFFF"/>
                </a:solidFill>
                <a:latin typeface="Microsoft YaHei"/>
              </a:rPr>
              <a:t>▪ K20  体系文件分四层</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生物安全绩效评估与审核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适用对象：进入生命科学、医学、农学、环境等涉及生物材料实验室的高校本科生、研究生和教职工（必修）；实验室负责人、生物安全员和参与内部审核、安全检查的人员重点学习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能说出绩效评估的含义（记录、测量、评价；计划与实际之差）和它在“评估—减缓—绩效”循环中的作用。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能说出从方针到目标、再到指标的关系，区分先行指标和滞后指标，说出好指标的特征和数据收集分析的注意事项。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能说出内部审核、外部审核与监督检查、管理评审各看什么，以及纠正措施“谁改、怎么改、何时改完、复查关闭”的闭环。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能做到被检查时照常规范操作，出错先停下、如实说明、按规程处理。</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《中华人民共和国生物安全法》（以现行文本为准）：主管部门对病原微生物实验室生物安全实施监督检查，设立单位负责日常管理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《病原微生物实验室生物安全管理条例》（以现行文本为准）：主管部门依法监督检查；三级、四级实验室须通过国家认可；实验室建立档案和事故报告制度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生物安全通用要求》：安全计划与目标、记录控制、内部审核、管理评审、不符合项的识别和控制、纠正措施和持续改进</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233（以现行文本为准）《病原微生物实验室生物安全通用准则》：实验室生物安全管理和监督检查要求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要求及使用指南》：绩效监视、测量、分析和评价，内部审核、管理评审与持续改进，可作参照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号，以现行文本为准）：学校、学院、实验室分级开展安全检查，隐患整改闭环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本校实验室安全检查与隐患整改办法、个人信息保护相关规定（以本校规定为准）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什么是绩效评估：记录、测量、评价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记录、测量、评价我们做过的事</a:t>
            </a:r>
          </a:p>
          <a:p>
            <a:pPr>
              <a:spcAft>
                <a:spcPts val="1000"/>
              </a:spcAft>
            </a:pPr>
            <a:r>
              <a:rPr sz="1700">
                <a:solidFill>
                  <a:srgbClr val="222B33"/>
                </a:solidFill>
                <a:latin typeface="Microsoft YaHei"/>
              </a:rPr>
              <a:t>▪ 目的：把生物风险降下来</a:t>
            </a:r>
          </a:p>
          <a:p>
            <a:pPr>
              <a:spcAft>
                <a:spcPts val="1000"/>
              </a:spcAft>
            </a:pPr>
            <a:r>
              <a:rPr sz="1700">
                <a:solidFill>
                  <a:srgbClr val="222B33"/>
                </a:solidFill>
                <a:latin typeface="Microsoft YaHei"/>
              </a:rPr>
              <a:t>▪ 不只看病原，人、物、设施都要看</a:t>
            </a:r>
          </a:p>
          <a:p>
            <a:pPr>
              <a:spcAft>
                <a:spcPts val="1000"/>
              </a:spcAft>
            </a:pPr>
            <a:r>
              <a:rPr sz="1700">
                <a:solidFill>
                  <a:srgbClr val="222B33"/>
                </a:solidFill>
                <a:latin typeface="Microsoft YaHei"/>
              </a:rPr>
              <a:t>▪ 回头查记录：事故、未遂事件、日常检查都算</a:t>
            </a:r>
          </a:p>
          <a:p>
            <a:pPr>
              <a:spcAft>
                <a:spcPts val="1000"/>
              </a:spcAft>
            </a:pPr>
            <a:r>
              <a:rPr sz="1700">
                <a:solidFill>
                  <a:srgbClr val="222B33"/>
                </a:solidFill>
                <a:latin typeface="Microsoft YaHei"/>
              </a:rPr>
              <a:t>▪ 看哪里达标、哪里没达标，问为什么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绩效评估，就是记录、测量和评价我们做过的事，目的是把生物风险降下来。它看的是整个体系：不只看病原，还要看人、物和设施。绩效测量不是另外一摊事，而是管理体系的一部分：规程写的和实际做的，都要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只统计事故，不统计未遂事件和日常检查发现的问题</a:t>
            </a:r>
          </a:p>
          <a:p>
            <a:pPr>
              <a:spcAft>
                <a:spcPts val="1000"/>
              </a:spcAft>
            </a:pPr>
            <a:r>
              <a:rPr sz="1500">
                <a:solidFill>
                  <a:srgbClr val="222B33"/>
                </a:solidFill>
                <a:latin typeface="Microsoft YaHei"/>
              </a:rPr>
              <a:t>▪ 认为绩效评估是管理部门的事，与实验人员无关</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绩效：计划与实际之差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计划和实际的差距，就是绩效</a:t>
            </a:r>
          </a:p>
          <a:p>
            <a:pPr>
              <a:spcAft>
                <a:spcPts val="1000"/>
              </a:spcAft>
            </a:pPr>
            <a:r>
              <a:rPr sz="1700">
                <a:solidFill>
                  <a:srgbClr val="222B33"/>
                </a:solidFill>
                <a:latin typeface="Microsoft YaHei"/>
              </a:rPr>
              <a:t>▪ 找出拖后腿的原因</a:t>
            </a:r>
          </a:p>
          <a:p>
            <a:pPr>
              <a:spcAft>
                <a:spcPts val="1000"/>
              </a:spcAft>
            </a:pPr>
            <a:r>
              <a:rPr sz="1700">
                <a:solidFill>
                  <a:srgbClr val="222B33"/>
                </a:solidFill>
                <a:latin typeface="Microsoft YaHei"/>
              </a:rPr>
              <a:t>▪ 年初定目标，年底对比差在哪</a:t>
            </a:r>
          </a:p>
          <a:p>
            <a:pPr>
              <a:spcAft>
                <a:spcPts val="1000"/>
              </a:spcAft>
            </a:pPr>
            <a:r>
              <a:rPr sz="1700">
                <a:solidFill>
                  <a:srgbClr val="222B33"/>
                </a:solidFill>
                <a:latin typeface="Microsoft YaHei"/>
              </a:rPr>
              <a:t>▪ 差了就改规程、加培训，每起事件都调查</a:t>
            </a:r>
          </a:p>
          <a:p>
            <a:pPr>
              <a:spcAft>
                <a:spcPts val="1000"/>
              </a:spcAft>
            </a:pPr>
            <a:r>
              <a:rPr sz="1700">
                <a:solidFill>
                  <a:srgbClr val="222B33"/>
                </a:solidFill>
                <a:latin typeface="Microsoft YaHei"/>
              </a:rPr>
              <a:t>▪ 绩效是大家共同努力的结果，要一直用力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打个比方：计划十五分钟跑完一公里，实际跑了二十分钟。天气、体能、装备，逐一找出拖后腿的因素。计划和实际之间的差距，就是绩效要看的东西。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目标没达到就修改目标“凑数”</a:t>
            </a:r>
          </a:p>
          <a:p>
            <a:pPr>
              <a:spcAft>
                <a:spcPts val="1000"/>
              </a:spcAft>
            </a:pPr>
            <a:r>
              <a:rPr sz="1500">
                <a:solidFill>
                  <a:srgbClr val="222B33"/>
                </a:solidFill>
                <a:latin typeface="Microsoft YaHei"/>
              </a:rPr>
              <a:t>▪ 只看结果数字，不分析差距的原因</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减缓之后再评估，一圈圈循环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控制加了，不一定有效</a:t>
            </a:r>
          </a:p>
          <a:p>
            <a:pPr>
              <a:spcAft>
                <a:spcPts val="1000"/>
              </a:spcAft>
            </a:pPr>
            <a:r>
              <a:rPr sz="1700">
                <a:solidFill>
                  <a:srgbClr val="222B33"/>
                </a:solidFill>
                <a:latin typeface="Microsoft YaHei"/>
              </a:rPr>
              <a:t>▪ 减缓之后再评估，确认风险真的降了</a:t>
            </a:r>
          </a:p>
          <a:p>
            <a:pPr>
              <a:spcAft>
                <a:spcPts val="1000"/>
              </a:spcAft>
            </a:pPr>
            <a:r>
              <a:rPr sz="1700">
                <a:solidFill>
                  <a:srgbClr val="222B33"/>
                </a:solidFill>
                <a:latin typeface="Microsoft YaHei"/>
              </a:rPr>
              <a:t>▪ 收集信息、评价、定策略、落实、复查成一圈</a:t>
            </a:r>
          </a:p>
          <a:p>
            <a:pPr>
              <a:spcAft>
                <a:spcPts val="1000"/>
              </a:spcAft>
            </a:pPr>
            <a:r>
              <a:rPr sz="1700">
                <a:solidFill>
                  <a:srgbClr val="222B33"/>
                </a:solidFill>
                <a:latin typeface="Microsoft YaHei"/>
              </a:rPr>
              <a:t>▪ 查推荐的措施落实了吗，没有为什么，有记录吗</a:t>
            </a:r>
          </a:p>
          <a:p>
            <a:pPr>
              <a:spcAft>
                <a:spcPts val="1000"/>
              </a:spcAft>
            </a:pPr>
            <a:r>
              <a:rPr sz="1700">
                <a:solidFill>
                  <a:srgbClr val="222B33"/>
                </a:solidFill>
                <a:latin typeface="Microsoft YaHei"/>
              </a:rPr>
              <a:t>▪ 数据也是说服领导投入的依据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控制措施加上了，就一定有效吗？要靠绩效来验证：减缓之后再做一次风险评估，确认风险真的降下来了，这一步才算数。剩下的风险能不能接受，要再判断。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措施一上就认为风险已经解决</a:t>
            </a:r>
          </a:p>
          <a:p>
            <a:pPr>
              <a:spcAft>
                <a:spcPts val="1000"/>
              </a:spcAft>
            </a:pPr>
            <a:r>
              <a:rPr sz="1500">
                <a:solidFill>
                  <a:srgbClr val="222B33"/>
                </a:solidFill>
                <a:latin typeface="Microsoft YaHei"/>
              </a:rPr>
              <a:t>▪ 复查只问“做了吗”，不看“管用吗”</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从方针到目标：看得见、量得出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方针表明决心和方向，不讲具体做法</a:t>
            </a:r>
          </a:p>
          <a:p>
            <a:pPr>
              <a:spcAft>
                <a:spcPts val="1000"/>
              </a:spcAft>
            </a:pPr>
            <a:r>
              <a:rPr sz="1700">
                <a:solidFill>
                  <a:srgbClr val="222B33"/>
                </a:solidFill>
                <a:latin typeface="Microsoft YaHei"/>
              </a:rPr>
              <a:t>▪ 方针分解成职责、目标和步骤</a:t>
            </a:r>
          </a:p>
          <a:p>
            <a:pPr>
              <a:spcAft>
                <a:spcPts val="1000"/>
              </a:spcAft>
            </a:pPr>
            <a:r>
              <a:rPr sz="1700">
                <a:solidFill>
                  <a:srgbClr val="222B33"/>
                </a:solidFill>
                <a:latin typeface="Microsoft YaHei"/>
              </a:rPr>
              <a:t>▪ 目标是看得见、量得出的结果</a:t>
            </a:r>
          </a:p>
          <a:p>
            <a:pPr>
              <a:spcAft>
                <a:spcPts val="1000"/>
              </a:spcAft>
            </a:pPr>
            <a:r>
              <a:rPr sz="1700">
                <a:solidFill>
                  <a:srgbClr val="222B33"/>
                </a:solidFill>
                <a:latin typeface="Microsoft YaHei"/>
              </a:rPr>
              <a:t>▪ 具体目标是限时步骤，如操作规程</a:t>
            </a:r>
          </a:p>
          <a:p>
            <a:pPr>
              <a:spcAft>
                <a:spcPts val="1000"/>
              </a:spcAft>
            </a:pPr>
            <a:r>
              <a:rPr sz="1700">
                <a:solidFill>
                  <a:srgbClr val="222B33"/>
                </a:solidFill>
                <a:latin typeface="Microsoft YaHei"/>
              </a:rPr>
              <a:t>▪ 具体、可测、可实现、合理、有时限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单位的安全方针（政策）表明决心和方向，不讲具体做法，要再分解成职责、目标和步骤，落成具体目标后，再按标准检查有没有做到。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目标写成“加强安全意识”等无法测量的口号</a:t>
            </a:r>
          </a:p>
          <a:p>
            <a:pPr>
              <a:spcAft>
                <a:spcPts val="1000"/>
              </a:spcAft>
            </a:pPr>
            <a:r>
              <a:rPr sz="1500">
                <a:solidFill>
                  <a:srgbClr val="222B33"/>
                </a:solidFill>
                <a:latin typeface="Microsoft YaHei"/>
              </a:rPr>
              <a:t>▪ 定了做不到的目标，只能靠“做账”达标</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指标：用数字说话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指标要能回答多少次、多少量</a:t>
            </a:r>
          </a:p>
          <a:p>
            <a:pPr>
              <a:spcAft>
                <a:spcPts val="1000"/>
              </a:spcAft>
            </a:pPr>
            <a:r>
              <a:rPr sz="1700">
                <a:solidFill>
                  <a:srgbClr val="222B33"/>
                </a:solidFill>
                <a:latin typeface="Microsoft YaHei"/>
              </a:rPr>
              <a:t>▪ 定期用同一把尺子，偏离就提前报警</a:t>
            </a:r>
          </a:p>
          <a:p>
            <a:pPr>
              <a:spcAft>
                <a:spcPts val="1000"/>
              </a:spcAft>
            </a:pPr>
            <a:r>
              <a:rPr sz="1700">
                <a:solidFill>
                  <a:srgbClr val="222B33"/>
                </a:solidFill>
                <a:latin typeface="Microsoft YaHei"/>
              </a:rPr>
              <a:t>▪ 看事件、险兆和培训完成情况</a:t>
            </a:r>
          </a:p>
          <a:p>
            <a:pPr>
              <a:spcAft>
                <a:spcPts val="1000"/>
              </a:spcAft>
            </a:pPr>
            <a:r>
              <a:rPr sz="1700">
                <a:solidFill>
                  <a:srgbClr val="222B33"/>
                </a:solidFill>
                <a:latin typeface="Microsoft YaHei"/>
              </a:rPr>
              <a:t>▪ 演练、防护用品、检查的频次和范围都可量</a:t>
            </a:r>
          </a:p>
          <a:p>
            <a:pPr>
              <a:spcAft>
                <a:spcPts val="1000"/>
              </a:spcAft>
            </a:pPr>
            <a:r>
              <a:rPr sz="1700">
                <a:solidFill>
                  <a:srgbClr val="222B33"/>
                </a:solidFill>
                <a:latin typeface="Microsoft YaHei"/>
              </a:rPr>
              <a:t>▪ 要量什么就选什么，覆盖各层级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指标要用数字说话，能回答“多少次、多少量”。要定期使用，一直用同一把尺子，才能看出偏离，在出事之前报警。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只选容易统计的指标，不选真正反映风险的指标</a:t>
            </a:r>
          </a:p>
          <a:p>
            <a:pPr>
              <a:spcAft>
                <a:spcPts val="1000"/>
              </a:spcAft>
            </a:pPr>
            <a:r>
              <a:rPr sz="1500">
                <a:solidFill>
                  <a:srgbClr val="222B33"/>
                </a:solidFill>
                <a:latin typeface="Microsoft YaHei"/>
              </a:rPr>
              <a:t>▪ 指标口径经常变，前后数据无法比较</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先行指标与滞后指标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指标分先行指标和滞后指标</a:t>
            </a:r>
          </a:p>
          <a:p>
            <a:pPr>
              <a:spcAft>
                <a:spcPts val="1000"/>
              </a:spcAft>
            </a:pPr>
            <a:r>
              <a:rPr sz="1700">
                <a:solidFill>
                  <a:srgbClr val="222B33"/>
                </a:solidFill>
                <a:latin typeface="Microsoft YaHei"/>
              </a:rPr>
              <a:t>▪ 先行指标：过程、文化、行为、屏障</a:t>
            </a:r>
          </a:p>
          <a:p>
            <a:pPr>
              <a:spcAft>
                <a:spcPts val="1000"/>
              </a:spcAft>
            </a:pPr>
            <a:r>
              <a:rPr sz="1700">
                <a:solidFill>
                  <a:srgbClr val="222B33"/>
                </a:solidFill>
                <a:latin typeface="Microsoft YaHei"/>
              </a:rPr>
              <a:t>▪ 滞后指标：事件、事故、险兆、整改</a:t>
            </a:r>
          </a:p>
          <a:p>
            <a:pPr>
              <a:spcAft>
                <a:spcPts val="1000"/>
              </a:spcAft>
            </a:pPr>
            <a:r>
              <a:rPr sz="1700">
                <a:solidFill>
                  <a:srgbClr val="222B33"/>
                </a:solidFill>
                <a:latin typeface="Microsoft YaHei"/>
              </a:rPr>
              <a:t>▪ 只做事后分析太晚，多看日常行为</a:t>
            </a:r>
          </a:p>
          <a:p>
            <a:pPr>
              <a:spcAft>
                <a:spcPts val="1000"/>
              </a:spcAft>
            </a:pPr>
            <a:r>
              <a:rPr sz="1700">
                <a:solidFill>
                  <a:srgbClr val="222B33"/>
                </a:solidFill>
                <a:latin typeface="Microsoft YaHei"/>
              </a:rPr>
              <a:t>▪ 多听同行的经验和教训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分两类。先行指标衡量过程、文化、行为和屏障（如培训完成、检查执行、规范操作的比例、设备检测按期完成），事先定好，为安全工作指方向。滞后指标衡量事件、事故、险兆和整改情况，都是事后才看得到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只看“零事故”，忽视先行指标</a:t>
            </a:r>
          </a:p>
          <a:p>
            <a:pPr>
              <a:spcAft>
                <a:spcPts val="1000"/>
              </a:spcAft>
            </a:pPr>
            <a:r>
              <a:rPr sz="1500">
                <a:solidFill>
                  <a:srgbClr val="222B33"/>
                </a:solidFill>
                <a:latin typeface="Microsoft YaHei"/>
              </a:rPr>
              <a:t>▪ 把没有事故报告当成没有风险</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好指标的特征，审慎使用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好指标由大家一起商量出来</a:t>
            </a:r>
          </a:p>
          <a:p>
            <a:pPr>
              <a:spcAft>
                <a:spcPts val="1000"/>
              </a:spcAft>
            </a:pPr>
            <a:r>
              <a:rPr sz="1700">
                <a:solidFill>
                  <a:srgbClr val="222B33"/>
                </a:solidFill>
                <a:latin typeface="Microsoft YaHei"/>
              </a:rPr>
              <a:t>▪ 相关、客观、及时，成本合理</a:t>
            </a:r>
          </a:p>
          <a:p>
            <a:pPr>
              <a:spcAft>
                <a:spcPts val="1000"/>
              </a:spcAft>
            </a:pPr>
            <a:r>
              <a:rPr sz="1700">
                <a:solidFill>
                  <a:srgbClr val="222B33"/>
                </a:solidFill>
                <a:latin typeface="Microsoft YaHei"/>
              </a:rPr>
              <a:t>▪ 能指导整改，带来改进机会</a:t>
            </a:r>
          </a:p>
          <a:p>
            <a:pPr>
              <a:spcAft>
                <a:spcPts val="1000"/>
              </a:spcAft>
            </a:pPr>
            <a:r>
              <a:rPr sz="1700">
                <a:solidFill>
                  <a:srgbClr val="222B33"/>
                </a:solidFill>
                <a:latin typeface="Microsoft YaHei"/>
              </a:rPr>
              <a:t>▪ 委员会事先定标准，数据要让人看懂</a:t>
            </a:r>
          </a:p>
          <a:p>
            <a:pPr>
              <a:spcAft>
                <a:spcPts val="1000"/>
              </a:spcAft>
            </a:pPr>
            <a:r>
              <a:rPr sz="1700">
                <a:solidFill>
                  <a:srgbClr val="222B33"/>
                </a:solidFill>
                <a:latin typeface="Microsoft YaHei"/>
              </a:rPr>
              <a:t>▪ 定期检查指标，照搬别处未必合用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好指标由相关人员一起商量出来，具有相关、客观、及时、成本合理的特点，能指导整改，带来改进机会。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把事件数量作为考核扣分项，导致瞒报</a:t>
            </a:r>
          </a:p>
          <a:p>
            <a:pPr>
              <a:spcAft>
                <a:spcPts val="1000"/>
              </a:spcAft>
            </a:pPr>
            <a:r>
              <a:rPr sz="1500">
                <a:solidFill>
                  <a:srgbClr val="222B33"/>
                </a:solidFill>
                <a:latin typeface="Microsoft YaHei"/>
              </a:rPr>
              <a:t>▪ 照搬其他单位的指标，不结合本实验室实际</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先想清楚，再测量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量出来才看得懂，才控制得住、谈得上改进</a:t>
            </a:r>
          </a:p>
          <a:p>
            <a:pPr>
              <a:spcAft>
                <a:spcPts val="1000"/>
              </a:spcAft>
            </a:pPr>
            <a:r>
              <a:rPr sz="1700">
                <a:solidFill>
                  <a:srgbClr val="222B33"/>
                </a:solidFill>
                <a:latin typeface="Microsoft YaHei"/>
              </a:rPr>
              <a:t>▪ 流程分输入、步骤、输出，每步记下来</a:t>
            </a:r>
          </a:p>
          <a:p>
            <a:pPr>
              <a:spcAft>
                <a:spcPts val="1000"/>
              </a:spcAft>
            </a:pPr>
            <a:r>
              <a:rPr sz="1700">
                <a:solidFill>
                  <a:srgbClr val="222B33"/>
                </a:solidFill>
                <a:latin typeface="Microsoft YaHei"/>
              </a:rPr>
              <a:t>▪ 评估前先问四个问题</a:t>
            </a:r>
          </a:p>
          <a:p>
            <a:pPr>
              <a:spcAft>
                <a:spcPts val="1000"/>
              </a:spcAft>
            </a:pPr>
            <a:r>
              <a:rPr sz="1700">
                <a:solidFill>
                  <a:srgbClr val="222B33"/>
                </a:solidFill>
                <a:latin typeface="Microsoft YaHei"/>
              </a:rPr>
              <a:t>▪ 可以发问卷，也可以现场跟看</a:t>
            </a:r>
          </a:p>
          <a:p>
            <a:pPr>
              <a:spcAft>
                <a:spcPts val="1000"/>
              </a:spcAft>
            </a:pPr>
            <a:r>
              <a:rPr sz="1700">
                <a:solidFill>
                  <a:srgbClr val="222B33"/>
                </a:solidFill>
                <a:latin typeface="Microsoft YaHei"/>
              </a:rPr>
              <a:t>▪ 看事件规律、健康监测和现场操作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测量是改进的第一步：量出来才看得懂，看得懂才控制得住，才谈得上改进；测量要用合适的工具。一个流程可以分成输入、步骤、输出，比如检测样本，每一步都记下来。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没想清楚要回答什么问题就开始收集数据</a:t>
            </a:r>
          </a:p>
          <a:p>
            <a:pPr>
              <a:spcAft>
                <a:spcPts val="1000"/>
              </a:spcAft>
            </a:pPr>
            <a:r>
              <a:rPr sz="1500">
                <a:solidFill>
                  <a:srgbClr val="222B33"/>
                </a:solidFill>
                <a:latin typeface="Microsoft YaHei"/>
              </a:rPr>
              <a:t>▪ 只看报表，不到现场看操作</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收集和分析数据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确定要什么数据，收集，再分析</a:t>
            </a:r>
          </a:p>
          <a:p>
            <a:pPr>
              <a:spcAft>
                <a:spcPts val="1000"/>
              </a:spcAft>
            </a:pPr>
            <a:r>
              <a:rPr sz="1700">
                <a:solidFill>
                  <a:srgbClr val="222B33"/>
                </a:solidFill>
                <a:latin typeface="Microsoft YaHei"/>
              </a:rPr>
              <a:t>▪ 定好时间段、方法和成本，尽量不打扰工作</a:t>
            </a:r>
          </a:p>
          <a:p>
            <a:pPr>
              <a:spcAft>
                <a:spcPts val="1000"/>
              </a:spcAft>
            </a:pPr>
            <a:r>
              <a:rPr sz="1700">
                <a:solidFill>
                  <a:srgbClr val="222B33"/>
                </a:solidFill>
                <a:latin typeface="Microsoft YaHei"/>
              </a:rPr>
              <a:t>▪ 盯得太紧，人一紧张反而出错</a:t>
            </a:r>
          </a:p>
          <a:p>
            <a:pPr>
              <a:spcAft>
                <a:spcPts val="1000"/>
              </a:spcAft>
            </a:pPr>
            <a:r>
              <a:rPr sz="1700">
                <a:solidFill>
                  <a:srgbClr val="222B33"/>
                </a:solidFill>
                <a:latin typeface="Microsoft YaHei"/>
              </a:rPr>
              <a:t>▪ 分析要指定专人，给定期限</a:t>
            </a:r>
          </a:p>
          <a:p>
            <a:pPr>
              <a:spcAft>
                <a:spcPts val="1000"/>
              </a:spcAft>
            </a:pPr>
            <a:r>
              <a:rPr sz="1700">
                <a:solidFill>
                  <a:srgbClr val="222B33"/>
                </a:solidFill>
                <a:latin typeface="Microsoft YaHei"/>
              </a:rPr>
              <a:t>▪ 装监控要事先告知，录像只用于安全管理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数据收上来没人分析，堆在柜子里</a:t>
            </a:r>
          </a:p>
          <a:p>
            <a:pPr>
              <a:spcAft>
                <a:spcPts val="1000"/>
              </a:spcAft>
            </a:pPr>
            <a:r>
              <a:rPr sz="1500">
                <a:solidFill>
                  <a:srgbClr val="222B33"/>
                </a:solidFill>
                <a:latin typeface="Microsoft YaHei"/>
              </a:rPr>
              <a:t>▪ 私自传播监控录像或截图</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案例：一次感染引出的绩效分析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目标：降低检测人员的感染风险</a:t>
            </a:r>
          </a:p>
          <a:p>
            <a:pPr>
              <a:spcAft>
                <a:spcPts val="1000"/>
              </a:spcAft>
            </a:pPr>
            <a:r>
              <a:rPr sz="2000">
                <a:solidFill>
                  <a:srgbClr val="222B33"/>
                </a:solidFill>
                <a:latin typeface="Microsoft YaHei"/>
              </a:rPr>
              <a:t>▪ 措施：上岗前体检、防护规程、结束后复查</a:t>
            </a:r>
          </a:p>
          <a:p>
            <a:pPr>
              <a:spcAft>
                <a:spcPts val="1000"/>
              </a:spcAft>
            </a:pPr>
            <a:r>
              <a:rPr sz="2000">
                <a:solidFill>
                  <a:srgbClr val="222B33"/>
                </a:solidFill>
                <a:latin typeface="Microsoft YaHei"/>
              </a:rPr>
              <a:t>▪ 结果：五人中有一人检测阳性</a:t>
            </a:r>
          </a:p>
          <a:p>
            <a:pPr>
              <a:spcAft>
                <a:spcPts val="1000"/>
              </a:spcAft>
            </a:pPr>
            <a:r>
              <a:rPr sz="2000">
                <a:solidFill>
                  <a:srgbClr val="222B33"/>
                </a:solidFill>
                <a:latin typeface="Microsoft YaHei"/>
              </a:rPr>
              <a:t>▪ 问规程合适吗、哪里有漏洞，做事故分析并纠正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某检测实验室的目标是降低人员感染风险，采取的措施包括上岗前体检、防护规程和项目结束后的复查。结果五名人员中有一人检测阳性——计划和实际出现了差距。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发现人员感染后只做个人治疗，不分析规程和管理原因</a:t>
            </a:r>
          </a:p>
          <a:p>
            <a:pPr>
              <a:spcAft>
                <a:spcPts val="1000"/>
              </a:spcAft>
            </a:pPr>
            <a:r>
              <a:rPr sz="1500">
                <a:solidFill>
                  <a:srgbClr val="222B33"/>
                </a:solidFill>
                <a:latin typeface="Microsoft YaHei"/>
              </a:rPr>
              <a:t>▪ 担心影响评价而不报告</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内部审核：对照规程逐项查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审核看写的和做的是否一致</a:t>
            </a:r>
          </a:p>
          <a:p>
            <a:pPr>
              <a:spcAft>
                <a:spcPts val="1000"/>
              </a:spcAft>
            </a:pPr>
            <a:r>
              <a:rPr sz="1700">
                <a:solidFill>
                  <a:srgbClr val="222B33"/>
                </a:solidFill>
                <a:latin typeface="Microsoft YaHei"/>
              </a:rPr>
              <a:t>▪ 本单位组织，对照规程逐项查</a:t>
            </a:r>
          </a:p>
          <a:p>
            <a:pPr>
              <a:spcAft>
                <a:spcPts val="1000"/>
              </a:spcAft>
            </a:pPr>
            <a:r>
              <a:rPr sz="1700">
                <a:solidFill>
                  <a:srgbClr val="222B33"/>
                </a:solidFill>
                <a:latin typeface="Microsoft YaHei"/>
              </a:rPr>
              <a:t>▪ 到实验台旁看哪步繁琐、哪步有险</a:t>
            </a:r>
          </a:p>
          <a:p>
            <a:pPr>
              <a:spcAft>
                <a:spcPts val="1000"/>
              </a:spcAft>
            </a:pPr>
            <a:r>
              <a:rPr sz="1700">
                <a:solidFill>
                  <a:srgbClr val="222B33"/>
                </a:solidFill>
                <a:latin typeface="Microsoft YaHei"/>
              </a:rPr>
              <a:t>▪ 学院、学校也会定期组织检查</a:t>
            </a:r>
          </a:p>
          <a:p>
            <a:pPr>
              <a:spcAft>
                <a:spcPts val="1000"/>
              </a:spcAft>
            </a:pPr>
            <a:r>
              <a:rPr sz="1700">
                <a:solidFill>
                  <a:srgbClr val="222B33"/>
                </a:solidFill>
                <a:latin typeface="Microsoft YaHei"/>
              </a:rPr>
              <a:t>▪ 如实记录，找出不符合项和改进点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审核和评价就是“复查”这一步，看写的和做的是否一致、措施是否落实、是否达到预期目标。内部审核由本单位按计划组织，对照规程逐项检查；审核员要到实验台旁观察，看哪一步繁琐、哪一步有风险。GB 19489-2008 要求实……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审核只看文件，不到现场看操作</a:t>
            </a:r>
          </a:p>
          <a:p>
            <a:pPr>
              <a:spcAft>
                <a:spcPts val="1000"/>
              </a:spcAft>
            </a:pPr>
            <a:r>
              <a:rPr sz="1500">
                <a:solidFill>
                  <a:srgbClr val="222B33"/>
                </a:solidFill>
                <a:latin typeface="Microsoft YaHei"/>
              </a:rPr>
              <a:t>▪ 检查发现的问题不写进记录，私下了结</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外部审核与监督检查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审核看规程，检查看设施，检测看设备</a:t>
            </a:r>
          </a:p>
          <a:p>
            <a:pPr>
              <a:spcAft>
                <a:spcPts val="1000"/>
              </a:spcAft>
            </a:pPr>
            <a:r>
              <a:rPr sz="2000">
                <a:solidFill>
                  <a:srgbClr val="222B33"/>
                </a:solidFill>
                <a:latin typeface="Microsoft YaHei"/>
              </a:rPr>
              <a:t>▪ 外部审核比内部审核更客观</a:t>
            </a:r>
          </a:p>
          <a:p>
            <a:pPr>
              <a:spcAft>
                <a:spcPts val="1000"/>
              </a:spcAft>
            </a:pPr>
            <a:r>
              <a:rPr sz="2000">
                <a:solidFill>
                  <a:srgbClr val="222B33"/>
                </a:solidFill>
                <a:latin typeface="Microsoft YaHei"/>
              </a:rPr>
              <a:t>▪ 主管部门依法监督检查，负责人陪同配合</a:t>
            </a:r>
          </a:p>
          <a:p>
            <a:pPr>
              <a:spcAft>
                <a:spcPts val="1000"/>
              </a:spcAft>
            </a:pPr>
            <a:r>
              <a:rPr sz="2000">
                <a:solidFill>
                  <a:srgbClr val="222B33"/>
                </a:solidFill>
                <a:latin typeface="Microsoft YaHei"/>
              </a:rPr>
              <a:t>▪ 高级别实验室还要通过国家认可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审核看规程有没有照做，检查看设施是否按设计运行，检测看设备参数是否合格。内部审核之外，外部审核更客观。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检查前临时补记录、补签字</a:t>
            </a:r>
          </a:p>
          <a:p>
            <a:pPr>
              <a:spcAft>
                <a:spcPts val="1000"/>
              </a:spcAft>
            </a:pPr>
            <a:r>
              <a:rPr sz="1500">
                <a:solidFill>
                  <a:srgbClr val="222B33"/>
                </a:solidFill>
                <a:latin typeface="Microsoft YaHei"/>
              </a:rPr>
              <a:t>▪ 对检查人员隐瞒问题或拒绝提供资料</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管理评审：体系合适、充分、有效吗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负责人按计划定期评审体系</a:t>
            </a:r>
          </a:p>
          <a:p>
            <a:pPr>
              <a:spcAft>
                <a:spcPts val="1000"/>
              </a:spcAft>
            </a:pPr>
            <a:r>
              <a:rPr sz="1700">
                <a:solidFill>
                  <a:srgbClr val="222B33"/>
                </a:solidFill>
                <a:latin typeface="Microsoft YaHei"/>
              </a:rPr>
              <a:t>▪ 看体系是否合适、充分、有效</a:t>
            </a:r>
          </a:p>
          <a:p>
            <a:pPr>
              <a:spcAft>
                <a:spcPts val="1000"/>
              </a:spcAft>
            </a:pPr>
            <a:r>
              <a:rPr sz="1700">
                <a:solidFill>
                  <a:srgbClr val="222B33"/>
                </a:solidFill>
                <a:latin typeface="Microsoft YaHei"/>
              </a:rPr>
              <a:t>▪ 输入：审核结果、纠正措施、事件调查、上次跟进</a:t>
            </a:r>
          </a:p>
          <a:p>
            <a:pPr>
              <a:spcAft>
                <a:spcPts val="1000"/>
              </a:spcAft>
            </a:pPr>
            <a:r>
              <a:rPr sz="1700">
                <a:solidFill>
                  <a:srgbClr val="222B33"/>
                </a:solidFill>
                <a:latin typeface="Microsoft YaHei"/>
              </a:rPr>
              <a:t>▪ 该改的制度、程序和目标就改</a:t>
            </a:r>
          </a:p>
          <a:p>
            <a:pPr>
              <a:spcAft>
                <a:spcPts val="1000"/>
              </a:spcAft>
            </a:pPr>
            <a:r>
              <a:rPr sz="1700">
                <a:solidFill>
                  <a:srgbClr val="222B33"/>
                </a:solidFill>
                <a:latin typeface="Microsoft YaHei"/>
              </a:rPr>
              <a:t>▪ 每一步有记录，评审才有依据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管理评审由单位或实验室管理层按计划定期进行（例如每年，具体以现行标准和本校规定为准），评审体系是否合适、充分、有效，并寻找下一步改进的机会。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管理评审只开会不形成决定和记录</a:t>
            </a:r>
          </a:p>
          <a:p>
            <a:pPr>
              <a:spcAft>
                <a:spcPts val="1000"/>
              </a:spcAft>
            </a:pPr>
            <a:r>
              <a:rPr sz="1500">
                <a:solidFill>
                  <a:srgbClr val="222B33"/>
                </a:solidFill>
                <a:latin typeface="Microsoft YaHei"/>
              </a:rPr>
              <a:t>▪ 上次评审的决定没有跟进落实</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纠正措施与持续改进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纠正措施：谁来改、怎么改、何时改完</a:t>
            </a:r>
          </a:p>
          <a:p>
            <a:pPr>
              <a:spcAft>
                <a:spcPts val="1000"/>
              </a:spcAft>
            </a:pPr>
            <a:r>
              <a:rPr sz="1700">
                <a:solidFill>
                  <a:srgbClr val="222B33"/>
                </a:solidFill>
                <a:latin typeface="Microsoft YaHei"/>
              </a:rPr>
              <a:t>▪ 改完拍照留证，复查后关闭</a:t>
            </a:r>
          </a:p>
          <a:p>
            <a:pPr>
              <a:spcAft>
                <a:spcPts val="1000"/>
              </a:spcAft>
            </a:pPr>
            <a:r>
              <a:rPr sz="1700">
                <a:solidFill>
                  <a:srgbClr val="222B33"/>
                </a:solidFill>
                <a:latin typeface="Microsoft YaHei"/>
              </a:rPr>
              <a:t>▪ 把检查和事件的教训写进规程</a:t>
            </a:r>
          </a:p>
          <a:p>
            <a:pPr>
              <a:spcAft>
                <a:spcPts val="1000"/>
              </a:spcAft>
            </a:pPr>
            <a:r>
              <a:rPr sz="1700">
                <a:solidFill>
                  <a:srgbClr val="222B33"/>
                </a:solidFill>
                <a:latin typeface="Microsoft YaHei"/>
              </a:rPr>
              <a:t>▪ 有记录才能持续改进，专人管文件</a:t>
            </a:r>
          </a:p>
          <a:p>
            <a:pPr>
              <a:spcAft>
                <a:spcPts val="1000"/>
              </a:spcAft>
            </a:pPr>
            <a:r>
              <a:rPr sz="1700">
                <a:solidFill>
                  <a:srgbClr val="222B33"/>
                </a:solidFill>
                <a:latin typeface="Microsoft YaHei"/>
              </a:rPr>
              <a:t>▪ 个人安全笔记代替不了正式规程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发现问题就要采取纠正措施：明确谁来改、怎么改、什么时候改完；改完拍照留证，再复查，问题关闭才算整改到位。持续改进就是把检查和事件的教训写进规程，一圈一圈越做越好（隐患整改见第 005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整改只改表面，不查原因，问题反复出现</a:t>
            </a:r>
          </a:p>
          <a:p>
            <a:pPr>
              <a:spcAft>
                <a:spcPts val="1000"/>
              </a:spcAft>
            </a:pPr>
            <a:r>
              <a:rPr sz="1500">
                <a:solidFill>
                  <a:srgbClr val="222B33"/>
                </a:solidFill>
                <a:latin typeface="Microsoft YaHei"/>
              </a:rPr>
              <a:t>▪ 整改完不复查，问题长期“未关闭”</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被检查时：照常规范，出错先停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被检查时照平常一样规范做</a:t>
            </a:r>
          </a:p>
          <a:p>
            <a:pPr>
              <a:spcAft>
                <a:spcPts val="1000"/>
              </a:spcAft>
            </a:pPr>
            <a:r>
              <a:rPr sz="2000">
                <a:solidFill>
                  <a:srgbClr val="222B33"/>
                </a:solidFill>
                <a:latin typeface="Microsoft YaHei"/>
              </a:rPr>
              <a:t>▪ 一紧张出错，先停下，别硬撑</a:t>
            </a:r>
          </a:p>
          <a:p>
            <a:pPr>
              <a:spcAft>
                <a:spcPts val="1000"/>
              </a:spcAft>
            </a:pPr>
            <a:r>
              <a:rPr sz="2000">
                <a:solidFill>
                  <a:srgbClr val="222B33"/>
                </a:solidFill>
                <a:latin typeface="Microsoft YaHei"/>
              </a:rPr>
              <a:t>▪ 如实说明，按规程处理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审核和检查看的恰恰是平时。被检查时，照平常一样规范操作，不需要“表演”，也不能临时改变做法。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平时随意，检查当天临时“突击规范”</a:t>
            </a:r>
          </a:p>
          <a:p>
            <a:pPr>
              <a:spcAft>
                <a:spcPts val="1000"/>
              </a:spcAft>
            </a:pPr>
            <a:r>
              <a:rPr sz="1500">
                <a:solidFill>
                  <a:srgbClr val="222B33"/>
                </a:solidFill>
                <a:latin typeface="Microsoft YaHei"/>
              </a:rPr>
              <a:t>▪ 出错后掩饰或硬撑着继续操作</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绩效评估中“绩效”最贴切的含义是：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发表论文的数量</a:t>
            </a:r>
          </a:p>
          <a:p>
            <a:pPr algn="l"/>
            <a:r>
              <a:rPr sz="1500" b="0">
                <a:solidFill>
                  <a:srgbClr val="222B33"/>
                </a:solidFill>
                <a:latin typeface="Microsoft YaHei"/>
              </a:rPr>
              <a:t>B. 计划与实际之间的差距</a:t>
            </a:r>
          </a:p>
          <a:p>
            <a:pPr algn="l"/>
            <a:r>
              <a:rPr sz="1500" b="0">
                <a:solidFill>
                  <a:srgbClr val="222B33"/>
                </a:solidFill>
                <a:latin typeface="Microsoft YaHei"/>
              </a:rPr>
              <a:t>C. 检查当天的表现</a:t>
            </a:r>
          </a:p>
          <a:p>
            <a:pPr algn="l"/>
            <a:r>
              <a:rPr sz="1500" b="0">
                <a:solidFill>
                  <a:srgbClr val="222B33"/>
                </a:solidFill>
                <a:latin typeface="Microsoft YaHei"/>
              </a:rPr>
              <a:t>D. 实验经费的多少</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下列属于先行指标的是：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发生溢洒的次数</a:t>
            </a:r>
          </a:p>
          <a:p>
            <a:pPr algn="l"/>
            <a:r>
              <a:rPr sz="1500" b="0">
                <a:solidFill>
                  <a:srgbClr val="222B33"/>
                </a:solidFill>
                <a:latin typeface="Microsoft YaHei"/>
              </a:rPr>
              <a:t>B. 事故的次数</a:t>
            </a:r>
          </a:p>
          <a:p>
            <a:pPr algn="l"/>
            <a:r>
              <a:rPr sz="1500" b="0">
                <a:solidFill>
                  <a:srgbClr val="222B33"/>
                </a:solidFill>
                <a:latin typeface="Microsoft YaHei"/>
              </a:rPr>
              <a:t>C. 培训按期完成和规范操作的情况</a:t>
            </a:r>
          </a:p>
          <a:p>
            <a:pPr algn="l"/>
            <a:r>
              <a:rPr sz="1500" b="0">
                <a:solidFill>
                  <a:srgbClr val="222B33"/>
                </a:solidFill>
                <a:latin typeface="Microsoft YaHei"/>
              </a:rPr>
              <a:t>D. 整改关闭的数量</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判断：只要加了控制措施，就不需要再评估风险。</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关于审核和评审，正确的是：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内部审核只看文件</a:t>
            </a:r>
          </a:p>
          <a:p>
            <a:pPr algn="l"/>
            <a:r>
              <a:rPr sz="1500" b="0">
                <a:solidFill>
                  <a:srgbClr val="222B33"/>
                </a:solidFill>
                <a:latin typeface="Microsoft YaHei"/>
              </a:rPr>
              <a:t>B. 管理评审看体系是否合适、充分、有效，并修订制度和目标</a:t>
            </a:r>
          </a:p>
          <a:p>
            <a:pPr algn="l"/>
            <a:r>
              <a:rPr sz="1500" b="0">
                <a:solidFill>
                  <a:srgbClr val="222B33"/>
                </a:solidFill>
                <a:latin typeface="Microsoft YaHei"/>
              </a:rPr>
              <a:t>C. 外部检查时负责人可以不在场</a:t>
            </a:r>
          </a:p>
          <a:p>
            <a:pPr algn="l"/>
            <a:r>
              <a:rPr sz="1500" b="0">
                <a:solidFill>
                  <a:srgbClr val="222B33"/>
                </a:solidFill>
                <a:latin typeface="Microsoft YaHei"/>
              </a:rPr>
              <a:t>D. 审核发现的问题私下了结即可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判断：审核那天阿杰一紧张手滑，应先停下，如实说明并按规程处理。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简答：一项纠正措施怎样才算整改到位？</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什么是绩效评估：记录、测量、评价</a:t>
            </a:r>
          </a:p>
          <a:p>
            <a:pPr>
              <a:spcAft>
                <a:spcPts val="800"/>
              </a:spcAft>
            </a:pPr>
            <a:r>
              <a:rPr sz="1500">
                <a:solidFill>
                  <a:srgbClr val="FFFFFF"/>
                </a:solidFill>
                <a:latin typeface="Microsoft YaHei"/>
              </a:rPr>
              <a:t>▪ K2  绩效：计划与实际之差</a:t>
            </a:r>
          </a:p>
          <a:p>
            <a:pPr>
              <a:spcAft>
                <a:spcPts val="800"/>
              </a:spcAft>
            </a:pPr>
            <a:r>
              <a:rPr sz="1500">
                <a:solidFill>
                  <a:srgbClr val="FFFFFF"/>
                </a:solidFill>
                <a:latin typeface="Microsoft YaHei"/>
              </a:rPr>
              <a:t>▪ K3  减缓之后再评估，一圈圈循环</a:t>
            </a:r>
          </a:p>
          <a:p>
            <a:pPr>
              <a:spcAft>
                <a:spcPts val="800"/>
              </a:spcAft>
            </a:pPr>
            <a:r>
              <a:rPr sz="1500">
                <a:solidFill>
                  <a:srgbClr val="FFFFFF"/>
                </a:solidFill>
                <a:latin typeface="Microsoft YaHei"/>
              </a:rPr>
              <a:t>▪ K4  从方针到目标：看得见、量得出</a:t>
            </a:r>
          </a:p>
          <a:p>
            <a:pPr>
              <a:spcAft>
                <a:spcPts val="800"/>
              </a:spcAft>
            </a:pPr>
            <a:r>
              <a:rPr sz="1500">
                <a:solidFill>
                  <a:srgbClr val="FFFFFF"/>
                </a:solidFill>
                <a:latin typeface="Microsoft YaHei"/>
              </a:rPr>
              <a:t>▪ K5  指标：用数字说话</a:t>
            </a:r>
          </a:p>
          <a:p>
            <a:pPr>
              <a:spcAft>
                <a:spcPts val="800"/>
              </a:spcAft>
            </a:pPr>
            <a:r>
              <a:rPr sz="1500">
                <a:solidFill>
                  <a:srgbClr val="FFFFFF"/>
                </a:solidFill>
                <a:latin typeface="Microsoft YaHei"/>
              </a:rPr>
              <a:t>▪ K6  先行指标与滞后指标</a:t>
            </a:r>
          </a:p>
          <a:p>
            <a:pPr>
              <a:spcAft>
                <a:spcPts val="800"/>
              </a:spcAft>
            </a:pPr>
            <a:r>
              <a:rPr sz="1500">
                <a:solidFill>
                  <a:srgbClr val="FFFFFF"/>
                </a:solidFill>
                <a:latin typeface="Microsoft YaHei"/>
              </a:rPr>
              <a:t>▪ K7  好指标的特征，审慎使用</a:t>
            </a:r>
          </a:p>
          <a:p>
            <a:pPr>
              <a:spcAft>
                <a:spcPts val="800"/>
              </a:spcAft>
            </a:pPr>
            <a:r>
              <a:rPr sz="1500">
                <a:solidFill>
                  <a:srgbClr val="FFFFFF"/>
                </a:solidFill>
                <a:latin typeface="Microsoft YaHei"/>
              </a:rPr>
              <a:t>▪ K8  先想清楚，再测量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收集和分析数据</a:t>
            </a:r>
          </a:p>
          <a:p>
            <a:pPr>
              <a:spcAft>
                <a:spcPts val="800"/>
              </a:spcAft>
            </a:pPr>
            <a:r>
              <a:rPr sz="1500">
                <a:solidFill>
                  <a:srgbClr val="FFFFFF"/>
                </a:solidFill>
                <a:latin typeface="Microsoft YaHei"/>
              </a:rPr>
              <a:t>▪ K10  案例：一次感染引出的绩效分析</a:t>
            </a:r>
          </a:p>
          <a:p>
            <a:pPr>
              <a:spcAft>
                <a:spcPts val="800"/>
              </a:spcAft>
            </a:pPr>
            <a:r>
              <a:rPr sz="1500">
                <a:solidFill>
                  <a:srgbClr val="FFFFFF"/>
                </a:solidFill>
                <a:latin typeface="Microsoft YaHei"/>
              </a:rPr>
              <a:t>▪ K11  内部审核：对照规程逐项查</a:t>
            </a:r>
          </a:p>
          <a:p>
            <a:pPr>
              <a:spcAft>
                <a:spcPts val="800"/>
              </a:spcAft>
            </a:pPr>
            <a:r>
              <a:rPr sz="1500">
                <a:solidFill>
                  <a:srgbClr val="FFFFFF"/>
                </a:solidFill>
                <a:latin typeface="Microsoft YaHei"/>
              </a:rPr>
              <a:t>▪ K12  外部审核与监督检查</a:t>
            </a:r>
          </a:p>
          <a:p>
            <a:pPr>
              <a:spcAft>
                <a:spcPts val="800"/>
              </a:spcAft>
            </a:pPr>
            <a:r>
              <a:rPr sz="1500">
                <a:solidFill>
                  <a:srgbClr val="FFFFFF"/>
                </a:solidFill>
                <a:latin typeface="Microsoft YaHei"/>
              </a:rPr>
              <a:t>▪ K13  管理评审：体系合适、充分、有效吗</a:t>
            </a:r>
          </a:p>
          <a:p>
            <a:pPr>
              <a:spcAft>
                <a:spcPts val="800"/>
              </a:spcAft>
            </a:pPr>
            <a:r>
              <a:rPr sz="1500">
                <a:solidFill>
                  <a:srgbClr val="FFFFFF"/>
                </a:solidFill>
                <a:latin typeface="Microsoft YaHei"/>
              </a:rPr>
              <a:t>▪ K14  纠正措施与持续改进</a:t>
            </a:r>
          </a:p>
          <a:p>
            <a:pPr>
              <a:spcAft>
                <a:spcPts val="800"/>
              </a:spcAft>
            </a:pPr>
            <a:r>
              <a:rPr sz="1500">
                <a:solidFill>
                  <a:srgbClr val="FFFFFF"/>
                </a:solidFill>
                <a:latin typeface="Microsoft YaHei"/>
              </a:rPr>
              <a:t>▪ K15  被检查时：照常规范，出错先停</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生物风险评估的步骤与风险矩阵</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80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能说出危害与风险的区别，知道风险由可能性和后果共同决定，并能用风险矩阵判断风险等级。</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能说出生物风险评估的六步（危害识别、风险分析、风险评价、风险控制、记录、复查），以及风险随操作步骤而变化。</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能判断残余风险是否可接受、何时必须重新评估，知道评估报告要成文、审核、存档。</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能做到动手前参与本实验室的风险评估，拿不准时先问导师，不擅自开展。</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《中华人民共和国生物安全法》（以现行文本为准）：病原微生物实验室的设立单位负责实验室生物安全管理，从事实验活动应当遵守有关规定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《病原微生物实验室生物安全管理条例》（以现行文本为准）：实验室负责人为第一责任人；实验活动须在相应级别实验室开展，高致病性病原微生物实验活动须经批准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生物安全通用要求》：风险评估及风险控制，评估报告成文并经审核，情况变化时重新评估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233（以现行文本为准）《病原微生物实验室生物安全通用准则》：根据病原危害和实验活动进行风险评估、确定防护水平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号，以现行文本为准）：实验室安全风险评估、危险性实验项目审批</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风险评估：生物安全的地基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风险评估是生物安全的地基</a:t>
            </a:r>
          </a:p>
          <a:p>
            <a:pPr>
              <a:spcAft>
                <a:spcPts val="1000"/>
              </a:spcAft>
            </a:pPr>
            <a:r>
              <a:rPr sz="1700">
                <a:solidFill>
                  <a:srgbClr val="222B33"/>
                </a:solidFill>
                <a:latin typeface="Microsoft YaHei"/>
              </a:rPr>
              <a:t>▪ 看可能性、后果，也看哪些地方拿不准</a:t>
            </a:r>
          </a:p>
          <a:p>
            <a:pPr>
              <a:spcAft>
                <a:spcPts val="1000"/>
              </a:spcAft>
            </a:pPr>
            <a:r>
              <a:rPr sz="1700">
                <a:solidFill>
                  <a:srgbClr val="222B33"/>
                </a:solidFill>
                <a:latin typeface="Microsoft YaHei"/>
              </a:rPr>
              <a:t>▪ 先评估再动手，顺序不能反</a:t>
            </a:r>
          </a:p>
          <a:p>
            <a:pPr>
              <a:spcAft>
                <a:spcPts val="1000"/>
              </a:spcAft>
            </a:pPr>
            <a:r>
              <a:rPr sz="1700">
                <a:solidFill>
                  <a:srgbClr val="222B33"/>
                </a:solidFill>
                <a:latin typeface="Microsoft YaHei"/>
              </a:rPr>
              <a:t>▪ 用菌先问来源，来历不明不乱用</a:t>
            </a:r>
          </a:p>
          <a:p>
            <a:pPr>
              <a:spcAft>
                <a:spcPts val="1000"/>
              </a:spcAft>
            </a:pPr>
            <a:r>
              <a:rPr sz="1700">
                <a:solidFill>
                  <a:srgbClr val="222B33"/>
                </a:solidFill>
                <a:latin typeface="Microsoft YaHei"/>
              </a:rPr>
              <a:t>▪ 评估、控制、看效果，不断改进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先动手做实验，出了问题再补评估</a:t>
            </a:r>
          </a:p>
          <a:p>
            <a:pPr>
              <a:spcAft>
                <a:spcPts val="1000"/>
              </a:spcAft>
            </a:pPr>
            <a:r>
              <a:rPr sz="1500">
                <a:solidFill>
                  <a:srgbClr val="222B33"/>
                </a:solidFill>
                <a:latin typeface="Microsoft YaHei"/>
              </a:rPr>
              <a:t>▪ 使用来历不明的菌种或样本，不问来源</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危害是物，风险来自操作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危害：任何可能造成伤害的东西</a:t>
            </a:r>
          </a:p>
          <a:p>
            <a:pPr>
              <a:spcAft>
                <a:spcPts val="1000"/>
              </a:spcAft>
            </a:pPr>
            <a:r>
              <a:rPr sz="2000">
                <a:solidFill>
                  <a:srgbClr val="222B33"/>
                </a:solidFill>
                <a:latin typeface="Microsoft YaHei"/>
              </a:rPr>
              <a:t>▪ 伤害源是生物因子，就是生物风险</a:t>
            </a:r>
          </a:p>
          <a:p>
            <a:pPr>
              <a:spcAft>
                <a:spcPts val="1000"/>
              </a:spcAft>
            </a:pPr>
            <a:r>
              <a:rPr sz="2000">
                <a:solidFill>
                  <a:srgbClr val="222B33"/>
                </a:solidFill>
                <a:latin typeface="Microsoft YaHei"/>
              </a:rPr>
              <a:t>▪ 动手操作，危害才变成风险</a:t>
            </a:r>
          </a:p>
          <a:p>
            <a:pPr>
              <a:spcAft>
                <a:spcPts val="1000"/>
              </a:spcAft>
            </a:pPr>
            <a:r>
              <a:rPr sz="2000">
                <a:solidFill>
                  <a:srgbClr val="222B33"/>
                </a:solidFill>
                <a:latin typeface="Microsoft YaHei"/>
              </a:rPr>
              <a:t>▪ 操作、运输、被盗、封闭破损都带来风险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危害是任何可能造成伤害的东西，生物因子（病原微生物、毒素、感染性样本等）就是潜在的危害。风险则是这种伤害真正发生的可能性及其后果；伤害源是生物因子的，就叫生物风险。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把危害和风险混为一谈，只看病原不看操作</a:t>
            </a:r>
          </a:p>
          <a:p>
            <a:pPr>
              <a:spcAft>
                <a:spcPts val="1000"/>
              </a:spcAft>
            </a:pPr>
            <a:r>
              <a:rPr sz="1500">
                <a:solidFill>
                  <a:srgbClr val="222B33"/>
                </a:solidFill>
                <a:latin typeface="Microsoft YaHei"/>
              </a:rPr>
              <a:t>▪ 只考虑实验操作，忽略运输、储存和被盗丢失</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风险看可能性和后果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风险由可能性和后果共同决定</a:t>
            </a:r>
          </a:p>
          <a:p>
            <a:pPr>
              <a:spcAft>
                <a:spcPts val="1000"/>
              </a:spcAft>
            </a:pPr>
            <a:r>
              <a:rPr sz="2000">
                <a:solidFill>
                  <a:srgbClr val="222B33"/>
                </a:solidFill>
                <a:latin typeface="Microsoft YaHei"/>
              </a:rPr>
              <a:t>▪ 可能性：出事的几率有多大</a:t>
            </a:r>
          </a:p>
          <a:p>
            <a:pPr>
              <a:spcAft>
                <a:spcPts val="1000"/>
              </a:spcAft>
            </a:pPr>
            <a:r>
              <a:rPr sz="2000">
                <a:solidFill>
                  <a:srgbClr val="222B33"/>
                </a:solidFill>
                <a:latin typeface="Microsoft YaHei"/>
              </a:rPr>
              <a:t>▪ 后果：对人和环境的伤害有多大</a:t>
            </a:r>
          </a:p>
          <a:p>
            <a:pPr>
              <a:spcAft>
                <a:spcPts val="1000"/>
              </a:spcAft>
            </a:pPr>
            <a:r>
              <a:rPr sz="2000">
                <a:solidFill>
                  <a:srgbClr val="222B33"/>
                </a:solidFill>
                <a:latin typeface="Microsoft YaHei"/>
              </a:rPr>
              <a:t>▪ 例：转运不规范，泄漏可能大，人会被感染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风险是可能性和后果（严重程度）的组合。可能性指防护失效、发生暴露的几率有多大；后果指一旦发生，对人员、公众和环境造成的伤害有多大。两者结合起来，才能看出风险的高低。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只看后果，认为“病原不太危险就不用管”</a:t>
            </a:r>
          </a:p>
          <a:p>
            <a:pPr>
              <a:spcAft>
                <a:spcPts val="1000"/>
              </a:spcAft>
            </a:pPr>
            <a:r>
              <a:rPr sz="1500">
                <a:solidFill>
                  <a:srgbClr val="222B33"/>
                </a:solidFill>
                <a:latin typeface="Microsoft YaHei"/>
              </a:rPr>
              <a:t>▪ 只看可能性，认为“从没出过事”就是低风险</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守规矩降的是可能性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守规则能降低出事的可能性</a:t>
            </a:r>
          </a:p>
          <a:p>
            <a:pPr>
              <a:spcAft>
                <a:spcPts val="1000"/>
              </a:spcAft>
            </a:pPr>
            <a:r>
              <a:rPr sz="2000">
                <a:solidFill>
                  <a:srgbClr val="222B33"/>
                </a:solidFill>
                <a:latin typeface="Microsoft YaHei"/>
              </a:rPr>
              <a:t>▪ 万一发生，后果不一定变轻</a:t>
            </a:r>
          </a:p>
          <a:p>
            <a:pPr>
              <a:spcAft>
                <a:spcPts val="1000"/>
              </a:spcAft>
            </a:pPr>
            <a:r>
              <a:rPr sz="2000">
                <a:solidFill>
                  <a:srgbClr val="222B33"/>
                </a:solidFill>
                <a:latin typeface="Microsoft YaHei"/>
              </a:rPr>
              <a:t>▪ 病原关在实验室里，风险很低</a:t>
            </a:r>
          </a:p>
          <a:p>
            <a:pPr>
              <a:spcAft>
                <a:spcPts val="1000"/>
              </a:spcAft>
            </a:pPr>
            <a:r>
              <a:rPr sz="2000">
                <a:solidFill>
                  <a:srgbClr val="222B33"/>
                </a:solidFill>
                <a:latin typeface="Microsoft YaHei"/>
              </a:rPr>
              <a:t>▪ 意外泄漏或被滥用，后果就很高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认为自己操作熟练，就可以降低防护要求</a:t>
            </a:r>
          </a:p>
          <a:p>
            <a:pPr>
              <a:spcAft>
                <a:spcPts val="1000"/>
              </a:spcAft>
            </a:pPr>
            <a:r>
              <a:rPr sz="1500">
                <a:solidFill>
                  <a:srgbClr val="222B33"/>
                </a:solidFill>
                <a:latin typeface="Microsoft YaHei"/>
              </a:rPr>
              <a:t>▪ 只防意外，不防样本丢失、被盗和滥用</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可能性与后果分级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可能性问：发生的概率有多大</a:t>
            </a:r>
          </a:p>
          <a:p>
            <a:pPr>
              <a:spcAft>
                <a:spcPts val="1000"/>
              </a:spcAft>
            </a:pPr>
            <a:r>
              <a:rPr sz="2000">
                <a:solidFill>
                  <a:srgbClr val="222B33"/>
                </a:solidFill>
                <a:latin typeface="Microsoft YaHei"/>
              </a:rPr>
              <a:t>▪ 后果问：万一发生，会有多严重</a:t>
            </a:r>
          </a:p>
          <a:p>
            <a:pPr>
              <a:spcAft>
                <a:spcPts val="1000"/>
              </a:spcAft>
            </a:pPr>
            <a:r>
              <a:rPr sz="2000">
                <a:solidFill>
                  <a:srgbClr val="222B33"/>
                </a:solidFill>
                <a:latin typeface="Microsoft YaHei"/>
              </a:rPr>
              <a:t>▪ 两边常分三到五级</a:t>
            </a:r>
          </a:p>
          <a:p>
            <a:pPr>
              <a:spcAft>
                <a:spcPts val="1000"/>
              </a:spcAft>
            </a:pPr>
            <a:r>
              <a:rPr sz="2000">
                <a:solidFill>
                  <a:srgbClr val="222B33"/>
                </a:solidFill>
                <a:latin typeface="Microsoft YaHei"/>
              </a:rPr>
              <a:t>▪ 分几级、怎么判，按本校评估程序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了把风险说清楚，可能性和后果都要分级。可能性回答“发生的概率有多大”，可从“很少”到“经常”分级；后果回答“万一发生会怎样”，可从“轻微”（无伤害或轻微不适）到“严重”（严重疾病、扩散到社区或环境）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每个人凭感觉打分，没有统一的分级标准</a:t>
            </a:r>
          </a:p>
          <a:p>
            <a:pPr>
              <a:spcAft>
                <a:spcPts val="1000"/>
              </a:spcAft>
            </a:pPr>
            <a:r>
              <a:rPr sz="1500">
                <a:solidFill>
                  <a:srgbClr val="222B33"/>
                </a:solidFill>
                <a:latin typeface="Microsoft YaHei"/>
              </a:rPr>
              <a:t>▪ 只写“风险较低”，说不出依据</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风险矩阵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可能性和后果交叉，就是风险矩阵</a:t>
            </a:r>
          </a:p>
          <a:p>
            <a:pPr>
              <a:spcAft>
                <a:spcPts val="1000"/>
              </a:spcAft>
            </a:pPr>
            <a:r>
              <a:rPr sz="2000">
                <a:solidFill>
                  <a:srgbClr val="222B33"/>
                </a:solidFill>
                <a:latin typeface="Microsoft YaHei"/>
              </a:rPr>
              <a:t>▪ 都低最安全，都高最危险</a:t>
            </a:r>
          </a:p>
          <a:p>
            <a:pPr>
              <a:spcAft>
                <a:spcPts val="1000"/>
              </a:spcAft>
            </a:pPr>
            <a:r>
              <a:rPr sz="2000">
                <a:solidFill>
                  <a:srgbClr val="222B33"/>
                </a:solidFill>
                <a:latin typeface="Microsoft YaHei"/>
              </a:rPr>
              <a:t>▪ 每个风险点放进矩阵，一目了然</a:t>
            </a:r>
          </a:p>
          <a:p>
            <a:pPr>
              <a:spcAft>
                <a:spcPts val="1000"/>
              </a:spcAft>
            </a:pPr>
            <a:r>
              <a:rPr sz="2000">
                <a:solidFill>
                  <a:srgbClr val="222B33"/>
                </a:solidFill>
                <a:latin typeface="Microsoft YaHei"/>
              </a:rPr>
              <a:t>▪ 红格风险优先处理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把可能性和后果的分级交叉成一张表，就是风险矩阵：可能性低、后果轻的落在绿格，风险最低；可能性大、后果重的落在红格，风险最高；中间是黄格。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只给整个实验打一个总分，不逐个风险点分析</a:t>
            </a:r>
          </a:p>
          <a:p>
            <a:pPr>
              <a:spcAft>
                <a:spcPts val="1000"/>
              </a:spcAft>
            </a:pPr>
            <a:r>
              <a:rPr sz="1500">
                <a:solidFill>
                  <a:srgbClr val="222B33"/>
                </a:solidFill>
                <a:latin typeface="Microsoft YaHei"/>
              </a:rPr>
              <a:t>▪ 评出红格仍照常开展</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风险随操作而变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样本密封冻存，风险较低</a:t>
            </a:r>
          </a:p>
          <a:p>
            <a:pPr>
              <a:spcAft>
                <a:spcPts val="1000"/>
              </a:spcAft>
            </a:pPr>
            <a:r>
              <a:rPr sz="2000">
                <a:solidFill>
                  <a:srgbClr val="222B33"/>
                </a:solidFill>
                <a:latin typeface="Microsoft YaHei"/>
              </a:rPr>
              <a:t>▪ 拿出开盖提取，风险升高</a:t>
            </a:r>
          </a:p>
          <a:p>
            <a:pPr>
              <a:spcAft>
                <a:spcPts val="1000"/>
              </a:spcAft>
            </a:pPr>
            <a:r>
              <a:rPr sz="2000">
                <a:solidFill>
                  <a:srgbClr val="222B33"/>
                </a:solidFill>
                <a:latin typeface="Microsoft YaHei"/>
              </a:rPr>
              <a:t>▪ 培养活的病原，风险最高</a:t>
            </a:r>
          </a:p>
          <a:p>
            <a:pPr>
              <a:spcAft>
                <a:spcPts val="1000"/>
              </a:spcAft>
            </a:pPr>
            <a:r>
              <a:rPr sz="2000">
                <a:solidFill>
                  <a:srgbClr val="222B33"/>
                </a:solidFill>
                <a:latin typeface="Microsoft YaHei"/>
              </a:rPr>
              <a:t>▪ 储存也有风险：密封、标清、上锁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种生物材料，风险随操作而变。样本密封冻存在罐里，风险较低；拿出来开盖处理、提取核酸，风险升高；培养活的病原（数量和浓度增加），风险最高。流程一步步往后走，风险一级级升高，一旦释放，后果也越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用冻存样本的风险等级去做培养实验</a:t>
            </a:r>
          </a:p>
          <a:p>
            <a:pPr>
              <a:spcAft>
                <a:spcPts val="1000"/>
              </a:spcAft>
            </a:pPr>
            <a:r>
              <a:rPr sz="1500">
                <a:solidFill>
                  <a:srgbClr val="222B33"/>
                </a:solidFill>
                <a:latin typeface="Microsoft YaHei"/>
              </a:rPr>
              <a:t>▪ 储存的样本不标识、不上锁</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评估六步，按顺序走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六步：识别、分析、评价、控制、记录、复查</a:t>
            </a:r>
          </a:p>
          <a:p>
            <a:pPr>
              <a:spcAft>
                <a:spcPts val="1000"/>
              </a:spcAft>
            </a:pPr>
            <a:r>
              <a:rPr sz="2000">
                <a:solidFill>
                  <a:srgbClr val="222B33"/>
                </a:solidFill>
                <a:latin typeface="Microsoft YaHei"/>
              </a:rPr>
              <a:t>▪ 按顺序走，不跳步</a:t>
            </a:r>
          </a:p>
          <a:p>
            <a:pPr>
              <a:spcAft>
                <a:spcPts val="1000"/>
              </a:spcAft>
            </a:pPr>
            <a:r>
              <a:rPr sz="2000">
                <a:solidFill>
                  <a:srgbClr val="222B33"/>
                </a:solidFill>
                <a:latin typeface="Microsoft YaHei"/>
              </a:rPr>
              <a:t>▪ 走完一遍，还要回头再看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风险评估有固定的步骤：危害识别、风险分析、风险评价、风险控制、记录、复查。也有资料把它概括为五步（识别、评估、控制、看残余风险、再决策），内容是一致的：先认清危害，再估计风险大小，加控制后看残余风险能否接受，然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跳过分析和评价，直接照搬防护措施</a:t>
            </a:r>
          </a:p>
          <a:p>
            <a:pPr>
              <a:spcAft>
                <a:spcPts val="1000"/>
              </a:spcAft>
            </a:pPr>
            <a:r>
              <a:rPr sz="1500">
                <a:solidFill>
                  <a:srgbClr val="222B33"/>
                </a:solidFill>
                <a:latin typeface="Microsoft YaHei"/>
              </a:rPr>
              <a:t>▪ 评估完一次就再不回头看</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第一步：危害识别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弄清用什么生物因子，查国内目录</a:t>
            </a:r>
          </a:p>
          <a:p>
            <a:pPr>
              <a:spcAft>
                <a:spcPts val="1000"/>
              </a:spcAft>
            </a:pPr>
            <a:r>
              <a:rPr sz="1700">
                <a:solidFill>
                  <a:srgbClr val="222B33"/>
                </a:solidFill>
                <a:latin typeface="Microsoft YaHei"/>
              </a:rPr>
              <a:t>▪ 国内第一类最危险，与国际风险组相反</a:t>
            </a:r>
          </a:p>
          <a:p>
            <a:pPr>
              <a:spcAft>
                <a:spcPts val="1000"/>
              </a:spcAft>
            </a:pPr>
            <a:r>
              <a:rPr sz="1700">
                <a:solidFill>
                  <a:srgbClr val="222B33"/>
                </a:solidFill>
                <a:latin typeface="Microsoft YaHei"/>
              </a:rPr>
              <a:t>▪ 列出操作，写清用量和浓度</a:t>
            </a:r>
          </a:p>
          <a:p>
            <a:pPr>
              <a:spcAft>
                <a:spcPts val="1000"/>
              </a:spcAft>
            </a:pPr>
            <a:r>
              <a:rPr sz="1700">
                <a:solidFill>
                  <a:srgbClr val="222B33"/>
                </a:solidFill>
                <a:latin typeface="Microsoft YaHei"/>
              </a:rPr>
              <a:t>▪ 气溶胶、溅洒、锐器要重点看</a:t>
            </a:r>
          </a:p>
          <a:p>
            <a:pPr>
              <a:spcAft>
                <a:spcPts val="1000"/>
              </a:spcAft>
            </a:pPr>
            <a:r>
              <a:rPr sz="1700">
                <a:solidFill>
                  <a:srgbClr val="222B33"/>
                </a:solidFill>
                <a:latin typeface="Microsoft YaHei"/>
              </a:rPr>
              <a:t>▪ 化学和物理危害一起找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第一步是危害识别：先弄清用的是什么生物因子，查《人间传染的病原微生物目录》（以现行版本为准），认出它属于哪一类，再查病原资料拿到依据（要素清单见第 068 课）。注意两套编号：国内病原分类第一类危害最大、第四类最小，……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把国际风险组的编号当成国内分类，弄反危险程度</a:t>
            </a:r>
          </a:p>
          <a:p>
            <a:pPr>
              <a:spcAft>
                <a:spcPts val="1000"/>
              </a:spcAft>
            </a:pPr>
            <a:r>
              <a:rPr sz="1500">
                <a:solidFill>
                  <a:srgbClr val="222B33"/>
                </a:solidFill>
                <a:latin typeface="Microsoft YaHei"/>
              </a:rPr>
              <a:t>▪ 只看病原，不看产生气溶胶的操作和化学、物理危害</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估计暴露的可能性和后果</a:t>
            </a:r>
          </a:p>
          <a:p>
            <a:pPr>
              <a:spcAft>
                <a:spcPts val="1000"/>
              </a:spcAft>
            </a:pPr>
            <a:r>
              <a:rPr sz="2000">
                <a:solidFill>
                  <a:srgbClr val="222B33"/>
                </a:solidFill>
                <a:latin typeface="Microsoft YaHei"/>
              </a:rPr>
              <a:t>▪ 想清楚谁可能受害</a:t>
            </a:r>
          </a:p>
          <a:p>
            <a:pPr>
              <a:spcAft>
                <a:spcPts val="1000"/>
              </a:spcAft>
            </a:pPr>
            <a:r>
              <a:rPr sz="2000">
                <a:solidFill>
                  <a:srgbClr val="222B33"/>
                </a:solidFill>
                <a:latin typeface="Microsoft YaHei"/>
              </a:rPr>
              <a:t>▪ 途径：吸入、溅入、刺伤、食入</a:t>
            </a:r>
          </a:p>
          <a:p>
            <a:pPr>
              <a:spcAft>
                <a:spcPts val="1000"/>
              </a:spcAft>
            </a:pPr>
            <a:r>
              <a:rPr sz="2000">
                <a:solidFill>
                  <a:srgbClr val="222B33"/>
                </a:solidFill>
                <a:latin typeface="Microsoft YaHei"/>
              </a:rPr>
              <a:t>▪ 来历不清的样本，风险往高处估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只考虑操作者本人，忽略同事和保洁清运人员</a:t>
            </a:r>
          </a:p>
          <a:p>
            <a:pPr>
              <a:spcAft>
                <a:spcPts val="1000"/>
              </a:spcAft>
            </a:pPr>
            <a:r>
              <a:rPr sz="1500">
                <a:solidFill>
                  <a:srgbClr val="222B33"/>
                </a:solidFill>
                <a:latin typeface="Microsoft YaHei"/>
              </a:rPr>
              <a:t>▪ 资料不清时按最低风险估计</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第三步：风险评价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定出总体风险等级：低、中、高</a:t>
            </a:r>
          </a:p>
          <a:p>
            <a:pPr>
              <a:spcAft>
                <a:spcPts val="1000"/>
              </a:spcAft>
            </a:pPr>
            <a:r>
              <a:rPr sz="2000">
                <a:solidFill>
                  <a:srgbClr val="222B33"/>
                </a:solidFill>
                <a:latin typeface="Microsoft YaHei"/>
              </a:rPr>
              <a:t>▪ 等级决定要多强的措施</a:t>
            </a:r>
          </a:p>
          <a:p>
            <a:pPr>
              <a:spcAft>
                <a:spcPts val="1000"/>
              </a:spcAft>
            </a:pPr>
            <a:r>
              <a:rPr sz="2000">
                <a:solidFill>
                  <a:srgbClr val="222B33"/>
                </a:solidFill>
                <a:latin typeface="Microsoft YaHei"/>
              </a:rPr>
              <a:t>▪ 看现有控制够不够</a:t>
            </a:r>
          </a:p>
          <a:p>
            <a:pPr>
              <a:spcAft>
                <a:spcPts val="1000"/>
              </a:spcAft>
            </a:pPr>
            <a:r>
              <a:rPr sz="2000">
                <a:solidFill>
                  <a:srgbClr val="222B33"/>
                </a:solidFill>
                <a:latin typeface="Microsoft YaHei"/>
              </a:rPr>
              <a:t>▪ 够就可接受，不够就再加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第三步是风险评价：根据分析结果和风险矩阵，给出总体风险等级——低、中还是高。等级决定要采取多强的控制措施和在哪一级实验室开展。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只给出等级，不对照现有控制是否足够</a:t>
            </a:r>
          </a:p>
          <a:p>
            <a:pPr>
              <a:spcAft>
                <a:spcPts val="1000"/>
              </a:spcAft>
            </a:pPr>
            <a:r>
              <a:rPr sz="1500">
                <a:solidFill>
                  <a:srgbClr val="222B33"/>
                </a:solidFill>
                <a:latin typeface="Microsoft YaHei"/>
              </a:rPr>
              <a:t>▪ 风险等级高，却沿用低等级的做法</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第四步：风险控制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按控制层级选择措施</a:t>
            </a:r>
          </a:p>
          <a:p>
            <a:pPr>
              <a:spcAft>
                <a:spcPts val="1000"/>
              </a:spcAft>
            </a:pPr>
            <a:r>
              <a:rPr sz="2000">
                <a:solidFill>
                  <a:srgbClr val="222B33"/>
                </a:solidFill>
                <a:latin typeface="Microsoft YaHei"/>
              </a:rPr>
              <a:t>▪ 工程控制、个人防护、标准规程一起上</a:t>
            </a:r>
          </a:p>
          <a:p>
            <a:pPr>
              <a:spcAft>
                <a:spcPts val="1000"/>
              </a:spcAft>
            </a:pPr>
            <a:r>
              <a:rPr sz="2000">
                <a:solidFill>
                  <a:srgbClr val="222B33"/>
                </a:solidFill>
                <a:latin typeface="Microsoft YaHei"/>
              </a:rPr>
              <a:t>▪ 例：用密封转子，在安全柜里开盖</a:t>
            </a:r>
          </a:p>
          <a:p>
            <a:pPr>
              <a:spcAft>
                <a:spcPts val="1000"/>
              </a:spcAft>
            </a:pPr>
            <a:r>
              <a:rPr sz="2000">
                <a:solidFill>
                  <a:srgbClr val="222B33"/>
                </a:solidFill>
                <a:latin typeface="Microsoft YaHei"/>
              </a:rPr>
              <a:t>▪ 结论和建议交负责人和课题组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第四步是风险控制：按控制层级（见第 017 课）选择措施，用什么设备、穿什么防护、怎么操作。工程控制（合适级别的实验室、生物安全柜、密封离心转子）、个人防护和标准操作规程要一起上。例如离心可能产生气溶胶的样本时，使用……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只靠个人防护，不用工程控制</a:t>
            </a:r>
          </a:p>
          <a:p>
            <a:pPr>
              <a:spcAft>
                <a:spcPts val="1000"/>
              </a:spcAft>
            </a:pPr>
            <a:r>
              <a:rPr sz="1500">
                <a:solidFill>
                  <a:srgbClr val="222B33"/>
                </a:solidFill>
                <a:latin typeface="Microsoft YaHei"/>
              </a:rPr>
              <a:t>▪ 离心后在台面上直接开盖</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残余风险：能接受才开展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控制加完，总还剩残余风险</a:t>
            </a:r>
          </a:p>
          <a:p>
            <a:pPr>
              <a:spcAft>
                <a:spcPts val="1000"/>
              </a:spcAft>
            </a:pPr>
            <a:r>
              <a:rPr sz="1700">
                <a:solidFill>
                  <a:srgbClr val="222B33"/>
                </a:solidFill>
                <a:latin typeface="Microsoft YaHei"/>
              </a:rPr>
              <a:t>▪ 逐项评估，再合起来看总风险</a:t>
            </a:r>
          </a:p>
          <a:p>
            <a:pPr>
              <a:spcAft>
                <a:spcPts val="1000"/>
              </a:spcAft>
            </a:pPr>
            <a:r>
              <a:rPr sz="1700">
                <a:solidFill>
                  <a:srgbClr val="222B33"/>
                </a:solidFill>
                <a:latin typeface="Microsoft YaHei"/>
              </a:rPr>
              <a:t>▪ 可接受，负责人批准后才开展</a:t>
            </a:r>
          </a:p>
          <a:p>
            <a:pPr>
              <a:spcAft>
                <a:spcPts val="1000"/>
              </a:spcAft>
            </a:pPr>
            <a:r>
              <a:rPr sz="1700">
                <a:solidFill>
                  <a:srgbClr val="222B33"/>
                </a:solidFill>
                <a:latin typeface="Microsoft YaHei"/>
              </a:rPr>
              <a:t>▪ 不可接受，加措施或者不做</a:t>
            </a:r>
          </a:p>
          <a:p>
            <a:pPr>
              <a:spcAft>
                <a:spcPts val="1000"/>
              </a:spcAft>
            </a:pPr>
            <a:r>
              <a:rPr sz="1700">
                <a:solidFill>
                  <a:srgbClr val="222B33"/>
                </a:solidFill>
                <a:latin typeface="Microsoft YaHei"/>
              </a:rPr>
              <a:t>▪ 风险太高报生物安全委员会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采取控制措施后剩下的风险叫残余风险：风险能降下来，但清不了零。把要做的操作一项项列出来，每项单独评估，再合起来看总风险。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认为加了措施就“零风险”</a:t>
            </a:r>
          </a:p>
          <a:p>
            <a:pPr>
              <a:spcAft>
                <a:spcPts val="1000"/>
              </a:spcAft>
            </a:pPr>
            <a:r>
              <a:rPr sz="1500">
                <a:solidFill>
                  <a:srgbClr val="222B33"/>
                </a:solidFill>
                <a:latin typeface="Microsoft YaHei"/>
              </a:rPr>
              <a:t>▪ 残余风险不可接受，仍抱侥幸心理开展</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第五步：记录成文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把评估过程和控制措施写下来</a:t>
            </a:r>
          </a:p>
          <a:p>
            <a:pPr>
              <a:spcAft>
                <a:spcPts val="1000"/>
              </a:spcAft>
            </a:pPr>
            <a:r>
              <a:rPr sz="2000">
                <a:solidFill>
                  <a:srgbClr val="222B33"/>
                </a:solidFill>
                <a:latin typeface="Microsoft YaHei"/>
              </a:rPr>
              <a:t>▪ 审核签字后存档备查</a:t>
            </a:r>
          </a:p>
          <a:p>
            <a:pPr>
              <a:spcAft>
                <a:spcPts val="1000"/>
              </a:spcAft>
            </a:pPr>
            <a:r>
              <a:rPr sz="2000">
                <a:solidFill>
                  <a:srgbClr val="222B33"/>
                </a:solidFill>
                <a:latin typeface="Microsoft YaHei"/>
              </a:rPr>
              <a:t>▪ 新来的人也能查到</a:t>
            </a:r>
          </a:p>
          <a:p>
            <a:pPr>
              <a:spcAft>
                <a:spcPts val="1000"/>
              </a:spcAft>
            </a:pPr>
            <a:r>
              <a:rPr sz="2000">
                <a:solidFill>
                  <a:srgbClr val="222B33"/>
                </a:solidFill>
                <a:latin typeface="Microsoft YaHei"/>
              </a:rPr>
              <a:t>▪ 写下来，更要每次做到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第五步是记录：把评估的过程、依据、结论和控制措施写成风险评估报告，按本校程序经审核批准后存档备查，新来的人也能查到和学习。书面记录的通用写法见第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评估只在脑子里，没有书面报告</a:t>
            </a:r>
          </a:p>
          <a:p>
            <a:pPr>
              <a:spcAft>
                <a:spcPts val="1000"/>
              </a:spcAft>
            </a:pPr>
            <a:r>
              <a:rPr sz="1500">
                <a:solidFill>
                  <a:srgbClr val="222B33"/>
                </a:solidFill>
                <a:latin typeface="Microsoft YaHei"/>
              </a:rPr>
              <a:t>▪ 报告写好就锁进柜子，操作时不照做</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第六步：复查与重新评估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没有变化，也要定期复查</a:t>
            </a:r>
          </a:p>
          <a:p>
            <a:pPr>
              <a:spcAft>
                <a:spcPts val="1000"/>
              </a:spcAft>
            </a:pPr>
            <a:r>
              <a:rPr sz="2000">
                <a:solidFill>
                  <a:srgbClr val="222B33"/>
                </a:solidFill>
                <a:latin typeface="Microsoft YaHei"/>
              </a:rPr>
              <a:t>▪ 换病原、换方法、换人、换设施要重评</a:t>
            </a:r>
          </a:p>
          <a:p>
            <a:pPr>
              <a:spcAft>
                <a:spcPts val="1000"/>
              </a:spcAft>
            </a:pPr>
            <a:r>
              <a:rPr sz="2000">
                <a:solidFill>
                  <a:srgbClr val="222B33"/>
                </a:solidFill>
                <a:latin typeface="Microsoft YaHei"/>
              </a:rPr>
              <a:t>▪ 出了事件，也要重新评估</a:t>
            </a:r>
          </a:p>
          <a:p>
            <a:pPr>
              <a:spcAft>
                <a:spcPts val="1000"/>
              </a:spcAft>
            </a:pPr>
            <a:r>
              <a:rPr sz="2000">
                <a:solidFill>
                  <a:srgbClr val="222B33"/>
                </a:solidFill>
                <a:latin typeface="Microsoft YaHei"/>
              </a:rPr>
              <a:t>▪ 新实验的防护级别报委员会审批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第六步是复查：即使没有变化，也要按本校规定定期复查评估报告。遇到以下情况要及时重新评估并更新：更换病原或材料、改变实验方法或流程、人员变化、设施设备变化，以及发生事件或事故之后。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换了方法或病原，仍沿用旧的评估报告</a:t>
            </a:r>
          </a:p>
          <a:p>
            <a:pPr>
              <a:spcAft>
                <a:spcPts val="1000"/>
              </a:spcAft>
            </a:pPr>
            <a:r>
              <a:rPr sz="1500">
                <a:solidFill>
                  <a:srgbClr val="222B33"/>
                </a:solidFill>
                <a:latin typeface="Microsoft YaHei"/>
              </a:rPr>
              <a:t>▪ 发生事件后只处理现场，不重新评估</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让动手的人参与评估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评估不是一个人填表</a:t>
            </a:r>
          </a:p>
          <a:p>
            <a:pPr>
              <a:spcAft>
                <a:spcPts val="1000"/>
              </a:spcAft>
            </a:pPr>
            <a:r>
              <a:rPr sz="2000">
                <a:solidFill>
                  <a:srgbClr val="222B33"/>
                </a:solidFill>
                <a:latin typeface="Microsoft YaHei"/>
              </a:rPr>
              <a:t>▪ 动手的人最清楚哪里容易出错</a:t>
            </a:r>
          </a:p>
          <a:p>
            <a:pPr>
              <a:spcAft>
                <a:spcPts val="1000"/>
              </a:spcAft>
            </a:pPr>
            <a:r>
              <a:rPr sz="2000">
                <a:solidFill>
                  <a:srgbClr val="222B33"/>
                </a:solidFill>
                <a:latin typeface="Microsoft YaHei"/>
              </a:rPr>
              <a:t>▪ 负责人组织，操作者参与，人人知晓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由负责人一人填写，操作者只签字</a:t>
            </a:r>
          </a:p>
          <a:p>
            <a:pPr>
              <a:spcAft>
                <a:spcPts val="1000"/>
              </a:spcAft>
            </a:pPr>
            <a:r>
              <a:rPr sz="1500">
                <a:solidFill>
                  <a:srgbClr val="222B33"/>
                </a:solidFill>
                <a:latin typeface="Microsoft YaHei"/>
              </a:rPr>
              <a:t>▪ 新成员加入后不学习本实验室的评估报告</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关于危害与风险，正确的是：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危害和风险是一回事</a:t>
            </a:r>
          </a:p>
          <a:p>
            <a:pPr algn="l"/>
            <a:r>
              <a:rPr sz="1500" b="0">
                <a:solidFill>
                  <a:srgbClr val="222B33"/>
                </a:solidFill>
                <a:latin typeface="Microsoft YaHei"/>
              </a:rPr>
              <a:t>B. 生物因子本身是危害，动手操作它才带来风险</a:t>
            </a:r>
          </a:p>
          <a:p>
            <a:pPr algn="l"/>
            <a:r>
              <a:rPr sz="1500" b="0">
                <a:solidFill>
                  <a:srgbClr val="222B33"/>
                </a:solidFill>
                <a:latin typeface="Microsoft YaHei"/>
              </a:rPr>
              <a:t>C. 只要病原危险，风险就一定高</a:t>
            </a:r>
          </a:p>
          <a:p>
            <a:pPr algn="l"/>
            <a:r>
              <a:rPr sz="1500" b="0">
                <a:solidFill>
                  <a:srgbClr val="222B33"/>
                </a:solidFill>
                <a:latin typeface="Microsoft YaHei"/>
              </a:rPr>
              <a:t>D. 储存的样本没有风险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判断：守规则操作能降低出事的可能性，所以万一发生暴露，后果也会变轻。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生物风险评估六步的正确顺序是：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控制、识别、记录、评价、分析、复查</a:t>
            </a:r>
          </a:p>
          <a:p>
            <a:pPr algn="l"/>
            <a:r>
              <a:rPr sz="1500" b="0">
                <a:solidFill>
                  <a:srgbClr val="222B33"/>
                </a:solidFill>
                <a:latin typeface="Microsoft YaHei"/>
              </a:rPr>
              <a:t>B. 识别、分析、评价、控制、记录、复查</a:t>
            </a:r>
          </a:p>
          <a:p>
            <a:pPr algn="l"/>
            <a:r>
              <a:rPr sz="1500" b="0">
                <a:solidFill>
                  <a:srgbClr val="222B33"/>
                </a:solidFill>
                <a:latin typeface="Microsoft YaHei"/>
              </a:rPr>
              <a:t>C. 记录、识别、控制、复查、分析、评价</a:t>
            </a:r>
          </a:p>
          <a:p>
            <a:pPr algn="l"/>
            <a:r>
              <a:rPr sz="1500" b="0">
                <a:solidFill>
                  <a:srgbClr val="222B33"/>
                </a:solidFill>
                <a:latin typeface="Microsoft YaHei"/>
              </a:rPr>
              <a:t>D. 评价、控制、识别、分析、记录、复查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下列哪种情况不需要立即重新评估？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更换病原</a:t>
            </a:r>
          </a:p>
          <a:p>
            <a:pPr algn="l"/>
            <a:r>
              <a:rPr sz="1500" b="0">
                <a:solidFill>
                  <a:srgbClr val="222B33"/>
                </a:solidFill>
                <a:latin typeface="Microsoft YaHei"/>
              </a:rPr>
              <a:t>B. 改变实验方法</a:t>
            </a:r>
          </a:p>
          <a:p>
            <a:pPr algn="l"/>
            <a:r>
              <a:rPr sz="1500" b="0">
                <a:solidFill>
                  <a:srgbClr val="222B33"/>
                </a:solidFill>
                <a:latin typeface="Microsoft YaHei"/>
              </a:rPr>
              <a:t>C. 发生暴露事件</a:t>
            </a:r>
          </a:p>
          <a:p>
            <a:pPr algn="l"/>
            <a:r>
              <a:rPr sz="1500" b="0">
                <a:solidFill>
                  <a:srgbClr val="222B33"/>
                </a:solidFill>
                <a:latin typeface="Microsoft YaHei"/>
              </a:rPr>
              <a:t>D. 同一人用同一方法重复做同一实验，且在复查周期内</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判断：控制措施加完后，残余风险能降为零，就可以开展实验。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简答：国内病原微生物分类与国际风险组在编号上有什么不同？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风险评估：生物安全的地基</a:t>
            </a:r>
          </a:p>
          <a:p>
            <a:pPr>
              <a:spcAft>
                <a:spcPts val="800"/>
              </a:spcAft>
            </a:pPr>
            <a:r>
              <a:rPr sz="1500">
                <a:solidFill>
                  <a:srgbClr val="FFFFFF"/>
                </a:solidFill>
                <a:latin typeface="Microsoft YaHei"/>
              </a:rPr>
              <a:t>▪ K2  危害是物，风险来自操作</a:t>
            </a:r>
          </a:p>
          <a:p>
            <a:pPr>
              <a:spcAft>
                <a:spcPts val="800"/>
              </a:spcAft>
            </a:pPr>
            <a:r>
              <a:rPr sz="1500">
                <a:solidFill>
                  <a:srgbClr val="FFFFFF"/>
                </a:solidFill>
                <a:latin typeface="Microsoft YaHei"/>
              </a:rPr>
              <a:t>▪ K3  风险看可能性和后果</a:t>
            </a:r>
          </a:p>
          <a:p>
            <a:pPr>
              <a:spcAft>
                <a:spcPts val="800"/>
              </a:spcAft>
            </a:pPr>
            <a:r>
              <a:rPr sz="1500">
                <a:solidFill>
                  <a:srgbClr val="FFFFFF"/>
                </a:solidFill>
                <a:latin typeface="Microsoft YaHei"/>
              </a:rPr>
              <a:t>▪ K4  守规矩降的是可能性</a:t>
            </a:r>
          </a:p>
          <a:p>
            <a:pPr>
              <a:spcAft>
                <a:spcPts val="800"/>
              </a:spcAft>
            </a:pPr>
            <a:r>
              <a:rPr sz="1500">
                <a:solidFill>
                  <a:srgbClr val="FFFFFF"/>
                </a:solidFill>
                <a:latin typeface="Microsoft YaHei"/>
              </a:rPr>
              <a:t>▪ K5  可能性与后果分级</a:t>
            </a:r>
          </a:p>
          <a:p>
            <a:pPr>
              <a:spcAft>
                <a:spcPts val="800"/>
              </a:spcAft>
            </a:pPr>
            <a:r>
              <a:rPr sz="1500">
                <a:solidFill>
                  <a:srgbClr val="FFFFFF"/>
                </a:solidFill>
                <a:latin typeface="Microsoft YaHei"/>
              </a:rPr>
              <a:t>▪ K6  风险矩阵</a:t>
            </a:r>
          </a:p>
          <a:p>
            <a:pPr>
              <a:spcAft>
                <a:spcPts val="800"/>
              </a:spcAft>
            </a:pPr>
            <a:r>
              <a:rPr sz="1500">
                <a:solidFill>
                  <a:srgbClr val="FFFFFF"/>
                </a:solidFill>
                <a:latin typeface="Microsoft YaHei"/>
              </a:rPr>
              <a:t>▪ K7  风险随操作而变</a:t>
            </a:r>
          </a:p>
          <a:p>
            <a:pPr>
              <a:spcAft>
                <a:spcPts val="800"/>
              </a:spcAft>
            </a:pPr>
            <a:r>
              <a:rPr sz="1500">
                <a:solidFill>
                  <a:srgbClr val="FFFFFF"/>
                </a:solidFill>
                <a:latin typeface="Microsoft YaHei"/>
              </a:rPr>
              <a:t>▪ K8  评估六步，按顺序走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第一步：危害识别</a:t>
            </a:r>
          </a:p>
          <a:p>
            <a:pPr>
              <a:spcAft>
                <a:spcPts val="800"/>
              </a:spcAft>
            </a:pPr>
            <a:r>
              <a:rPr sz="1500">
                <a:solidFill>
                  <a:srgbClr val="FFFFFF"/>
                </a:solidFill>
                <a:latin typeface="Microsoft YaHei"/>
              </a:rPr>
              <a:t>▪ K10  第二步：风险分析</a:t>
            </a:r>
          </a:p>
          <a:p>
            <a:pPr>
              <a:spcAft>
                <a:spcPts val="800"/>
              </a:spcAft>
            </a:pPr>
            <a:r>
              <a:rPr sz="1500">
                <a:solidFill>
                  <a:srgbClr val="FFFFFF"/>
                </a:solidFill>
                <a:latin typeface="Microsoft YaHei"/>
              </a:rPr>
              <a:t>▪ K11  第三步：风险评价</a:t>
            </a:r>
          </a:p>
          <a:p>
            <a:pPr>
              <a:spcAft>
                <a:spcPts val="800"/>
              </a:spcAft>
            </a:pPr>
            <a:r>
              <a:rPr sz="1500">
                <a:solidFill>
                  <a:srgbClr val="FFFFFF"/>
                </a:solidFill>
                <a:latin typeface="Microsoft YaHei"/>
              </a:rPr>
              <a:t>▪ K12  第四步：风险控制</a:t>
            </a:r>
          </a:p>
          <a:p>
            <a:pPr>
              <a:spcAft>
                <a:spcPts val="800"/>
              </a:spcAft>
            </a:pPr>
            <a:r>
              <a:rPr sz="1500">
                <a:solidFill>
                  <a:srgbClr val="FFFFFF"/>
                </a:solidFill>
                <a:latin typeface="Microsoft YaHei"/>
              </a:rPr>
              <a:t>▪ K13  残余风险：能接受才开展</a:t>
            </a:r>
          </a:p>
          <a:p>
            <a:pPr>
              <a:spcAft>
                <a:spcPts val="800"/>
              </a:spcAft>
            </a:pPr>
            <a:r>
              <a:rPr sz="1500">
                <a:solidFill>
                  <a:srgbClr val="FFFFFF"/>
                </a:solidFill>
                <a:latin typeface="Microsoft YaHei"/>
              </a:rPr>
              <a:t>▪ K14  第五步：记录成文</a:t>
            </a:r>
          </a:p>
          <a:p>
            <a:pPr>
              <a:spcAft>
                <a:spcPts val="800"/>
              </a:spcAft>
            </a:pPr>
            <a:r>
              <a:rPr sz="1500">
                <a:solidFill>
                  <a:srgbClr val="FFFFFF"/>
                </a:solidFill>
                <a:latin typeface="Microsoft YaHei"/>
              </a:rPr>
              <a:t>▪ K15  第六步：复查与重新评估</a:t>
            </a:r>
          </a:p>
          <a:p>
            <a:pPr>
              <a:spcAft>
                <a:spcPts val="800"/>
              </a:spcAft>
            </a:pPr>
            <a:r>
              <a:rPr sz="1500">
                <a:solidFill>
                  <a:srgbClr val="FFFFFF"/>
                </a:solidFill>
                <a:latin typeface="Microsoft YaHei"/>
              </a:rPr>
              <a:t>▪ K16  让动手的人参与评估</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病原与实验活动的评估要素</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95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能说出病原层面的评估要素（分类、致病性与感染剂量、感染途径与媒介、宿主范围、环境存活、本地流行、有无预防治疗、是否经过改造），知道国内病原分类与国际风险组方向相反。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能说出实验活动层面（用途、浓度与培养量、易暴露操作）和人员层面（免疫状态、健康与过敏）的评估要素，以及设施与管理问卷要问什么。</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能做到把一个实验流程拆成单步，逐步用风险矩阵打分并汇总，评估结果成文审核后再进入减缓。</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能判断未知病原、临床和环境样本等应从严评估，一个病原、一项实验要有专门的评估。</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《病原微生物实验室生物安全管理条例》（以现行文本为准）：病原微生物分类管理；实验活动须在相应级别实验室开展，高致病性病原微生物实验活动须经批准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生物安全通用要求》：风险评估应考虑的要素（生物因子特性、实验活动、人员、设施设备、管理等），评估报告成文并经审核</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233（以现行文本为准）《病原微生物实验室生物安全通用准则》：根据病原危害程度和实验活动进行风险评估</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《中华人民共和国生物安全法》《农业转基因生物安全管理条例》（以现行文本为准）：经改造的生物须评估并按规定审批（详见第 081 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一个病原、一项实验，一份评估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评估是摸清这一个病原的风险</a:t>
            </a:r>
          </a:p>
          <a:p>
            <a:pPr>
              <a:spcAft>
                <a:spcPts val="1000"/>
              </a:spcAft>
            </a:pPr>
            <a:r>
              <a:rPr sz="2000">
                <a:solidFill>
                  <a:srgbClr val="222B33"/>
                </a:solidFill>
                <a:latin typeface="Microsoft YaHei"/>
              </a:rPr>
              <a:t>▪ 一个病原一份评估，不能套用</a:t>
            </a:r>
          </a:p>
          <a:p>
            <a:pPr>
              <a:spcAft>
                <a:spcPts val="1000"/>
              </a:spcAft>
            </a:pPr>
            <a:r>
              <a:rPr sz="2000">
                <a:solidFill>
                  <a:srgbClr val="222B33"/>
                </a:solidFill>
                <a:latin typeface="Microsoft YaHei"/>
              </a:rPr>
              <a:t>▪ 没有通用清单，每个实验专门评估</a:t>
            </a:r>
          </a:p>
          <a:p>
            <a:pPr>
              <a:spcAft>
                <a:spcPts val="1000"/>
              </a:spcAft>
            </a:pPr>
            <a:r>
              <a:rPr sz="2000">
                <a:solidFill>
                  <a:srgbClr val="222B33"/>
                </a:solidFill>
                <a:latin typeface="Microsoft YaHei"/>
              </a:rPr>
              <a:t>▪ 评估是 AMP 第一步，先找危害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借用隔壁实验室或网上的评估报告</a:t>
            </a:r>
          </a:p>
          <a:p>
            <a:pPr>
              <a:spcAft>
                <a:spcPts val="1000"/>
              </a:spcAft>
            </a:pPr>
            <a:r>
              <a:rPr sz="1500">
                <a:solidFill>
                  <a:srgbClr val="222B33"/>
                </a:solidFill>
                <a:latin typeface="Microsoft YaHei"/>
              </a:rPr>
              <a:t>▪ 同一病原换了实验方法，仍用原来的评估</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未知病原和特殊样本从严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病原没弄清，风险看不清，评估从严</a:t>
            </a:r>
          </a:p>
          <a:p>
            <a:pPr>
              <a:spcAft>
                <a:spcPts val="1000"/>
              </a:spcAft>
            </a:pPr>
            <a:r>
              <a:rPr sz="2000">
                <a:solidFill>
                  <a:srgbClr val="222B33"/>
                </a:solidFill>
                <a:latin typeface="Microsoft YaHei"/>
              </a:rPr>
              <a:t>▪ 临床、土壤、野生动物、改造来源的样本要从严</a:t>
            </a:r>
          </a:p>
          <a:p>
            <a:pPr>
              <a:spcAft>
                <a:spcPts val="1000"/>
              </a:spcAft>
            </a:pPr>
            <a:r>
              <a:rPr sz="2000">
                <a:solidFill>
                  <a:srgbClr val="222B33"/>
                </a:solidFill>
                <a:latin typeface="Microsoft YaHei"/>
              </a:rPr>
              <a:t>▪ 看着健康的来源，也可能带病原</a:t>
            </a:r>
          </a:p>
          <a:p>
            <a:pPr>
              <a:spcAft>
                <a:spcPts val="1000"/>
              </a:spcAft>
            </a:pPr>
            <a:r>
              <a:rPr sz="2000">
                <a:solidFill>
                  <a:srgbClr val="222B33"/>
                </a:solidFill>
                <a:latin typeface="Microsoft YaHei"/>
              </a:rPr>
              <a:t>▪ 往高处估，报委员会审核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风险评估要以已知的病原信息为依据；不知道是什么，风险就看不清。病原还没有确认时，评估要从严，按较高的防护要求操作，并报单位生物安全委员会审核（定级见第 060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认为“看起来健康的动物样本没有风险”</a:t>
            </a:r>
          </a:p>
          <a:p>
            <a:pPr>
              <a:spcAft>
                <a:spcPts val="1000"/>
              </a:spcAft>
            </a:pPr>
            <a:r>
              <a:rPr sz="1500">
                <a:solidFill>
                  <a:srgbClr val="222B33"/>
                </a:solidFill>
                <a:latin typeface="Microsoft YaHei"/>
              </a:rPr>
              <a:t>▪ 病原未确认就按最低级别处理</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冰山：看不见的风险也要想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风险像冰山，大半在水面下</a:t>
            </a:r>
          </a:p>
          <a:p>
            <a:pPr>
              <a:spcAft>
                <a:spcPts val="1000"/>
              </a:spcAft>
            </a:pPr>
            <a:r>
              <a:rPr sz="2000">
                <a:solidFill>
                  <a:srgbClr val="222B33"/>
                </a:solidFill>
                <a:latin typeface="Microsoft YaHei"/>
              </a:rPr>
              <a:t>▪ 看得见的，能评估、能控制</a:t>
            </a:r>
          </a:p>
          <a:p>
            <a:pPr>
              <a:spcAft>
                <a:spcPts val="1000"/>
              </a:spcAft>
            </a:pPr>
            <a:r>
              <a:rPr sz="2000">
                <a:solidFill>
                  <a:srgbClr val="222B33"/>
                </a:solidFill>
                <a:latin typeface="Microsoft YaHei"/>
              </a:rPr>
              <a:t>▪ 看不见的，如没人知道的过敏，也要预判</a:t>
            </a:r>
          </a:p>
          <a:p>
            <a:pPr>
              <a:spcAft>
                <a:spcPts val="1000"/>
              </a:spcAft>
            </a:pPr>
            <a:r>
              <a:rPr sz="2000">
                <a:solidFill>
                  <a:srgbClr val="222B33"/>
                </a:solidFill>
                <a:latin typeface="Microsoft YaHei"/>
              </a:rPr>
              <a:t>▪ 评估要全面，看得见看不见都想到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风险评估像一座冰山：水面上看得见的风险，能评估、能控制；水面下看不见的风险，同样可能出事，比如一个没人知道的过敏、一种新方法里没有先例的问题。没有先例时，常规的问题清单也可能问不到。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清单上的项目都打了勾，就认为没有风险了</a:t>
            </a:r>
          </a:p>
          <a:p>
            <a:pPr>
              <a:spcAft>
                <a:spcPts val="1000"/>
              </a:spcAft>
            </a:pPr>
            <a:r>
              <a:rPr sz="1500">
                <a:solidFill>
                  <a:srgbClr val="222B33"/>
                </a:solidFill>
                <a:latin typeface="Microsoft YaHei"/>
              </a:rPr>
              <a:t>▪ 对没有先例的新方法不做额外考虑</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评估清单：病原、活动、人员、设施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评估清单分四块：病原、活动、人员、设施</a:t>
            </a:r>
          </a:p>
          <a:p>
            <a:pPr>
              <a:spcAft>
                <a:spcPts val="1000"/>
              </a:spcAft>
            </a:pPr>
            <a:r>
              <a:rPr sz="2000">
                <a:solidFill>
                  <a:srgbClr val="222B33"/>
                </a:solidFill>
                <a:latin typeface="Microsoft YaHei"/>
              </a:rPr>
              <a:t>▪ 病原：分类、途径、剂量、能不能治</a:t>
            </a:r>
          </a:p>
          <a:p>
            <a:pPr>
              <a:spcAft>
                <a:spcPts val="1000"/>
              </a:spcAft>
            </a:pPr>
            <a:r>
              <a:rPr sz="2000">
                <a:solidFill>
                  <a:srgbClr val="222B33"/>
                </a:solidFill>
                <a:latin typeface="Microsoft YaHei"/>
              </a:rPr>
              <a:t>▪ 活动：做什么、用量、几步、几人</a:t>
            </a:r>
          </a:p>
          <a:p>
            <a:pPr>
              <a:spcAft>
                <a:spcPts val="1000"/>
              </a:spcAft>
            </a:pPr>
            <a:r>
              <a:rPr sz="2000">
                <a:solidFill>
                  <a:srgbClr val="222B33"/>
                </a:solidFill>
                <a:latin typeface="Microsoft YaHei"/>
              </a:rPr>
              <a:t>▪ 照着准则，编成本组的评估工具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要看一串判据，可整理成一张清单，分四块：病原本身（分类、致病性、感染剂量、途径、存活、宿主、防治、是否改造）；实验活动（工艺、用量和浓度、步骤多少、参与人数）；人员（培训、健康和免疫状态）；设施与管理（设备、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只看病原一块，不看活动、人员和设施</a:t>
            </a:r>
          </a:p>
          <a:p>
            <a:pPr>
              <a:spcAft>
                <a:spcPts val="1000"/>
              </a:spcAft>
            </a:pPr>
            <a:r>
              <a:rPr sz="1500">
                <a:solidFill>
                  <a:srgbClr val="222B33"/>
                </a:solidFill>
                <a:latin typeface="Microsoft YaHei"/>
              </a:rPr>
              <a:t>▪ 清单项目写了，却不逐项回答</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病原：先查分类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第一问：它属于哪一类</a:t>
            </a:r>
          </a:p>
          <a:p>
            <a:pPr>
              <a:spcAft>
                <a:spcPts val="1000"/>
              </a:spcAft>
            </a:pPr>
            <a:r>
              <a:rPr sz="2000">
                <a:solidFill>
                  <a:srgbClr val="222B33"/>
                </a:solidFill>
                <a:latin typeface="Microsoft YaHei"/>
              </a:rPr>
              <a:t>▪ 查《人间传染的病原微生物目录》</a:t>
            </a:r>
          </a:p>
          <a:p>
            <a:pPr>
              <a:spcAft>
                <a:spcPts val="1000"/>
              </a:spcAft>
            </a:pPr>
            <a:r>
              <a:rPr sz="2000">
                <a:solidFill>
                  <a:srgbClr val="222B33"/>
                </a:solidFill>
                <a:latin typeface="Microsoft YaHei"/>
              </a:rPr>
              <a:t>▪ 国内第一类最危险，与国际风险组相反</a:t>
            </a:r>
          </a:p>
          <a:p>
            <a:pPr>
              <a:spcAft>
                <a:spcPts val="1000"/>
              </a:spcAft>
            </a:pPr>
            <a:r>
              <a:rPr sz="2000">
                <a:solidFill>
                  <a:srgbClr val="222B33"/>
                </a:solidFill>
                <a:latin typeface="Microsoft YaHei"/>
              </a:rPr>
              <a:t>▪ 分类只是起点，还要往下问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病原层面的第一问是：它属于哪一类？查《人间传染的病原微生物目录》（以现行版本为准），目录还规定了不同实验活动所需的实验室防护级别。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只查了分类，不再看操作和人员</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病原：致病性、感染剂量与后果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会不会致病，致病性有多强</a:t>
            </a:r>
          </a:p>
          <a:p>
            <a:pPr>
              <a:spcAft>
                <a:spcPts val="1000"/>
              </a:spcAft>
            </a:pPr>
            <a:r>
              <a:rPr sz="2000">
                <a:solidFill>
                  <a:srgbClr val="222B33"/>
                </a:solidFill>
                <a:latin typeface="Microsoft YaHei"/>
              </a:rPr>
              <a:t>▪ 感染剂量：多少量才会致病</a:t>
            </a:r>
          </a:p>
          <a:p>
            <a:pPr>
              <a:spcAft>
                <a:spcPts val="1000"/>
              </a:spcAft>
            </a:pPr>
            <a:r>
              <a:rPr sz="2000">
                <a:solidFill>
                  <a:srgbClr val="222B33"/>
                </a:solidFill>
                <a:latin typeface="Microsoft YaHei"/>
              </a:rPr>
              <a:t>▪ 很少的量就能致病，要格外小心</a:t>
            </a:r>
          </a:p>
          <a:p>
            <a:pPr>
              <a:spcAft>
                <a:spcPts val="1000"/>
              </a:spcAft>
            </a:pPr>
            <a:r>
              <a:rPr sz="2000">
                <a:solidFill>
                  <a:srgbClr val="222B33"/>
                </a:solidFill>
                <a:latin typeface="Microsoft YaHei"/>
              </a:rPr>
              <a:t>▪ 暴露后果有多重；培养体积尽量小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一看致病性：暴露后会不会致病，致病性有多强。二看感染剂量：多少量才会引起感染（具体数值查权威资料，不同病原差别很大）；感染剂量越低，越要格外小心。三看暴露后果：引起的疾病有多严重。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只看是否致病，不看感染剂量和后果严重程度</a:t>
            </a:r>
          </a:p>
          <a:p>
            <a:pPr>
              <a:spcAft>
                <a:spcPts val="1000"/>
              </a:spcAft>
            </a:pPr>
            <a:r>
              <a:rPr sz="1500">
                <a:solidFill>
                  <a:srgbClr val="222B33"/>
                </a:solidFill>
                <a:latin typeface="Microsoft YaHei"/>
              </a:rPr>
              <a:t>▪ 培养量远超实验需要</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病原：感染途径与媒介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从哪里进入人体：吸入、接触、刺伤、食入</a:t>
            </a:r>
          </a:p>
          <a:p>
            <a:pPr>
              <a:spcAft>
                <a:spcPts val="1000"/>
              </a:spcAft>
            </a:pPr>
            <a:r>
              <a:rPr sz="2000">
                <a:solidFill>
                  <a:srgbClr val="222B33"/>
                </a:solidFill>
                <a:latin typeface="Microsoft YaHei"/>
              </a:rPr>
              <a:t>▪ 会不会形成气溶胶，经空气传</a:t>
            </a:r>
          </a:p>
          <a:p>
            <a:pPr>
              <a:spcAft>
                <a:spcPts val="1000"/>
              </a:spcAft>
            </a:pPr>
            <a:r>
              <a:rPr sz="2000">
                <a:solidFill>
                  <a:srgbClr val="222B33"/>
                </a:solidFill>
                <a:latin typeface="Microsoft YaHei"/>
              </a:rPr>
              <a:t>▪ 有没有媒介或宿主帮它传</a:t>
            </a:r>
          </a:p>
          <a:p>
            <a:pPr>
              <a:spcAft>
                <a:spcPts val="1000"/>
              </a:spcAft>
            </a:pPr>
            <a:r>
              <a:rPr sz="2000">
                <a:solidFill>
                  <a:srgbClr val="222B33"/>
                </a:solidFill>
                <a:latin typeface="Microsoft YaHei"/>
              </a:rPr>
              <a:t>▪ 会不会人传人，也要查清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要查清病原从哪里进入人体：吸入气溶胶、皮肤黏膜接触、锐器刺伤，还是误食入口；会不会形成气溶胶经空气传播。还要看传播方式中有没有媒介（如蜱、蚊等）或动物宿主参与，以及会不会人传人。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只考虑自然感染途径，忽略实验室中的气溶胶和刺伤</a:t>
            </a:r>
          </a:p>
          <a:p>
            <a:pPr>
              <a:spcAft>
                <a:spcPts val="1000"/>
              </a:spcAft>
            </a:pPr>
            <a:r>
              <a:rPr sz="1500">
                <a:solidFill>
                  <a:srgbClr val="222B33"/>
                </a:solidFill>
                <a:latin typeface="Microsoft YaHei"/>
              </a:rPr>
              <a:t>▪ 不了解病原有无媒介和宿主</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病原：宿主范围、环境存活、本地流行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有的病原能在多种宿主里生存</a:t>
            </a:r>
          </a:p>
          <a:p>
            <a:pPr>
              <a:spcAft>
                <a:spcPts val="1000"/>
              </a:spcAft>
            </a:pPr>
            <a:r>
              <a:rPr sz="2000">
                <a:solidFill>
                  <a:srgbClr val="222B33"/>
                </a:solidFill>
                <a:latin typeface="Microsoft YaHei"/>
              </a:rPr>
              <a:t>▪ 有的从环境吸入就能感染</a:t>
            </a:r>
          </a:p>
          <a:p>
            <a:pPr>
              <a:spcAft>
                <a:spcPts val="1000"/>
              </a:spcAft>
            </a:pPr>
            <a:r>
              <a:rPr sz="2000">
                <a:solidFill>
                  <a:srgbClr val="222B33"/>
                </a:solidFill>
                <a:latin typeface="Microsoft YaHei"/>
              </a:rPr>
              <a:t>▪ 在环境里能活多久</a:t>
            </a:r>
          </a:p>
          <a:p>
            <a:pPr>
              <a:spcAft>
                <a:spcPts val="1000"/>
              </a:spcAft>
            </a:pPr>
            <a:r>
              <a:rPr sz="2000">
                <a:solidFill>
                  <a:srgbClr val="222B33"/>
                </a:solidFill>
                <a:latin typeface="Microsoft YaHei"/>
              </a:rPr>
              <a:t>▪ 本地流行还是外来，免疫背景不同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宿主范围：有的病原能在人、多种动物甚至环境中生存，宿主和来源很多样，有的从环境中吸入就能感染；制定管理方案时要把这些都算上。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只考虑人是宿主，忽略实验动物和环境</a:t>
            </a:r>
          </a:p>
          <a:p>
            <a:pPr>
              <a:spcAft>
                <a:spcPts val="1000"/>
              </a:spcAft>
            </a:pPr>
            <a:r>
              <a:rPr sz="1500">
                <a:solidFill>
                  <a:srgbClr val="222B33"/>
                </a:solidFill>
                <a:latin typeface="Microsoft YaHei"/>
              </a:rPr>
              <a:t>▪ 不考虑病原在环境中的存活时间</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病原：有无预防治疗和已有研究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有没有疫苗预防，有没有药物治疗</a:t>
            </a:r>
          </a:p>
          <a:p>
            <a:pPr>
              <a:spcAft>
                <a:spcPts val="1000"/>
              </a:spcAft>
            </a:pPr>
            <a:r>
              <a:rPr sz="2000">
                <a:solidFill>
                  <a:srgbClr val="222B33"/>
                </a:solidFill>
                <a:latin typeface="Microsoft YaHei"/>
              </a:rPr>
              <a:t>▪ 本地能不能及时预防和治疗</a:t>
            </a:r>
          </a:p>
          <a:p>
            <a:pPr>
              <a:spcAft>
                <a:spcPts val="1000"/>
              </a:spcAft>
            </a:pPr>
            <a:r>
              <a:rPr sz="2000">
                <a:solidFill>
                  <a:srgbClr val="222B33"/>
                </a:solidFill>
                <a:latin typeface="Microsoft YaHei"/>
              </a:rPr>
              <a:t>▪ 先查文献和已有研究，拿到依据</a:t>
            </a:r>
          </a:p>
          <a:p>
            <a:pPr>
              <a:spcAft>
                <a:spcPts val="1000"/>
              </a:spcAft>
            </a:pPr>
            <a:r>
              <a:rPr sz="2000">
                <a:solidFill>
                  <a:srgbClr val="222B33"/>
                </a:solidFill>
                <a:latin typeface="Microsoft YaHei"/>
              </a:rPr>
              <a:t>▪ 无药可防可治，风险更高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要问有没有有效的疫苗预防、有没有药物治疗，本地医疗机构能不能及时提供。没有有效的预防和治疗手段，暴露的后果就更严重，风险等级随之升高。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凭印象判断“有药可治”，不查资料</a:t>
            </a:r>
          </a:p>
          <a:p>
            <a:pPr>
              <a:spcAft>
                <a:spcPts val="1000"/>
              </a:spcAft>
            </a:pPr>
            <a:r>
              <a:rPr sz="1500">
                <a:solidFill>
                  <a:srgbClr val="222B33"/>
                </a:solidFill>
                <a:latin typeface="Microsoft YaHei"/>
              </a:rPr>
              <a:t>▪ 不了解本地医疗机构能否处置</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病原：是否经过改造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是否做过基因改造，一定要问</a:t>
            </a:r>
          </a:p>
          <a:p>
            <a:pPr>
              <a:spcAft>
                <a:spcPts val="1000"/>
              </a:spcAft>
            </a:pPr>
            <a:r>
              <a:rPr sz="2000">
                <a:solidFill>
                  <a:srgbClr val="222B33"/>
                </a:solidFill>
                <a:latin typeface="Microsoft YaHei"/>
              </a:rPr>
              <a:t>▪ 改造会带来新风险，要重新评估</a:t>
            </a:r>
          </a:p>
          <a:p>
            <a:pPr>
              <a:spcAft>
                <a:spcPts val="1000"/>
              </a:spcAft>
            </a:pPr>
            <a:r>
              <a:rPr sz="2000">
                <a:solidFill>
                  <a:srgbClr val="222B33"/>
                </a:solidFill>
                <a:latin typeface="Microsoft YaHei"/>
              </a:rPr>
              <a:t>▪ 植物还要问：会不会随花粉传出去</a:t>
            </a:r>
          </a:p>
          <a:p>
            <a:pPr>
              <a:spcAft>
                <a:spcPts val="1000"/>
              </a:spcAft>
            </a:pPr>
            <a:r>
              <a:rPr sz="2000">
                <a:solidFill>
                  <a:srgbClr val="222B33"/>
                </a:solidFill>
                <a:latin typeface="Microsoft YaHei"/>
              </a:rPr>
              <a:t>▪ 改造生物的评估见第 081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要问这个生物材料有没有做过基因改造。改造可能改变它的特性，带来新的风险，必须重新评估，并按规定报单位生物安全委员会审查；不能直接沿用未改造亲本的结论。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认为“改造后的菌株和原来一样”</a:t>
            </a:r>
          </a:p>
          <a:p>
            <a:pPr>
              <a:spcAft>
                <a:spcPts val="1000"/>
              </a:spcAft>
            </a:pPr>
            <a:r>
              <a:rPr sz="1500">
                <a:solidFill>
                  <a:srgbClr val="222B33"/>
                </a:solidFill>
                <a:latin typeface="Microsoft YaHei"/>
              </a:rPr>
              <a:t>▪ 改造实验不报委员会审查</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活动：拿它做什么，量有多大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活动第一问：你拿它做什么</a:t>
            </a:r>
          </a:p>
          <a:p>
            <a:pPr>
              <a:spcAft>
                <a:spcPts val="1000"/>
              </a:spcAft>
            </a:pPr>
            <a:r>
              <a:rPr sz="2000">
                <a:solidFill>
                  <a:srgbClr val="222B33"/>
                </a:solidFill>
                <a:latin typeface="Microsoft YaHei"/>
              </a:rPr>
              <a:t>▪ 冻存最低，检测升高，大量培养最高</a:t>
            </a:r>
          </a:p>
          <a:p>
            <a:pPr>
              <a:spcAft>
                <a:spcPts val="1000"/>
              </a:spcAft>
            </a:pPr>
            <a:r>
              <a:rPr sz="2000">
                <a:solidFill>
                  <a:srgbClr val="222B33"/>
                </a:solidFill>
                <a:latin typeface="Microsoft YaHei"/>
              </a:rPr>
              <a:t>▪ 浓度高、量大，风险也跟着涨</a:t>
            </a:r>
          </a:p>
          <a:p>
            <a:pPr>
              <a:spcAft>
                <a:spcPts val="1000"/>
              </a:spcAft>
            </a:pPr>
            <a:r>
              <a:rPr sz="2000">
                <a:solidFill>
                  <a:srgbClr val="222B33"/>
                </a:solidFill>
                <a:latin typeface="Microsoft YaHei"/>
              </a:rPr>
              <a:t>▪ 风险高的操作，防护相应升级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个病原，操作不同风险不同。评估先问：你拿它做什么？冻存保存风险最低，开展检测风险升高，大量培养风险最高；只提取核酸风险较低，种植改造植物并收集花粉风险较高。培养使病原数量增加，一旦溢洒后果更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按冻存样本的风险去做大量培养</a:t>
            </a:r>
          </a:p>
          <a:p>
            <a:pPr>
              <a:spcAft>
                <a:spcPts val="1000"/>
              </a:spcAft>
            </a:pPr>
            <a:r>
              <a:rPr sz="1500">
                <a:solidFill>
                  <a:srgbClr val="222B33"/>
                </a:solidFill>
                <a:latin typeface="Microsoft YaHei"/>
              </a:rPr>
              <a:t>▪ 随意扩大培养量和浓度</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活动：哪些操作容易暴露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标出易产生气溶胶的操作</a:t>
            </a:r>
          </a:p>
          <a:p>
            <a:pPr>
              <a:spcAft>
                <a:spcPts val="1000"/>
              </a:spcAft>
            </a:pPr>
            <a:r>
              <a:rPr sz="2000">
                <a:solidFill>
                  <a:srgbClr val="222B33"/>
                </a:solidFill>
                <a:latin typeface="Microsoft YaHei"/>
              </a:rPr>
              <a:t>▪ 有没有锐器、溅洒和手接触</a:t>
            </a:r>
          </a:p>
          <a:p>
            <a:pPr>
              <a:spcAft>
                <a:spcPts val="1000"/>
              </a:spcAft>
            </a:pPr>
            <a:r>
              <a:rPr sz="2000">
                <a:solidFill>
                  <a:srgbClr val="222B33"/>
                </a:solidFill>
                <a:latin typeface="Microsoft YaHei"/>
              </a:rPr>
              <a:t>▪ 把操作拆成小步，标出风险点</a:t>
            </a:r>
          </a:p>
          <a:p>
            <a:pPr>
              <a:spcAft>
                <a:spcPts val="1000"/>
              </a:spcAft>
            </a:pPr>
            <a:r>
              <a:rPr sz="2000">
                <a:solidFill>
                  <a:srgbClr val="222B33"/>
                </a:solidFill>
                <a:latin typeface="Microsoft YaHei"/>
              </a:rPr>
              <a:t>▪ 每步的风险，写进样本处理方案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把整个操作拆成一个个小步骤，每一步问：会不会产生气溶胶（离心、振荡、匀浆、超声、剧烈吹打等）？有没有锐器、溅洒和手接触？把这些风险点标出来。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只评估病原，不评估具体操作</a:t>
            </a:r>
          </a:p>
          <a:p>
            <a:pPr>
              <a:spcAft>
                <a:spcPts val="1000"/>
              </a:spcAft>
            </a:pPr>
            <a:r>
              <a:rPr sz="1500">
                <a:solidFill>
                  <a:srgbClr val="222B33"/>
                </a:solidFill>
                <a:latin typeface="Microsoft YaHei"/>
              </a:rPr>
              <a:t>▪ 忽略振荡、吹打等不起眼的气溶胶来源</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人员：免疫状态、健康与过敏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评估别只看病原，也要看人</a:t>
            </a:r>
          </a:p>
          <a:p>
            <a:pPr>
              <a:spcAft>
                <a:spcPts val="1000"/>
              </a:spcAft>
            </a:pPr>
            <a:r>
              <a:rPr sz="2000">
                <a:solidFill>
                  <a:srgbClr val="222B33"/>
                </a:solidFill>
                <a:latin typeface="Microsoft YaHei"/>
              </a:rPr>
              <a:t>▪ 免疫低下的人，要加额外防护</a:t>
            </a:r>
          </a:p>
          <a:p>
            <a:pPr>
              <a:spcAft>
                <a:spcPts val="1000"/>
              </a:spcAft>
            </a:pPr>
            <a:r>
              <a:rPr sz="2000">
                <a:solidFill>
                  <a:srgbClr val="222B33"/>
                </a:solidFill>
                <a:latin typeface="Microsoft YaHei"/>
              </a:rPr>
              <a:t>▪ 过敏、免疫低下要主动说明</a:t>
            </a:r>
          </a:p>
          <a:p>
            <a:pPr>
              <a:spcAft>
                <a:spcPts val="1000"/>
              </a:spcAft>
            </a:pPr>
            <a:r>
              <a:rPr sz="2000">
                <a:solidFill>
                  <a:srgbClr val="222B33"/>
                </a:solidFill>
                <a:latin typeface="Microsoft YaHei"/>
              </a:rPr>
              <a:t>▪ 负责人调整安排，并为个人保密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评估也要看操作的人：免疫状态、健康状况、过敏史、是否怀孕等。免疫低下的人风险更高，需要额外的防护，或者调整工作安排。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隐瞒自己的过敏或免疫低下情况</a:t>
            </a:r>
          </a:p>
          <a:p>
            <a:pPr>
              <a:spcAft>
                <a:spcPts val="1000"/>
              </a:spcAft>
            </a:pPr>
            <a:r>
              <a:rPr sz="1500">
                <a:solidFill>
                  <a:srgbClr val="222B33"/>
                </a:solidFill>
                <a:latin typeface="Microsoft YaHei"/>
              </a:rPr>
              <a:t>▪ 负责人公开传播成员的健康信息</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病原问卷：是或否，逐条答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把要素变成问卷，是或否逐条答</a:t>
            </a:r>
          </a:p>
          <a:p>
            <a:pPr>
              <a:spcAft>
                <a:spcPts val="1000"/>
              </a:spcAft>
            </a:pPr>
            <a:r>
              <a:rPr sz="2000">
                <a:solidFill>
                  <a:srgbClr val="222B33"/>
                </a:solidFill>
                <a:latin typeface="Microsoft YaHei"/>
              </a:rPr>
              <a:t>▪ 会致病吗？经吸入吗？经接触吗？</a:t>
            </a:r>
          </a:p>
          <a:p>
            <a:pPr>
              <a:spcAft>
                <a:spcPts val="1000"/>
              </a:spcAft>
            </a:pPr>
            <a:r>
              <a:rPr sz="2000">
                <a:solidFill>
                  <a:srgbClr val="222B33"/>
                </a:solidFill>
                <a:latin typeface="Microsoft YaHei"/>
              </a:rPr>
              <a:t>▪ 环境稳定吗？改造过吗？好治吗？</a:t>
            </a:r>
          </a:p>
          <a:p>
            <a:pPr>
              <a:spcAft>
                <a:spcPts val="1000"/>
              </a:spcAft>
            </a:pPr>
            <a:r>
              <a:rPr sz="2000">
                <a:solidFill>
                  <a:srgbClr val="222B33"/>
                </a:solidFill>
                <a:latin typeface="Microsoft YaHei"/>
              </a:rPr>
              <a:t>▪ 答“是”的地方，就是控制重点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可以把病原要素变成一份问卷，用“是”或“否”逐条回答：是病原吗？暴露后会致病吗？经吸入传播吗？经接触传播吗？在环境中稳定吗？经过改造吗？好治吗？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问卷只打勾不思考，拿不准也随便填“否”</a:t>
            </a:r>
          </a:p>
          <a:p>
            <a:pPr>
              <a:spcAft>
                <a:spcPts val="1000"/>
              </a:spcAft>
            </a:pPr>
            <a:r>
              <a:rPr sz="1500">
                <a:solidFill>
                  <a:srgbClr val="222B33"/>
                </a:solidFill>
                <a:latin typeface="Microsoft YaHei"/>
              </a:rPr>
              <a:t>▪ 答出风险点却没有对应的控制措施</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设施与管理问卷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培训够吗？有应急预案吗？</a:t>
            </a:r>
          </a:p>
          <a:p>
            <a:pPr>
              <a:spcAft>
                <a:spcPts val="1000"/>
              </a:spcAft>
            </a:pPr>
            <a:r>
              <a:rPr sz="2000">
                <a:solidFill>
                  <a:srgbClr val="222B33"/>
                </a:solidFill>
                <a:latin typeface="Microsoft YaHei"/>
              </a:rPr>
              <a:t>▪ 关键设备齐吗？防护够吗？</a:t>
            </a:r>
          </a:p>
          <a:p>
            <a:pPr>
              <a:spcAft>
                <a:spcPts val="1000"/>
              </a:spcAft>
            </a:pPr>
            <a:r>
              <a:rPr sz="2000">
                <a:solidFill>
                  <a:srgbClr val="222B33"/>
                </a:solidFill>
                <a:latin typeface="Microsoft YaHei"/>
              </a:rPr>
              <a:t>▪ 废物怎么处置？安保和规程呢？</a:t>
            </a:r>
          </a:p>
          <a:p>
            <a:pPr>
              <a:spcAft>
                <a:spcPts val="1000"/>
              </a:spcAft>
            </a:pPr>
            <a:r>
              <a:rPr sz="2000">
                <a:solidFill>
                  <a:srgbClr val="222B33"/>
                </a:solidFill>
                <a:latin typeface="Microsoft YaHei"/>
              </a:rPr>
              <a:t>▪ 和负责人一起确认；换病原要重写规程、重新培训</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再看现有控制够不够，问设施与管理：人员培训够不够？有没有应急预案？关键设备（生物安全柜、高压灭菌器等）齐不齐、合格不合格？个人防护够不够？废物怎么处置？安保措施和专门的操作规程有没有？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设备过期未检测仍认为“控制够了”</a:t>
            </a:r>
          </a:p>
          <a:p>
            <a:pPr>
              <a:spcAft>
                <a:spcPts val="1000"/>
              </a:spcAft>
            </a:pPr>
            <a:r>
              <a:rPr sz="1500">
                <a:solidFill>
                  <a:srgbClr val="222B33"/>
                </a:solidFill>
                <a:latin typeface="Microsoft YaHei"/>
              </a:rPr>
              <a:t>▪ 换了病原仍用旧规程</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安全和安保两类风险都要评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要评两类：生物安全和生物安保</a:t>
            </a:r>
          </a:p>
          <a:p>
            <a:pPr>
              <a:spcAft>
                <a:spcPts val="1000"/>
              </a:spcAft>
            </a:pPr>
            <a:r>
              <a:rPr sz="2000">
                <a:solidFill>
                  <a:srgbClr val="222B33"/>
                </a:solidFill>
                <a:latin typeface="Microsoft YaHei"/>
              </a:rPr>
              <a:t>▪ 安全：人员和社区会不会暴露</a:t>
            </a:r>
          </a:p>
          <a:p>
            <a:pPr>
              <a:spcAft>
                <a:spcPts val="1000"/>
              </a:spcAft>
            </a:pPr>
            <a:r>
              <a:rPr sz="2000">
                <a:solidFill>
                  <a:srgbClr val="222B33"/>
                </a:solidFill>
                <a:latin typeface="Microsoft YaHei"/>
              </a:rPr>
              <a:t>▪ 安保：样本会不会丢失、被盗</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评估要同时看两类风险：生物安全风险——操作人员和周边社区会不会暴露；生物安保风险——样本会不会丢失、被盗或被滥用（生物安保见第 083 课）。两类风险都要放进同一张评估表里打分。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只评感染风险，不评样本丢失、被盗</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案例：一批疑似感染的血样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一批疑似感染的患者血样</a:t>
            </a:r>
          </a:p>
          <a:p>
            <a:pPr>
              <a:spcAft>
                <a:spcPts val="1000"/>
              </a:spcAft>
            </a:pPr>
            <a:r>
              <a:rPr sz="2000">
                <a:solidFill>
                  <a:srgbClr val="222B33"/>
                </a:solidFill>
                <a:latin typeface="Microsoft YaHei"/>
              </a:rPr>
              <a:t>▪ 镜检没查到，抗体查到了，未确证</a:t>
            </a:r>
          </a:p>
          <a:p>
            <a:pPr>
              <a:spcAft>
                <a:spcPts val="1000"/>
              </a:spcAft>
            </a:pPr>
            <a:r>
              <a:rPr sz="2000">
                <a:solidFill>
                  <a:srgbClr val="222B33"/>
                </a:solidFill>
                <a:latin typeface="Microsoft YaHei"/>
              </a:rPr>
              <a:t>▪ 已知靠蜱叮咬传，未见人传人</a:t>
            </a:r>
          </a:p>
          <a:p>
            <a:pPr>
              <a:spcAft>
                <a:spcPts val="1000"/>
              </a:spcAft>
            </a:pPr>
            <a:r>
              <a:rPr sz="2000">
                <a:solidFill>
                  <a:srgbClr val="222B33"/>
                </a:solidFill>
                <a:latin typeface="Microsoft YaHei"/>
              </a:rPr>
              <a:t>▪ 要做的是分离血清，做免疫检测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因为“镜检没查到”就按无感染性样本处理</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把流程拆成单步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结构化评估：把流程拆成单步</a:t>
            </a:r>
          </a:p>
          <a:p>
            <a:pPr>
              <a:spcAft>
                <a:spcPts val="1000"/>
              </a:spcAft>
            </a:pPr>
            <a:r>
              <a:rPr sz="2000">
                <a:solidFill>
                  <a:srgbClr val="222B33"/>
                </a:solidFill>
                <a:latin typeface="Microsoft YaHei"/>
              </a:rPr>
              <a:t>▪ 接收存放、编目、分离血清、检测</a:t>
            </a:r>
          </a:p>
          <a:p>
            <a:pPr>
              <a:spcAft>
                <a:spcPts val="1000"/>
              </a:spcAft>
            </a:pPr>
            <a:r>
              <a:rPr sz="2000">
                <a:solidFill>
                  <a:srgbClr val="222B33"/>
                </a:solidFill>
                <a:latin typeface="Microsoft YaHei"/>
              </a:rPr>
              <a:t>▪ 处置、去污、记录、应急，也不能漏</a:t>
            </a:r>
          </a:p>
          <a:p>
            <a:pPr>
              <a:spcAft>
                <a:spcPts val="1000"/>
              </a:spcAft>
            </a:pPr>
            <a:r>
              <a:rPr sz="2000">
                <a:solidFill>
                  <a:srgbClr val="222B33"/>
                </a:solidFill>
                <a:latin typeface="Microsoft YaHei"/>
              </a:rPr>
              <a:t>▪ 每一步插旗，逐一评估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结构化评估就是把一个流程拆成单个操作，一步一步评估。本案例拆成八步：接收与初始存放、样本编目、分离血清、免疫检测、检测后样本处置、去污、记录保存、意外暴露的应急处置。后四步常被忽略，也不能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只评估“检测”这一步，漏掉接收、处置和去污</a:t>
            </a:r>
          </a:p>
          <a:p>
            <a:pPr>
              <a:spcAft>
                <a:spcPts val="1000"/>
              </a:spcAft>
            </a:pPr>
            <a:r>
              <a:rPr sz="1500">
                <a:solidFill>
                  <a:srgbClr val="222B33"/>
                </a:solidFill>
                <a:latin typeface="Microsoft YaHei"/>
              </a:rPr>
              <a:t>▪ 不把应急处置列入评估</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逐步打分，汇成总表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每一步用风险矩阵打分</a:t>
            </a:r>
          </a:p>
          <a:p>
            <a:pPr>
              <a:spcAft>
                <a:spcPts val="1000"/>
              </a:spcAft>
            </a:pPr>
            <a:r>
              <a:rPr sz="2000">
                <a:solidFill>
                  <a:srgbClr val="222B33"/>
                </a:solidFill>
                <a:latin typeface="Microsoft YaHei"/>
              </a:rPr>
              <a:t>▪ 颜色分低、中、高、很高</a:t>
            </a:r>
          </a:p>
          <a:p>
            <a:pPr>
              <a:spcAft>
                <a:spcPts val="1000"/>
              </a:spcAft>
            </a:pPr>
            <a:r>
              <a:rPr sz="2000">
                <a:solidFill>
                  <a:srgbClr val="222B33"/>
                </a:solidFill>
                <a:latin typeface="Microsoft YaHei"/>
              </a:rPr>
              <a:t>▪ 汇成累计矩阵，全程风险一行看清</a:t>
            </a:r>
          </a:p>
          <a:p>
            <a:pPr>
              <a:spcAft>
                <a:spcPts val="1000"/>
              </a:spcAft>
            </a:pPr>
            <a:r>
              <a:rPr sz="2000">
                <a:solidFill>
                  <a:srgbClr val="222B33"/>
                </a:solidFill>
                <a:latin typeface="Microsoft YaHei"/>
              </a:rPr>
              <a:t>▪ 做熟了也别把可能性打低，看记录和险兆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每一步都用风险矩阵（可能性配后果，见第 067 课）打分，例如“接收和存放时意外暴露”可能性低、后果低；颜色分低、中、高、很高，一看就懂。各步汇总成累计矩阵或总表，全程风险一行看清，并找出风险最高的步骤。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凭感觉打分，没有依据</a:t>
            </a:r>
          </a:p>
          <a:p>
            <a:pPr>
              <a:spcAft>
                <a:spcPts val="1000"/>
              </a:spcAft>
            </a:pPr>
            <a:r>
              <a:rPr sz="1500">
                <a:solidFill>
                  <a:srgbClr val="222B33"/>
                </a:solidFill>
                <a:latin typeface="Microsoft YaHei"/>
              </a:rPr>
              <a:t>▪ 只看单步，不汇总全程风险</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决策点：评完再减缓，成文审核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决策点：残余风险够不够低</a:t>
            </a:r>
          </a:p>
          <a:p>
            <a:pPr>
              <a:spcAft>
                <a:spcPts val="1000"/>
              </a:spcAft>
            </a:pPr>
            <a:r>
              <a:rPr sz="2000">
                <a:solidFill>
                  <a:srgbClr val="222B33"/>
                </a:solidFill>
                <a:latin typeface="Microsoft YaHei"/>
              </a:rPr>
              <a:t>▪ 评完，再进入减缓</a:t>
            </a:r>
          </a:p>
          <a:p>
            <a:pPr>
              <a:spcAft>
                <a:spcPts val="1000"/>
              </a:spcAft>
            </a:pPr>
            <a:r>
              <a:rPr sz="2000">
                <a:solidFill>
                  <a:srgbClr val="222B33"/>
                </a:solidFill>
                <a:latin typeface="Microsoft YaHei"/>
              </a:rPr>
              <a:t>▪ 评估写成文件，经委员会审核</a:t>
            </a:r>
          </a:p>
          <a:p>
            <a:pPr>
              <a:spcAft>
                <a:spcPts val="1000"/>
              </a:spcAft>
            </a:pPr>
            <a:r>
              <a:rPr sz="2000">
                <a:solidFill>
                  <a:srgbClr val="222B33"/>
                </a:solidFill>
                <a:latin typeface="Microsoft YaHei"/>
              </a:rPr>
              <a:t>▪ 评清楚、控到位，再做决定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评估结束时有一个决策点：在现有控制下，残余风险是否可接受？不够低的，进入下一步风险减缓，对每一项风险点对应具体措施（见第 069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评估完不做决策，直接开始实验</a:t>
            </a:r>
          </a:p>
          <a:p>
            <a:pPr>
              <a:spcAft>
                <a:spcPts val="1000"/>
              </a:spcAft>
            </a:pPr>
            <a:r>
              <a:rPr sz="1500">
                <a:solidFill>
                  <a:srgbClr val="222B33"/>
                </a:solidFill>
                <a:latin typeface="Microsoft YaHei"/>
              </a:rPr>
              <a:t>▪ 评估报告不经审核</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关于病原分类，正确的是：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国内第一类病原危害最小</a:t>
            </a:r>
          </a:p>
          <a:p>
            <a:pPr algn="l"/>
            <a:r>
              <a:rPr sz="1500" b="0">
                <a:solidFill>
                  <a:srgbClr val="222B33"/>
                </a:solidFill>
                <a:latin typeface="Microsoft YaHei"/>
              </a:rPr>
              <a:t>B. 国内第一类危害最大，与国际风险组 1 组最低方向相反</a:t>
            </a:r>
          </a:p>
          <a:p>
            <a:pPr algn="l"/>
            <a:r>
              <a:rPr sz="1500" b="0">
                <a:solidFill>
                  <a:srgbClr val="222B33"/>
                </a:solidFill>
                <a:latin typeface="Microsoft YaHei"/>
              </a:rPr>
              <a:t>C. 国内分类与国际风险组编号完全一致</a:t>
            </a:r>
          </a:p>
          <a:p>
            <a:pPr algn="l"/>
            <a:r>
              <a:rPr sz="1500" b="0">
                <a:solidFill>
                  <a:srgbClr val="222B33"/>
                </a:solidFill>
                <a:latin typeface="Microsoft YaHei"/>
              </a:rPr>
              <a:t>D. 分类查到后就不用再评估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判断：同一种病原，只做核酸提取和做大量培养，风险是一样的。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下列哪项不属于病原层面的评估要素？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感染途径</a:t>
            </a:r>
          </a:p>
          <a:p>
            <a:pPr algn="l"/>
            <a:r>
              <a:rPr sz="1500" b="0">
                <a:solidFill>
                  <a:srgbClr val="222B33"/>
                </a:solidFill>
                <a:latin typeface="Microsoft YaHei"/>
              </a:rPr>
              <a:t>B. 有无预防和治疗手段</a:t>
            </a:r>
          </a:p>
          <a:p>
            <a:pPr algn="l"/>
            <a:r>
              <a:rPr sz="1500" b="0">
                <a:solidFill>
                  <a:srgbClr val="222B33"/>
                </a:solidFill>
                <a:latin typeface="Microsoft YaHei"/>
              </a:rPr>
              <a:t>C. 是否经过改造</a:t>
            </a:r>
          </a:p>
          <a:p>
            <a:pPr algn="l"/>
            <a:r>
              <a:rPr sz="1500" b="0">
                <a:solidFill>
                  <a:srgbClr val="222B33"/>
                </a:solidFill>
                <a:latin typeface="Microsoft YaHei"/>
              </a:rPr>
              <a:t>D. 实验室的装修颜色</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判断：自己有过敏或免疫低下情况，属于个人隐私，不必告诉实验室负责人。</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对一批疑似感染的血样做结构化评估，正确的做法是：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只评估检测这一步</a:t>
            </a:r>
          </a:p>
          <a:p>
            <a:pPr algn="l"/>
            <a:r>
              <a:rPr sz="1500" b="0">
                <a:solidFill>
                  <a:srgbClr val="222B33"/>
                </a:solidFill>
                <a:latin typeface="Microsoft YaHei"/>
              </a:rPr>
              <a:t>B. 把流程拆成接收存放、编目、分离、检测、处置、去污、记录、应急等单步，逐步打分再汇总</a:t>
            </a:r>
          </a:p>
          <a:p>
            <a:pPr algn="l"/>
            <a:r>
              <a:rPr sz="1500" b="0">
                <a:solidFill>
                  <a:srgbClr val="222B33"/>
                </a:solidFill>
                <a:latin typeface="Microsoft YaHei"/>
              </a:rPr>
              <a:t>C. 镜检没查到就按无感染性处理</a:t>
            </a:r>
          </a:p>
          <a:p>
            <a:pPr algn="l"/>
            <a:r>
              <a:rPr sz="1500" b="0">
                <a:solidFill>
                  <a:srgbClr val="222B33"/>
                </a:solidFill>
                <a:latin typeface="Microsoft YaHei"/>
              </a:rPr>
              <a:t>D. 借用别的实验室的评估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简答：哪些样本要从严评估？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一个病原、一项实验，一份评估</a:t>
            </a:r>
          </a:p>
          <a:p>
            <a:pPr>
              <a:spcAft>
                <a:spcPts val="800"/>
              </a:spcAft>
            </a:pPr>
            <a:r>
              <a:rPr sz="1500">
                <a:solidFill>
                  <a:srgbClr val="FFFFFF"/>
                </a:solidFill>
                <a:latin typeface="Microsoft YaHei"/>
              </a:rPr>
              <a:t>▪ K2  未知病原和特殊样本从严</a:t>
            </a:r>
          </a:p>
          <a:p>
            <a:pPr>
              <a:spcAft>
                <a:spcPts val="800"/>
              </a:spcAft>
            </a:pPr>
            <a:r>
              <a:rPr sz="1500">
                <a:solidFill>
                  <a:srgbClr val="FFFFFF"/>
                </a:solidFill>
                <a:latin typeface="Microsoft YaHei"/>
              </a:rPr>
              <a:t>▪ K3  冰山：看不见的风险也要想</a:t>
            </a:r>
          </a:p>
          <a:p>
            <a:pPr>
              <a:spcAft>
                <a:spcPts val="800"/>
              </a:spcAft>
            </a:pPr>
            <a:r>
              <a:rPr sz="1500">
                <a:solidFill>
                  <a:srgbClr val="FFFFFF"/>
                </a:solidFill>
                <a:latin typeface="Microsoft YaHei"/>
              </a:rPr>
              <a:t>▪ K4  评估清单：病原、活动、人员、设施</a:t>
            </a:r>
          </a:p>
          <a:p>
            <a:pPr>
              <a:spcAft>
                <a:spcPts val="800"/>
              </a:spcAft>
            </a:pPr>
            <a:r>
              <a:rPr sz="1500">
                <a:solidFill>
                  <a:srgbClr val="FFFFFF"/>
                </a:solidFill>
                <a:latin typeface="Microsoft YaHei"/>
              </a:rPr>
              <a:t>▪ K5  病原：先查分类</a:t>
            </a:r>
          </a:p>
          <a:p>
            <a:pPr>
              <a:spcAft>
                <a:spcPts val="800"/>
              </a:spcAft>
            </a:pPr>
            <a:r>
              <a:rPr sz="1500">
                <a:solidFill>
                  <a:srgbClr val="FFFFFF"/>
                </a:solidFill>
                <a:latin typeface="Microsoft YaHei"/>
              </a:rPr>
              <a:t>▪ K6  病原：致病性、感染剂量与后果</a:t>
            </a:r>
          </a:p>
          <a:p>
            <a:pPr>
              <a:spcAft>
                <a:spcPts val="800"/>
              </a:spcAft>
            </a:pPr>
            <a:r>
              <a:rPr sz="1500">
                <a:solidFill>
                  <a:srgbClr val="FFFFFF"/>
                </a:solidFill>
                <a:latin typeface="Microsoft YaHei"/>
              </a:rPr>
              <a:t>▪ K7  病原：感染途径与媒介</a:t>
            </a:r>
          </a:p>
          <a:p>
            <a:pPr>
              <a:spcAft>
                <a:spcPts val="800"/>
              </a:spcAft>
            </a:pPr>
            <a:r>
              <a:rPr sz="1500">
                <a:solidFill>
                  <a:srgbClr val="FFFFFF"/>
                </a:solidFill>
                <a:latin typeface="Microsoft YaHei"/>
              </a:rPr>
              <a:t>▪ K8  病原：宿主范围、环境存活、本地流行</a:t>
            </a:r>
          </a:p>
          <a:p>
            <a:pPr>
              <a:spcAft>
                <a:spcPts val="800"/>
              </a:spcAft>
            </a:pPr>
            <a:r>
              <a:rPr sz="1500">
                <a:solidFill>
                  <a:srgbClr val="FFFFFF"/>
                </a:solidFill>
                <a:latin typeface="Microsoft YaHei"/>
              </a:rPr>
              <a:t>▪ K9  病原：有无预防治疗和已有研究</a:t>
            </a:r>
          </a:p>
          <a:p>
            <a:pPr>
              <a:spcAft>
                <a:spcPts val="800"/>
              </a:spcAft>
            </a:pPr>
            <a:r>
              <a:rPr sz="1500">
                <a:solidFill>
                  <a:srgbClr val="FFFFFF"/>
                </a:solidFill>
                <a:latin typeface="Microsoft YaHei"/>
              </a:rPr>
              <a:t>▪ K10  病原：是否经过改造</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活动：拿它做什么，量有多大</a:t>
            </a:r>
          </a:p>
          <a:p>
            <a:pPr>
              <a:spcAft>
                <a:spcPts val="800"/>
              </a:spcAft>
            </a:pPr>
            <a:r>
              <a:rPr sz="1500">
                <a:solidFill>
                  <a:srgbClr val="FFFFFF"/>
                </a:solidFill>
                <a:latin typeface="Microsoft YaHei"/>
              </a:rPr>
              <a:t>▪ K12  活动：哪些操作容易暴露</a:t>
            </a:r>
          </a:p>
          <a:p>
            <a:pPr>
              <a:spcAft>
                <a:spcPts val="800"/>
              </a:spcAft>
            </a:pPr>
            <a:r>
              <a:rPr sz="1500">
                <a:solidFill>
                  <a:srgbClr val="FFFFFF"/>
                </a:solidFill>
                <a:latin typeface="Microsoft YaHei"/>
              </a:rPr>
              <a:t>▪ K13  人员：免疫状态、健康与过敏</a:t>
            </a:r>
          </a:p>
          <a:p>
            <a:pPr>
              <a:spcAft>
                <a:spcPts val="800"/>
              </a:spcAft>
            </a:pPr>
            <a:r>
              <a:rPr sz="1500">
                <a:solidFill>
                  <a:srgbClr val="FFFFFF"/>
                </a:solidFill>
                <a:latin typeface="Microsoft YaHei"/>
              </a:rPr>
              <a:t>▪ K14  病原问卷：是或否，逐条答</a:t>
            </a:r>
          </a:p>
          <a:p>
            <a:pPr>
              <a:spcAft>
                <a:spcPts val="800"/>
              </a:spcAft>
            </a:pPr>
            <a:r>
              <a:rPr sz="1500">
                <a:solidFill>
                  <a:srgbClr val="FFFFFF"/>
                </a:solidFill>
                <a:latin typeface="Microsoft YaHei"/>
              </a:rPr>
              <a:t>▪ K15  设施与管理问卷</a:t>
            </a:r>
          </a:p>
          <a:p>
            <a:pPr>
              <a:spcAft>
                <a:spcPts val="800"/>
              </a:spcAft>
            </a:pPr>
            <a:r>
              <a:rPr sz="1500">
                <a:solidFill>
                  <a:srgbClr val="FFFFFF"/>
                </a:solidFill>
                <a:latin typeface="Microsoft YaHei"/>
              </a:rPr>
              <a:t>▪ K16  安全和安保两类风险都要评</a:t>
            </a:r>
          </a:p>
          <a:p>
            <a:pPr>
              <a:spcAft>
                <a:spcPts val="800"/>
              </a:spcAft>
            </a:pPr>
            <a:r>
              <a:rPr sz="1500">
                <a:solidFill>
                  <a:srgbClr val="FFFFFF"/>
                </a:solidFill>
                <a:latin typeface="Microsoft YaHei"/>
              </a:rPr>
              <a:t>▪ K17  案例：一批疑似感染的血样</a:t>
            </a:r>
          </a:p>
          <a:p>
            <a:pPr>
              <a:spcAft>
                <a:spcPts val="800"/>
              </a:spcAft>
            </a:pPr>
            <a:r>
              <a:rPr sz="1500">
                <a:solidFill>
                  <a:srgbClr val="FFFFFF"/>
                </a:solidFill>
                <a:latin typeface="Microsoft YaHei"/>
              </a:rPr>
              <a:t>▪ K18  把流程拆成单步</a:t>
            </a:r>
          </a:p>
          <a:p>
            <a:pPr>
              <a:spcAft>
                <a:spcPts val="800"/>
              </a:spcAft>
            </a:pPr>
            <a:r>
              <a:rPr sz="1500">
                <a:solidFill>
                  <a:srgbClr val="FFFFFF"/>
                </a:solidFill>
                <a:latin typeface="Microsoft YaHei"/>
              </a:rPr>
              <a:t>▪ K19  逐步打分，汇成总表</a:t>
            </a:r>
          </a:p>
          <a:p>
            <a:pPr>
              <a:spcAft>
                <a:spcPts val="800"/>
              </a:spcAft>
            </a:pPr>
            <a:r>
              <a:rPr sz="1500">
                <a:solidFill>
                  <a:srgbClr val="FFFFFF"/>
                </a:solidFill>
                <a:latin typeface="Microsoft YaHei"/>
              </a:rPr>
              <a:t>▪ K20  决策点：评完再减缓，成文审核</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生物风险控制与管理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适用对象：进入生命科学、医学、农学、环境等涉及生物材料实验室的高校本科生、研究生和教职工（必修）；实验室负责人、生物安全员和菌毒种、样本保管人员重点学习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能说出生物风险减缓的五类控制（消除、替代、工程控制、管理控制、个人防护）及其层级，知道各类控制要并用、个人防护是最后一道防线。</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能说出管理控制的主要内容：依法依规的制度、操作规程与记录、核对表、准入培训与考核、标识、菌毒种和样本的清单台账。</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能做到按要求参加上岗体检和健康监护、按评估接种疫苗，身体不适就医时主动说明接触史并报告负责人。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能判断菌毒种、样本或生物毒素丢失被盗、疑似实验室感染时应立即报告，知道生物毒素专人专柜、双人复核、用后灭活。</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《中华人民共和国生物安全法》（以现行文本为准）：病原微生物实验室应当采取措施，加强对实验动物、菌毒种和样本的管理，防止被盗、被抢、丢失和泄漏</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《病原微生物实验室生物安全管理条例》（以现行文本为准）：实验室人员培训考核、健康监测、实验档案、菌毒种和样本的保管；实验室感染和菌毒种丢失按规定报告</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生物安全通用要求》：风险控制、管理体系、人员与健康监护、标准操作程序、材料管理、标识、记录</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233（以现行文本为准）《病原微生物实验室生物安全通用准则》：实验室生物安全管理要求和人员管理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《中华人民共和国生物安全法》《农业转基因生物安全管理条例》（以现行文本为准）：转基因材料的登记、审查与管理（详见第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号，以现行文本为准）：实验室安全准入、培训考核、安全信息牌和危险物品台账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本校实验室生物安全管理办法、菌毒种和样本管理规定、健康监护和免疫接种规定（以本校规定为准）</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评估是提问，减缓才降险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评估只是提问，减缓才真正降险</a:t>
            </a:r>
          </a:p>
          <a:p>
            <a:pPr>
              <a:spcAft>
                <a:spcPts val="1000"/>
              </a:spcAft>
            </a:pPr>
            <a:r>
              <a:rPr sz="2000">
                <a:solidFill>
                  <a:srgbClr val="222B33"/>
                </a:solidFill>
                <a:latin typeface="Microsoft YaHei"/>
              </a:rPr>
              <a:t>▪ 识别危害、评估之后，控制登场</a:t>
            </a:r>
          </a:p>
          <a:p>
            <a:pPr>
              <a:spcAft>
                <a:spcPts val="1000"/>
              </a:spcAft>
            </a:pPr>
            <a:r>
              <a:rPr sz="2000">
                <a:solidFill>
                  <a:srgbClr val="222B33"/>
                </a:solidFill>
                <a:latin typeface="Microsoft YaHei"/>
              </a:rPr>
              <a:t>▪ 控制是落实管理决策的行动</a:t>
            </a:r>
          </a:p>
          <a:p>
            <a:pPr>
              <a:spcAft>
                <a:spcPts val="1000"/>
              </a:spcAft>
            </a:pPr>
            <a:r>
              <a:rPr sz="2000">
                <a:solidFill>
                  <a:srgbClr val="222B33"/>
                </a:solidFill>
                <a:latin typeface="Microsoft YaHei"/>
              </a:rPr>
              <a:t>▪ 几类措施一起用，互相补位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风险评估（见第 067、068 课）只是在提问：有什么风险、有多大，本身不会让风险变小；风险减缓才是真正把风险降下来。流程是：识别危害、评估风险，然后进入减缓，控制措施在这一步登场。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评估报告通过了，就认为风险已经解决</a:t>
            </a:r>
          </a:p>
          <a:p>
            <a:pPr>
              <a:spcAft>
                <a:spcPts val="1000"/>
              </a:spcAft>
            </a:pPr>
            <a:r>
              <a:rPr sz="1500">
                <a:solidFill>
                  <a:srgbClr val="222B33"/>
                </a:solidFill>
                <a:latin typeface="Microsoft YaHei"/>
              </a:rPr>
              <a:t>▪ 措施写在报告里，实际不落实</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五类控制，按层级从上往下选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五类：消除、替代、工程、管理、个人防护</a:t>
            </a:r>
          </a:p>
          <a:p>
            <a:pPr>
              <a:spcAft>
                <a:spcPts val="1000"/>
              </a:spcAft>
            </a:pPr>
            <a:r>
              <a:rPr sz="2000">
                <a:solidFill>
                  <a:srgbClr val="222B33"/>
                </a:solidFill>
                <a:latin typeface="Microsoft YaHei"/>
              </a:rPr>
              <a:t>▪ 从上往下选，越往上越有效</a:t>
            </a:r>
          </a:p>
          <a:p>
            <a:pPr>
              <a:spcAft>
                <a:spcPts val="1000"/>
              </a:spcAft>
            </a:pPr>
            <a:r>
              <a:rPr sz="2000">
                <a:solidFill>
                  <a:srgbClr val="222B33"/>
                </a:solidFill>
                <a:latin typeface="Microsoft YaHei"/>
              </a:rPr>
              <a:t>▪ 安全带刹车像工程，驾照交规像管理</a:t>
            </a:r>
          </a:p>
          <a:p>
            <a:pPr>
              <a:spcAft>
                <a:spcPts val="1000"/>
              </a:spcAft>
            </a:pPr>
            <a:r>
              <a:rPr sz="2000">
                <a:solidFill>
                  <a:srgbClr val="222B33"/>
                </a:solidFill>
                <a:latin typeface="Microsoft YaHei"/>
              </a:rPr>
              <a:t>▪ 能从源头消除的，别只靠口罩手套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一上来只想着加防护用品</a:t>
            </a:r>
          </a:p>
          <a:p>
            <a:pPr>
              <a:spcAft>
                <a:spcPts val="1000"/>
              </a:spcAft>
            </a:pPr>
            <a:r>
              <a:rPr sz="1500">
                <a:solidFill>
                  <a:srgbClr val="222B33"/>
                </a:solidFill>
                <a:latin typeface="Microsoft YaHei"/>
              </a:rPr>
              <a:t>▪ 认为层级是菜单，挑最省事的一项就行</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消除：风险太大就不做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风险太大，这个实验就不做</a:t>
            </a:r>
          </a:p>
          <a:p>
            <a:pPr>
              <a:spcAft>
                <a:spcPts val="1000"/>
              </a:spcAft>
            </a:pPr>
            <a:r>
              <a:rPr sz="2000">
                <a:solidFill>
                  <a:srgbClr val="222B33"/>
                </a:solidFill>
                <a:latin typeface="Microsoft YaHei"/>
              </a:rPr>
              <a:t>▪ 没设施、没培训、没人手，就别做</a:t>
            </a:r>
          </a:p>
          <a:p>
            <a:pPr>
              <a:spcAft>
                <a:spcPts val="1000"/>
              </a:spcAft>
            </a:pPr>
            <a:r>
              <a:rPr sz="2000">
                <a:solidFill>
                  <a:srgbClr val="222B33"/>
                </a:solidFill>
                <a:latin typeface="Microsoft YaHei"/>
              </a:rPr>
              <a:t>▪ 也不一刀切，要给研究留空间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消除是最有效的控制：风险太大，或者没有合适的设施（如没有生物安全柜、没有定向气流）、人员没有培训、人手不足，这个实验就不做，或者转到具备条件的单位开展。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不具备条件也硬上</a:t>
            </a:r>
          </a:p>
          <a:p>
            <a:pPr>
              <a:spcAft>
                <a:spcPts val="1000"/>
              </a:spcAft>
            </a:pPr>
            <a:r>
              <a:rPr sz="1500">
                <a:solidFill>
                  <a:srgbClr val="222B33"/>
                </a:solidFill>
                <a:latin typeface="Microsoft YaHei"/>
              </a:rPr>
              <a:t>▪ 一听有风险就一律禁止，不做评估</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替代：换成风险更低的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换成减毒、弱化的株</a:t>
            </a:r>
          </a:p>
          <a:p>
            <a:pPr>
              <a:spcAft>
                <a:spcPts val="1000"/>
              </a:spcAft>
            </a:pPr>
            <a:r>
              <a:rPr sz="2000">
                <a:solidFill>
                  <a:srgbClr val="222B33"/>
                </a:solidFill>
                <a:latin typeface="Microsoft YaHei"/>
              </a:rPr>
              <a:t>▪ 样本先灭活再送来，风险就低了</a:t>
            </a:r>
          </a:p>
          <a:p>
            <a:pPr>
              <a:spcAft>
                <a:spcPts val="1000"/>
              </a:spcAft>
            </a:pPr>
            <a:r>
              <a:rPr sz="2000">
                <a:solidFill>
                  <a:srgbClr val="222B33"/>
                </a:solidFill>
                <a:latin typeface="Microsoft YaHei"/>
              </a:rPr>
              <a:t>▪ 能用塑料就不用玻璃，少用锐器</a:t>
            </a:r>
          </a:p>
          <a:p>
            <a:pPr>
              <a:spcAft>
                <a:spcPts val="1000"/>
              </a:spcAft>
            </a:pPr>
            <a:r>
              <a:rPr sz="2000">
                <a:solidFill>
                  <a:srgbClr val="222B33"/>
                </a:solidFill>
                <a:latin typeface="Microsoft YaHei"/>
              </a:rPr>
              <a:t>▪ 替代方案也要评估后再换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替代就是换成风险更低的方案：例如改用减毒、弱化的株，在实验室里更好管理；样本在送来之前先按规定灭活，风险就大大降低；能用塑料器材就不用玻璃，能不用锐器就不用锐器。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想当然地认为“灭活了就绝对安全”，不核实灭活效果</a:t>
            </a:r>
          </a:p>
          <a:p>
            <a:pPr>
              <a:spcAft>
                <a:spcPts val="1000"/>
              </a:spcAft>
            </a:pPr>
            <a:r>
              <a:rPr sz="1500">
                <a:solidFill>
                  <a:srgbClr val="222B33"/>
                </a:solidFill>
                <a:latin typeface="Microsoft YaHei"/>
              </a:rPr>
              <a:t>▪ 不评估就随意更换材料或方法</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工程控制：把病原关住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设施设备把病原关住，给人安全环境</a:t>
            </a:r>
          </a:p>
          <a:p>
            <a:pPr>
              <a:spcAft>
                <a:spcPts val="1000"/>
              </a:spcAft>
            </a:pPr>
            <a:r>
              <a:rPr sz="2000">
                <a:solidFill>
                  <a:srgbClr val="222B33"/>
                </a:solidFill>
                <a:latin typeface="Microsoft YaHei"/>
              </a:rPr>
              <a:t>▪ 生物安全柜、高效过滤、定向气流</a:t>
            </a:r>
          </a:p>
          <a:p>
            <a:pPr>
              <a:spcAft>
                <a:spcPts val="1000"/>
              </a:spcAft>
            </a:pPr>
            <a:r>
              <a:rPr sz="2000">
                <a:solidFill>
                  <a:srgbClr val="222B33"/>
                </a:solidFill>
                <a:latin typeface="Microsoft YaHei"/>
              </a:rPr>
              <a:t>▪ 设施细节见第 062–064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工程控制是用专门设计的设施设备把病原关住，给人创造安全的工作环境：例如在生物安全柜内操作并接好排风，加上高效过滤和污水处理；实验室保持负压，空气从外往里流，就形成了封闭。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有了安全柜就不注意操作规范</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个人防护：最后一道防线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个人防护是最后一道防线</a:t>
            </a:r>
          </a:p>
          <a:p>
            <a:pPr>
              <a:spcAft>
                <a:spcPts val="1000"/>
              </a:spcAft>
            </a:pPr>
            <a:r>
              <a:rPr sz="2000">
                <a:solidFill>
                  <a:srgbClr val="222B33"/>
                </a:solidFill>
                <a:latin typeface="Microsoft YaHei"/>
              </a:rPr>
              <a:t>▪ 按感染途径和评估，选对防护</a:t>
            </a:r>
          </a:p>
          <a:p>
            <a:pPr>
              <a:spcAft>
                <a:spcPts val="1000"/>
              </a:spcAft>
            </a:pPr>
            <a:r>
              <a:rPr sz="2000">
                <a:solidFill>
                  <a:srgbClr val="222B33"/>
                </a:solidFill>
                <a:latin typeface="Microsoft YaHei"/>
              </a:rPr>
              <a:t>▪ 接触动物要戴防咬手套</a:t>
            </a:r>
          </a:p>
          <a:p>
            <a:pPr>
              <a:spcAft>
                <a:spcPts val="1000"/>
              </a:spcAft>
            </a:pPr>
            <a:r>
              <a:rPr sz="2000">
                <a:solidFill>
                  <a:srgbClr val="222B33"/>
                </a:solidFill>
                <a:latin typeface="Microsoft YaHei"/>
              </a:rPr>
              <a:t>▪ 不会正确穿脱反而更危险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认为防护穿得越多越安全，忽视工程和管理控制</a:t>
            </a:r>
          </a:p>
          <a:p>
            <a:pPr>
              <a:spcAft>
                <a:spcPts val="1000"/>
              </a:spcAft>
            </a:pPr>
            <a:r>
              <a:rPr sz="1500">
                <a:solidFill>
                  <a:srgbClr val="222B33"/>
                </a:solidFill>
                <a:latin typeface="Microsoft YaHei"/>
              </a:rPr>
              <a:t>▪ 脱防护时顺序错误，污染皮肤和衣物</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控制要并用，互相补位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五类控制一起用，缺一块就有漏洞</a:t>
            </a:r>
          </a:p>
          <a:p>
            <a:pPr>
              <a:spcAft>
                <a:spcPts val="1000"/>
              </a:spcAft>
            </a:pPr>
            <a:r>
              <a:rPr sz="2000">
                <a:solidFill>
                  <a:srgbClr val="222B33"/>
                </a:solidFill>
                <a:latin typeface="Microsoft YaHei"/>
              </a:rPr>
              <a:t>▪ 有了安全柜，也得照规程做</a:t>
            </a:r>
          </a:p>
          <a:p>
            <a:pPr>
              <a:spcAft>
                <a:spcPts val="1000"/>
              </a:spcAft>
            </a:pPr>
            <a:r>
              <a:rPr sz="2000">
                <a:solidFill>
                  <a:srgbClr val="222B33"/>
                </a:solidFill>
                <a:latin typeface="Microsoft YaHei"/>
              </a:rPr>
              <a:t>▪ 进出、穿脱防护都要有规程</a:t>
            </a:r>
          </a:p>
          <a:p>
            <a:pPr>
              <a:spcAft>
                <a:spcPts val="1000"/>
              </a:spcAft>
            </a:pPr>
            <a:r>
              <a:rPr sz="2000">
                <a:solidFill>
                  <a:srgbClr val="222B33"/>
                </a:solidFill>
                <a:latin typeface="Microsoft YaHei"/>
              </a:rPr>
              <a:t>▪ 工程控制代替不了规范操作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新实验室设施先进，就放松操作要求</a:t>
            </a:r>
          </a:p>
          <a:p>
            <a:pPr>
              <a:spcAft>
                <a:spcPts val="1000"/>
              </a:spcAft>
            </a:pPr>
            <a:r>
              <a:rPr sz="1500">
                <a:solidFill>
                  <a:srgbClr val="222B33"/>
                </a:solidFill>
                <a:latin typeface="Microsoft YaHei"/>
              </a:rPr>
              <a:t>▪ 只买设备，不写规程、不培训</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每步问五个问题，汇成措施表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流程每一步问五个问题</a:t>
            </a:r>
          </a:p>
          <a:p>
            <a:pPr>
              <a:spcAft>
                <a:spcPts val="1000"/>
              </a:spcAft>
            </a:pPr>
            <a:r>
              <a:rPr sz="2000">
                <a:solidFill>
                  <a:srgbClr val="222B33"/>
                </a:solidFill>
                <a:latin typeface="Microsoft YaHei"/>
              </a:rPr>
              <a:t>▪ 能不做？能换？加设备？写规程？穿什么？</a:t>
            </a:r>
          </a:p>
          <a:p>
            <a:pPr>
              <a:spcAft>
                <a:spcPts val="1000"/>
              </a:spcAft>
            </a:pPr>
            <a:r>
              <a:rPr sz="2000">
                <a:solidFill>
                  <a:srgbClr val="222B33"/>
                </a:solidFill>
                <a:latin typeface="Microsoft YaHei"/>
              </a:rPr>
              <a:t>▪ 每步的措施汇成一张表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在第 068 课把流程拆成单步、逐步打分之后，对每一步依次问五个控制问题：能不能不做（消除）？能不能换个办法（替代）？能不能加设备（工程控制）？要不要专门的规程（管理控制）？要什么防护（个人防护）？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只给整个实验列一条笼统的措施</a:t>
            </a:r>
          </a:p>
          <a:p>
            <a:pPr>
              <a:spcAft>
                <a:spcPts val="1000"/>
              </a:spcAft>
            </a:pPr>
            <a:r>
              <a:rPr sz="1500">
                <a:solidFill>
                  <a:srgbClr val="222B33"/>
                </a:solidFill>
                <a:latin typeface="Microsoft YaHei"/>
              </a:rPr>
              <a:t>▪ 措施表做好后不检查执行情况</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管理控制：白纸黑字，先于设施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管理控制是基石，建楼前就要定下</a:t>
            </a:r>
          </a:p>
          <a:p>
            <a:pPr>
              <a:spcAft>
                <a:spcPts val="1000"/>
              </a:spcAft>
            </a:pPr>
            <a:r>
              <a:rPr sz="2000">
                <a:solidFill>
                  <a:srgbClr val="222B33"/>
                </a:solidFill>
                <a:latin typeface="Microsoft YaHei"/>
              </a:rPr>
              <a:t>▪ 政策、规则、安排、培训、记录都要写下</a:t>
            </a:r>
          </a:p>
          <a:p>
            <a:pPr>
              <a:spcAft>
                <a:spcPts val="1000"/>
              </a:spcAft>
            </a:pPr>
            <a:r>
              <a:rPr sz="2000">
                <a:solidFill>
                  <a:srgbClr val="222B33"/>
                </a:solidFill>
                <a:latin typeface="Microsoft YaHei"/>
              </a:rPr>
              <a:t>▪ 包括委员会、手册、库存、体检、审核</a:t>
            </a:r>
          </a:p>
          <a:p>
            <a:pPr>
              <a:spcAft>
                <a:spcPts val="1000"/>
              </a:spcAft>
            </a:pPr>
            <a:r>
              <a:rPr sz="2000">
                <a:solidFill>
                  <a:srgbClr val="222B33"/>
                </a:solidFill>
                <a:latin typeface="Microsoft YaHei"/>
              </a:rPr>
              <a:t>▪ 目标：少接触、少暴露；也关注心理压力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管理控制是生物风险管理的基石，要在设计建设设施之前，就以安全手册和管理制度的形式定下来。它包括书面的政策、规则、工作安排、培训和记录，一切都要白纸黑字，检查时要看记录。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先建好实验室，再临时补制度</a:t>
            </a:r>
          </a:p>
          <a:p>
            <a:pPr>
              <a:spcAft>
                <a:spcPts val="1000"/>
              </a:spcAft>
            </a:pPr>
            <a:r>
              <a:rPr sz="1500">
                <a:solidFill>
                  <a:srgbClr val="222B33"/>
                </a:solidFill>
                <a:latin typeface="Microsoft YaHei"/>
              </a:rPr>
              <a:t>▪ 制度只口头传达，没有书面文件和记录</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依法依规：外部要求与内部制度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订制度前，先把国内法规查清楚</a:t>
            </a:r>
          </a:p>
          <a:p>
            <a:pPr>
              <a:spcAft>
                <a:spcPts val="1000"/>
              </a:spcAft>
            </a:pPr>
            <a:r>
              <a:rPr sz="2000">
                <a:solidFill>
                  <a:srgbClr val="222B33"/>
                </a:solidFill>
                <a:latin typeface="Microsoft YaHei"/>
              </a:rPr>
              <a:t>▪ 内部制度必须放在法律框架里</a:t>
            </a:r>
          </a:p>
          <a:p>
            <a:pPr>
              <a:spcAft>
                <a:spcPts val="1000"/>
              </a:spcAft>
            </a:pPr>
            <a:r>
              <a:rPr sz="2000">
                <a:solidFill>
                  <a:srgbClr val="222B33"/>
                </a:solidFill>
                <a:latin typeface="Microsoft YaHei"/>
              </a:rPr>
              <a:t>▪ 不能说不知道，拿不准请人把关</a:t>
            </a:r>
          </a:p>
          <a:p>
            <a:pPr>
              <a:spcAft>
                <a:spcPts val="1000"/>
              </a:spcAft>
            </a:pPr>
            <a:r>
              <a:rPr sz="2000">
                <a:solidFill>
                  <a:srgbClr val="222B33"/>
                </a:solidFill>
                <a:latin typeface="Microsoft YaHei"/>
              </a:rPr>
              <a:t>▪ 领导支持，人人对自己的事负责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照搬国外手册的规定，不查国内法规</a:t>
            </a:r>
          </a:p>
          <a:p>
            <a:pPr>
              <a:spcAft>
                <a:spcPts val="1000"/>
              </a:spcAft>
            </a:pPr>
            <a:r>
              <a:rPr sz="1500">
                <a:solidFill>
                  <a:srgbClr val="222B33"/>
                </a:solidFill>
                <a:latin typeface="Microsoft YaHei"/>
              </a:rPr>
              <a:t>▪ 实验室自定的规定与学校制度、国家法规冲突</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操作规程：写你所做，做你所写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写你所做，做你所写，规程和记录一致</a:t>
            </a:r>
          </a:p>
          <a:p>
            <a:pPr>
              <a:spcAft>
                <a:spcPts val="1000"/>
              </a:spcAft>
            </a:pPr>
            <a:r>
              <a:rPr sz="2000">
                <a:solidFill>
                  <a:srgbClr val="222B33"/>
                </a:solidFill>
                <a:latin typeface="Microsoft YaHei"/>
              </a:rPr>
              <a:t>▪ 照规程一步不省，规程本身也要验证</a:t>
            </a:r>
          </a:p>
          <a:p>
            <a:pPr>
              <a:spcAft>
                <a:spcPts val="1000"/>
              </a:spcAft>
            </a:pPr>
            <a:r>
              <a:rPr sz="2000">
                <a:solidFill>
                  <a:srgbClr val="222B33"/>
                </a:solidFill>
                <a:latin typeface="Microsoft YaHei"/>
              </a:rPr>
              <a:t>▪ 规程写清应急：先处置，再逐级上报</a:t>
            </a:r>
          </a:p>
          <a:p>
            <a:pPr>
              <a:spcAft>
                <a:spcPts val="1000"/>
              </a:spcAft>
            </a:pPr>
            <a:r>
              <a:rPr sz="2000">
                <a:solidFill>
                  <a:srgbClr val="222B33"/>
                </a:solidFill>
                <a:latin typeface="Microsoft YaHei"/>
              </a:rPr>
              <a:t>▪ 电子记录要备份，纸质记录要归档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标准操作规程的通用原则是“写你所做，做你所写”：规程写的就是实际做的，实际做的就要和规程一致，记录也要与之相符。操作时严格按规程，一步都不能省；规程本身也要测试，确认管用。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规程写一套，实际做一套</a:t>
            </a:r>
          </a:p>
          <a:p>
            <a:pPr>
              <a:spcAft>
                <a:spcPts val="1000"/>
              </a:spcAft>
            </a:pPr>
            <a:r>
              <a:rPr sz="1500">
                <a:solidFill>
                  <a:srgbClr val="222B33"/>
                </a:solidFill>
                <a:latin typeface="Microsoft YaHei"/>
              </a:rPr>
              <a:t>▪ 规程里没有应急步骤</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核对表与情景意识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核对表和规程配套，边做边勾</a:t>
            </a:r>
          </a:p>
          <a:p>
            <a:pPr>
              <a:spcAft>
                <a:spcPts val="1000"/>
              </a:spcAft>
            </a:pPr>
            <a:r>
              <a:rPr sz="2000">
                <a:solidFill>
                  <a:srgbClr val="222B33"/>
                </a:solidFill>
                <a:latin typeface="Microsoft YaHei"/>
              </a:rPr>
              <a:t>▪ 累了容易出错，长流程要轮班</a:t>
            </a:r>
          </a:p>
          <a:p>
            <a:pPr>
              <a:spcAft>
                <a:spcPts val="1000"/>
              </a:spcAft>
            </a:pPr>
            <a:r>
              <a:rPr sz="2000">
                <a:solidFill>
                  <a:srgbClr val="222B33"/>
                </a:solidFill>
                <a:latin typeface="Microsoft YaHei"/>
              </a:rPr>
              <a:t>▪ 可以自查，也可以同伴互查</a:t>
            </a:r>
          </a:p>
          <a:p>
            <a:pPr>
              <a:spcAft>
                <a:spcPts val="1000"/>
              </a:spcAft>
            </a:pPr>
            <a:r>
              <a:rPr sz="2000">
                <a:solidFill>
                  <a:srgbClr val="222B33"/>
                </a:solidFill>
                <a:latin typeface="Microsoft YaHei"/>
              </a:rPr>
              <a:t>▪ 核对表存档，检查审核要看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核对表和操作规程配套使用：边做边勾，保持情景意识，知道自己做到了哪一步。人累了容易出错，长流程要安排轮班或休息。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做完再凭记忆一次性补勾</a:t>
            </a:r>
          </a:p>
          <a:p>
            <a:pPr>
              <a:spcAft>
                <a:spcPts val="1000"/>
              </a:spcAft>
            </a:pPr>
            <a:r>
              <a:rPr sz="1500">
                <a:solidFill>
                  <a:srgbClr val="222B33"/>
                </a:solidFill>
                <a:latin typeface="Microsoft YaHei"/>
              </a:rPr>
              <a:t>▪ 连续长时间操作不休息</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准入、培训考核与承诺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上岗前看培训和实际操作能力</a:t>
            </a:r>
          </a:p>
          <a:p>
            <a:pPr>
              <a:spcAft>
                <a:spcPts val="1000"/>
              </a:spcAft>
            </a:pPr>
            <a:r>
              <a:rPr sz="2000">
                <a:solidFill>
                  <a:srgbClr val="222B33"/>
                </a:solidFill>
                <a:latin typeface="Microsoft YaHei"/>
              </a:rPr>
              <a:t>▪ 在本实验室考核，换地方要重新学</a:t>
            </a:r>
          </a:p>
          <a:p>
            <a:pPr>
              <a:spcAft>
                <a:spcPts val="1000"/>
              </a:spcAft>
            </a:pPr>
            <a:r>
              <a:rPr sz="2000">
                <a:solidFill>
                  <a:srgbClr val="222B33"/>
                </a:solidFill>
                <a:latin typeface="Microsoft YaHei"/>
              </a:rPr>
              <a:t>▪ 换任务、新设备、新规定，都要培训</a:t>
            </a:r>
          </a:p>
          <a:p>
            <a:pPr>
              <a:spcAft>
                <a:spcPts val="1000"/>
              </a:spcAft>
            </a:pPr>
            <a:r>
              <a:rPr sz="2000">
                <a:solidFill>
                  <a:srgbClr val="222B33"/>
                </a:solidFill>
                <a:latin typeface="Microsoft YaHei"/>
              </a:rPr>
              <a:t>▪ 评估结果人人知晓；签承诺，报告事故和险情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人员上岗前要看学历、培训经历、实际操作能力和相关经验，由单位考核合格后准入（准入与培训制度见第 007 课，以本校规定为准）。按能力分工；换任务、遇到新情况、来了新设备、出了新规定，都要培训。培训要在本实验室、结合实……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认为在别的实验室培训过，就可以直接上手</a:t>
            </a:r>
          </a:p>
          <a:p>
            <a:pPr>
              <a:spcAft>
                <a:spcPts val="1000"/>
              </a:spcAft>
            </a:pPr>
            <a:r>
              <a:rPr sz="1500">
                <a:solidFill>
                  <a:srgbClr val="222B33"/>
                </a:solidFill>
                <a:latin typeface="Microsoft YaHei"/>
              </a:rPr>
              <a:t>▪ 发生未遂事件觉得“没出事”，不报告</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标识写清危害和联系人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标识写清有什么危害</a:t>
            </a:r>
          </a:p>
          <a:p>
            <a:pPr>
              <a:spcAft>
                <a:spcPts val="1000"/>
              </a:spcAft>
            </a:pPr>
            <a:r>
              <a:rPr sz="2000">
                <a:solidFill>
                  <a:srgbClr val="222B33"/>
                </a:solidFill>
                <a:latin typeface="Microsoft YaHei"/>
              </a:rPr>
              <a:t>▪ 写明负责人和应急联系电话</a:t>
            </a:r>
          </a:p>
          <a:p>
            <a:pPr>
              <a:spcAft>
                <a:spcPts val="1000"/>
              </a:spcAft>
            </a:pPr>
            <a:r>
              <a:rPr sz="2000">
                <a:solidFill>
                  <a:srgbClr val="222B33"/>
                </a:solidFill>
                <a:latin typeface="Microsoft YaHei"/>
              </a:rPr>
              <a:t>▪ 有进入条件的要标明</a:t>
            </a:r>
          </a:p>
          <a:p>
            <a:pPr>
              <a:spcAft>
                <a:spcPts val="1000"/>
              </a:spcAft>
            </a:pPr>
            <a:r>
              <a:rPr sz="2000">
                <a:solidFill>
                  <a:srgbClr val="222B33"/>
                </a:solidFill>
                <a:latin typeface="Microsoft YaHei"/>
              </a:rPr>
              <a:t>▪ 感染风险高的人，不进相应区域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信息牌上的负责人和电话多年不更新</a:t>
            </a:r>
          </a:p>
          <a:p>
            <a:pPr>
              <a:spcAft>
                <a:spcPts val="1000"/>
              </a:spcAft>
            </a:pPr>
            <a:r>
              <a:rPr sz="1500">
                <a:solidFill>
                  <a:srgbClr val="222B33"/>
                </a:solidFill>
                <a:latin typeface="Microsoft YaHei"/>
              </a:rPr>
              <a:t>▪ 未满足进入条件也进入实验区</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菌毒种和样本：清单台账，去向可查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管理从一本清单开始，变了就更新</a:t>
            </a:r>
          </a:p>
          <a:p>
            <a:pPr>
              <a:spcAft>
                <a:spcPts val="1000"/>
              </a:spcAft>
            </a:pPr>
            <a:r>
              <a:rPr sz="2000">
                <a:solidFill>
                  <a:srgbClr val="222B33"/>
                </a:solidFill>
                <a:latin typeface="Microsoft YaHei"/>
              </a:rPr>
              <a:t>▪ 专柜保存、专人负责，领用归还销毁都登记</a:t>
            </a:r>
          </a:p>
          <a:p>
            <a:pPr>
              <a:spcAft>
                <a:spcPts val="1000"/>
              </a:spcAft>
            </a:pPr>
            <a:r>
              <a:rPr sz="2000">
                <a:solidFill>
                  <a:srgbClr val="222B33"/>
                </a:solidFill>
                <a:latin typeface="Microsoft YaHei"/>
              </a:rPr>
              <a:t>▪ 不私自带出，不转送他人</a:t>
            </a:r>
          </a:p>
          <a:p>
            <a:pPr>
              <a:spcAft>
                <a:spcPts val="1000"/>
              </a:spcAft>
            </a:pPr>
            <a:r>
              <a:rPr sz="2000">
                <a:solidFill>
                  <a:srgbClr val="222B33"/>
                </a:solidFill>
                <a:latin typeface="Microsoft YaHei"/>
              </a:rPr>
              <a:t>▪ 用过的菌液先灭活；丢失被盗立即报告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管理从一本清单开始：有哪些菌种、毒种、样本、质粒、转基因材料和实验动物，做哪些实验，都登记清楚，变了就更新。台账写明存放位置、安保要求、领用和去向，来龙去脉随时查得到。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毕业时把菌种私自带走或送给别人</a:t>
            </a:r>
          </a:p>
          <a:p>
            <a:pPr>
              <a:spcAft>
                <a:spcPts val="1000"/>
              </a:spcAft>
            </a:pPr>
            <a:r>
              <a:rPr sz="1500">
                <a:solidFill>
                  <a:srgbClr val="222B33"/>
                </a:solidFill>
                <a:latin typeface="Microsoft YaHei"/>
              </a:rPr>
              <a:t>▪ 发现少了样本，自己找不到就不了了之</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医学监护：体检、健康档案、本底血清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上岗前体检，健康史和过敏要记录</a:t>
            </a:r>
          </a:p>
          <a:p>
            <a:pPr>
              <a:spcAft>
                <a:spcPts val="1000"/>
              </a:spcAft>
            </a:pPr>
            <a:r>
              <a:rPr sz="2000">
                <a:solidFill>
                  <a:srgbClr val="222B33"/>
                </a:solidFill>
                <a:latin typeface="Microsoft YaHei"/>
              </a:rPr>
              <a:t>▪ 必要时留本底血清，出事时好对照</a:t>
            </a:r>
          </a:p>
          <a:p>
            <a:pPr>
              <a:spcAft>
                <a:spcPts val="1000"/>
              </a:spcAft>
            </a:pPr>
            <a:r>
              <a:rPr sz="2000">
                <a:solidFill>
                  <a:srgbClr val="222B33"/>
                </a:solidFill>
                <a:latin typeface="Microsoft YaHei"/>
              </a:rPr>
              <a:t>▪ 工作前、中、后都要关注健康</a:t>
            </a:r>
          </a:p>
          <a:p>
            <a:pPr>
              <a:spcAft>
                <a:spcPts val="1000"/>
              </a:spcAft>
            </a:pPr>
            <a:r>
              <a:rPr sz="2000">
                <a:solidFill>
                  <a:srgbClr val="222B33"/>
                </a:solidFill>
                <a:latin typeface="Microsoft YaHei"/>
              </a:rPr>
              <a:t>▪ 暴露后的救治由单位负责安排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认为体检是形式，随便应付</a:t>
            </a:r>
          </a:p>
          <a:p>
            <a:pPr>
              <a:spcAft>
                <a:spcPts val="1000"/>
              </a:spcAft>
            </a:pPr>
            <a:r>
              <a:rPr sz="1500">
                <a:solidFill>
                  <a:srgbClr val="222B33"/>
                </a:solidFill>
                <a:latin typeface="Microsoft YaHei"/>
              </a:rPr>
              <a:t>▪ 发生暴露后自己处理，不报告不就医</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按评估接种疫苗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有疫苗可用的，按评估要求接种</a:t>
            </a:r>
          </a:p>
          <a:p>
            <a:pPr>
              <a:spcAft>
                <a:spcPts val="1000"/>
              </a:spcAft>
            </a:pPr>
            <a:r>
              <a:rPr sz="2000">
                <a:solidFill>
                  <a:srgbClr val="222B33"/>
                </a:solidFill>
                <a:latin typeface="Microsoft YaHei"/>
              </a:rPr>
              <a:t>▪ 需要的，上岗前完成接种</a:t>
            </a:r>
          </a:p>
          <a:p>
            <a:pPr>
              <a:spcAft>
                <a:spcPts val="1000"/>
              </a:spcAft>
            </a:pPr>
            <a:r>
              <a:rPr sz="2000">
                <a:solidFill>
                  <a:srgbClr val="222B33"/>
                </a:solidFill>
                <a:latin typeface="Microsoft YaHei"/>
              </a:rPr>
              <a:t>▪ 打了疫苗，防护也不能少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有的病原有疫苗可用。风险评估认为需要接种的，按要求在上岗前完成接种，并记入健康档案（具体接种项目以评估和本校规定为准）。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打了疫苗就不戴手套、不进安全柜操作</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生病就医，说明接触史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实验后身体不适，及时就医</a:t>
            </a:r>
          </a:p>
          <a:p>
            <a:pPr>
              <a:spcAft>
                <a:spcPts val="1000"/>
              </a:spcAft>
            </a:pPr>
            <a:r>
              <a:rPr sz="2000">
                <a:solidFill>
                  <a:srgbClr val="222B33"/>
                </a:solidFill>
                <a:latin typeface="Microsoft YaHei"/>
              </a:rPr>
              <a:t>▪ 告诉医生在什么实验室、接触过什么</a:t>
            </a:r>
          </a:p>
          <a:p>
            <a:pPr>
              <a:spcAft>
                <a:spcPts val="1000"/>
              </a:spcAft>
            </a:pPr>
            <a:r>
              <a:rPr sz="2000">
                <a:solidFill>
                  <a:srgbClr val="222B33"/>
                </a:solidFill>
                <a:latin typeface="Microsoft YaHei"/>
              </a:rPr>
              <a:t>▪ 同时报告导师和实验室负责人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健康监测也落到每个人身上。做完实验后出现发热等身体不适，要及时就医，并主动告诉医生自己在什么实验室工作、接触过哪类微生物，便于医生及早判断。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身体不适时隐瞒实验室工作经历</a:t>
            </a:r>
          </a:p>
          <a:p>
            <a:pPr>
              <a:spcAft>
                <a:spcPts val="1000"/>
              </a:spcAft>
            </a:pPr>
            <a:r>
              <a:rPr sz="1500">
                <a:solidFill>
                  <a:srgbClr val="222B33"/>
                </a:solidFill>
                <a:latin typeface="Microsoft YaHei"/>
              </a:rPr>
              <a:t>▪ 生病只请假，不报告导师和负责人</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疑似实验室感染：调查与报告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组里几个人生病，要调查原因</a:t>
            </a:r>
          </a:p>
          <a:p>
            <a:pPr>
              <a:spcAft>
                <a:spcPts val="1000"/>
              </a:spcAft>
            </a:pPr>
            <a:r>
              <a:rPr sz="2000">
                <a:solidFill>
                  <a:srgbClr val="222B33"/>
                </a:solidFill>
                <a:latin typeface="Microsoft YaHei"/>
              </a:rPr>
              <a:t>▪ 查健康记录，也查工作记录</a:t>
            </a:r>
          </a:p>
          <a:p>
            <a:pPr>
              <a:spcAft>
                <a:spcPts val="1000"/>
              </a:spcAft>
            </a:pPr>
            <a:r>
              <a:rPr sz="2000">
                <a:solidFill>
                  <a:srgbClr val="222B33"/>
                </a:solidFill>
                <a:latin typeface="Microsoft YaHei"/>
              </a:rPr>
              <a:t>▪ 判断是实验室感染还是外面感染</a:t>
            </a:r>
          </a:p>
          <a:p>
            <a:pPr>
              <a:spcAft>
                <a:spcPts val="1000"/>
              </a:spcAft>
            </a:pPr>
            <a:r>
              <a:rPr sz="2000">
                <a:solidFill>
                  <a:srgbClr val="222B33"/>
                </a:solidFill>
                <a:latin typeface="Microsoft YaHei"/>
              </a:rPr>
              <a:t>▪ 与医务部门合作，按规定报告随访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几人相继生病仍当作普通感冒，不调查不报告</a:t>
            </a:r>
          </a:p>
          <a:p>
            <a:pPr>
              <a:spcAft>
                <a:spcPts val="1000"/>
              </a:spcAft>
            </a:pPr>
            <a:r>
              <a:rPr sz="1500">
                <a:solidFill>
                  <a:srgbClr val="222B33"/>
                </a:solidFill>
                <a:latin typeface="Microsoft YaHei"/>
              </a:rPr>
              <a:t>▪ 只查病人，不查工作记录和操作环节</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生物毒素：专人专柜，用后灭活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生物来源的毒素，专人专柜保管</a:t>
            </a:r>
          </a:p>
          <a:p>
            <a:pPr>
              <a:spcAft>
                <a:spcPts val="1000"/>
              </a:spcAft>
            </a:pPr>
            <a:r>
              <a:rPr sz="2000">
                <a:solidFill>
                  <a:srgbClr val="222B33"/>
                </a:solidFill>
                <a:latin typeface="Microsoft YaHei"/>
              </a:rPr>
              <a:t>▪ 领用登记，双人复核</a:t>
            </a:r>
          </a:p>
          <a:p>
            <a:pPr>
              <a:spcAft>
                <a:spcPts val="1000"/>
              </a:spcAft>
            </a:pPr>
            <a:r>
              <a:rPr sz="2000">
                <a:solidFill>
                  <a:srgbClr val="222B33"/>
                </a:solidFill>
                <a:latin typeface="Microsoft YaHei"/>
              </a:rPr>
              <a:t>▪ 定期清点，数量要对得上</a:t>
            </a:r>
          </a:p>
          <a:p>
            <a:pPr>
              <a:spcAft>
                <a:spcPts val="1000"/>
              </a:spcAft>
            </a:pPr>
            <a:r>
              <a:rPr sz="2000">
                <a:solidFill>
                  <a:srgbClr val="222B33"/>
                </a:solidFill>
                <a:latin typeface="Microsoft YaHei"/>
              </a:rPr>
              <a:t>▪ 用完按规定灭活，再作废物处置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生物毒素是生物来源的有毒物质，可能少量就造成严重伤害，属于需要特别管理的材料。要专人专柜（加锁）保管，领用要登记、双人复核，定期清点数量，账物相符。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毒素和普通试剂混放，无人专管</a:t>
            </a:r>
          </a:p>
          <a:p>
            <a:pPr>
              <a:spcAft>
                <a:spcPts val="1000"/>
              </a:spcAft>
            </a:pPr>
            <a:r>
              <a:rPr sz="1500">
                <a:solidFill>
                  <a:srgbClr val="222B33"/>
                </a:solidFill>
                <a:latin typeface="Microsoft YaHei"/>
              </a:rPr>
              <a:t>▪ 用剩的毒素不灭活直接丢弃</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生物风险控制的五类措施，按层级从上到下是：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个人防护、管理、工程、替代、消除</a:t>
            </a:r>
          </a:p>
          <a:p>
            <a:pPr algn="l"/>
            <a:r>
              <a:rPr sz="1500" b="0">
                <a:solidFill>
                  <a:srgbClr val="222B33"/>
                </a:solidFill>
                <a:latin typeface="Microsoft YaHei"/>
              </a:rPr>
              <a:t>B. 消除、替代、工程控制、管理控制、个人防护</a:t>
            </a:r>
          </a:p>
          <a:p>
            <a:pPr algn="l"/>
            <a:r>
              <a:rPr sz="1500" b="0">
                <a:solidFill>
                  <a:srgbClr val="222B33"/>
                </a:solidFill>
                <a:latin typeface="Microsoft YaHei"/>
              </a:rPr>
              <a:t>C. 工程、消除、防护、替代、管理</a:t>
            </a:r>
          </a:p>
          <a:p>
            <a:pPr algn="l"/>
            <a:r>
              <a:rPr sz="1500" b="0">
                <a:solidFill>
                  <a:srgbClr val="222B33"/>
                </a:solidFill>
                <a:latin typeface="Microsoft YaHei"/>
              </a:rPr>
              <a:t>D. 只要个人防护即可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判断：实验室有了先进的生物安全柜，操作就可以不必严格按规程。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下列关于菌毒种和样本管理的做法，正确的是：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毕业时带走自己分离的菌种</a:t>
            </a:r>
          </a:p>
          <a:p>
            <a:pPr algn="l"/>
            <a:r>
              <a:rPr sz="1500" b="0">
                <a:solidFill>
                  <a:srgbClr val="222B33"/>
                </a:solidFill>
                <a:latin typeface="Microsoft YaHei"/>
              </a:rPr>
              <a:t>B. 专柜保存、专人负责，领用归还销毁都登记，丢失立即报告负责人和保卫处</a:t>
            </a:r>
          </a:p>
          <a:p>
            <a:pPr algn="l"/>
            <a:r>
              <a:rPr sz="1500" b="0">
                <a:solidFill>
                  <a:srgbClr val="222B33"/>
                </a:solidFill>
                <a:latin typeface="Microsoft YaHei"/>
              </a:rPr>
              <a:t>C. 用过的菌液直接倒进水槽</a:t>
            </a:r>
          </a:p>
          <a:p>
            <a:pPr algn="l"/>
            <a:r>
              <a:rPr sz="1500" b="0">
                <a:solidFill>
                  <a:srgbClr val="222B33"/>
                </a:solidFill>
                <a:latin typeface="Microsoft YaHei"/>
              </a:rPr>
              <a:t>D. 把菌种转送给外校同学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判断：已经接种了相应疫苗，就可以不戴手套、不在安全柜内操作。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做完实验后发热去医院，应该：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只说感冒了</a:t>
            </a:r>
          </a:p>
          <a:p>
            <a:pPr algn="l"/>
            <a:r>
              <a:rPr sz="1500" b="0">
                <a:solidFill>
                  <a:srgbClr val="222B33"/>
                </a:solidFill>
                <a:latin typeface="Microsoft YaHei"/>
              </a:rPr>
              <a:t>B. 告诉医生自己在什么实验室、接触过哪类微生物，并报告导师和实验室负责人</a:t>
            </a:r>
          </a:p>
          <a:p>
            <a:pPr algn="l"/>
            <a:r>
              <a:rPr sz="1500" b="0">
                <a:solidFill>
                  <a:srgbClr val="222B33"/>
                </a:solidFill>
                <a:latin typeface="Microsoft YaHei"/>
              </a:rPr>
              <a:t>C. 自己吃药不报告</a:t>
            </a:r>
          </a:p>
          <a:p>
            <a:pPr algn="l"/>
            <a:r>
              <a:rPr sz="1500" b="0">
                <a:solidFill>
                  <a:srgbClr val="222B33"/>
                </a:solidFill>
                <a:latin typeface="Microsoft YaHei"/>
              </a:rPr>
              <a:t>D. 等好了再说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简答：生物毒素应如何管理？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评估是提问，减缓才降险</a:t>
            </a:r>
          </a:p>
          <a:p>
            <a:pPr>
              <a:spcAft>
                <a:spcPts val="800"/>
              </a:spcAft>
            </a:pPr>
            <a:r>
              <a:rPr sz="1500">
                <a:solidFill>
                  <a:srgbClr val="FFFFFF"/>
                </a:solidFill>
                <a:latin typeface="Microsoft YaHei"/>
              </a:rPr>
              <a:t>▪ K2  五类控制，按层级从上往下选</a:t>
            </a:r>
          </a:p>
          <a:p>
            <a:pPr>
              <a:spcAft>
                <a:spcPts val="800"/>
              </a:spcAft>
            </a:pPr>
            <a:r>
              <a:rPr sz="1500">
                <a:solidFill>
                  <a:srgbClr val="FFFFFF"/>
                </a:solidFill>
                <a:latin typeface="Microsoft YaHei"/>
              </a:rPr>
              <a:t>▪ K3  消除：风险太大就不做</a:t>
            </a:r>
          </a:p>
          <a:p>
            <a:pPr>
              <a:spcAft>
                <a:spcPts val="800"/>
              </a:spcAft>
            </a:pPr>
            <a:r>
              <a:rPr sz="1500">
                <a:solidFill>
                  <a:srgbClr val="FFFFFF"/>
                </a:solidFill>
                <a:latin typeface="Microsoft YaHei"/>
              </a:rPr>
              <a:t>▪ K4  替代：换成风险更低的</a:t>
            </a:r>
          </a:p>
          <a:p>
            <a:pPr>
              <a:spcAft>
                <a:spcPts val="800"/>
              </a:spcAft>
            </a:pPr>
            <a:r>
              <a:rPr sz="1500">
                <a:solidFill>
                  <a:srgbClr val="FFFFFF"/>
                </a:solidFill>
                <a:latin typeface="Microsoft YaHei"/>
              </a:rPr>
              <a:t>▪ K5  工程控制：把病原关住</a:t>
            </a:r>
          </a:p>
          <a:p>
            <a:pPr>
              <a:spcAft>
                <a:spcPts val="800"/>
              </a:spcAft>
            </a:pPr>
            <a:r>
              <a:rPr sz="1500">
                <a:solidFill>
                  <a:srgbClr val="FFFFFF"/>
                </a:solidFill>
                <a:latin typeface="Microsoft YaHei"/>
              </a:rPr>
              <a:t>▪ K6  个人防护：最后一道防线</a:t>
            </a:r>
          </a:p>
          <a:p>
            <a:pPr>
              <a:spcAft>
                <a:spcPts val="800"/>
              </a:spcAft>
            </a:pPr>
            <a:r>
              <a:rPr sz="1500">
                <a:solidFill>
                  <a:srgbClr val="FFFFFF"/>
                </a:solidFill>
                <a:latin typeface="Microsoft YaHei"/>
              </a:rPr>
              <a:t>▪ K7  控制要并用，互相补位</a:t>
            </a:r>
          </a:p>
          <a:p>
            <a:pPr>
              <a:spcAft>
                <a:spcPts val="800"/>
              </a:spcAft>
            </a:pPr>
            <a:r>
              <a:rPr sz="1500">
                <a:solidFill>
                  <a:srgbClr val="FFFFFF"/>
                </a:solidFill>
                <a:latin typeface="Microsoft YaHei"/>
              </a:rPr>
              <a:t>▪ K8  每步问五个问题，汇成措施表</a:t>
            </a:r>
          </a:p>
          <a:p>
            <a:pPr>
              <a:spcAft>
                <a:spcPts val="800"/>
              </a:spcAft>
            </a:pPr>
            <a:r>
              <a:rPr sz="1500">
                <a:solidFill>
                  <a:srgbClr val="FFFFFF"/>
                </a:solidFill>
                <a:latin typeface="Microsoft YaHei"/>
              </a:rPr>
              <a:t>▪ K9  管理控制：白纸黑字，先于设施</a:t>
            </a:r>
          </a:p>
          <a:p>
            <a:pPr>
              <a:spcAft>
                <a:spcPts val="800"/>
              </a:spcAft>
            </a:pPr>
            <a:r>
              <a:rPr sz="1500">
                <a:solidFill>
                  <a:srgbClr val="FFFFFF"/>
                </a:solidFill>
                <a:latin typeface="Microsoft YaHei"/>
              </a:rPr>
              <a:t>▪ K10  依法依规：外部要求与内部制度</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操作规程：写你所做，做你所写</a:t>
            </a:r>
          </a:p>
          <a:p>
            <a:pPr>
              <a:spcAft>
                <a:spcPts val="800"/>
              </a:spcAft>
            </a:pPr>
            <a:r>
              <a:rPr sz="1500">
                <a:solidFill>
                  <a:srgbClr val="FFFFFF"/>
                </a:solidFill>
                <a:latin typeface="Microsoft YaHei"/>
              </a:rPr>
              <a:t>▪ K12  核对表与情景意识</a:t>
            </a:r>
          </a:p>
          <a:p>
            <a:pPr>
              <a:spcAft>
                <a:spcPts val="800"/>
              </a:spcAft>
            </a:pPr>
            <a:r>
              <a:rPr sz="1500">
                <a:solidFill>
                  <a:srgbClr val="FFFFFF"/>
                </a:solidFill>
                <a:latin typeface="Microsoft YaHei"/>
              </a:rPr>
              <a:t>▪ K13  准入、培训考核与承诺</a:t>
            </a:r>
          </a:p>
          <a:p>
            <a:pPr>
              <a:spcAft>
                <a:spcPts val="800"/>
              </a:spcAft>
            </a:pPr>
            <a:r>
              <a:rPr sz="1500">
                <a:solidFill>
                  <a:srgbClr val="FFFFFF"/>
                </a:solidFill>
                <a:latin typeface="Microsoft YaHei"/>
              </a:rPr>
              <a:t>▪ K14  标识写清危害和联系人</a:t>
            </a:r>
          </a:p>
          <a:p>
            <a:pPr>
              <a:spcAft>
                <a:spcPts val="800"/>
              </a:spcAft>
            </a:pPr>
            <a:r>
              <a:rPr sz="1500">
                <a:solidFill>
                  <a:srgbClr val="FFFFFF"/>
                </a:solidFill>
                <a:latin typeface="Microsoft YaHei"/>
              </a:rPr>
              <a:t>▪ K15  菌毒种和样本：清单台账，去向可查</a:t>
            </a:r>
          </a:p>
          <a:p>
            <a:pPr>
              <a:spcAft>
                <a:spcPts val="800"/>
              </a:spcAft>
            </a:pPr>
            <a:r>
              <a:rPr sz="1500">
                <a:solidFill>
                  <a:srgbClr val="FFFFFF"/>
                </a:solidFill>
                <a:latin typeface="Microsoft YaHei"/>
              </a:rPr>
              <a:t>▪ K16  医学监护：体检、健康档案、本底血清</a:t>
            </a:r>
          </a:p>
          <a:p>
            <a:pPr>
              <a:spcAft>
                <a:spcPts val="800"/>
              </a:spcAft>
            </a:pPr>
            <a:r>
              <a:rPr sz="1500">
                <a:solidFill>
                  <a:srgbClr val="FFFFFF"/>
                </a:solidFill>
                <a:latin typeface="Microsoft YaHei"/>
              </a:rPr>
              <a:t>▪ K17  按评估接种疫苗</a:t>
            </a:r>
          </a:p>
          <a:p>
            <a:pPr>
              <a:spcAft>
                <a:spcPts val="800"/>
              </a:spcAft>
            </a:pPr>
            <a:r>
              <a:rPr sz="1500">
                <a:solidFill>
                  <a:srgbClr val="FFFFFF"/>
                </a:solidFill>
                <a:latin typeface="Microsoft YaHei"/>
              </a:rPr>
              <a:t>▪ K18  生病就医，说明接触史</a:t>
            </a:r>
          </a:p>
          <a:p>
            <a:pPr>
              <a:spcAft>
                <a:spcPts val="800"/>
              </a:spcAft>
            </a:pPr>
            <a:r>
              <a:rPr sz="1500">
                <a:solidFill>
                  <a:srgbClr val="FFFFFF"/>
                </a:solidFill>
                <a:latin typeface="Microsoft YaHei"/>
              </a:rPr>
              <a:t>▪ K19  疑似实验室感染：调查与报告</a:t>
            </a:r>
          </a:p>
          <a:p>
            <a:pPr>
              <a:spcAft>
                <a:spcPts val="800"/>
              </a:spcAft>
            </a:pPr>
            <a:r>
              <a:rPr sz="1500">
                <a:solidFill>
                  <a:srgbClr val="FFFFFF"/>
                </a:solidFill>
                <a:latin typeface="Microsoft YaHei"/>
              </a:rPr>
              <a:t>▪ K20  生物毒素：专人专柜，用后灭活</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