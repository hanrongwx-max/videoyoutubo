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实验室配电箱和实验台电源面板里，常见三类保护器件：熔断器（俗称保险丝、保险管）、断路器（俗称空气开关）和漏电保护器（剩余电流动作保护器）。它们是第 098 课所说“第二道防线”的核心。</a:t>
            </a:r>
          </a:p>
          <a:p>
            <a:r>
              <a:t>熔断器和断路器防的是电流过大：过载（用电设备太多、功率太大）和短路（相线与零线或地直接相碰），目的是保护线路和设备、防止电气火灾。漏电保护器防的是漏电：电流经人体或设备外壳流入大地，目的是防人身触电和漏电起火。</a:t>
            </a:r>
          </a:p>
          <a:p>
            <a:r>
              <a:t>三者分工不同，不能相互替代。现在也有把过流保护和漏电保护做在一起的“带过电流保护的漏电断路器”，一个器件同时具备两种功能，选用以铭牌和电工确认为准。</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熔断器串联在电路中，内部是一段专门设计的熔体。电流超过规定值一段时间（或发生短路），熔体发热熔断，电路断开，导线来不及过热起火。它是“牺牲自己保护线路”的一次性器件。</a:t>
            </a:r>
          </a:p>
          <a:p>
            <a:r>
              <a:t>熔断器熔断，说明线路有过载或短路。应先断电查明原因（拔掉多余负载、排查故障设备），再由电工换上同规格的熔断器；仪器内部的保险管熔断，应报修，不要反复更换后继续使用，更不能换大号。</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断路器既是开关，可以正常接通和断开电路，又是保护器：线路过载时，它经过一段延时跳闸（过载越严重跳得越快）；发生短路时，电流急剧增大，它几乎瞬间跳闸。与熔断器相比，断路器跳闸后不必更换，排除故障后推上手柄即可复位。</a:t>
            </a:r>
          </a:p>
          <a:p>
            <a:r>
              <a:t>断路器跳闸同样说明线路有问题：先减少负载或拔下故障设备，再复位；复位后又跳，不要反复强合，应报告实验室负责人，由电工检查（见 K14）。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熔断器和断路器的额定电流要与所保护导线的载流能力和负载相匹配。规格选小了会频繁误动作；选大了更危险——导线已经过热冒烟，保护器件还不动作，等于没装。</a:t>
            </a:r>
          </a:p>
          <a:p>
            <a:r>
              <a:t>用铜丝、铁丝代替保险丝，或把熔断器两端短接，熔点高、截面大的金属丝不会及时熔断，过载、短路时线路就会起火，这是严禁的行为。保护器件的选型、安装和更换，由持证电工按线路设计进行（见第 105 课），学生发现规格不符或被替换，应报告实验室负责人。</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国家标准（GB/T 13955-2017，以现行文本为准）称之为剩余电流动作保护装置（剩余电流动作保护器），日常俗称漏电保护器、漏电开关、漏保。“剩余电流”指流出与流回电流的差值，即漏到别处（大地、人体）的那部分电流。</a:t>
            </a:r>
          </a:p>
          <a:p>
            <a:r>
              <a:t>国外资料中常见几个不同的英文名称和缩写（如 RCD、RCCB、ELCB、GFCI 等），有的指新型电流型，有的指已淘汰的电压型，有的是插座式产品，容易混淆。学习和工作中以国内术语为准：现在实际安装使用的，基本都是电流型剩余电流动作保护器（见 K8）。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电流型漏电保护器的核心是一个环形的零序电流互感器，相线和中性线（零线）一起穿过它。正常工作时，从相线流出的电流全部经零线流回，两者大小相等、方向相反，在互感器中相互抵消，合成为零，保护器不动作。</a:t>
            </a:r>
          </a:p>
          <a:p>
            <a:r>
              <a:t>当有人碰到相线、或设备漏电使外壳带电时，有一部分电流经人体或外壳流入大地，不再经零线流回，流出与流回的电流不再相等。互感器检测到这个差值（剩余电流），达到动作值时驱动脱扣线圈，开关跳闸，切断电源。</a:t>
            </a:r>
          </a:p>
          <a:p>
            <a:r>
              <a:t>注意：漏电保护器检测的是“漏到别处去的电流”。电流只在相线和零线之间流动（例如人同时碰到相线和零线），它分辨不出来（见 K9）。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金属外壳的仪器、工具本来有一条低电阻的接地通路（见第 099 课）。当这条通路断了，或设备内部绝缘损坏使外壳带电，就形成接地故障，电流会另找出路——人一碰外壳，电流经人体流入大地，轻则受伤，重则致命。</a:t>
            </a:r>
          </a:p>
          <a:p>
            <a:r>
              <a:t>漏电保护器是一种动作很快的开关：一旦出现接地故障，在极短时间内就切断电源（用于人身保护的快速型，动作时间按 GB/T 13955 现行文本要求）。前提是安装正确、维护到位：有故障的设备一插上就跳闸，跳得够快，伤害就来不及发生。它也能及早切断长期漏电，防止漏电发热起火。</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早期的漏电保护装置是电压型：它的检测线圈接在设备外壳的接地线上，相线碰壳时接地线上出现电压，推动开关断电。它有明显缺陷：完全依赖良好的接地线，接地线一断就失灵；漏电如果经其他途径（如人体、水管）入地，不经过它的接地线，它也不动作；灵敏度和响应速度也不如电流型。</a:t>
            </a:r>
          </a:p>
          <a:p>
            <a:r>
              <a:t>电流型直接比较流出与流回的电流（见 K6），不依赖自身的接地线，漏电从任何途径入地都能发现，更灵敏可靠，现已基本取代电压型。注意：电流型“动作不靠接地”，不等于设备外壳可以不接地，金属外壳设备仍须可靠接地（见第 099 课）。</a:t>
            </a:r>
          </a:p>
          <a:p>
            <a:r>
              <a:t>在老旧实验楼发现外观陈旧、没有试验按钮或型号不明的保护装置，记录位置并报告实验室负责人，由学校安排持证电工更换合格产品，不要自己动手换。</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漏电保护器只对“漏到大地”的电流有反应。人站在绝缘物上同时碰到相线和零线，或两手各碰一根相线，电流从一根线经人体回到另一根线，流出流回仍然相等，保护器可能不动作。所以检修线路和设备照样要断电、验电（见第 098、105 课），不能指望漏电保护器“兜底”。</a:t>
            </a:r>
          </a:p>
          <a:p>
            <a:r>
              <a:t>只具备漏电保护功能的保护器（不带过流保护）不管过载和短路，线路仍需熔断器或断路器配合（见 K1）。漏电保护器是附加保护，代替不了绝缘、遮护和保护接地：金属外壳设备照样要可靠接地，破损电线照样要停用。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漏电保护器的灵敏度用“额定剩余动作电流”表示，从高灵敏度到低灵敏度分为好几档，数值越小，越小的漏电就能使它动作。选档位先想清楚保护谁：用于人身触电的附加保护，一般选用额定剩余动作电流不大于 30 mA、动作快速的高灵敏度型，插座回路、用水设备、手持电动工具都靠它；灵敏度低一档的只能提供有限的保护，只在用不了高灵敏度型时由设计确定。具体数值和选用条件以 GB/T 13955 现行文本、线路设计和本校规定为准。</a:t>
            </a:r>
          </a:p>
          <a:p>
            <a:r>
              <a:t>数百毫安的大档位主要用于防止线路长期漏电发热引起电气火灾，它绝不能当作防人身触电的保护。</a:t>
            </a:r>
          </a:p>
          <a:p>
            <a:r>
              <a:t>铭牌上有两个容易看混的参数：额定电流（能长期通过的工作电流，数字大，单位是安）和额定剩余动作电流（多小的漏电就会跳，数字小，单位是毫安）。嫌保护器“太灵敏、老跳”而换成低灵敏度的，是严重违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潮湿的地方最需要漏电保护：实验室水池、水槽、水浴、冷却水循环装置旁边的插座回路必须装有漏电保护器。此外，一般插座回路、手持电动工具和移动式电气设备、用水的电气设备，都应有漏电保护；潮湿、狭窄等特殊场所还要按规定使用特低电压（见第 102 课）。具体配置按 GB/T 13955 现行文本、线路设计和本校规定。</a:t>
            </a:r>
          </a:p>
          <a:p>
            <a:r>
              <a:t>用移动式发电机或临时电源供电，同样要加漏电保护，不能因为“不是市电”就省掉（临时用电见第 101 课）。配电箱内每一路需要保护的回路都必须经过漏电保护器，绕开保护器单独引线、私接插座是不允许的。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除配电箱和实验台电源面板里的漏电保护器外，还有几种形式：插座式——保护器做在墙面插座里，带试验和复位按钮，能保护它后面接的几个插座；移动式——可以随身携带，插在普通插座上或自带电线，给后面的设备加一道保护；插头式——保护器直接做在电源插头上，保护整根电线和所连设备。</a:t>
            </a:r>
          </a:p>
          <a:p>
            <a:r>
              <a:t>移动式和插头式产品通常在供电线断了一根时也会自动断电，使用前同样要按试验按钮确认有效。临时用电、户外用电，应先按本校规定报批，由电工接线，并在用电设备前加移动式漏电保护器；不要把普通插线板直接拉到室外使用（见第 101 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漏电保护器上有一个试验按钮（常标“T”或“试验”）。按下后保护器应立即跳闸，说明检测和脱扣机构正常；试验后把手柄推回复位，恢复供电。试验前先告知同一回路的人员，关闭正在运行的精密仪器和不能突然断电的设备。</a:t>
            </a:r>
          </a:p>
          <a:p>
            <a:r>
              <a:t>试验周期按 GB/T 13955 现行文本和本校规定执行，常见做法是每月至少试一次，雷雨季节和长期停用后再次使用前也要试。每个保护器应编号，试验结果记入台账，由专人签字（电气安全检查见第 104 课）。</a:t>
            </a:r>
          </a:p>
          <a:p>
            <a:r>
              <a:t>按下试验按钮不跳闸，说明保护器已失灵，应立即停用该回路，挂停用标识，报告实验室负责人并报修，不能“凑合着用”。</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漏电保护器跳闸，说明回路中可能真有漏电：设备绝缘损坏、进水受潮、线路破损。正确做法：先拔下最近接上的或可疑的设备，再试着合闸；合上不跳，说明问题在拔下的设备上，该设备停用、挂牌、报修；断路器跳闸也一样，先减少负载、拔下故障设备再复位。</a:t>
            </a:r>
          </a:p>
          <a:p>
            <a:r>
              <a:t>不能反复强合，更不能为了“不跳”而用导线短接保护器、拆掉保护器或换成普通开关——这等于拆掉了救命的装置。老是跳闸、查不清原因，报告实验室负责人，请持证电工检查处理。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漏电保护器、断路器、插线板等低压电器应选用获得强制性产品认证、带 3C 标志的合格产品（以现行认证目录为准），由学校统一采购；来路不明、没有标志的廉价产品可能根本不动作，不能使用。</a:t>
            </a:r>
          </a:p>
          <a:p>
            <a:r>
              <a:t>保护器件的选型、安装、更换和定期检测，由持证电工按线路设计进行，规格要与线路匹配（见 K4）。配电箱应保持关闭、标明各回路用途，箱前不堆杂物（见第 098 课）；学生和无关人员不得打开配电箱、自行拆装保护器件，发现问题只负责停用和报告。</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1 题 答案：C。解析：熔断器和断路器防过载、短路；漏电保护器检测剩余电流，防触电和漏电起火。</a:t>
            </a:r>
          </a:p>
          <a:p>
            <a:r>
              <a:t>第 2 题 答案：B。解析：此时流出与流回电流相等，保护器可能不动作，所以检修仍须断电。</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3 题 答案：A。解析：大档位用于防电气火灾，不能当防触电保护；具体以 GB/T 13955 现行文本和本校规定为准。</a:t>
            </a:r>
          </a:p>
          <a:p>
            <a:r>
              <a:t>第 4 题 答案：C。解析：按了不跳说明保护器失灵，不能凑合使用。</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5 题 答案：B。解析：铜丝不能及时熔断，过载短路时会引起火灾；应查明原因后由电工换同规格熔断器。</a:t>
            </a:r>
          </a:p>
          <a:p>
            <a:r>
              <a:t>第 6 题 答案：不急于合闸、不反复强合；先拔下刚接上的或可疑设备再试合闸，找出漏电设备后停用、挂牌、报修；查不清原因时报告实验室负责人，由持证电工处理；绝不短接、拆除或更换为普通开关。解析：跳闸说明回路可能存在漏电，是保护器在起作用。</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Oval 1"/>
          <p:cNvSpPr/>
          <p:nvPr/>
        </p:nvSpPr>
        <p:spPr>
          <a:xfrm>
            <a:off x="548640" y="1280160"/>
            <a:ext cx="1005840" cy="100584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005840" cy="1005840"/>
          </a:xfrm>
          <a:prstGeom prst="rect">
            <a:avLst/>
          </a:prstGeom>
          <a:noFill/>
        </p:spPr>
        <p:txBody>
          <a:bodyPr wrap="square" anchor="ctr" lIns="0" rIns="0" tIns="0" bIns="0">
            <a:spAutoFit/>
          </a:bodyPr>
          <a:lstStyle/>
          <a:p>
            <a:pPr algn="ctr"/>
            <a:r>
              <a:rPr sz="2400" b="1">
                <a:solidFill>
                  <a:srgbClr val="FFFFFF"/>
                </a:solidFill>
                <a:latin typeface="Microsoft YaHei"/>
              </a:rPr>
              <a:t>100</a:t>
            </a:r>
          </a:p>
        </p:txBody>
      </p:sp>
      <p:sp>
        <p:nvSpPr>
          <p:cNvPr id="4" name="TextBox 3"/>
          <p:cNvSpPr txBox="1"/>
          <p:nvPr/>
        </p:nvSpPr>
        <p:spPr>
          <a:xfrm>
            <a:off x="548640" y="2651760"/>
            <a:ext cx="11094415" cy="1097280"/>
          </a:xfrm>
          <a:prstGeom prst="rect">
            <a:avLst/>
          </a:prstGeom>
          <a:noFill/>
        </p:spPr>
        <p:txBody>
          <a:bodyPr wrap="square" anchor="t" lIns="0" rIns="0" tIns="0" bIns="0">
            <a:spAutoFit/>
          </a:bodyPr>
          <a:lstStyle/>
          <a:p>
            <a:pPr algn="l"/>
            <a:r>
              <a:rPr sz="4400" b="1">
                <a:solidFill>
                  <a:srgbClr val="FFFFFF"/>
                </a:solidFill>
                <a:latin typeface="Microsoft YaHei"/>
              </a:rPr>
              <a:t>漏电保护与过流保护</a:t>
            </a:r>
          </a:p>
        </p:txBody>
      </p:sp>
      <p:sp>
        <p:nvSpPr>
          <p:cNvPr id="5" name="TextBox 4"/>
          <p:cNvSpPr txBox="1"/>
          <p:nvPr/>
        </p:nvSpPr>
        <p:spPr>
          <a:xfrm>
            <a:off x="548640" y="3840480"/>
            <a:ext cx="11094415" cy="457200"/>
          </a:xfrm>
          <a:prstGeom prst="rect">
            <a:avLst/>
          </a:prstGeom>
          <a:noFill/>
        </p:spPr>
        <p:txBody>
          <a:bodyPr wrap="square" anchor="t" lIns="0" rIns="0" tIns="0" bIns="0">
            <a:spAutoFit/>
          </a:bodyPr>
          <a:lstStyle/>
          <a:p>
            <a:pPr algn="l"/>
            <a:r>
              <a:rPr sz="2000" b="0">
                <a:solidFill>
                  <a:srgbClr val="CADCE6"/>
                </a:solidFill>
                <a:latin typeface="Microsoft YaHei"/>
              </a:rPr>
              <a:t>第8章 电气安全</a:t>
            </a:r>
          </a:p>
        </p:txBody>
      </p:sp>
      <p:sp>
        <p:nvSpPr>
          <p:cNvPr id="6" name="TextBox 5"/>
          <p:cNvSpPr txBox="1"/>
          <p:nvPr/>
        </p:nvSpPr>
        <p:spPr>
          <a:xfrm>
            <a:off x="548640" y="4389120"/>
            <a:ext cx="11094415" cy="457200"/>
          </a:xfrm>
          <a:prstGeom prst="rect">
            <a:avLst/>
          </a:prstGeom>
          <a:noFill/>
        </p:spPr>
        <p:txBody>
          <a:bodyPr wrap="square" anchor="t" lIns="0" rIns="0" tIns="0" bIns="0">
            <a:spAutoFit/>
          </a:bodyPr>
          <a:lstStyle/>
          <a:p>
            <a:pPr algn="l"/>
            <a:r>
              <a:rPr sz="1400" b="0">
                <a:solidFill>
                  <a:srgbClr val="CADCE6"/>
                </a:solidFill>
                <a:latin typeface="Microsoft YaHei"/>
              </a:rPr>
              <a:t>课时：约 6 分钟（卡通视频 73 镜）　适用对象：进入实验室的全体本科生、研究生和教职工，特别是使用实验台电源、插座回路、用水设备和手持电动工具的人员，以及实验室安全员</a:t>
            </a:r>
          </a:p>
        </p:txBody>
      </p:sp>
      <p:sp>
        <p:nvSpPr>
          <p:cNvPr id="7" name="TextBox 6"/>
          <p:cNvSpPr txBox="1"/>
          <p:nvPr/>
        </p:nvSpPr>
        <p:spPr>
          <a:xfrm>
            <a:off x="548640" y="6126480"/>
            <a:ext cx="7315200" cy="365760"/>
          </a:xfrm>
          <a:prstGeom prst="rect">
            <a:avLst/>
          </a:prstGeom>
          <a:noFill/>
        </p:spPr>
        <p:txBody>
          <a:bodyPr wrap="square" anchor="t" lIns="0" rIns="0" tIns="0" bIns="0">
            <a:spAutoFit/>
          </a:bodyPr>
          <a:lstStyle/>
          <a:p>
            <a:pPr algn="l"/>
            <a:r>
              <a:rPr sz="1400" b="1">
                <a:solidFill>
                  <a:srgbClr val="F28C28"/>
                </a:solidFill>
                <a:latin typeface="Microsoft YaHei"/>
              </a:rPr>
              <a:t>《高校实验室安全》学习课件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学习目标</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Rounded Rectangle 4"/>
          <p:cNvSpPr/>
          <p:nvPr/>
        </p:nvSpPr>
        <p:spPr>
          <a:xfrm>
            <a:off x="548640"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1</a:t>
            </a:r>
          </a:p>
        </p:txBody>
      </p:sp>
      <p:sp>
        <p:nvSpPr>
          <p:cNvPr id="7" name="TextBox 6"/>
          <p:cNvSpPr txBox="1"/>
          <p:nvPr/>
        </p:nvSpPr>
        <p:spPr>
          <a:xfrm>
            <a:off x="868680"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能说出熔断器、断路器和漏电保护器（剩余电流动作保护器）各自防什么：过载、短路、漏电和触电。</a:t>
            </a:r>
          </a:p>
        </p:txBody>
      </p:sp>
      <p:sp>
        <p:nvSpPr>
          <p:cNvPr id="8" name="Rounded Rectangle 7"/>
          <p:cNvSpPr/>
          <p:nvPr/>
        </p:nvSpPr>
        <p:spPr>
          <a:xfrm>
            <a:off x="3413683"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733723"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2</a:t>
            </a:r>
          </a:p>
        </p:txBody>
      </p:sp>
      <p:sp>
        <p:nvSpPr>
          <p:cNvPr id="10" name="TextBox 9"/>
          <p:cNvSpPr txBox="1"/>
          <p:nvPr/>
        </p:nvSpPr>
        <p:spPr>
          <a:xfrm>
            <a:off x="3733723"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能说出漏电保护器“比较流出与流回电流”的工作原理，以及它不能防两相触电、不管过载短路、代替不了接地和绝缘。</a:t>
            </a:r>
          </a:p>
        </p:txBody>
      </p:sp>
      <p:sp>
        <p:nvSpPr>
          <p:cNvPr id="11" name="Rounded Rectangle 10"/>
          <p:cNvSpPr/>
          <p:nvPr/>
        </p:nvSpPr>
        <p:spPr>
          <a:xfrm>
            <a:off x="6278727"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98767"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3</a:t>
            </a:r>
          </a:p>
        </p:txBody>
      </p:sp>
      <p:sp>
        <p:nvSpPr>
          <p:cNvPr id="13" name="TextBox 12"/>
          <p:cNvSpPr txBox="1"/>
          <p:nvPr/>
        </p:nvSpPr>
        <p:spPr>
          <a:xfrm>
            <a:off x="6598767"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能判断防人身触电应选用高灵敏度（一般 30 mA）漏电保护器，以及水池、用水设备、插座回路、手持电动工具、临时用电必须有漏电保护。</a:t>
            </a:r>
          </a:p>
        </p:txBody>
      </p:sp>
      <p:sp>
        <p:nvSpPr>
          <p:cNvPr id="14" name="Rounded Rectangle 13"/>
          <p:cNvSpPr/>
          <p:nvPr/>
        </p:nvSpPr>
        <p:spPr>
          <a:xfrm>
            <a:off x="9143771" y="1828800"/>
            <a:ext cx="2499283" cy="39319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63811" y="2148840"/>
            <a:ext cx="685800" cy="685800"/>
          </a:xfrm>
          <a:prstGeom prst="ellipse">
            <a:avLst/>
          </a:prstGeom>
          <a:solidFill>
            <a:srgbClr val="1D7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Microsoft YaHei"/>
              </a:rPr>
              <a:t>4</a:t>
            </a:r>
          </a:p>
        </p:txBody>
      </p:sp>
      <p:sp>
        <p:nvSpPr>
          <p:cNvPr id="16" name="TextBox 15"/>
          <p:cNvSpPr txBox="1"/>
          <p:nvPr/>
        </p:nvSpPr>
        <p:spPr>
          <a:xfrm>
            <a:off x="9463811" y="3108960"/>
            <a:ext cx="1859203" cy="2468880"/>
          </a:xfrm>
          <a:prstGeom prst="rect">
            <a:avLst/>
          </a:prstGeom>
          <a:noFill/>
        </p:spPr>
        <p:txBody>
          <a:bodyPr wrap="square" anchor="t" lIns="0" rIns="0" tIns="0" bIns="0">
            <a:spAutoFit/>
          </a:bodyPr>
          <a:lstStyle/>
          <a:p>
            <a:pPr algn="l"/>
            <a:r>
              <a:rPr sz="1800" b="0">
                <a:solidFill>
                  <a:srgbClr val="222B33"/>
                </a:solidFill>
                <a:latin typeface="Microsoft YaHei"/>
              </a:rPr>
              <a:t>能做到定期按试验按钮并记录；跳闸先查原因，不强合、不短接、不拆除，不用铜丝代替保险丝，安装更换交持证电工。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法规与标准依据</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Rounded Rectangle 4"/>
          <p:cNvSpPr/>
          <p:nvPr/>
        </p:nvSpPr>
        <p:spPr>
          <a:xfrm>
            <a:off x="548640"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31520"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7" name="TextBox 6"/>
          <p:cNvSpPr txBox="1"/>
          <p:nvPr/>
        </p:nvSpPr>
        <p:spPr>
          <a:xfrm>
            <a:off x="1371600"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13955-2017（以现行文本为准）《剩余电流动作保护装置安装和运行》</a:t>
            </a:r>
          </a:p>
        </p:txBody>
      </p:sp>
      <p:sp>
        <p:nvSpPr>
          <p:cNvPr id="8" name="Rounded Rectangle 7"/>
          <p:cNvSpPr/>
          <p:nvPr/>
        </p:nvSpPr>
        <p:spPr>
          <a:xfrm>
            <a:off x="6278727" y="173736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461607" y="198882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0" name="TextBox 9"/>
          <p:cNvSpPr txBox="1"/>
          <p:nvPr/>
        </p:nvSpPr>
        <p:spPr>
          <a:xfrm>
            <a:off x="7101687" y="182880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GB/T 13869-2017（以现行文本为准，GB/T 13869-2026 即将实施）《用电安全导则》</a:t>
            </a:r>
          </a:p>
        </p:txBody>
      </p:sp>
      <p:sp>
        <p:nvSpPr>
          <p:cNvPr id="11" name="Rounded Rectangle 10"/>
          <p:cNvSpPr/>
          <p:nvPr/>
        </p:nvSpPr>
        <p:spPr>
          <a:xfrm>
            <a:off x="548640"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1371600"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GB 4793.1-2007（以现行文本为准，GB 4793-2024 已发布、即将实施）《测量、控制和实验室用电气设备的安全要求 第1部分：通用要求》</a:t>
            </a:r>
          </a:p>
        </p:txBody>
      </p:sp>
      <p:sp>
        <p:nvSpPr>
          <p:cNvPr id="14" name="Rounded Rectangle 13"/>
          <p:cNvSpPr/>
          <p:nvPr/>
        </p:nvSpPr>
        <p:spPr>
          <a:xfrm>
            <a:off x="6278727" y="283464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1607" y="308610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6" name="TextBox 15"/>
          <p:cNvSpPr txBox="1"/>
          <p:nvPr/>
        </p:nvSpPr>
        <p:spPr>
          <a:xfrm>
            <a:off x="7101687" y="292608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《中华人民共和国安全生产法》（以现行文本为准）：特种作业人员持证上岗</a:t>
            </a:r>
          </a:p>
        </p:txBody>
      </p:sp>
      <p:sp>
        <p:nvSpPr>
          <p:cNvPr id="17" name="Rounded Rectangle 16"/>
          <p:cNvSpPr/>
          <p:nvPr/>
        </p:nvSpPr>
        <p:spPr>
          <a:xfrm>
            <a:off x="548640"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1520"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9" name="TextBox 18"/>
          <p:cNvSpPr txBox="1"/>
          <p:nvPr/>
        </p:nvSpPr>
        <p:spPr>
          <a:xfrm>
            <a:off x="1371600"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《高等学校实验室安全规范》（教科信厅函〔2023〕5 号）：实验室用电安全</a:t>
            </a:r>
          </a:p>
        </p:txBody>
      </p:sp>
      <p:sp>
        <p:nvSpPr>
          <p:cNvPr id="20" name="Rounded Rectangle 19"/>
          <p:cNvSpPr/>
          <p:nvPr/>
        </p:nvSpPr>
        <p:spPr>
          <a:xfrm>
            <a:off x="6278727" y="393192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61607" y="418338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2" name="TextBox 21"/>
          <p:cNvSpPr txBox="1"/>
          <p:nvPr/>
        </p:nvSpPr>
        <p:spPr>
          <a:xfrm>
            <a:off x="7101687" y="402336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强制性产品认证（3C）目录内的低压电器须获认证（以现行目录为准）</a:t>
            </a:r>
          </a:p>
        </p:txBody>
      </p:sp>
      <p:sp>
        <p:nvSpPr>
          <p:cNvPr id="23" name="Rounded Rectangle 22"/>
          <p:cNvSpPr/>
          <p:nvPr/>
        </p:nvSpPr>
        <p:spPr>
          <a:xfrm>
            <a:off x="548640" y="5029200"/>
            <a:ext cx="5364327" cy="960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31520" y="5280660"/>
            <a:ext cx="457200" cy="45720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25" name="TextBox 24"/>
          <p:cNvSpPr txBox="1"/>
          <p:nvPr/>
        </p:nvSpPr>
        <p:spPr>
          <a:xfrm>
            <a:off x="1371600" y="5120640"/>
            <a:ext cx="4358487" cy="777240"/>
          </a:xfrm>
          <a:prstGeom prst="rect">
            <a:avLst/>
          </a:prstGeom>
          <a:noFill/>
        </p:spPr>
        <p:txBody>
          <a:bodyPr wrap="square" anchor="ctr" lIns="0" rIns="0" tIns="0" bIns="0">
            <a:spAutoFit/>
          </a:bodyPr>
          <a:lstStyle/>
          <a:p>
            <a:pPr algn="l"/>
            <a:r>
              <a:rPr sz="1400" b="0">
                <a:solidFill>
                  <a:srgbClr val="222B33"/>
                </a:solidFill>
                <a:latin typeface="Microsoft YaHei"/>
              </a:rPr>
              <a:t>本校实验室用电安全管理规定（漏电保护器试验周期、台账和报修程序以本校规定为准）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三种保护器件，各管一摊</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线路保护器件：熔断器、断路器、漏电保护器</a:t>
            </a:r>
          </a:p>
          <a:p>
            <a:pPr>
              <a:spcAft>
                <a:spcPts val="1000"/>
              </a:spcAft>
            </a:pPr>
            <a:r>
              <a:rPr sz="2000">
                <a:solidFill>
                  <a:srgbClr val="222B33"/>
                </a:solidFill>
                <a:latin typeface="Microsoft YaHei"/>
              </a:rPr>
              <a:t>▪ 熔断器和断路器管电流过大：过载、短路</a:t>
            </a:r>
          </a:p>
          <a:p>
            <a:pPr>
              <a:spcAft>
                <a:spcPts val="1000"/>
              </a:spcAft>
            </a:pPr>
            <a:r>
              <a:rPr sz="2000">
                <a:solidFill>
                  <a:srgbClr val="222B33"/>
                </a:solidFill>
                <a:latin typeface="Microsoft YaHei"/>
              </a:rPr>
              <a:t>▪ 漏电保护器管漏电和人身触电</a:t>
            </a:r>
          </a:p>
          <a:p>
            <a:pPr>
              <a:spcAft>
                <a:spcPts val="1000"/>
              </a:spcAft>
            </a:pPr>
            <a:r>
              <a:rPr sz="2000">
                <a:solidFill>
                  <a:srgbClr val="222B33"/>
                </a:solidFill>
                <a:latin typeface="Microsoft YaHei"/>
              </a:rPr>
              <a:t>▪ 各管一摊，配合起来线路才安全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实验室配电箱和实验台电源面板里，常见三类保护器件：熔断器（俗称保险丝、保险管）、断路器（俗称空气开关）和漏电保护器（剩余电流动作保护器）。它们是第 098 课所说“第二道防线”的核心。</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以为装了空气开关就能防触电</a:t>
            </a:r>
          </a:p>
          <a:p>
            <a:pPr>
              <a:spcAft>
                <a:spcPts val="1000"/>
              </a:spcAft>
            </a:pPr>
            <a:r>
              <a:rPr sz="1500">
                <a:solidFill>
                  <a:srgbClr val="222B33"/>
                </a:solidFill>
                <a:latin typeface="Microsoft YaHei"/>
              </a:rPr>
              <a:t>▪ 以为装了漏电保护器就不怕过载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熔断器：电流超标就熔断</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用电太多、电流超标，导线会发热</a:t>
            </a:r>
          </a:p>
          <a:p>
            <a:pPr>
              <a:spcAft>
                <a:spcPts val="1000"/>
              </a:spcAft>
            </a:pPr>
            <a:r>
              <a:rPr sz="2000">
                <a:solidFill>
                  <a:srgbClr val="222B33"/>
                </a:solidFill>
                <a:latin typeface="Microsoft YaHei"/>
              </a:rPr>
              <a:t>▪ 熔丝先熔断，切断电路、保护线路</a:t>
            </a:r>
          </a:p>
          <a:p>
            <a:pPr>
              <a:spcAft>
                <a:spcPts val="1000"/>
              </a:spcAft>
            </a:pPr>
            <a:r>
              <a:rPr sz="2000">
                <a:solidFill>
                  <a:srgbClr val="222B33"/>
                </a:solidFill>
                <a:latin typeface="Microsoft YaHei"/>
              </a:rPr>
              <a:t>▪ 熔断后先查明原因，再换同规格熔断器</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熔断器串联在电路中，内部是一段专门设计的熔体。电流超过规定值一段时间（或发生短路），熔体发热熔断，电路断开，导线来不及过热起火。它是“牺牲自己保护线路”的一次性器件。</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保险管一烧就换个更大的</a:t>
            </a:r>
          </a:p>
          <a:p>
            <a:pPr>
              <a:spcAft>
                <a:spcPts val="1000"/>
              </a:spcAft>
            </a:pPr>
            <a:r>
              <a:rPr sz="1500">
                <a:solidFill>
                  <a:srgbClr val="222B33"/>
                </a:solidFill>
                <a:latin typeface="Microsoft YaHei"/>
              </a:rPr>
              <a:t>▪ 不查原因，烧了一个换一个</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断路器：过载短路自动跳闸</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断路器是能接通、断开电路的开关装置</a:t>
            </a:r>
          </a:p>
          <a:p>
            <a:pPr>
              <a:spcAft>
                <a:spcPts val="1000"/>
              </a:spcAft>
            </a:pPr>
            <a:r>
              <a:rPr sz="2000">
                <a:solidFill>
                  <a:srgbClr val="222B33"/>
                </a:solidFill>
                <a:latin typeface="Microsoft YaHei"/>
              </a:rPr>
              <a:t>▪ 过载一段时间，它会自动跳闸</a:t>
            </a:r>
          </a:p>
          <a:p>
            <a:pPr>
              <a:spcAft>
                <a:spcPts val="1000"/>
              </a:spcAft>
            </a:pPr>
            <a:r>
              <a:rPr sz="2000">
                <a:solidFill>
                  <a:srgbClr val="222B33"/>
                </a:solidFill>
                <a:latin typeface="Microsoft YaHei"/>
              </a:rPr>
              <a:t>▪ 发生短路，电流猛增，它瞬间跳闸</a:t>
            </a:r>
          </a:p>
          <a:p>
            <a:pPr>
              <a:spcAft>
                <a:spcPts val="1000"/>
              </a:spcAft>
            </a:pPr>
            <a:r>
              <a:rPr sz="2000">
                <a:solidFill>
                  <a:srgbClr val="222B33"/>
                </a:solidFill>
                <a:latin typeface="Microsoft YaHei"/>
              </a:rPr>
              <a:t>▪ 排除故障后可以复位，重复使用</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断路器既是开关，可以正常接通和断开电路，又是保护器：线路过载时，它经过一段延时跳闸（过载越严重跳得越快）；发生短路时，电流急剧增大，它几乎瞬间跳闸。与熔断器相比，断路器跳闸后不必更换，排除故障后推上手柄即可复位。</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跳闸后不减负载，直接一推再推</a:t>
            </a:r>
          </a:p>
          <a:p>
            <a:pPr>
              <a:spcAft>
                <a:spcPts val="1000"/>
              </a:spcAft>
            </a:pPr>
            <a:r>
              <a:rPr sz="1500">
                <a:solidFill>
                  <a:srgbClr val="222B33"/>
                </a:solidFill>
                <a:latin typeface="Microsoft YaHei"/>
              </a:rPr>
              <a:t>▪ 用胶带把断路器手柄粘住不让它跳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规格要匹配，不用铜丝代替保险丝</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保护器件规格要和导线、负载匹配</a:t>
            </a:r>
          </a:p>
          <a:p>
            <a:pPr>
              <a:spcAft>
                <a:spcPts val="1000"/>
              </a:spcAft>
            </a:pPr>
            <a:r>
              <a:rPr sz="2000">
                <a:solidFill>
                  <a:srgbClr val="222B33"/>
                </a:solidFill>
                <a:latin typeface="Microsoft YaHei"/>
              </a:rPr>
              <a:t>▪ 规格过大，线烧了它也不跳</a:t>
            </a:r>
          </a:p>
          <a:p>
            <a:pPr>
              <a:spcAft>
                <a:spcPts val="1000"/>
              </a:spcAft>
            </a:pPr>
            <a:r>
              <a:rPr sz="2000">
                <a:solidFill>
                  <a:srgbClr val="222B33"/>
                </a:solidFill>
                <a:latin typeface="Microsoft YaHei"/>
              </a:rPr>
              <a:t>▪ 绝不能用铜丝、铁丝代替保险丝</a:t>
            </a:r>
          </a:p>
          <a:p>
            <a:pPr>
              <a:spcAft>
                <a:spcPts val="1000"/>
              </a:spcAft>
            </a:pPr>
            <a:r>
              <a:rPr sz="2000">
                <a:solidFill>
                  <a:srgbClr val="222B33"/>
                </a:solidFill>
                <a:latin typeface="Microsoft YaHei"/>
              </a:rPr>
              <a:t>▪ 选型和更换由持证电工进行</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熔断器和断路器的额定电流要与所保护导线的载流能力和负载相匹配。规格选小了会频繁误动作；选大了更危险——导线已经过热冒烟，保护器件还不动作，等于没装。</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嫌跳闸麻烦，换一个大号断路器</a:t>
            </a:r>
          </a:p>
          <a:p>
            <a:pPr>
              <a:spcAft>
                <a:spcPts val="1000"/>
              </a:spcAft>
            </a:pPr>
            <a:r>
              <a:rPr sz="1500">
                <a:solidFill>
                  <a:srgbClr val="222B33"/>
                </a:solidFill>
                <a:latin typeface="Microsoft YaHei"/>
              </a:rPr>
              <a:t>▪ 保险丝烧了找根铜丝缠上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漏电保护器的名称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1700784"/>
          </a:xfrm>
          <a:prstGeom prst="rect">
            <a:avLst/>
          </a:prstGeom>
          <a:noFill/>
        </p:spPr>
        <p:txBody>
          <a:bodyPr wrap="square" lIns="0" rIns="0" tIns="0" bIns="0">
            <a:spAutoFit/>
          </a:bodyPr>
          <a:lstStyle/>
          <a:p>
            <a:pPr>
              <a:spcAft>
                <a:spcPts val="1000"/>
              </a:spcAft>
            </a:pPr>
            <a:r>
              <a:rPr sz="2000">
                <a:solidFill>
                  <a:srgbClr val="222B33"/>
                </a:solidFill>
                <a:latin typeface="Microsoft YaHei"/>
              </a:rPr>
              <a:t>▪ 国内统称剩余电流动作保护器</a:t>
            </a:r>
          </a:p>
          <a:p>
            <a:pPr>
              <a:spcAft>
                <a:spcPts val="1000"/>
              </a:spcAft>
            </a:pPr>
            <a:r>
              <a:rPr sz="2000">
                <a:solidFill>
                  <a:srgbClr val="222B33"/>
                </a:solidFill>
                <a:latin typeface="Microsoft YaHei"/>
              </a:rPr>
              <a:t>▪ 俗称漏电保护器、漏电开关、漏保</a:t>
            </a:r>
          </a:p>
          <a:p>
            <a:pPr>
              <a:spcAft>
                <a:spcPts val="1000"/>
              </a:spcAft>
            </a:pPr>
            <a:r>
              <a:rPr sz="2000">
                <a:solidFill>
                  <a:srgbClr val="222B33"/>
                </a:solidFill>
                <a:latin typeface="Microsoft YaHei"/>
              </a:rPr>
              <a:t>▪ 名字有好几个，说的是同一类东西</a:t>
            </a:r>
          </a:p>
        </p:txBody>
      </p:sp>
      <p:sp>
        <p:nvSpPr>
          <p:cNvPr id="9" name="TextBox 8"/>
          <p:cNvSpPr txBox="1"/>
          <p:nvPr/>
        </p:nvSpPr>
        <p:spPr>
          <a:xfrm>
            <a:off x="914400" y="4215384"/>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4581144"/>
            <a:ext cx="5925129" cy="1179576"/>
          </a:xfrm>
          <a:prstGeom prst="rect">
            <a:avLst/>
          </a:prstGeom>
          <a:noFill/>
        </p:spPr>
        <p:txBody>
          <a:bodyPr wrap="square" anchor="t" lIns="0" rIns="0" tIns="0" bIns="0">
            <a:spAutoFit/>
          </a:bodyPr>
          <a:lstStyle/>
          <a:p>
            <a:pPr algn="l"/>
            <a:r>
              <a:rPr sz="1400" b="0">
                <a:solidFill>
                  <a:srgbClr val="5F6B75"/>
                </a:solidFill>
                <a:latin typeface="Microsoft YaHei"/>
              </a:rPr>
              <a:t>国家标准（GB/T 13955-2017，以现行文本为准）称之为剩余电流动作保护装置（剩余电流动作保护器），日常俗称漏电保护器、漏电开关、漏保。“剩余电流”指流出与流回电流的差值，即漏到别处（大地、人体）的那部分电流。</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把漏电保护器当作普通空气开关</a:t>
            </a:r>
          </a:p>
          <a:p>
            <a:pPr>
              <a:spcAft>
                <a:spcPts val="1000"/>
              </a:spcAft>
            </a:pPr>
            <a:r>
              <a:rPr sz="1500">
                <a:solidFill>
                  <a:srgbClr val="222B33"/>
                </a:solidFill>
                <a:latin typeface="Microsoft YaHei"/>
              </a:rPr>
              <a:t>▪ 被各种外文缩写弄混，以为是不同的保护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原理：流出流回比一比</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K6</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相线和中性线一起穿过零序电流互感器</a:t>
            </a:r>
          </a:p>
          <a:p>
            <a:pPr>
              <a:spcAft>
                <a:spcPts val="1000"/>
              </a:spcAft>
            </a:pPr>
            <a:r>
              <a:rPr sz="2000">
                <a:solidFill>
                  <a:srgbClr val="222B33"/>
                </a:solidFill>
                <a:latin typeface="Microsoft YaHei"/>
              </a:rPr>
              <a:t>▪ 正常时流出多少就流回多少，差值为零</a:t>
            </a:r>
          </a:p>
          <a:p>
            <a:pPr>
              <a:spcAft>
                <a:spcPts val="1000"/>
              </a:spcAft>
            </a:pPr>
            <a:r>
              <a:rPr sz="2000">
                <a:solidFill>
                  <a:srgbClr val="222B33"/>
                </a:solidFill>
                <a:latin typeface="Microsoft YaHei"/>
              </a:rPr>
              <a:t>▪ 有电流漏到大地，流出流回出现差值</a:t>
            </a:r>
          </a:p>
          <a:p>
            <a:pPr>
              <a:spcAft>
                <a:spcPts val="1000"/>
              </a:spcAft>
            </a:pPr>
            <a:r>
              <a:rPr sz="2000">
                <a:solidFill>
                  <a:srgbClr val="222B33"/>
                </a:solidFill>
                <a:latin typeface="Microsoft YaHei"/>
              </a:rPr>
              <a:t>▪ 测到差值，脱扣器动作，立即跳闸断电</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电流型漏电保护器的核心是一个环形的零序电流互感器，相线和中性线（零线）一起穿过它。正常工作时，从相线流出的电流全部经零线流回，两者大小相等、方向相反，在互感器中相互抵消，合成为零，保护器不动作。</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以为漏电保护器是靠测电压大小工作的</a:t>
            </a:r>
          </a:p>
          <a:p>
            <a:pPr>
              <a:spcAft>
                <a:spcPts val="1000"/>
              </a:spcAft>
            </a:pPr>
            <a:r>
              <a:rPr sz="1500">
                <a:solidFill>
                  <a:srgbClr val="222B33"/>
                </a:solidFill>
                <a:latin typeface="Microsoft YaHei"/>
              </a:rPr>
              <a:t>▪ 以为它能感知所有触电情况</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漏电改走人体，它抢先断电</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K7</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外壳接地通路断了，就是接地故障</a:t>
            </a:r>
          </a:p>
          <a:p>
            <a:pPr>
              <a:spcAft>
                <a:spcPts val="1000"/>
              </a:spcAft>
            </a:pPr>
            <a:r>
              <a:rPr sz="2000">
                <a:solidFill>
                  <a:srgbClr val="222B33"/>
                </a:solidFill>
                <a:latin typeface="Microsoft YaHei"/>
              </a:rPr>
              <a:t>▪ 电流另找出路，可能经人体流入大地</a:t>
            </a:r>
          </a:p>
          <a:p>
            <a:pPr>
              <a:spcAft>
                <a:spcPts val="1000"/>
              </a:spcAft>
            </a:pPr>
            <a:r>
              <a:rPr sz="2000">
                <a:solidFill>
                  <a:srgbClr val="222B33"/>
                </a:solidFill>
                <a:latin typeface="Microsoft YaHei"/>
              </a:rPr>
              <a:t>▪ 漏电保护器动作极快，一瞬间就断电</a:t>
            </a:r>
          </a:p>
          <a:p>
            <a:pPr>
              <a:spcAft>
                <a:spcPts val="1000"/>
              </a:spcAft>
            </a:pPr>
            <a:r>
              <a:rPr sz="2000">
                <a:solidFill>
                  <a:srgbClr val="222B33"/>
                </a:solidFill>
                <a:latin typeface="Microsoft YaHei"/>
              </a:rPr>
              <a:t>▪ 坏设备一插上就跳闸，伤害来不及发生</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金属外壳的仪器、工具本来有一条低电阻的接地通路（见第 099 课）。当这条通路断了，或设备内部绝缘损坏使外壳带电，就形成接地故障，电流会另找出路——人一碰外壳，电流经人体流入大地，轻则受伤，重则致命。</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有了漏电保护器就不检查设备外壳和接地</a:t>
            </a:r>
          </a:p>
          <a:p>
            <a:pPr>
              <a:spcAft>
                <a:spcPts val="1000"/>
              </a:spcAft>
            </a:pPr>
            <a:r>
              <a:rPr sz="1500">
                <a:solidFill>
                  <a:srgbClr val="222B33"/>
                </a:solidFill>
                <a:latin typeface="Microsoft YaHei"/>
              </a:rPr>
              <a:t>▪ 某台设备一插就跳闸，换个插座接着用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老式电压型已淘汰</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K8</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老式电压型盯住设备外壳接地线上的电压</a:t>
            </a:r>
          </a:p>
          <a:p>
            <a:pPr>
              <a:spcAft>
                <a:spcPts val="1000"/>
              </a:spcAft>
            </a:pPr>
            <a:r>
              <a:rPr sz="2000">
                <a:solidFill>
                  <a:srgbClr val="222B33"/>
                </a:solidFill>
                <a:latin typeface="Microsoft YaHei"/>
              </a:rPr>
              <a:t>▪ 接地线一坏，或漏电不走它的地线，就不跳</a:t>
            </a:r>
          </a:p>
          <a:p>
            <a:pPr>
              <a:spcAft>
                <a:spcPts val="1000"/>
              </a:spcAft>
            </a:pPr>
            <a:r>
              <a:rPr sz="2000">
                <a:solidFill>
                  <a:srgbClr val="222B33"/>
                </a:solidFill>
                <a:latin typeface="Microsoft YaHei"/>
              </a:rPr>
              <a:t>▪ 电流型不靠接地线，从哪儿漏都能发现</a:t>
            </a:r>
          </a:p>
          <a:p>
            <a:pPr>
              <a:spcAft>
                <a:spcPts val="1000"/>
              </a:spcAft>
            </a:pPr>
            <a:r>
              <a:rPr sz="2000">
                <a:solidFill>
                  <a:srgbClr val="222B33"/>
                </a:solidFill>
                <a:latin typeface="Microsoft YaHei"/>
              </a:rPr>
              <a:t>▪ 见到老旧保护装置，记录并报告更新</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早期的漏电保护装置是电压型：它的检测线圈接在设备外壳的接地线上，相线碰壳时接地线上出现电压，推动开关断电。它有明显缺陷：完全依赖良好的接地线，接地线一断就失灵；漏电如果经其他途径（如人体、水管）入地，不经过它的接地线……</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以为有了电流型保护，设备就不用接地</a:t>
            </a:r>
          </a:p>
          <a:p>
            <a:pPr>
              <a:spcAft>
                <a:spcPts val="1000"/>
              </a:spcAft>
            </a:pPr>
            <a:r>
              <a:rPr sz="1500">
                <a:solidFill>
                  <a:srgbClr val="222B33"/>
                </a:solidFill>
                <a:latin typeface="Microsoft YaHei"/>
              </a:rPr>
              <a:t>▪ 自己拆换老旧的保护开关</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漏电保护器不是万能的</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K9</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人同时碰到相线和零线（或两根相线），它可能不跳</a:t>
            </a:r>
          </a:p>
          <a:p>
            <a:pPr>
              <a:spcAft>
                <a:spcPts val="1000"/>
              </a:spcAft>
            </a:pPr>
            <a:r>
              <a:rPr sz="2000">
                <a:solidFill>
                  <a:srgbClr val="222B33"/>
                </a:solidFill>
                <a:latin typeface="Microsoft YaHei"/>
              </a:rPr>
              <a:t>▪ 所以检修仍须断电，不碰带电部位</a:t>
            </a:r>
          </a:p>
          <a:p>
            <a:pPr>
              <a:spcAft>
                <a:spcPts val="1000"/>
              </a:spcAft>
            </a:pPr>
            <a:r>
              <a:rPr sz="2000">
                <a:solidFill>
                  <a:srgbClr val="222B33"/>
                </a:solidFill>
                <a:latin typeface="Microsoft YaHei"/>
              </a:rPr>
              <a:t>▪ 只管漏电的保护器，不管过载和短路</a:t>
            </a:r>
          </a:p>
          <a:p>
            <a:pPr>
              <a:spcAft>
                <a:spcPts val="1000"/>
              </a:spcAft>
            </a:pPr>
            <a:r>
              <a:rPr sz="2000">
                <a:solidFill>
                  <a:srgbClr val="222B33"/>
                </a:solidFill>
                <a:latin typeface="Microsoft YaHei"/>
              </a:rPr>
              <a:t>▪ 它代替不了接地和绝缘</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漏电保护器只对“漏到大地”的电流有反应。人站在绝缘物上同时碰到相线和零线，或两手各碰一根相线，电流从一根线经人体回到另一根线，流出流回仍然相等，保护器可能不动作。所以检修线路和设备照样要断电、验电（见第 098、10……</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装了漏电保护器就带电接线</a:t>
            </a:r>
          </a:p>
          <a:p>
            <a:pPr>
              <a:spcAft>
                <a:spcPts val="1000"/>
              </a:spcAft>
            </a:pPr>
            <a:r>
              <a:rPr sz="1500">
                <a:solidFill>
                  <a:srgbClr val="222B33"/>
                </a:solidFill>
                <a:latin typeface="Microsoft YaHei"/>
              </a:rPr>
              <a:t>▪ 以为漏电保护器能防过载起火</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灵敏度分档：防触电选高灵敏度</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K10</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额定剩余动作电流有好几档，越小越灵敏</a:t>
            </a:r>
          </a:p>
          <a:p>
            <a:pPr>
              <a:spcAft>
                <a:spcPts val="1000"/>
              </a:spcAft>
            </a:pPr>
            <a:r>
              <a:rPr sz="1700">
                <a:solidFill>
                  <a:srgbClr val="222B33"/>
                </a:solidFill>
                <a:latin typeface="Microsoft YaHei"/>
              </a:rPr>
              <a:t>▪ 防人身触电，一般选 30 mA 高灵敏度快速型</a:t>
            </a:r>
          </a:p>
          <a:p>
            <a:pPr>
              <a:spcAft>
                <a:spcPts val="1000"/>
              </a:spcAft>
            </a:pPr>
            <a:r>
              <a:rPr sz="1700">
                <a:solidFill>
                  <a:srgbClr val="222B33"/>
                </a:solidFill>
                <a:latin typeface="Microsoft YaHei"/>
              </a:rPr>
              <a:t>▪ 大档位用于防电气火灾，不能当防触电保护</a:t>
            </a:r>
          </a:p>
          <a:p>
            <a:pPr>
              <a:spcAft>
                <a:spcPts val="1000"/>
              </a:spcAft>
            </a:pPr>
            <a:r>
              <a:rPr sz="1700">
                <a:solidFill>
                  <a:srgbClr val="222B33"/>
                </a:solidFill>
                <a:latin typeface="Microsoft YaHei"/>
              </a:rPr>
              <a:t>▪ 铭牌上分清额定电流和额定剩余动作电流</a:t>
            </a:r>
          </a:p>
          <a:p>
            <a:pPr>
              <a:spcAft>
                <a:spcPts val="1000"/>
              </a:spcAft>
            </a:pPr>
            <a:r>
              <a:rPr sz="1700">
                <a:solidFill>
                  <a:srgbClr val="222B33"/>
                </a:solidFill>
                <a:latin typeface="Microsoft YaHei"/>
              </a:rPr>
              <a:t>▪ 嫌它爱跳就换低灵敏度的，不允许</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漏电保护器的灵敏度用“额定剩余动作电流”表示，从高灵敏度到低灵敏度分为好几档，数值越小，越小的漏电就能使它动作。选档位先想清楚保护谁：用于人身触电的附加保护，一般选用额定剩余动作电流不大于 30 mA、动作快速的高灵……</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把额定电流 32 A 看成灵敏度</a:t>
            </a:r>
          </a:p>
          <a:p>
            <a:pPr>
              <a:spcAft>
                <a:spcPts val="1000"/>
              </a:spcAft>
            </a:pPr>
            <a:r>
              <a:rPr sz="1500">
                <a:solidFill>
                  <a:srgbClr val="222B33"/>
                </a:solidFill>
                <a:latin typeface="Microsoft YaHei"/>
              </a:rPr>
              <a:t>▪ 嫌爱跳就让电工换个 100 mA 以上的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哪些地方必须有漏电保护</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K11</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水池、水浴等潮湿处的插座，必须有漏保</a:t>
            </a:r>
          </a:p>
          <a:p>
            <a:pPr>
              <a:spcAft>
                <a:spcPts val="1000"/>
              </a:spcAft>
            </a:pPr>
            <a:r>
              <a:rPr sz="2000">
                <a:solidFill>
                  <a:srgbClr val="222B33"/>
                </a:solidFill>
                <a:latin typeface="Microsoft YaHei"/>
              </a:rPr>
              <a:t>▪ 插座回路、手持电动工具、用水设备要有漏保</a:t>
            </a:r>
          </a:p>
          <a:p>
            <a:pPr>
              <a:spcAft>
                <a:spcPts val="1000"/>
              </a:spcAft>
            </a:pPr>
            <a:r>
              <a:rPr sz="2000">
                <a:solidFill>
                  <a:srgbClr val="222B33"/>
                </a:solidFill>
                <a:latin typeface="Microsoft YaHei"/>
              </a:rPr>
              <a:t>▪ 发电机或临时电源供电，同样要有漏保</a:t>
            </a:r>
          </a:p>
          <a:p>
            <a:pPr>
              <a:spcAft>
                <a:spcPts val="1000"/>
              </a:spcAft>
            </a:pPr>
            <a:r>
              <a:rPr sz="2000">
                <a:solidFill>
                  <a:srgbClr val="222B33"/>
                </a:solidFill>
                <a:latin typeface="Microsoft YaHei"/>
              </a:rPr>
              <a:t>▪ 每一路都要经过漏保，不得绕开接线</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潮湿的地方最需要漏电保护：实验室水池、水槽、水浴、冷却水循环装置旁边的插座回路必须装有漏电保护器。此外，一般插座回路、手持电动工具和移动式电气设备、用水的电气设备，都应有漏电保护；潮湿、狭窄等特殊场所还要按规定使用特……</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在水池边用没有漏保的插线板</a:t>
            </a:r>
          </a:p>
          <a:p>
            <a:pPr>
              <a:spcAft>
                <a:spcPts val="1000"/>
              </a:spcAft>
            </a:pPr>
            <a:r>
              <a:rPr sz="1500">
                <a:solidFill>
                  <a:srgbClr val="222B33"/>
                </a:solidFill>
                <a:latin typeface="Microsoft YaHei"/>
              </a:rPr>
              <a:t>▪ 从配电箱绕过漏保私自接出一路电</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插座式、移动式和插头式</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K12</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834640"/>
          </a:xfrm>
          <a:prstGeom prst="rect">
            <a:avLst/>
          </a:prstGeom>
          <a:noFill/>
        </p:spPr>
        <p:txBody>
          <a:bodyPr wrap="square" lIns="0" rIns="0" tIns="0" bIns="0">
            <a:spAutoFit/>
          </a:bodyPr>
          <a:lstStyle/>
          <a:p>
            <a:pPr>
              <a:spcAft>
                <a:spcPts val="1000"/>
              </a:spcAft>
            </a:pPr>
            <a:r>
              <a:rPr sz="1700">
                <a:solidFill>
                  <a:srgbClr val="222B33"/>
                </a:solidFill>
                <a:latin typeface="Microsoft YaHei"/>
              </a:rPr>
              <a:t>▪ 漏电保护除装在配电箱，还有多种形式</a:t>
            </a:r>
          </a:p>
          <a:p>
            <a:pPr>
              <a:spcAft>
                <a:spcPts val="1000"/>
              </a:spcAft>
            </a:pPr>
            <a:r>
              <a:rPr sz="1700">
                <a:solidFill>
                  <a:srgbClr val="222B33"/>
                </a:solidFill>
                <a:latin typeface="Microsoft YaHei"/>
              </a:rPr>
              <a:t>▪ 插座式：装在插座里，护住后面几个插座</a:t>
            </a:r>
          </a:p>
          <a:p>
            <a:pPr>
              <a:spcAft>
                <a:spcPts val="1000"/>
              </a:spcAft>
            </a:pPr>
            <a:r>
              <a:rPr sz="1700">
                <a:solidFill>
                  <a:srgbClr val="222B33"/>
                </a:solidFill>
                <a:latin typeface="Microsoft YaHei"/>
              </a:rPr>
              <a:t>▪ 移动式、插头式：随设备走，带试验和复位键</a:t>
            </a:r>
          </a:p>
          <a:p>
            <a:pPr>
              <a:spcAft>
                <a:spcPts val="1000"/>
              </a:spcAft>
            </a:pPr>
            <a:r>
              <a:rPr sz="1700">
                <a:solidFill>
                  <a:srgbClr val="222B33"/>
                </a:solidFill>
                <a:latin typeface="Microsoft YaHei"/>
              </a:rPr>
              <a:t>▪ 供电线断了一根，移动式、插头式也会断电</a:t>
            </a:r>
          </a:p>
          <a:p>
            <a:pPr>
              <a:spcAft>
                <a:spcPts val="1000"/>
              </a:spcAft>
            </a:pPr>
            <a:r>
              <a:rPr sz="1700">
                <a:solidFill>
                  <a:srgbClr val="222B33"/>
                </a:solidFill>
                <a:latin typeface="Microsoft YaHei"/>
              </a:rPr>
              <a:t>▪ 临时、户外用电先报批，加移动式漏保</a:t>
            </a:r>
          </a:p>
        </p:txBody>
      </p:sp>
      <p:sp>
        <p:nvSpPr>
          <p:cNvPr id="9" name="TextBox 8"/>
          <p:cNvSpPr txBox="1"/>
          <p:nvPr/>
        </p:nvSpPr>
        <p:spPr>
          <a:xfrm>
            <a:off x="914400" y="5349240"/>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715000"/>
            <a:ext cx="5925129" cy="45720"/>
          </a:xfrm>
          <a:prstGeom prst="rect">
            <a:avLst/>
          </a:prstGeom>
          <a:noFill/>
        </p:spPr>
        <p:txBody>
          <a:bodyPr wrap="square" anchor="t" lIns="0" rIns="0" tIns="0" bIns="0">
            <a:spAutoFit/>
          </a:bodyPr>
          <a:lstStyle/>
          <a:p>
            <a:pPr algn="l"/>
            <a:r>
              <a:rPr sz="1400" b="0">
                <a:solidFill>
                  <a:srgbClr val="5F6B75"/>
                </a:solidFill>
                <a:latin typeface="Microsoft YaHei"/>
              </a:rPr>
              <a:t>除配电箱和实验台电源面板里的漏电保护器外，还有几种形式：插座式——保护器做在墙面插座里，带试验和复位按钮，能保护它后面接的几个插座；移动式——可以随身携带，插在普通插座上或自带电线，给后面的设备加一道保护；插头式——……</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把普通插线板从窗户拉到室外用</a:t>
            </a:r>
          </a:p>
          <a:p>
            <a:pPr>
              <a:spcAft>
                <a:spcPts val="1000"/>
              </a:spcAft>
            </a:pPr>
            <a:r>
              <a:rPr sz="1500">
                <a:solidFill>
                  <a:srgbClr val="222B33"/>
                </a:solidFill>
                <a:latin typeface="Microsoft YaHei"/>
              </a:rPr>
              <a:t>▪ 移动式漏保从来不按试验键</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定期按试验按钮，做好记录</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K13</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按下试验按钮能跳闸，说明保护器有效</a:t>
            </a:r>
          </a:p>
          <a:p>
            <a:pPr>
              <a:spcAft>
                <a:spcPts val="1000"/>
              </a:spcAft>
            </a:pPr>
            <a:r>
              <a:rPr sz="2000">
                <a:solidFill>
                  <a:srgbClr val="222B33"/>
                </a:solidFill>
                <a:latin typeface="Microsoft YaHei"/>
              </a:rPr>
              <a:t>▪ 一般每月试一次，以本校规定为准</a:t>
            </a:r>
          </a:p>
          <a:p>
            <a:pPr>
              <a:spcAft>
                <a:spcPts val="1000"/>
              </a:spcAft>
            </a:pPr>
            <a:r>
              <a:rPr sz="2000">
                <a:solidFill>
                  <a:srgbClr val="222B33"/>
                </a:solidFill>
                <a:latin typeface="Microsoft YaHei"/>
              </a:rPr>
              <a:t>▪ 每个保护器编号，结果记台账、签字</a:t>
            </a:r>
          </a:p>
          <a:p>
            <a:pPr>
              <a:spcAft>
                <a:spcPts val="1000"/>
              </a:spcAft>
            </a:pPr>
            <a:r>
              <a:rPr sz="2000">
                <a:solidFill>
                  <a:srgbClr val="222B33"/>
                </a:solidFill>
                <a:latin typeface="Microsoft YaHei"/>
              </a:rPr>
              <a:t>▪ 按了不跳，立即停用并报修</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漏电保护器上有一个试验按钮（常标“T”或“试验”）。按下后保护器应立即跳闸，说明检测和脱扣机构正常；试验后把手柄推回复位，恢复供电。试验前先告知同一回路的人员，关闭正在运行的精密仪器和不能突然断电的设备。</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装上以后从来没按过试验按钮</a:t>
            </a:r>
          </a:p>
          <a:p>
            <a:pPr>
              <a:spcAft>
                <a:spcPts val="1000"/>
              </a:spcAft>
            </a:pPr>
            <a:r>
              <a:rPr sz="1500">
                <a:solidFill>
                  <a:srgbClr val="222B33"/>
                </a:solidFill>
                <a:latin typeface="Microsoft YaHei"/>
              </a:rPr>
              <a:t>▪ 按了不跳也没在意，继续使用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跳闸先查原因，不强合不短接</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K14</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跳闸了别急着合上，更不能反复强合</a:t>
            </a:r>
          </a:p>
          <a:p>
            <a:pPr>
              <a:spcAft>
                <a:spcPts val="1000"/>
              </a:spcAft>
            </a:pPr>
            <a:r>
              <a:rPr sz="2000">
                <a:solidFill>
                  <a:srgbClr val="222B33"/>
                </a:solidFill>
                <a:latin typeface="Microsoft YaHei"/>
              </a:rPr>
              <a:t>▪ 先拔下刚接上的设备，找出漏电的那台</a:t>
            </a:r>
          </a:p>
          <a:p>
            <a:pPr>
              <a:spcAft>
                <a:spcPts val="1000"/>
              </a:spcAft>
            </a:pPr>
            <a:r>
              <a:rPr sz="2000">
                <a:solidFill>
                  <a:srgbClr val="222B33"/>
                </a:solidFill>
                <a:latin typeface="Microsoft YaHei"/>
              </a:rPr>
              <a:t>▪ 不得短接、拆除漏保，或换成普通开关</a:t>
            </a:r>
          </a:p>
          <a:p>
            <a:pPr>
              <a:spcAft>
                <a:spcPts val="1000"/>
              </a:spcAft>
            </a:pPr>
            <a:r>
              <a:rPr sz="2000">
                <a:solidFill>
                  <a:srgbClr val="222B33"/>
                </a:solidFill>
                <a:latin typeface="Microsoft YaHei"/>
              </a:rPr>
              <a:t>▪ 反复跳闸查不清，报告负责人请电工处理</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漏电保护器跳闸，说明回路中可能真有漏电：设备绝缘损坏、进水受潮、线路破损。正确做法：先拔下最近接上的或可疑的设备，再试着合闸；合上不跳，说明问题在拔下的设备上，该设备停用、挂牌、报修；断路器跳闸也一样，先减少负载、拔……</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跳一次合一次，直到合上为止</a:t>
            </a:r>
          </a:p>
          <a:p>
            <a:pPr>
              <a:spcAft>
                <a:spcPts val="1000"/>
              </a:spcAft>
            </a:pPr>
            <a:r>
              <a:rPr sz="1500">
                <a:solidFill>
                  <a:srgbClr val="222B33"/>
                </a:solidFill>
                <a:latin typeface="Microsoft YaHei"/>
              </a:rPr>
              <a:t>▪ 嫌漏保爱跳，找人把它短接</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合格产品，持证电工安装管理</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Oval 4"/>
          <p:cNvSpPr/>
          <p:nvPr/>
        </p:nvSpPr>
        <p:spPr>
          <a:xfrm>
            <a:off x="10820095" y="411480"/>
            <a:ext cx="822960" cy="822960"/>
          </a:xfrm>
          <a:prstGeom prst="ellipse">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Microsoft YaHei"/>
              </a:rPr>
              <a:t>K15</a:t>
            </a:r>
          </a:p>
        </p:txBody>
      </p:sp>
      <p:sp>
        <p:nvSpPr>
          <p:cNvPr id="6" name="Rounded Rectangle 5"/>
          <p:cNvSpPr/>
          <p:nvPr/>
        </p:nvSpPr>
        <p:spPr>
          <a:xfrm>
            <a:off x="548640" y="1645920"/>
            <a:ext cx="6656649"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74519"/>
            <a:ext cx="2743200" cy="365760"/>
          </a:xfrm>
          <a:prstGeom prst="rect">
            <a:avLst/>
          </a:prstGeom>
          <a:noFill/>
        </p:spPr>
        <p:txBody>
          <a:bodyPr wrap="square" anchor="t" lIns="0" rIns="0" tIns="0" bIns="0">
            <a:spAutoFit/>
          </a:bodyPr>
          <a:lstStyle/>
          <a:p>
            <a:pPr algn="l"/>
            <a:r>
              <a:rPr sz="1600" b="1">
                <a:solidFill>
                  <a:srgbClr val="1D7A8C"/>
                </a:solidFill>
                <a:latin typeface="Microsoft YaHei"/>
              </a:rPr>
              <a:t>要点</a:t>
            </a:r>
          </a:p>
        </p:txBody>
      </p:sp>
      <p:sp>
        <p:nvSpPr>
          <p:cNvPr id="8" name="TextBox 7"/>
          <p:cNvSpPr txBox="1"/>
          <p:nvPr/>
        </p:nvSpPr>
        <p:spPr>
          <a:xfrm>
            <a:off x="914400" y="2377440"/>
            <a:ext cx="5925129" cy="2267712"/>
          </a:xfrm>
          <a:prstGeom prst="rect">
            <a:avLst/>
          </a:prstGeom>
          <a:noFill/>
        </p:spPr>
        <p:txBody>
          <a:bodyPr wrap="square" lIns="0" rIns="0" tIns="0" bIns="0">
            <a:spAutoFit/>
          </a:bodyPr>
          <a:lstStyle/>
          <a:p>
            <a:pPr>
              <a:spcAft>
                <a:spcPts val="1000"/>
              </a:spcAft>
            </a:pPr>
            <a:r>
              <a:rPr sz="2000">
                <a:solidFill>
                  <a:srgbClr val="222B33"/>
                </a:solidFill>
                <a:latin typeface="Microsoft YaHei"/>
              </a:rPr>
              <a:t>▪ 选用有 3C 标志的合格产品</a:t>
            </a:r>
          </a:p>
          <a:p>
            <a:pPr>
              <a:spcAft>
                <a:spcPts val="1000"/>
              </a:spcAft>
            </a:pPr>
            <a:r>
              <a:rPr sz="2000">
                <a:solidFill>
                  <a:srgbClr val="222B33"/>
                </a:solidFill>
                <a:latin typeface="Microsoft YaHei"/>
              </a:rPr>
              <a:t>▪ 来路不明的便宜货不能用</a:t>
            </a:r>
          </a:p>
          <a:p>
            <a:pPr>
              <a:spcAft>
                <a:spcPts val="1000"/>
              </a:spcAft>
            </a:pPr>
            <a:r>
              <a:rPr sz="2000">
                <a:solidFill>
                  <a:srgbClr val="222B33"/>
                </a:solidFill>
                <a:latin typeface="Microsoft YaHei"/>
              </a:rPr>
              <a:t>▪ 安装更换交给持证电工，规格与线路匹配</a:t>
            </a:r>
          </a:p>
          <a:p>
            <a:pPr>
              <a:spcAft>
                <a:spcPts val="1000"/>
              </a:spcAft>
            </a:pPr>
            <a:r>
              <a:rPr sz="2000">
                <a:solidFill>
                  <a:srgbClr val="222B33"/>
                </a:solidFill>
                <a:latin typeface="Microsoft YaHei"/>
              </a:rPr>
              <a:t>▪ 学生不得自行拆装配电箱和保护器件</a:t>
            </a:r>
          </a:p>
        </p:txBody>
      </p:sp>
      <p:sp>
        <p:nvSpPr>
          <p:cNvPr id="9" name="TextBox 8"/>
          <p:cNvSpPr txBox="1"/>
          <p:nvPr/>
        </p:nvSpPr>
        <p:spPr>
          <a:xfrm>
            <a:off x="914400" y="4782312"/>
            <a:ext cx="5925129" cy="320040"/>
          </a:xfrm>
          <a:prstGeom prst="rect">
            <a:avLst/>
          </a:prstGeom>
          <a:noFill/>
        </p:spPr>
        <p:txBody>
          <a:bodyPr wrap="square" anchor="t" lIns="0" rIns="0" tIns="0" bIns="0">
            <a:spAutoFit/>
          </a:bodyPr>
          <a:lstStyle/>
          <a:p>
            <a:pPr algn="l"/>
            <a:r>
              <a:rPr sz="1300" b="1">
                <a:solidFill>
                  <a:srgbClr val="1D7A8C"/>
                </a:solidFill>
                <a:latin typeface="Microsoft YaHei"/>
              </a:rPr>
              <a:t>说明</a:t>
            </a:r>
          </a:p>
        </p:txBody>
      </p:sp>
      <p:sp>
        <p:nvSpPr>
          <p:cNvPr id="10" name="TextBox 9"/>
          <p:cNvSpPr txBox="1"/>
          <p:nvPr/>
        </p:nvSpPr>
        <p:spPr>
          <a:xfrm>
            <a:off x="914400" y="5148072"/>
            <a:ext cx="5925129" cy="612648"/>
          </a:xfrm>
          <a:prstGeom prst="rect">
            <a:avLst/>
          </a:prstGeom>
          <a:noFill/>
        </p:spPr>
        <p:txBody>
          <a:bodyPr wrap="square" anchor="t" lIns="0" rIns="0" tIns="0" bIns="0">
            <a:spAutoFit/>
          </a:bodyPr>
          <a:lstStyle/>
          <a:p>
            <a:pPr algn="l"/>
            <a:r>
              <a:rPr sz="1400" b="0">
                <a:solidFill>
                  <a:srgbClr val="5F6B75"/>
                </a:solidFill>
                <a:latin typeface="Microsoft YaHei"/>
              </a:rPr>
              <a:t>漏电保护器、断路器、插线板等低压电器应选用获得强制性产品认证、带 3C 标志的合格产品（以现行认证目录为准），由学校统一采购；来路不明、没有标志的廉价产品可能根本不动作，不能使用。</a:t>
            </a:r>
          </a:p>
        </p:txBody>
      </p:sp>
      <p:sp>
        <p:nvSpPr>
          <p:cNvPr id="11" name="Rounded Rectangle 10"/>
          <p:cNvSpPr/>
          <p:nvPr/>
        </p:nvSpPr>
        <p:spPr>
          <a:xfrm>
            <a:off x="7571049" y="1645920"/>
            <a:ext cx="4072006" cy="4389120"/>
          </a:xfrm>
          <a:prstGeom prst="roundRect">
            <a:avLst>
              <a:gd name="adj" fmla="val 8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36809" y="1828800"/>
            <a:ext cx="457200" cy="4572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a:t>
            </a:r>
          </a:p>
        </p:txBody>
      </p:sp>
      <p:sp>
        <p:nvSpPr>
          <p:cNvPr id="13" name="TextBox 12"/>
          <p:cNvSpPr txBox="1"/>
          <p:nvPr/>
        </p:nvSpPr>
        <p:spPr>
          <a:xfrm>
            <a:off x="8531169" y="1874519"/>
            <a:ext cx="2791846" cy="365760"/>
          </a:xfrm>
          <a:prstGeom prst="rect">
            <a:avLst/>
          </a:prstGeom>
          <a:noFill/>
        </p:spPr>
        <p:txBody>
          <a:bodyPr wrap="square" anchor="t" lIns="0" rIns="0" tIns="0" bIns="0">
            <a:spAutoFit/>
          </a:bodyPr>
          <a:lstStyle/>
          <a:p>
            <a:pPr algn="l"/>
            <a:r>
              <a:rPr sz="1600" b="1">
                <a:solidFill>
                  <a:srgbClr val="C0392B"/>
                </a:solidFill>
                <a:latin typeface="Microsoft YaHei"/>
              </a:rPr>
              <a:t>常见错误</a:t>
            </a:r>
          </a:p>
        </p:txBody>
      </p:sp>
      <p:sp>
        <p:nvSpPr>
          <p:cNvPr id="14" name="TextBox 13"/>
          <p:cNvSpPr txBox="1"/>
          <p:nvPr/>
        </p:nvSpPr>
        <p:spPr>
          <a:xfrm>
            <a:off x="7936809" y="2514600"/>
            <a:ext cx="3340486" cy="3291840"/>
          </a:xfrm>
          <a:prstGeom prst="rect">
            <a:avLst/>
          </a:prstGeom>
          <a:noFill/>
        </p:spPr>
        <p:txBody>
          <a:bodyPr wrap="square" lIns="0" rIns="0" tIns="0" bIns="0">
            <a:spAutoFit/>
          </a:bodyPr>
          <a:lstStyle/>
          <a:p>
            <a:pPr>
              <a:spcAft>
                <a:spcPts val="1000"/>
              </a:spcAft>
            </a:pPr>
            <a:r>
              <a:rPr sz="1500">
                <a:solidFill>
                  <a:srgbClr val="222B33"/>
                </a:solidFill>
                <a:latin typeface="Microsoft YaHei"/>
              </a:rPr>
              <a:t>▪ 网上买便宜的漏电开关自己换上</a:t>
            </a:r>
          </a:p>
          <a:p>
            <a:pPr>
              <a:spcAft>
                <a:spcPts val="1000"/>
              </a:spcAft>
            </a:pPr>
            <a:r>
              <a:rPr sz="1500">
                <a:solidFill>
                  <a:srgbClr val="222B33"/>
                </a:solidFill>
                <a:latin typeface="Microsoft YaHei"/>
              </a:rPr>
              <a:t>▪ 学生打开配电箱自行接线</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1</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下列器件中，主要用于防止人身触电的是：</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熔断器</a:t>
            </a:r>
          </a:p>
          <a:p>
            <a:pPr algn="l"/>
            <a:r>
              <a:rPr sz="1500" b="0">
                <a:solidFill>
                  <a:srgbClr val="222B33"/>
                </a:solidFill>
                <a:latin typeface="Microsoft YaHei"/>
              </a:rPr>
              <a:t>B. 断路器</a:t>
            </a:r>
          </a:p>
          <a:p>
            <a:pPr algn="l"/>
            <a:r>
              <a:rPr sz="1500" b="0">
                <a:solidFill>
                  <a:srgbClr val="222B33"/>
                </a:solidFill>
                <a:latin typeface="Microsoft YaHei"/>
              </a:rPr>
              <a:t>C. 剩余电流动作保护器（漏电保护器）</a:t>
            </a:r>
          </a:p>
          <a:p>
            <a:pPr algn="l"/>
            <a:r>
              <a:rPr sz="1500" b="0">
                <a:solidFill>
                  <a:srgbClr val="222B33"/>
                </a:solidFill>
                <a:latin typeface="Microsoft YaHei"/>
              </a:rPr>
              <a:t>D. 普通开关</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2</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判断：装了漏电保护器以后，人同时碰到相线和零线也一定会跳闸。</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3</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用于人身触电附加保护的漏电保护器，额定剩余动作电流一般选：</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30 mA 及以下的高灵敏度快速型</a:t>
            </a:r>
          </a:p>
          <a:p>
            <a:pPr algn="l"/>
            <a:r>
              <a:rPr sz="1500" b="0">
                <a:solidFill>
                  <a:srgbClr val="222B33"/>
                </a:solidFill>
                <a:latin typeface="Microsoft YaHei"/>
              </a:rPr>
              <a:t>B. 300 mA</a:t>
            </a:r>
          </a:p>
          <a:p>
            <a:pPr algn="l"/>
            <a:r>
              <a:rPr sz="1500" b="0">
                <a:solidFill>
                  <a:srgbClr val="222B33"/>
                </a:solidFill>
                <a:latin typeface="Microsoft YaHei"/>
              </a:rPr>
              <a:t>C. 与额定电流相同，如 32 A</a:t>
            </a:r>
          </a:p>
          <a:p>
            <a:pPr algn="l"/>
            <a:r>
              <a:rPr sz="1500" b="0">
                <a:solidFill>
                  <a:srgbClr val="222B33"/>
                </a:solidFill>
                <a:latin typeface="Microsoft YaHei"/>
              </a:rPr>
              <a:t>D. 越大越好</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4</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按下漏电保护器的试验按钮，保护器没有跳闸，应：</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多按几次直到跳闸</a:t>
            </a:r>
          </a:p>
          <a:p>
            <a:pPr algn="l"/>
            <a:r>
              <a:rPr sz="1500" b="0">
                <a:solidFill>
                  <a:srgbClr val="222B33"/>
                </a:solidFill>
                <a:latin typeface="Microsoft YaHei"/>
              </a:rPr>
              <a:t>B. 继续使用，下个月再试</a:t>
            </a:r>
          </a:p>
          <a:p>
            <a:pPr algn="l"/>
            <a:r>
              <a:rPr sz="1500" b="0">
                <a:solidFill>
                  <a:srgbClr val="222B33"/>
                </a:solidFill>
                <a:latin typeface="Microsoft YaHei"/>
              </a:rPr>
              <a:t>C. 立即停用该回路，挂停用标识，报告并报修</a:t>
            </a:r>
          </a:p>
          <a:p>
            <a:pPr algn="l"/>
            <a:r>
              <a:rPr sz="1500" b="0">
                <a:solidFill>
                  <a:srgbClr val="222B33"/>
                </a:solidFill>
                <a:latin typeface="Microsoft YaHei"/>
              </a:rPr>
              <a:t>D. 用导线把它短接</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8229600" cy="320040"/>
          </a:xfrm>
          <a:prstGeom prst="rect">
            <a:avLst/>
          </a:prstGeom>
          <a:noFill/>
        </p:spPr>
        <p:txBody>
          <a:bodyPr wrap="square" anchor="t" lIns="0" rIns="0" tIns="0" bIns="0">
            <a:spAutoFit/>
          </a:bodyPr>
          <a:lstStyle/>
          <a:p>
            <a:pPr algn="l"/>
            <a:r>
              <a:rPr sz="1200" b="1">
                <a:solidFill>
                  <a:srgbClr val="1D7A8C"/>
                </a:solidFill>
                <a:latin typeface="Microsoft YaHei"/>
              </a:rPr>
              <a:t>100 · 漏电保护与过流保护</a:t>
            </a:r>
          </a:p>
        </p:txBody>
      </p:sp>
      <p:sp>
        <p:nvSpPr>
          <p:cNvPr id="3" name="TextBox 2"/>
          <p:cNvSpPr txBox="1"/>
          <p:nvPr/>
        </p:nvSpPr>
        <p:spPr>
          <a:xfrm>
            <a:off x="548640" y="640080"/>
            <a:ext cx="11094415" cy="731520"/>
          </a:xfrm>
          <a:prstGeom prst="rect">
            <a:avLst/>
          </a:prstGeom>
          <a:noFill/>
        </p:spPr>
        <p:txBody>
          <a:bodyPr wrap="square" anchor="t" lIns="0" rIns="0" tIns="0" bIns="0">
            <a:spAutoFit/>
          </a:bodyPr>
          <a:lstStyle/>
          <a:p>
            <a:pPr algn="l"/>
            <a:r>
              <a:rPr sz="3000" b="1">
                <a:solidFill>
                  <a:srgbClr val="0B3C5D"/>
                </a:solidFill>
                <a:latin typeface="Microsoft YaHei"/>
              </a:rPr>
              <a:t>课后练习</a:t>
            </a:r>
          </a:p>
        </p:txBody>
      </p:sp>
      <p:sp>
        <p:nvSpPr>
          <p:cNvPr id="4" name="TextBox 3"/>
          <p:cNvSpPr txBox="1"/>
          <p:nvPr/>
        </p:nvSpPr>
        <p:spPr>
          <a:xfrm>
            <a:off x="548640" y="6446520"/>
            <a:ext cx="7315200" cy="274320"/>
          </a:xfrm>
          <a:prstGeom prst="rect">
            <a:avLst/>
          </a:prstGeom>
          <a:noFill/>
        </p:spPr>
        <p:txBody>
          <a:bodyPr wrap="square" anchor="t" lIns="0" rIns="0" tIns="0" bIns="0">
            <a:spAutoFit/>
          </a:bodyPr>
          <a:lstStyle/>
          <a:p>
            <a:pPr algn="l"/>
            <a:r>
              <a:rPr sz="1000" b="0">
                <a:solidFill>
                  <a:srgbClr val="5F6B75"/>
                </a:solidFill>
                <a:latin typeface="Microsoft YaHei"/>
              </a:rPr>
              <a:t>《高校实验室安全》 100 漏电保护与过流保护</a:t>
            </a:r>
          </a:p>
        </p:txBody>
      </p:sp>
      <p:sp>
        <p:nvSpPr>
          <p:cNvPr id="5" name="Rounded Rectangle 4"/>
          <p:cNvSpPr/>
          <p:nvPr/>
        </p:nvSpPr>
        <p:spPr>
          <a:xfrm>
            <a:off x="548640"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5</a:t>
            </a:r>
          </a:p>
        </p:txBody>
      </p:sp>
      <p:sp>
        <p:nvSpPr>
          <p:cNvPr id="7" name="TextBox 6"/>
          <p:cNvSpPr txBox="1"/>
          <p:nvPr/>
        </p:nvSpPr>
        <p:spPr>
          <a:xfrm>
            <a:off x="1600200"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判断：熔断器烧断后，可以临时用一段铜丝代替。</a:t>
            </a:r>
          </a:p>
        </p:txBody>
      </p:sp>
      <p:sp>
        <p:nvSpPr>
          <p:cNvPr id="8" name="TextBox 7"/>
          <p:cNvSpPr txBox="1"/>
          <p:nvPr/>
        </p:nvSpPr>
        <p:spPr>
          <a:xfrm>
            <a:off x="1600200" y="3291840"/>
            <a:ext cx="3992727" cy="2560320"/>
          </a:xfrm>
          <a:prstGeom prst="rect">
            <a:avLst/>
          </a:prstGeom>
          <a:noFill/>
        </p:spPr>
        <p:txBody>
          <a:bodyPr wrap="square" anchor="t" lIns="0" rIns="0" tIns="0" bIns="0">
            <a:spAutoFit/>
          </a:bodyPr>
          <a:lstStyle/>
          <a:p>
            <a:pPr algn="l"/>
            <a:r>
              <a:rPr sz="1500" b="0">
                <a:solidFill>
                  <a:srgbClr val="222B33"/>
                </a:solidFill>
                <a:latin typeface="Microsoft YaHei"/>
              </a:rPr>
              <a:t>A. 正确</a:t>
            </a:r>
          </a:p>
          <a:p>
            <a:pPr algn="l"/>
            <a:r>
              <a:rPr sz="1500" b="0">
                <a:solidFill>
                  <a:srgbClr val="222B33"/>
                </a:solidFill>
                <a:latin typeface="Microsoft YaHei"/>
              </a:rPr>
              <a:t>B. 错误</a:t>
            </a:r>
          </a:p>
        </p:txBody>
      </p:sp>
      <p:sp>
        <p:nvSpPr>
          <p:cNvPr id="9" name="Rounded Rectangle 8"/>
          <p:cNvSpPr/>
          <p:nvPr/>
        </p:nvSpPr>
        <p:spPr>
          <a:xfrm>
            <a:off x="6278727" y="1645920"/>
            <a:ext cx="5364327" cy="4389120"/>
          </a:xfrm>
          <a:prstGeom prst="roundRect">
            <a:avLst>
              <a:gd name="adj" fmla="val 8000"/>
            </a:avLst>
          </a:prstGeom>
          <a:solidFill>
            <a:srgbClr val="EE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98767" y="1874519"/>
            <a:ext cx="548640" cy="548640"/>
          </a:xfrm>
          <a:prstGeom prst="ellipse">
            <a:avLst/>
          </a:prstGeom>
          <a:solidFill>
            <a:srgbClr val="0B3C5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Microsoft YaHei"/>
              </a:rPr>
              <a:t>6</a:t>
            </a:r>
          </a:p>
        </p:txBody>
      </p:sp>
      <p:sp>
        <p:nvSpPr>
          <p:cNvPr id="11" name="TextBox 10"/>
          <p:cNvSpPr txBox="1"/>
          <p:nvPr/>
        </p:nvSpPr>
        <p:spPr>
          <a:xfrm>
            <a:off x="7330287" y="1920240"/>
            <a:ext cx="3992727" cy="1280160"/>
          </a:xfrm>
          <a:prstGeom prst="rect">
            <a:avLst/>
          </a:prstGeom>
          <a:noFill/>
        </p:spPr>
        <p:txBody>
          <a:bodyPr wrap="square" anchor="t" lIns="0" rIns="0" tIns="0" bIns="0">
            <a:spAutoFit/>
          </a:bodyPr>
          <a:lstStyle/>
          <a:p>
            <a:pPr algn="l"/>
            <a:r>
              <a:rPr sz="1700" b="1">
                <a:solidFill>
                  <a:srgbClr val="222B33"/>
                </a:solidFill>
                <a:latin typeface="Microsoft YaHei"/>
              </a:rPr>
              <a:t>简答：实验台漏电保护器跳闸后，正确的处理步骤是什么？</a:t>
            </a:r>
          </a:p>
        </p:txBody>
      </p:sp>
      <p:sp>
        <p:nvSpPr>
          <p:cNvPr id="12" name="TextBox 11"/>
          <p:cNvSpPr txBox="1"/>
          <p:nvPr/>
        </p:nvSpPr>
        <p:spPr>
          <a:xfrm>
            <a:off x="7330287" y="3291840"/>
            <a:ext cx="3992727" cy="2560320"/>
          </a:xfrm>
          <a:prstGeom prst="rect">
            <a:avLst/>
          </a:prstGeom>
          <a:noFill/>
        </p:spPr>
        <p:txBody>
          <a:bodyPr wrap="square" anchor="t" lIns="0" rIns="0" tIns="0" bIns="0">
            <a:spAutoFit/>
          </a:bodyP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3C5D"/>
        </a:solidFill>
        <a:effectLst/>
      </p:bgPr>
    </p:bg>
    <p:spTree>
      <p:nvGrpSpPr>
        <p:cNvPr id="1" name=""/>
        <p:cNvGrpSpPr/>
        <p:nvPr/>
      </p:nvGrpSpPr>
      <p:grpSpPr/>
      <p:sp>
        <p:nvSpPr>
          <p:cNvPr id="2" name="TextBox 1"/>
          <p:cNvSpPr txBox="1"/>
          <p:nvPr/>
        </p:nvSpPr>
        <p:spPr>
          <a:xfrm>
            <a:off x="548640" y="548640"/>
            <a:ext cx="11094415" cy="731520"/>
          </a:xfrm>
          <a:prstGeom prst="rect">
            <a:avLst/>
          </a:prstGeom>
          <a:noFill/>
        </p:spPr>
        <p:txBody>
          <a:bodyPr wrap="square" anchor="t" lIns="0" rIns="0" tIns="0" bIns="0">
            <a:spAutoFit/>
          </a:bodyPr>
          <a:lstStyle/>
          <a:p>
            <a:pPr algn="l"/>
            <a:r>
              <a:rPr sz="3400" b="1">
                <a:solidFill>
                  <a:srgbClr val="FFFFFF"/>
                </a:solidFill>
                <a:latin typeface="Microsoft YaHei"/>
              </a:rPr>
              <a:t>本课小结</a:t>
            </a:r>
          </a:p>
        </p:txBody>
      </p:sp>
      <p:sp>
        <p:nvSpPr>
          <p:cNvPr id="3" name="TextBox 2"/>
          <p:cNvSpPr txBox="1"/>
          <p:nvPr/>
        </p:nvSpPr>
        <p:spPr>
          <a:xfrm>
            <a:off x="548640"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K1  三种保护器件，各管一摊</a:t>
            </a:r>
          </a:p>
          <a:p>
            <a:pPr>
              <a:spcAft>
                <a:spcPts val="800"/>
              </a:spcAft>
            </a:pPr>
            <a:r>
              <a:rPr sz="1500">
                <a:solidFill>
                  <a:srgbClr val="FFFFFF"/>
                </a:solidFill>
                <a:latin typeface="Microsoft YaHei"/>
              </a:rPr>
              <a:t>▪ K2  熔断器：电流超标就熔断</a:t>
            </a:r>
          </a:p>
          <a:p>
            <a:pPr>
              <a:spcAft>
                <a:spcPts val="800"/>
              </a:spcAft>
            </a:pPr>
            <a:r>
              <a:rPr sz="1500">
                <a:solidFill>
                  <a:srgbClr val="FFFFFF"/>
                </a:solidFill>
                <a:latin typeface="Microsoft YaHei"/>
              </a:rPr>
              <a:t>▪ K3  断路器：过载短路自动跳闸</a:t>
            </a:r>
          </a:p>
          <a:p>
            <a:pPr>
              <a:spcAft>
                <a:spcPts val="800"/>
              </a:spcAft>
            </a:pPr>
            <a:r>
              <a:rPr sz="1500">
                <a:solidFill>
                  <a:srgbClr val="FFFFFF"/>
                </a:solidFill>
                <a:latin typeface="Microsoft YaHei"/>
              </a:rPr>
              <a:t>▪ K4  规格要匹配，不用铜丝代替保险丝</a:t>
            </a:r>
          </a:p>
          <a:p>
            <a:pPr>
              <a:spcAft>
                <a:spcPts val="800"/>
              </a:spcAft>
            </a:pPr>
            <a:r>
              <a:rPr sz="1500">
                <a:solidFill>
                  <a:srgbClr val="FFFFFF"/>
                </a:solidFill>
                <a:latin typeface="Microsoft YaHei"/>
              </a:rPr>
              <a:t>▪ K5  漏电保护器的名称</a:t>
            </a:r>
          </a:p>
          <a:p>
            <a:pPr>
              <a:spcAft>
                <a:spcPts val="800"/>
              </a:spcAft>
            </a:pPr>
            <a:r>
              <a:rPr sz="1500">
                <a:solidFill>
                  <a:srgbClr val="FFFFFF"/>
                </a:solidFill>
                <a:latin typeface="Microsoft YaHei"/>
              </a:rPr>
              <a:t>▪ K6  原理：流出流回比一比</a:t>
            </a:r>
          </a:p>
          <a:p>
            <a:pPr>
              <a:spcAft>
                <a:spcPts val="800"/>
              </a:spcAft>
            </a:pPr>
            <a:r>
              <a:rPr sz="1500">
                <a:solidFill>
                  <a:srgbClr val="FFFFFF"/>
                </a:solidFill>
                <a:latin typeface="Microsoft YaHei"/>
              </a:rPr>
              <a:t>▪ K7  漏电改走人体，它抢先断电</a:t>
            </a:r>
          </a:p>
          <a:p>
            <a:pPr>
              <a:spcAft>
                <a:spcPts val="800"/>
              </a:spcAft>
            </a:pPr>
            <a:r>
              <a:rPr sz="1500">
                <a:solidFill>
                  <a:srgbClr val="FFFFFF"/>
                </a:solidFill>
                <a:latin typeface="Microsoft YaHei"/>
              </a:rPr>
              <a:t>▪ K8  老式电压型已淘汰</a:t>
            </a:r>
          </a:p>
        </p:txBody>
      </p:sp>
      <p:sp>
        <p:nvSpPr>
          <p:cNvPr id="4" name="TextBox 3"/>
          <p:cNvSpPr txBox="1"/>
          <p:nvPr/>
        </p:nvSpPr>
        <p:spPr>
          <a:xfrm>
            <a:off x="6278727" y="1645920"/>
            <a:ext cx="5364327" cy="4572000"/>
          </a:xfrm>
          <a:prstGeom prst="rect">
            <a:avLst/>
          </a:prstGeom>
          <a:noFill/>
        </p:spPr>
        <p:txBody>
          <a:bodyPr wrap="square" lIns="0" rIns="0" tIns="0" bIns="0">
            <a:spAutoFit/>
          </a:bodyPr>
          <a:lstStyle/>
          <a:p>
            <a:pPr>
              <a:spcAft>
                <a:spcPts val="800"/>
              </a:spcAft>
            </a:pPr>
            <a:r>
              <a:rPr sz="1500">
                <a:solidFill>
                  <a:srgbClr val="FFFFFF"/>
                </a:solidFill>
                <a:latin typeface="Microsoft YaHei"/>
              </a:rPr>
              <a:t>▪ K9  漏电保护器不是万能的</a:t>
            </a:r>
          </a:p>
          <a:p>
            <a:pPr>
              <a:spcAft>
                <a:spcPts val="800"/>
              </a:spcAft>
            </a:pPr>
            <a:r>
              <a:rPr sz="1500">
                <a:solidFill>
                  <a:srgbClr val="FFFFFF"/>
                </a:solidFill>
                <a:latin typeface="Microsoft YaHei"/>
              </a:rPr>
              <a:t>▪ K10  灵敏度分档：防触电选高灵敏度</a:t>
            </a:r>
          </a:p>
          <a:p>
            <a:pPr>
              <a:spcAft>
                <a:spcPts val="800"/>
              </a:spcAft>
            </a:pPr>
            <a:r>
              <a:rPr sz="1500">
                <a:solidFill>
                  <a:srgbClr val="FFFFFF"/>
                </a:solidFill>
                <a:latin typeface="Microsoft YaHei"/>
              </a:rPr>
              <a:t>▪ K11  哪些地方必须有漏电保护</a:t>
            </a:r>
          </a:p>
          <a:p>
            <a:pPr>
              <a:spcAft>
                <a:spcPts val="800"/>
              </a:spcAft>
            </a:pPr>
            <a:r>
              <a:rPr sz="1500">
                <a:solidFill>
                  <a:srgbClr val="FFFFFF"/>
                </a:solidFill>
                <a:latin typeface="Microsoft YaHei"/>
              </a:rPr>
              <a:t>▪ K12  插座式、移动式和插头式</a:t>
            </a:r>
          </a:p>
          <a:p>
            <a:pPr>
              <a:spcAft>
                <a:spcPts val="800"/>
              </a:spcAft>
            </a:pPr>
            <a:r>
              <a:rPr sz="1500">
                <a:solidFill>
                  <a:srgbClr val="FFFFFF"/>
                </a:solidFill>
                <a:latin typeface="Microsoft YaHei"/>
              </a:rPr>
              <a:t>▪ K13  定期按试验按钮，做好记录</a:t>
            </a:r>
          </a:p>
          <a:p>
            <a:pPr>
              <a:spcAft>
                <a:spcPts val="800"/>
              </a:spcAft>
            </a:pPr>
            <a:r>
              <a:rPr sz="1500">
                <a:solidFill>
                  <a:srgbClr val="FFFFFF"/>
                </a:solidFill>
                <a:latin typeface="Microsoft YaHei"/>
              </a:rPr>
              <a:t>▪ K14  跳闸先查原因，不强合不短接</a:t>
            </a:r>
          </a:p>
          <a:p>
            <a:pPr>
              <a:spcAft>
                <a:spcPts val="800"/>
              </a:spcAft>
            </a:pPr>
            <a:r>
              <a:rPr sz="1500">
                <a:solidFill>
                  <a:srgbClr val="FFFFFF"/>
                </a:solidFill>
                <a:latin typeface="Microsoft YaHei"/>
              </a:rPr>
              <a:t>▪ K15  合格产品，持证电工安装管理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《高校实验室安全》学习课件</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