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源在体外、射线从外面照到人身上，叫外照射。控制外照射有三件法宝：时间——在源附近待得越短越好；距离——离源越远越好；屏蔽——在源和人之间放合适的吸收材料（墙、铅板、有机玻璃等）。三者都是最优化原则（合理可行尽量低）的落实手段（见第 089 课）。</a:t>
            </a:r>
          </a:p>
          <a:p>
            <a:r>
              <a:t>使用非密封（开放）放射性物质时，还要加上第四招：污染控制，防止放射性物质沾到身上或进入体内（内照射防护见第 091 课）。</a:t>
            </a:r>
          </a:p>
          <a:p>
            <a:r>
              <a:t>采取任何措施之前，先弄清是什么核素、发出什么射线、活度多大（射线的性质见第 086 课），才能选对方法。本课的计算只是为了学会判断：哪个因素影响最大、该往哪个方向改进；实际防护以仪器实测和专业人员的评估为准。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在剂量率不变的地方，受到的剂量与停留时间成正比：剂量 = 剂量率 × 时间（见第 087 课）。待一小时是一份，待两小时就是两份；反过来，知道剂量率和允许的剂量，也能算出最多能待多久。</a:t>
            </a:r>
          </a:p>
          <a:p>
            <a:r>
              <a:t>人对辐射没有任何感觉，单次的剂量察觉不到，但会一点点累加起来。所以做完就走，不在源旁边聊天、看手机、写记录，记录和讨论到屏蔽外或远离源的地方进行。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缩短受照时间最有效的办法是提前演练：复杂操作先用空容器、模拟源或在射线装置不出束的状态下练熟每一步，正式操作时动作熟练、一次完成。</a:t>
            </a:r>
          </a:p>
          <a:p>
            <a:r>
              <a:t>使用 X 射线装置时，管电压、管电流等功率参数调到够用就行，控制出束时间，事先核对样品和参数，避免因失误重新拍摄或重复照射。</a:t>
            </a:r>
          </a:p>
          <a:p>
            <a:r>
              <a:t>公式只是估算。操作前先用剂量率仪实测工作位置的剂量率（仪器见第 092 课），再按测得的数值安排操作时间和人员；必要时几个人轮换，分担剂量。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点源发出的射线向四面八方散开，就像浇花的水、火堆的热，离得越远越稀。剂量率与距离的平方成反比：距离增加到 2 倍，剂量率降到 1/4；增加到 3 倍，降到 1/9。</a:t>
            </a:r>
          </a:p>
          <a:p>
            <a:r>
              <a:t>所以拉开距离是最简单、最省钱、最有效的防护之一：后退不到一倍的距离，剂量率就能降低好几倍。反过来，离源很近时，几厘米的差别就会造成剂量的巨大变化——这正是不能用手直接拿源的原因（见 K7）。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平方反比定律可以在实验课或现场验证：在离源两个不同距离各测一次计数或剂量率（先扣除本底），两个读数之比应等于距离平方之比的倒数；距离越远，读数掉得越快。</a:t>
            </a:r>
          </a:p>
          <a:p>
            <a:r>
              <a:t>这个规律只严格适用于点源（源的尺寸远小于测量距离）且周围没有明显散射的情况。大面积的源、离源很近，或附近有墙面、台面反射散射时，实测结果与平方反比会对不上，要以实测为准。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时间和距离不能只看一项。例如：一个人站在远处多待一会儿，另一个人凑到近处快速操作，看起来后者“时间短”，但因为剂量率随距离平方增加，离得近的人受到的剂量反而可能更多。</a:t>
            </a:r>
          </a:p>
          <a:p>
            <a:r>
              <a:t>安排工作时，要把剂量率（由距离和屏蔽决定）和停留时间结合起来比较，优先选择既能拉开距离、又能缩短时间的方案。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取放密封源、操作放射性样品，整个过程都用长柄镊子、钳子或专用工具，不用手直接拿。手指贴着源时距离只有几毫米，按平方反比，手部受到的剂量会比隔着一段工具高得多（局部剂量限值见第 089 课）。</a:t>
            </a:r>
          </a:p>
          <a:p>
            <a:r>
              <a:t>源用完立刻放回屏蔽容器、盖好，放回指定位置并登记，不让源“裸露”在台面上。</a:t>
            </a:r>
          </a:p>
          <a:p>
            <a:r>
              <a:t>使用射线装置时，人员尽量远离源和射束，射束方向不要朝着门、窗、走廊等可能有人的地方。控制区和警戒区的划定、守护见第 094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挡在源和人之间的任何材料都会吸收一部分射线；材料越厚、越致密，挡住的越多。对 γ 射线，铅等原子序数高、密度大的材料吸收能力最强。</a:t>
            </a:r>
          </a:p>
          <a:p>
            <a:r>
              <a:t>实验室的放射源必须放在屏蔽容器或屏蔽柜里，使相邻区域（隔壁的工位、走廊）的剂量足够低。含源设备自带屏蔽，射线装置机房的墙体、门、观察窗也都有屏蔽；有的岗位还要按规定穿戴个人防护用品（见 K16）。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屏蔽材料要按射线种类选（各种射线的穿透能力见第 086 课）：α 粒子射程很短，一张纸、皮肤表层就能挡住，外照射危害小，重点是防止进入体内；β 粒子用有机玻璃、塑料、铝等轻材料挡，强源外层再加铅（见 K10）；γ 射线和 X 射线用铅、钢、混凝土等重材料减弱；中子先用水、石蜡、聚乙烯等含氢材料减速，再加吸收中子和挡住伴生 γ 射线的材料。大型设施常用混凝土。</a:t>
            </a:r>
          </a:p>
          <a:p>
            <a:r>
              <a:t>除了时间、距离，再配上合适的屏蔽，三者一起用。屏蔽方案由专业人员设计和审核，实验人员不能擅自拆改、挪动屏蔽体。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β 粒子带电，在物质中一路碰撞、一路减速，有一个最大射程；材料厚度超过最大射程，就能全部挡住。</a:t>
            </a:r>
          </a:p>
          <a:p>
            <a:r>
              <a:t>陷阱在于：用铅直接包住高能 β 源，β 粒子在铅中急剧减速，就像急刹车一样放出 X 射线（轫致辐射），材料原子序数越高越严重。正确的做法是“先轻后重”的双层屏蔽：内层用有机玻璃等轻材料把 β 粒子全部挡住，外层再用薄铅挡住产生的少量 X 射线。同样，挡住正电子以后，它湮灭时会放出能量更高的光子，设计屏蔽要把这类次级辐射一起考虑，常用材料有铅、钢、水、石蜡和混凝土。</a:t>
            </a:r>
          </a:p>
          <a:p>
            <a:r>
              <a:t>操作 β 源时，把有机玻璃屏蔽挡在前面，人站在屏蔽后，动作熟练、快速；做完用表面污染仪检查手套和台面有没有污染（污染检测见第 091、092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挡 γ 射线，铅最节省空间：达到同样的减弱效果，铅的厚度只需混凝土的几分之一（具体比例随 γ 射线能量变化，以专业手册和设计计算为准）。所以源容器、屏蔽柜、局部挡板常用铅。</a:t>
            </a:r>
          </a:p>
          <a:p>
            <a:r>
              <a:t>混凝土要厚得多，但便宜、结实，还能作为建筑的承重墙，固定设施的机房墙体常用它。选铅还是混凝土，要综合考虑成本、空间、重量（楼板承重）和建筑结构，屏蔽方案由专业人员设计审核。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半值层（HVL）是让射线强度（或剂量率）减到一半所需的材料厚度；每多一个半值层，再减一半：1 个剩 1/2，2 个剩 1/4，3 个剩 1/8……7 个半值层剩 1/128，不到百分之一。十值层（TVL）是减到十分之一所需的厚度，约等于 3.3 个半值层。</a:t>
            </a:r>
          </a:p>
          <a:p>
            <a:r>
              <a:t>半值层和十值层因材料和射线能量而不同：能量越高，所需厚度越大；同一能量下，铅的半值层比混凝土薄得多。用这两个量可以方便地比较各种材料、估算屏蔽厚度。设计屏蔽要按源可能发出的最高能量来算，宁厚勿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估算屏蔽层数的步骤：①用实测（或估算）的剂量率除以要达到的目标剂量率，得到需要减弱多少倍；②数一数要“对折”几次才能减到这么低，就是需要的半值层数；③算出的层数带小数时，要往多里取整；④层数乘以该材料、该能量下每个半值层的厚度，就是所需屏蔽厚度。</a:t>
            </a:r>
          </a:p>
          <a:p>
            <a:r>
              <a:t>例如：某位置剂量率是目标值的 8 倍，需要 3 个半值层（2×2×2 = 8）；是目标值的 100 倍，6 个半值层只减到 1/64 不够，要取 7 个（1/128）。</a:t>
            </a:r>
          </a:p>
          <a:p>
            <a:r>
              <a:t>这样算出的只是估计值（见 K14）。正式的屏蔽设计还要考虑工作量、居留因子、散射和泄漏辐射，由专业人员完成，建成后实测验证（见 K15）。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值层的简单计算假设的是理想的“窄束”：一束很细的射线穿过屏蔽体，被散射的射线都离开了。现实中多是“宽束”，射线会在屏蔽体内和周围物体上散射，一部分散射线又回到人这一侧，所以厚屏蔽后的实际剂量总比简单估算的高；实验曲线和计算对不上，常常是散射在起作用。</a:t>
            </a:r>
          </a:p>
          <a:p>
            <a:r>
              <a:t>自己按公式算的结果和专业手册查到的数据也会有差别。设计屏蔽要把散射考虑进去，并留有余量；屏蔽建成、源放好后，一定要用仪器实测屏蔽外的剂量率，以实测为准。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射线装置机房的屏蔽设计，要算机器的工作量（用多少）、相邻区域的居留情况（隔壁是办公室、走廊还是仓库，有人待多久）以及墙体要挡多少。例如 X 射线机房隔壁是办公室，算下来原来的普通墙体可能远远不够。</a:t>
            </a:r>
          </a:p>
          <a:p>
            <a:r>
              <a:t>新建、改建、扩建辐射工作场所，防护设施要与主体工程同时设计、同时施工、同时投入使用；按规定办理环境影响评价，建成后经检测、验收合格才能使用（以现行规定为准，许可见第 093 课）。含源设备和射线装置到货后，由专业人员验收检测；屏蔽设施要定期检测。</a:t>
            </a:r>
          </a:p>
          <a:p>
            <a:r>
              <a:t>屏蔽设施先设计好，再按要求施工。装修改造、开孔布线、更换门窗时，不能随便破坏屏蔽墙和防护门，确需改动要先报学校辐射安全管理部门。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使用射线装置时，用准直器、限束器把射束限制在需要照射的范围内，减少散射。有屏蔽机房的就在机房里操作；确需在机房外（如现场探伤）使用的，要严格划区管控（见第 094 课）。</a:t>
            </a:r>
          </a:p>
          <a:p>
            <a:r>
              <a:t>铅围裙、铅围脖等个人防护用品，主要用于减弱 X 射线检查中的散射线和低能射线，对高能 γ 射线的作用很有限，不能代替时间、距离和屏蔽。铅衣要挂在专用衣架上，不要折叠或重压；定期检查，发现裂缝、破损就停用更换（个人防护用品要求以 GBZ 130 等现行标准为准）。</a:t>
            </a:r>
          </a:p>
          <a:p>
            <a:r>
              <a:t>没有日常吃了就能“防辐射”的药或保健品。碘化钾片只用于核事故应急，按政府指令服用，只保护甲状腺；不要自行服药，有疑问问医生。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眼晶状体对辐射敏感（见第 088 课），近距离操作源、β 源或在射线装置旁工作时，按要求戴防护眼镜（铅眼镜或有机玻璃面屏，按射线种类选）。</a:t>
            </a:r>
          </a:p>
          <a:p>
            <a:r>
              <a:t>手离源最近，局部剂量可能远高于全身，按要求佩戴指环剂量计，单独核对手部剂量（见第 089、092 课）。戴手套既防污染，也提醒自己不直接用手接触；配合长柄工具，让手离源远一些。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答案：B。解析：平方反比定律，距离加倍，剂量率降到四分之一。</a:t>
            </a:r>
          </a:p>
          <a:p>
            <a:r>
              <a:t>第 2 题 答案：B。解析：β 粒子打在铅上会产生轫致辐射（X 射线），应先用有机玻璃等轻材料挡住 β，外层再加薄铅。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答案：C。解析：6 个半值层剩 1/64，不够；7 个剩 1/128，满足要求，层数要往多里取整。</a:t>
            </a:r>
          </a:p>
          <a:p>
            <a:r>
              <a:t>第 4 题 答案：B。解析：手离源越近受照越多；屏蔽不能擅自拆改；铅衣挡不住强 γ 射线。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答案：B。解析：计算只是估计，宽束散射使实际剂量偏高，建成后要实测验证，以实测为准。</a:t>
            </a:r>
          </a:p>
          <a:p>
            <a:r>
              <a:t>第 6 题 答案：时间——先用模拟源演练、做完就走；距离——用长柄工具、多退几步；屏蔽——按射线种类选材料，源放在屏蔽容器里。解析：三者要结合起来，并先实测剂量率再安排工作。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外照射防护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73 镜）　适用对象：使用密封放射源、放射性同位素或射线装置的本科生、研究生和教职工（辐射类必修），以及负责辐射工作场所建设、改造的实验室负责人和设施人员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能说出外照射防护的三要素（时间、距离、屏蔽），会用“剂量 = 剂量率 × 时间”和平方反比定律做定性判断，知道时间和距离要一起考虑。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能做到用长柄工具取放源、先演练后操作、先实测剂量率再定停留时间，用完源立即放回屏蔽容器。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能按射线种类选择屏蔽材料（β 先轻后重，γ/X 用铅或混凝土，中子用含氢材料），会用半值层、十值层估算所需屏蔽层数。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能判断屏蔽计算只是估计、要以实测为准，屏蔽设施要经设计、验收，不得擅自拆改；知道铅衣的作用和局限。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18871-2002（以现行文本为准）《电离辐射防护与辐射源安全基本标准》：防护最优化、工作场所防护与监测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《放射性同位素与射线装置安全和防护管理办法》（以现行文本为准）：辐射工作场所的防护设施与监测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《建设项目环境保护管理条例》（以现行文本为准）：新建、改建、扩建辐射工作场所的环境影响评价与竣工验收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130（以现行文本为准）《放射诊断放射防护要求》：X 射线机房屏蔽与个人防护用品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HJ 1188-2021《核医学辐射防护与安全要求》：放射性药物操作的屏蔽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本校辐射安全管理规定（以本校规定为准）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外照射防护三要素：时间、距离、屏蔽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外照射防护，靠时间、距离、屏蔽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时间短、距离远、屏蔽厚，受照就少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开放源还要加一招：污染控制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放屏蔽前，先弄清是什么源、什么射线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源在体外、射线从外面照到人身上，叫外照射。控制外照射有三件法宝：时间——在源附近待得越短越好；距离——离源越远越好；屏蔽——在源和人之间放合适的吸收材料（墙、铅板、有机玻璃等）。三者都是最优化原则（合理可行尽量低）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只记住“穿铅衣”，忽视时间和距离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不了解源的种类就随意找块板子挡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时间：剂量与时间成正比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剂量等于剂量率乘时间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待一小时一份，两小时就是两份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单次察觉不到，但剂量会累加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做完就走，不在源旁边逗留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在剂量率不变的地方，受到的剂量与停留时间成正比：剂量 = 剂量率 × 时间（见第 087 课）。待一小时是一份，待两小时就是两份；反过来，知道剂量率和允许的剂量，也能算出最多能待多久。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在源附近边操作边讨论问题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把记录本、电脑放在源旁边，长时间站着填写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缩短时间：先演练，先实测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先不带源，把步骤练熟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射线装置先在不出束时演练，避免重拍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功率够用就行，管好出束时间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先实测剂量率，再定能待多久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缩短受照时间最有效的办法是提前演练：复杂操作先用空容器、模拟源或在射线装置不出束的状态下练熟每一步，正式操作时动作熟练、一次完成。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拿到源才开始琢磨操作步骤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只凭公式估算就安排长时间操作，不实测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距离：平方反比定律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离火堆越近越烫，辐射也一样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射线向外散开，越远越稀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距离加倍，剂量率降到四分之一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多退几步，是最省钱的防护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点源发出的射线向四面八方散开，就像浇花的水、火堆的热，离得越远越稀。剂量率与距离的平方成反比：距离增加到 2 倍，剂量率降到 1/4；增加到 3 倍，降到 1/9。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以为距离加倍、剂量率只减一半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认为“反正在同一个房间里”，站哪里都一样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平方反比的验证与适用范围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在两个距离各测一次，就能验证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读数之比符合距离平方之比，就对上了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对不上，可能有散射或源不是点源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平方反比只适用于点源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平方反比定律可以在实验课或现场验证：在离源两个不同距离各测一次计数或剂量率（先扣除本底），两个读数之比应等于距离平方之比的倒数；距离越远，读数掉得越快。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不扣除本底就比较两个读数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对大面积污染区或贴近源的位置照搬平方反比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时间和距离要一起算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一人站远久一点，一人站近快一点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离得近的人，反而可能受照更多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时间和距离，要一起考虑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时间和距离不能只看一项。例如：一个人站在远处多待一会儿，另一个人凑到近处快速操作，看起来后者“时间短”，但因为剂量率随距离平方增加，离得近的人受到的剂量反而可能更多。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以为“速战速决”就可以凑近操作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只比较操作时间，不考虑位置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拉开距离：长柄工具，不徒手拿源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取放源，用长柄镊子或工具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不能徒手拿，手越近受照越多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用完立刻放回屏蔽容器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射束别朝着可能有人的方向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取放密封源、操作放射性样品，整个过程都用长柄镊子、钳子或专用工具，不用手直接拿。手指贴着源时距离只有几毫米，按平方反比，手部受到的剂量会比隔着一段工具高得多（局部剂量限值见第 089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嫌镊子不顺手，直接用手捏源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源用完先放在台面上，等实验结束再收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屏蔽：越厚越致密，挡得越多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源和人之间的材料，都会吸收射线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越厚、越致密，挡得越多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实验室的源，必须放在屏蔽里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设备、容器、机房墙体都有屏蔽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挡在源和人之间的任何材料都会吸收一部分射线；材料越厚、越致密，挡住的越多。对 γ 射线，铅等原子序数高、密度大的材料吸收能力最强。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把源随手放在没有屏蔽的抽屉或桌面上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以为普通的柜门、玻璃也能当屏蔽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按射线种类选屏蔽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射线不同，屏蔽材料也不同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γ 和 X 射线，用铅或混凝土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中子先用含氢材料减速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屏蔽由专业人员设计，不能擅自拆改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屏蔽材料要按射线种类选（各种射线的穿透能力见第 086 课）：α 粒子射程很短，一张纸、皮肤表层就能挡住，外照射危害小，重点是防止进入体内；β 粒子用有机玻璃、塑料、铝等轻材料挡，强源外层再加铅（见 K10）；γ 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不管什么射线都用铅挡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嫌屏蔽碍事，私自挪开或拆下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β屏蔽：先轻后重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β 有最大射程，够厚就全部挡住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直接用铅包 β 源，会激出 X 射线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先轻后重：内层有机玻璃，外层薄铅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站在有机玻璃屏蔽后，动作熟练快速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做完检查手套和台面有无污染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β 粒子带电，在物质中一路碰撞、一路减速，有一个最大射程；材料厚度超过最大射程，就能全部挡住。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用铅罐直接装高能 β 源，以为越重越安全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操作 β 源时不戴眼睛防护、不用屏蔽挡板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γ屏蔽：铅还是混凝土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挡同样的 γ，混凝土要厚得多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铅密度大、省空间，最常用于局部屏蔽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混凝土便宜、结实，还能当承重墙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成本、空间、重量、结构要综合权衡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挡 γ 射线，铅最节省空间：达到同样的减弱效果，铅的厚度只需混凝土的几分之一（具体比例随 γ 射线能量变化，以专业手册和设计计算为准）。所以源容器、屏蔽柜、局部挡板常用铅。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在楼板上随意堆放大量铅砖，不考虑承重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以为墙“看起来很厚”就一定够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半值层与十值层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强度减半的厚度，叫半值层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每多一个半值层，再减一半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减到十分之一的厚度，叫十值层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七个半值层，剩下不到百分之一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半值层（HVL）是让射线强度（或剂量率）减到一半所需的材料厚度；每多一个半值层，再减一半：1 个剩 1/2，2 个剩 1/4，3 个剩 1/8……7 个半值层剩 1/128，不到百分之一。十值层（TVL）是减到十分之……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以为两个半值层就能把射线全部挡住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用低能射线的半值层去估算高能射线的屏蔽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需要几个半值层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先算要减弱多少倍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再数要对折几次，才能减到这么低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算出带小数，要往多里取整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层数乘每层厚度，按最高能量算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估算屏蔽层数的步骤：①用实测（或估算）的剂量率除以要达到的目标剂量率，得到需要减弱多少倍；②数一数要“对折”几次才能减到这么低，就是需要的半值层数；③算出的层数带小数时，要往多里取整；④层数乘以该材料、该能量下每个半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层数算出 6.6 个就按 6 个做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自己估算完就直接施工，不经专业设计和检测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散射：实际比估算高，以实测为准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理想情况，是一束细线穿过屏蔽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实际宽束有散射，剂量比估算高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自己算的和手册查的会有差别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算的只是估计，最终以实测为准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半值层的简单计算假设的是理想的“窄束”：一束很细的射线穿过屏蔽体，被散射的射线都离开了。现实中多是“宽束”，射线会在屏蔽体内和周围物体上散射，一部分散射线又回到人这一侧，所以厚屏蔽后的实际剂量总比简单估算的高；实验曲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认为“算过了就够了”，不实测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只测正对源的方向，不测侧面和缝隙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机房屏蔽：设计、验收、不拆改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机房屏蔽要算：机器用多少、谁待多久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原来的墙可能远远不够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建前设计审批，建成后检测验收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装修改造，不能破坏屏蔽墙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射线装置机房的屏蔽设计，要算机器的工作量（用多少）、相邻区域的居留情况（隔壁是办公室、走廊还是仓库，有人待多久）以及墙体要挡多少。例如 X 射线机房隔壁是办公室，算下来原来的普通墙体可能远远不够。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机房没验收就先“试用”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装修时在屏蔽墙上打孔穿管，事后不检测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准直器与铅衣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用准直器，把射束限在需要的地方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铅衣只能减弱散射线，挡不住强 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铅衣挂起存放，不折叠，定期检查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没有吃了就能防辐射的药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使用射线装置时，用准直器、限束器把射束限制在需要照射的范围内，减少散射。有屏蔽机房的就在机房里操作；确需在机房外（如现场探伤）使用的，要严格划区管控（见第 094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以为穿了铅衣就可以靠近强源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用完铅衣随手折起来塞进柜子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眼睛和双手的局部防护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晶状体敏感，近距离操作戴防护眼镜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手离源最近，按要求戴指环剂量计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戴手套、用长柄工具，不直接用手拿源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眼晶状体对辐射敏感（见第 088 课），近距离操作源、β 源或在射线装置旁工作时，按要求戴防护眼镜（铅眼镜或有机玻璃面屏，按射线种类选）。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只在胸前戴剂量计，手部剂量从不监测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觉得防护眼镜麻烦，近距离操作不戴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在离点源 1 米处剂量率为 40 μSv/h，退到 2 米处，剂量率约为：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20 μSv/h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10 μSv/h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80 μSv/h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判断：操作高能 β 源时，直接用厚铅罐包装最安全。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某位置剂量率需要降到原来的 1/100 以下，至少需要几个半值层？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5 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6 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7 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10 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用手直接拿取密封源，动作快一点就行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用长柄镊子取源，用完立刻放回屏蔽容器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屏蔽碍事时临时挪开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穿上铅衣就可以靠近强 γ 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090 · 外照射防护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090 外照射防护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判断：按半值层算好屏蔽厚度后，建成的屏蔽不需要再测量。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简答：外照射防护的三要素是什么？各举一个做法。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外照射防护三要素：时间、距离、屏蔽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时间：剂量与时间成正比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缩短时间：先演练，先实测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距离：平方反比定律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平方反比的验证与适用范围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时间和距离要一起算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拉开距离：长柄工具，不徒手拿源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屏蔽：越厚越致密，挡得越多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按射线种类选屏蔽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β屏蔽：先轻后重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γ屏蔽：铅还是混凝土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半值层与十值层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需要几个半值层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散射：实际比估算高，以实测为准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机房屏蔽：设计、验收、不拆改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准直器与铅衣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眼睛和双手的局部防护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