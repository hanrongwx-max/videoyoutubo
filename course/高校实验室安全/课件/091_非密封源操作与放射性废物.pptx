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非密封源（开放型放射性物质）是没有包壳、可以直接分取的放射性溶液、粉末或气体，如标记实验用的放射性核素溶液。它和密封源最大的不同是：会洒漏、会挥发、会沾到手套、台面和仪器上，造成放射性污染。</a:t>
            </a:r>
          </a:p>
          <a:p>
            <a:r>
              <a:t>放射性物质进入人体的途径主要有四条：吸入（挥发的蒸气、粉末和气溶胶）、食入（沾污的手接触食物、饮料或嘴）、经伤口进入（破损皮肤、被沾污的锐器刺伤）、经皮肤吸收（某些化合物能透过完好皮肤）。进入体内后就形成内照射：放射性物质留在器官里持续照射，时间、距离、屏蔽都用不上，只能等它衰变和排出（内照射剂量的估算见第 087 课）。</a:t>
            </a:r>
          </a:p>
          <a:p>
            <a:r>
              <a:t>α 射线在体外一张纸就能挡住，对外照射几乎不构成威胁；但 α 核素一旦被吸入、吃进或从伤口进入体内，能量集中沉积在很小的范围内，危害很大（见第 086 课）。所以非密封源的防护重点，是在外照射防护（见第 090 课）之外，再加上防止摄入和控制污染。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使用非密封放射性物质的场所，要经过辐射安全许可和环境影响评价等审批（见第 093 课），并按 GB 18871-2002（以现行文本为准）根据操作量对非密封源工作场所分级管理。操作只能在批准的指定区域内进行，不得在普通实验台、办公区随意分装和使用。</a:t>
            </a:r>
          </a:p>
          <a:p>
            <a:r>
              <a:t>场所的台面、地面、墙面要光滑、不渗透、无缝隙，便于擦拭去污；工作台面可加铺可更换的覆盖材料。易挥发的放射性物质（如可能释放放射性碘的操作）、粉末、可能产生气溶胶的操作，要在适合放射性操作的专用通风柜或手套箱内进行：柜体材料不渗透、易去污，排风按规定设置过滤和监测（通风柜的一般使用见第 051 课；核医学和放射性药物场所的通风要求见 HJ 1188-2021 和第 095 课）。</a:t>
            </a:r>
          </a:p>
          <a:p>
            <a:r>
              <a:t>工作区边界设置电离辐射警告标志，区内只放本次操作需要的物品，不放与工作无关的书本、个人物品，减少被沾污的东西。</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所有开放操作都在托盘里进行：托盘里铺一层吸水纸（一面吸水、一面防水，吸水面朝上），万一洒漏，液体被吸住、只留在托盘里，便于收拾，也不会污染整张台面。吸水纸沾污后当作放射性废物更换。</a:t>
            </a:r>
          </a:p>
          <a:p>
            <a:r>
              <a:t>个人防护用品是防护的一环：穿实验服（长袖、扣好），戴一次性手套（必要时双层，外层沾污随时更换），戴护目镜；可能沾污地面时穿鞋套。防护用品只在工作区内穿戴，不穿出工作区。β 核素操作时还要按需要使用合适的屏蔽和夹持工具（见第 090 课）。</a:t>
            </a:r>
          </a:p>
          <a:p>
            <a:r>
              <a:t>课堂演示用到放射性试剂或源时同样要防护：演示者穿实验服、戴手套，开放的试剂放在托盘里操作；观看的同学站在警戒线外；演示完立即把源或试剂收回屏蔽容器，清点数量后归还。</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防止食入最简单也最有效的办法是良好的卫生习惯：放射性工作区内禁止饮食、饮水、吸烟、化妆（包括涂唇膏、戴隐形眼镜），食品、饮料和餐具不得带入，也不得存放在实验用冰箱里。勤洗手。</a:t>
            </a:r>
          </a:p>
          <a:p>
            <a:r>
              <a:t>绝不用嘴吸移液管，一律使用移液器或洗耳球等辅助器具。戴着手套时不摸脸、不揉眼、不碰手机、门把手和公用键盘；需要接触公用物品时先摘外层手套。</a:t>
            </a:r>
          </a:p>
          <a:p>
            <a:r>
              <a:t>手上有伤口、皮肤破损时，不要操作开放型放射性物质；工作中被可能沾污的锐器刺伤或划伤，要立即报告并按应急程序处理（见第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结束后先做自检：用表面污染监测仪检查双手、衣袖、衣服前襟、鞋底和工作台面、托盘周围、地面。测量时探头贴近被测表面、但不接触（防止探头被沾污），慢慢移动；读数明显高于本底时说明有污染（仪器的选择、本底和读数见第 092 课）。</a:t>
            </a:r>
          </a:p>
          <a:p>
            <a:r>
              <a:t>离开工作区前：按规定顺序摘手套和防护用品，用肥皂和流水洗手，再测一次手和鞋，确认无污染后才离开。</a:t>
            </a:r>
          </a:p>
          <a:p>
            <a:r>
              <a:t>有些污染（如低能 β 核素）用仪器直接测不灵敏，要用擦拭法：用滤纸或棉签擦拭一定面积的表面，再把擦拭样品送测，可以发现看不见的松散污染。实验室和辐射安全管理人员按规定定期对工作场所做擦拭检测和巡测，检查有无滴漏和污染，结果记录存档；表面污染控制水平以 GB 18871-2002（以现行文本为准）和本校规定为准。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发现污染，第一步是停下：不要走动、不要用沾污的手去碰别的东西，防止扩散。液体洒漏先用吸水纸盖住，标出污染范围，提醒周围的人不要踩过；必要时脱下沾污的外层手套、鞋套和实验服留在原地。</a:t>
            </a:r>
          </a:p>
          <a:p>
            <a:r>
              <a:t>立即报告实验室负责人和学院、学校辐射安全管理人员，说明核素、大致活度、位置和有无人员沾污。</a:t>
            </a:r>
          </a:p>
          <a:p>
            <a:r>
              <a:t>小范围污染按本实验室规程去污：戴好防护，用湿的吸水纸或去污剂从污染区外缘向中心擦拭，避免把污染扩大；擦过的纸、手套都作放射性废物处理。皮肤沾污时用温水和中性肥皂轻轻清洗，不要用力刷洗、不用有机溶剂，以免皮肤破损增加吸收；伤口沾污要及时报告并就医。去污后复测，确认达到要求并记录。大面积洒漏、人员明显沾污或去污无效时，按辐射事故应急程序处置（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实验室里的放射性不只来自购买的放射性同位素。硝酸铀酰、醋酸铀酰（电镜负染色常用）、硝酸钍等含铀、含钍的化学试剂，以及含铀、含钍的矿石和地质样品，都有天然放射性。</a:t>
            </a:r>
          </a:p>
          <a:p>
            <a:r>
              <a:t>这类物品要按学校规定登记，专柜存放、标识清楚，领用和归还都要登记，用多少领多少；操作时同样戴手套、在托盘里进行，防止粉末吸入和沾污。产生的废液、废渣和沾污物品按放射性废物管理，不倒入下水道、不混入化学废物（是否属于豁免或解控范围由辐射安全管理部门判定，以现行规定和本校规定为准）。</a:t>
            </a:r>
          </a:p>
          <a:p>
            <a:r>
              <a:t>地下实验室要关注通风，必要时按规定检测氡（氡的健康风险见第 088 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只要使用放射性物质，就一定会产生放射性废物：接触过它的吸头、试管、手套、吸水纸、擦拭物和剩余溶液都被沾污了。放射性废物的暂存和处置成本高、周期长，最好的办法是从源头少产生。</a:t>
            </a:r>
          </a:p>
          <a:p>
            <a:r>
              <a:t>源头减量的做法：设计实验时按需领用，选用活度合适、半衰期较短的核素（见第 089 课正当性和最优化）；在托盘里操作，少沾污就少废物；外包装、说明书、没有接触放射性的物品不放进放射性废物桶；不用一次性物品的地方尽量少用。减量也是《放射性废物安全管理条例》（以现行文本为准）对产生单位的要求。</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沾有放射性的废物（擦拭物、手套、吸头、吸水纸、剩余溶液等）一律放进带电离辐射警告标志的专用容器，单独收集；不得混入普通生活垃圾、化学废物或医疗废物，也不得自行焚烧、填埋（实验室废物总体分类见第 053 课）。</a:t>
            </a:r>
          </a:p>
          <a:p>
            <a:r>
              <a:t>放射性废液不得倒入下水道或水槽，按核素收集在专用的防漏容器中，放在托盘或二次容器里。</a:t>
            </a:r>
          </a:p>
          <a:p>
            <a:r>
              <a:t>分类收集是后续暂存和处置的前提：固体、液体、锐器（针头、玻璃）分开；不同核素分开，特别是短半衰期和长半衰期的分开，便于短半衰期废物衰变暂存（见 K14）；同时含放射性和感染性或化学危险性的混合废物要单独标明，按本校规定处理。</a:t>
            </a:r>
          </a:p>
          <a:p>
            <a:r>
              <a:t>防护不止为了自己，也为了公众和环境：放射性物品和废物不得带出工作场所；排风、排水按规定处理和监测。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放射性废物容器要专用、结实、防漏，带盖（最好脚踏开盖，避免用手碰），外面有电离辐射警告标志；按需要放在屏蔽容器或屏蔽箱里。不用时盖严。</a:t>
            </a:r>
          </a:p>
          <a:p>
            <a:r>
              <a:t>每袋、每桶废物都要贴标签，如实填写核素名称、估计活度、废物类型、日期、所属实验室和责任人。如实填写是后续核对、计算衰变时间和处置的依据：接手的人要靠标签判断里面是什么、有多少放射性。</a:t>
            </a:r>
          </a:p>
          <a:p>
            <a:r>
              <a:t>容器外表面不能沾污，装袋时不要撑破袋子；锐器放进防刺穿容器。袋子或桶装到规定的程度后封口、密封，贴上规定的标志和标签，再交给专人收集。</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用放射性核素做动物示踪实验后，动物体内带有核素，会随排泄物排出。给药后的动物应在指定区域饲养，笼具、垫料、排泄物都可能带有放射性。</a:t>
            </a:r>
          </a:p>
          <a:p>
            <a:r>
              <a:t>这类废物收进专用的放射性废物袋，标明核素、日期和实验室；不得混入普通垃圾、下水道，动物尸体不得放进普通的动物尸体冷柜。动物尸体放进带标志的专用冷柜暂存，登记后按放射性废物的规定衰变或送贮处理；同时具有感染性的，还要满足生物安全的要求（实验动物安全见第 084 课）。</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实验室的放射性废物由学校指定的专人定期上门收集，送到专用的放射性废物暂存间，实验室人员不自行搬运到校内其他地方。</a:t>
            </a:r>
          </a:p>
          <a:p>
            <a:r>
              <a:t>收集时先检查、评估：看清是什么核素、什么类型的废物，包装是否完好、标签是否完整，再分别装入相应的专用容器封装。专业人员要用仪器再测一遍，核对实验室在标签上登记的核素和活度，做到每个桶里有多少放射性都心中有数；测量结果与标签明显不符时，要查明原因。</a:t>
            </a:r>
          </a:p>
          <a:p>
            <a:r>
              <a:t>收集、搬运废物要穿戴防护用品，用推车、夹持工具搬运，不要抱在怀里贴身搬运；转运路线避开人员密集处。搬运结束后检查手和鞋有无沾污。放射性物品出校运输按 GB 11806-2019（以现行文本为准）《放射性物品安全运输规程》由有资质的单位进行。</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放射性废物暂存间（库）要专用，防火、防水、防盗、防丢失，上锁并设电离辐射警告标志；按需要设置屏蔽和通风，周围剂量率满足要求；无关人员不得进入。</a:t>
            </a:r>
          </a:p>
          <a:p>
            <a:r>
              <a:t>暂存的废物要建立台账：入库、出库登记核素、活度、日期、来源实验室，定期清点，做到账物相符（辐射安全台账见第 093 课）。</a:t>
            </a:r>
          </a:p>
          <a:p>
            <a:r>
              <a:t>暂存只是过渡：废物在送出之前存放期间，安全和安保永远第一。教学楼、实验楼是为教学、科研和服务设计的，不是长期贮存放射性废物的仓库；暂存超过规定期限或不具备暂存条件的，要及时衰变解控或送贮。</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放射性会按半衰期自然衰减（见第 086 课）。短半衰期核素的废物，可以按核素分开，放在暂存间里衰变暂存：半衰期越短，需要存放的时间越短；半衰期长的核素存放时间很长，通常不适合衰变处理。</a:t>
            </a:r>
          </a:p>
          <a:p>
            <a:r>
              <a:t>暂存期满后，要用仪器监测，确认放射性降到国家标准规定的清洁解控水平以下，经学校辐射安全管理部门审核批准后，才能按普通废物（或按其化学、生物危险性对应的废物类别）处理；解控前去除或涂掉辐射标志。暂存时间、解控水平和程序以 GB 18871-2002（以现行文本为准）、HJ 1188-2021（核医学场所）、主管部门要求和本校规定为准，实验室不能自己说了算。</a:t>
            </a:r>
          </a:p>
          <a:p>
            <a:r>
              <a:t>衰变暂存、监测和解控的全过程都要记录归档。</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能衰变解控的放射性废物（如长半衰期核素的废物、废旧放射源以外的其他放射性固体废物），按《放射性污染防治法》《放射性废物安全管理条例》（以现行文本为准）的要求，由学校统一送交有资质的放射性废物贮存或处置单位收贮（如所在省份的放射性废物库），办理转移手续；废旧放射源按规定交回生产单位或送贮（见第 094 课）。</a:t>
            </a:r>
          </a:p>
          <a:p>
            <a:r>
              <a:t>这不是一家单位的难题，做医学研究、临床和科研的地方都会遇到。放射性物质的安保要求越来越高，把废物集中到按安全和安保要求设计的专门设施，比分散存放在各楼里更稳妥。</a:t>
            </a:r>
          </a:p>
          <a:p>
            <a:r>
              <a:t>实验室产生的放射性废物大多是干燥的固体（手套、吸头、吸水纸），活度低，外面层层包装。了解清楚是什么，才能消除误解；既不随意处置，也不必恐慌。</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答案：D。解析：屏蔽针对外照射；非密封源的主要风险是沾污和摄入，手套等防护不能省。</a:t>
            </a:r>
          </a:p>
          <a:p>
            <a:r>
              <a:t>第 2 题 答案：B。解析：α 核素一旦吸入、食入或经伤口进入体内，危害很大，重在防止摄入。</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答案：B。解析：先防扩散，再报告，按规程由外向内去污，复测确认并记录；大面积洒漏按应急程序处置。</a:t>
            </a:r>
          </a:p>
          <a:p>
            <a:r>
              <a:t>第 4 题 答案：C。解析：放射性废物单独收集、不进下水道；解控要监测、批准和记录；长半衰期废物交有资质单位收贮。</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答案：B。解析：标签要如实写明核素、活度、日期、实验室和责任人，接手的人才能核对和计算暂存时间。</a:t>
            </a:r>
          </a:p>
          <a:p>
            <a:r>
              <a:t>第 6 题 答案：短半衰期废物可以衰变暂存，到期监测达标、经批准后解控；长半衰期废物需要交有资质的单位收贮。混在一起，短半衰期的废物也无法解控，增加处置量和成本。解析：分类收集是衰变暂存和处置的前提。</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非密封源操作与放射性废物</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80 镜）　适用对象：使用非密封（开放型）放射性物质开展标记、示踪、放射化学等实验的本科生、研究生和教职工（辐射类必修），以及负责放射性废物收集、暂存的实验室负责人和管理人员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能说出放射性物质进入体内的途径，以及非密封源操作“重在防止摄入、控制污染”的道理。</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能做到在指定区域和专用设施内操作，正确使用托盘、吸水纸和个人防护用品，遵守不吃不喝不化妆、不用嘴吸移液管等卫生纪律。</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能做到操作后自检和擦拭监测；发现污染时按“停下围住—报告—去污—复测”处置。</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能说出放射性废物分类收集、贴标、暂存、衰变解控和交有资质单位收贮的要求，判断哪些做法是违规的。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《中华人民共和国放射性污染防治法》（以现行文本为准）：放射性废物的处理、贮存和处置，不得向环境随意排放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《放射性废物安全管理条例》（以现行文本为准）：产生单位的减量、分类收集、暂存和送贮责任</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《放射性同位素与射线装置安全和防护管理办法》（以现行文本为准）：工作场所安全和防护、放射性废物管理</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18871-2002（以现行文本为准）《电离辐射防护与辐射源安全基本标准》：非密封源工作场所分级、表面污染控制、解控</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HJ 1188-2021《核医学辐射防护与安全要求》：核医学和放射性药物场所的布局、通风和放射性废物衰变暂存</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《放射性废物分类》（以现行文本为准）</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本校辐射安全管理规定和放射性废物管理办法（以本校规定为准）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放射性物质怎样进入体内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非密封源会洒、会挥发，还会沾污</a:t>
            </a:r>
          </a:p>
          <a:p>
            <a:pPr>
              <a:spcAft>
                <a:spcPts val="1000"/>
              </a:spcAft>
            </a:pPr>
            <a:r>
              <a:rPr sz="1700">
                <a:solidFill>
                  <a:srgbClr val="222B33"/>
                </a:solidFill>
                <a:latin typeface="Microsoft YaHei"/>
              </a:rPr>
              <a:t>▪ 吸入、食入、伤口和皮肤，都能进入体内</a:t>
            </a:r>
          </a:p>
          <a:p>
            <a:pPr>
              <a:spcAft>
                <a:spcPts val="1000"/>
              </a:spcAft>
            </a:pPr>
            <a:r>
              <a:rPr sz="1700">
                <a:solidFill>
                  <a:srgbClr val="222B33"/>
                </a:solidFill>
                <a:latin typeface="Microsoft YaHei"/>
              </a:rPr>
              <a:t>▪ 进入体内就是内照射，躲不开也挡不住</a:t>
            </a:r>
          </a:p>
          <a:p>
            <a:pPr>
              <a:spcAft>
                <a:spcPts val="1000"/>
              </a:spcAft>
            </a:pPr>
            <a:r>
              <a:rPr sz="1700">
                <a:solidFill>
                  <a:srgbClr val="222B33"/>
                </a:solidFill>
                <a:latin typeface="Microsoft YaHei"/>
              </a:rPr>
              <a:t>▪ α 射线体外好挡，进入体内危害大</a:t>
            </a:r>
          </a:p>
          <a:p>
            <a:pPr>
              <a:spcAft>
                <a:spcPts val="1000"/>
              </a:spcAft>
            </a:pPr>
            <a:r>
              <a:rPr sz="1700">
                <a:solidFill>
                  <a:srgbClr val="222B33"/>
                </a:solidFill>
                <a:latin typeface="Microsoft YaHei"/>
              </a:rPr>
              <a:t>▪ 操作非密封源，重在防止摄入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非密封源（开放型放射性物质）是没有包壳、可以直接分取的放射性溶液、粉末或气体，如标记实验用的放射性核素溶液。它和密封源最大的不同是：会洒漏、会挥发、会沾到手套、台面和仪器上，造成放射性污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 α 射线“一张纸就挡住”，操作 α 核素可以随便</a:t>
            </a:r>
          </a:p>
          <a:p>
            <a:pPr>
              <a:spcAft>
                <a:spcPts val="1000"/>
              </a:spcAft>
            </a:pPr>
            <a:r>
              <a:rPr sz="1500">
                <a:solidFill>
                  <a:srgbClr val="222B33"/>
                </a:solidFill>
                <a:latin typeface="Microsoft YaHei"/>
              </a:rPr>
              <a:t>▪ 只想着屏蔽，忽视了沾污和摄入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指定区域与专用设施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非密封源只在批准的指定区域操作</a:t>
            </a:r>
          </a:p>
          <a:p>
            <a:pPr>
              <a:spcAft>
                <a:spcPts val="1000"/>
              </a:spcAft>
            </a:pPr>
            <a:r>
              <a:rPr sz="1700">
                <a:solidFill>
                  <a:srgbClr val="222B33"/>
                </a:solidFill>
                <a:latin typeface="Microsoft YaHei"/>
              </a:rPr>
              <a:t>▪ 台面、地面不渗透、易去污</a:t>
            </a:r>
          </a:p>
          <a:p>
            <a:pPr>
              <a:spcAft>
                <a:spcPts val="1000"/>
              </a:spcAft>
            </a:pPr>
            <a:r>
              <a:rPr sz="1700">
                <a:solidFill>
                  <a:srgbClr val="222B33"/>
                </a:solidFill>
                <a:latin typeface="Microsoft YaHei"/>
              </a:rPr>
              <a:t>▪ 放射性操作用专用通风柜或手套箱</a:t>
            </a:r>
          </a:p>
          <a:p>
            <a:pPr>
              <a:spcAft>
                <a:spcPts val="1000"/>
              </a:spcAft>
            </a:pPr>
            <a:r>
              <a:rPr sz="1700">
                <a:solidFill>
                  <a:srgbClr val="222B33"/>
                </a:solidFill>
                <a:latin typeface="Microsoft YaHei"/>
              </a:rPr>
              <a:t>▪ 易挥发、粉末操作，必须在柜内进行</a:t>
            </a:r>
          </a:p>
          <a:p>
            <a:pPr>
              <a:spcAft>
                <a:spcPts val="1000"/>
              </a:spcAft>
            </a:pPr>
            <a:r>
              <a:rPr sz="1700">
                <a:solidFill>
                  <a:srgbClr val="222B33"/>
                </a:solidFill>
                <a:latin typeface="Microsoft YaHei"/>
              </a:rPr>
              <a:t>▪ 区域边界有标志，无关物品不放</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使用非密封放射性物质的场所，要经过辐射安全许可和环境影响评价等审批（见第 093 课），并按 GB 18871-2002（以现行文本为准）根据操作量对非密封源工作场所分级管理。操作只能在批准的指定区域内进行，不得在普……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在普通实验台或普通通风柜里分装开放型放射性物质</a:t>
            </a:r>
          </a:p>
          <a:p>
            <a:pPr>
              <a:spcAft>
                <a:spcPts val="1000"/>
              </a:spcAft>
            </a:pPr>
            <a:r>
              <a:rPr sz="1500">
                <a:solidFill>
                  <a:srgbClr val="222B33"/>
                </a:solidFill>
                <a:latin typeface="Microsoft YaHei"/>
              </a:rPr>
              <a:t>▪ 在操作区堆放笔记本、手机等个人物品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托盘、吸水纸与个人防护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托盘里垫吸水纸，吸水面朝上</a:t>
            </a:r>
          </a:p>
          <a:p>
            <a:pPr>
              <a:spcAft>
                <a:spcPts val="1000"/>
              </a:spcAft>
            </a:pPr>
            <a:r>
              <a:rPr sz="1700">
                <a:solidFill>
                  <a:srgbClr val="222B33"/>
                </a:solidFill>
                <a:latin typeface="Microsoft YaHei"/>
              </a:rPr>
              <a:t>▪ 一旦洒漏，污染只留在托盘里</a:t>
            </a:r>
          </a:p>
          <a:p>
            <a:pPr>
              <a:spcAft>
                <a:spcPts val="1000"/>
              </a:spcAft>
            </a:pPr>
            <a:r>
              <a:rPr sz="1700">
                <a:solidFill>
                  <a:srgbClr val="222B33"/>
                </a:solidFill>
                <a:latin typeface="Microsoft YaHei"/>
              </a:rPr>
              <a:t>▪ 穿实验服，戴一次性手套和护目镜</a:t>
            </a:r>
          </a:p>
          <a:p>
            <a:pPr>
              <a:spcAft>
                <a:spcPts val="1000"/>
              </a:spcAft>
            </a:pPr>
            <a:r>
              <a:rPr sz="1700">
                <a:solidFill>
                  <a:srgbClr val="222B33"/>
                </a:solidFill>
                <a:latin typeface="Microsoft YaHei"/>
              </a:rPr>
              <a:t>▪ 需要时戴双层手套、穿鞋套</a:t>
            </a:r>
          </a:p>
          <a:p>
            <a:pPr>
              <a:spcAft>
                <a:spcPts val="1000"/>
              </a:spcAft>
            </a:pPr>
            <a:r>
              <a:rPr sz="1700">
                <a:solidFill>
                  <a:srgbClr val="222B33"/>
                </a:solidFill>
                <a:latin typeface="Microsoft YaHei"/>
              </a:rPr>
              <a:t>▪ 演示实验也要防护，做完收回清点</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所有开放操作都在托盘里进行：托盘里铺一层吸水纸（一面吸水、一面防水，吸水面朝上），万一洒漏，液体被吸住、只留在托盘里，便于收拾，也不会污染整张台面。吸水纸沾污后当作放射性废物更换。</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直接在台面上分装，不用托盘和吸水纸</a:t>
            </a:r>
          </a:p>
          <a:p>
            <a:pPr>
              <a:spcAft>
                <a:spcPts val="1000"/>
              </a:spcAft>
            </a:pPr>
            <a:r>
              <a:rPr sz="1500">
                <a:solidFill>
                  <a:srgbClr val="222B33"/>
                </a:solidFill>
                <a:latin typeface="Microsoft YaHei"/>
              </a:rPr>
              <a:t>▪ 戴着沾污的手套走出工作区</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工作区卫生纪律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工作区不吃不喝、不吸烟、不化妆</a:t>
            </a:r>
          </a:p>
          <a:p>
            <a:pPr>
              <a:spcAft>
                <a:spcPts val="1000"/>
              </a:spcAft>
            </a:pPr>
            <a:r>
              <a:rPr sz="1700">
                <a:solidFill>
                  <a:srgbClr val="222B33"/>
                </a:solidFill>
                <a:latin typeface="Microsoft YaHei"/>
              </a:rPr>
              <a:t>▪ 食品饮料不带入，不放实验冰箱</a:t>
            </a:r>
          </a:p>
          <a:p>
            <a:pPr>
              <a:spcAft>
                <a:spcPts val="1000"/>
              </a:spcAft>
            </a:pPr>
            <a:r>
              <a:rPr sz="1700">
                <a:solidFill>
                  <a:srgbClr val="222B33"/>
                </a:solidFill>
                <a:latin typeface="Microsoft YaHei"/>
              </a:rPr>
              <a:t>▪ 绝不用嘴吸移液管，用移液器</a:t>
            </a:r>
          </a:p>
          <a:p>
            <a:pPr>
              <a:spcAft>
                <a:spcPts val="1000"/>
              </a:spcAft>
            </a:pPr>
            <a:r>
              <a:rPr sz="1700">
                <a:solidFill>
                  <a:srgbClr val="222B33"/>
                </a:solidFill>
                <a:latin typeface="Microsoft YaHei"/>
              </a:rPr>
              <a:t>▪ 戴着手套不摸脸揉眼、不碰手机</a:t>
            </a:r>
          </a:p>
          <a:p>
            <a:pPr>
              <a:spcAft>
                <a:spcPts val="1000"/>
              </a:spcAft>
            </a:pPr>
            <a:r>
              <a:rPr sz="1700">
                <a:solidFill>
                  <a:srgbClr val="222B33"/>
                </a:solidFill>
                <a:latin typeface="Microsoft YaHei"/>
              </a:rPr>
              <a:t>▪ 手上有伤口，不操作开放源</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防止食入最简单也最有效的办法是良好的卫生习惯：放射性工作区内禁止饮食、饮水、吸烟、化妆（包括涂唇膏、戴隐形眼镜），食品、饮料和餐具不得带入，也不得存放在实验用冰箱里。勤洗手。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把水杯放在工作台边“只喝一口”</a:t>
            </a:r>
          </a:p>
          <a:p>
            <a:pPr>
              <a:spcAft>
                <a:spcPts val="1000"/>
              </a:spcAft>
            </a:pPr>
            <a:r>
              <a:rPr sz="1500">
                <a:solidFill>
                  <a:srgbClr val="222B33"/>
                </a:solidFill>
                <a:latin typeface="Microsoft YaHei"/>
              </a:rPr>
              <a:t>▪ 戴手套接电话、刷手机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操作后自检与擦拭监测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做完先测：手、衣服、鞋和台面</a:t>
            </a:r>
          </a:p>
          <a:p>
            <a:pPr>
              <a:spcAft>
                <a:spcPts val="1000"/>
              </a:spcAft>
            </a:pPr>
            <a:r>
              <a:rPr sz="1700">
                <a:solidFill>
                  <a:srgbClr val="222B33"/>
                </a:solidFill>
                <a:latin typeface="Microsoft YaHei"/>
              </a:rPr>
              <a:t>▪ 探头贴近表面慢慢扫，别碰到表面</a:t>
            </a:r>
          </a:p>
          <a:p>
            <a:pPr>
              <a:spcAft>
                <a:spcPts val="1000"/>
              </a:spcAft>
            </a:pPr>
            <a:r>
              <a:rPr sz="1700">
                <a:solidFill>
                  <a:srgbClr val="222B33"/>
                </a:solidFill>
                <a:latin typeface="Microsoft YaHei"/>
              </a:rPr>
              <a:t>▪ 摘手套、洗手，再测一次才离开</a:t>
            </a:r>
          </a:p>
          <a:p>
            <a:pPr>
              <a:spcAft>
                <a:spcPts val="1000"/>
              </a:spcAft>
            </a:pPr>
            <a:r>
              <a:rPr sz="1700">
                <a:solidFill>
                  <a:srgbClr val="222B33"/>
                </a:solidFill>
                <a:latin typeface="Microsoft YaHei"/>
              </a:rPr>
              <a:t>▪ 擦拭取样，能查出看不见的污染</a:t>
            </a:r>
          </a:p>
          <a:p>
            <a:pPr>
              <a:spcAft>
                <a:spcPts val="1000"/>
              </a:spcAft>
            </a:pPr>
            <a:r>
              <a:rPr sz="1700">
                <a:solidFill>
                  <a:srgbClr val="222B33"/>
                </a:solidFill>
                <a:latin typeface="Microsoft YaHei"/>
              </a:rPr>
              <a:t>▪ 定期擦拭和巡测，结果记录在案</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操作结束后先做自检：用表面污染监测仪检查双手、衣袖、衣服前襟、鞋底和工作台面、托盘周围、地面。测量时探头贴近被测表面、但不接触（防止探头被沾污），慢慢移动；读数明显高于本底时说明有污染（仪器的选择、本底和读数见第 0……</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做完直接走，不自检</a:t>
            </a:r>
          </a:p>
          <a:p>
            <a:pPr>
              <a:spcAft>
                <a:spcPts val="1000"/>
              </a:spcAft>
            </a:pPr>
            <a:r>
              <a:rPr sz="1500">
                <a:solidFill>
                  <a:srgbClr val="222B33"/>
                </a:solidFill>
                <a:latin typeface="Microsoft YaHei"/>
              </a:rPr>
              <a:t>▪ 拿探头贴着可能沾污的表面来回蹭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发现污染：围住、报告、去污、复测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测到污染，先停下，别扩散</a:t>
            </a:r>
          </a:p>
          <a:p>
            <a:pPr>
              <a:spcAft>
                <a:spcPts val="1000"/>
              </a:spcAft>
            </a:pPr>
            <a:r>
              <a:rPr sz="1700">
                <a:solidFill>
                  <a:srgbClr val="222B33"/>
                </a:solidFill>
                <a:latin typeface="Microsoft YaHei"/>
              </a:rPr>
              <a:t>▪ 用吸水纸盖住，标出范围，别让人踩过</a:t>
            </a:r>
          </a:p>
          <a:p>
            <a:pPr>
              <a:spcAft>
                <a:spcPts val="1000"/>
              </a:spcAft>
            </a:pPr>
            <a:r>
              <a:rPr sz="1700">
                <a:solidFill>
                  <a:srgbClr val="222B33"/>
                </a:solidFill>
                <a:latin typeface="Microsoft YaHei"/>
              </a:rPr>
              <a:t>▪ 报告实验室负责人和辐射安全管理人员</a:t>
            </a:r>
          </a:p>
          <a:p>
            <a:pPr>
              <a:spcAft>
                <a:spcPts val="1000"/>
              </a:spcAft>
            </a:pPr>
            <a:r>
              <a:rPr sz="1700">
                <a:solidFill>
                  <a:srgbClr val="222B33"/>
                </a:solidFill>
                <a:latin typeface="Microsoft YaHei"/>
              </a:rPr>
              <a:t>▪ 由外向内去污，废物进放射性废物袋</a:t>
            </a:r>
          </a:p>
          <a:p>
            <a:pPr>
              <a:spcAft>
                <a:spcPts val="1000"/>
              </a:spcAft>
            </a:pPr>
            <a:r>
              <a:rPr sz="1700">
                <a:solidFill>
                  <a:srgbClr val="222B33"/>
                </a:solidFill>
                <a:latin typeface="Microsoft YaHei"/>
              </a:rPr>
              <a:t>▪ 皮肤沾污温水肥皂轻洗，去污后复测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发现污染，第一步是停下：不要走动、不要用沾污的手去碰别的东西，防止扩散。液体洒漏先用吸水纸盖住，标出污染范围，提醒周围的人不要踩过；必要时脱下沾污的外层手套、鞋套和实验服留在原地。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自己悄悄擦掉，不报告</a:t>
            </a:r>
          </a:p>
          <a:p>
            <a:pPr>
              <a:spcAft>
                <a:spcPts val="1000"/>
              </a:spcAft>
            </a:pPr>
            <a:r>
              <a:rPr sz="1500">
                <a:solidFill>
                  <a:srgbClr val="222B33"/>
                </a:solidFill>
                <a:latin typeface="Microsoft YaHei"/>
              </a:rPr>
              <a:t>▪ 从中心向外擦，或用硬刷、溶剂擦洗皮肤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天然放射性物质也要管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含铀、含钍的试剂和矿石，也有放射性</a:t>
            </a:r>
          </a:p>
          <a:p>
            <a:pPr>
              <a:spcAft>
                <a:spcPts val="1000"/>
              </a:spcAft>
            </a:pPr>
            <a:r>
              <a:rPr sz="2000">
                <a:solidFill>
                  <a:srgbClr val="222B33"/>
                </a:solidFill>
                <a:latin typeface="Microsoft YaHei"/>
              </a:rPr>
              <a:t>▪ 专柜存放，登记领用和归还</a:t>
            </a:r>
          </a:p>
          <a:p>
            <a:pPr>
              <a:spcAft>
                <a:spcPts val="1000"/>
              </a:spcAft>
            </a:pPr>
            <a:r>
              <a:rPr sz="2000">
                <a:solidFill>
                  <a:srgbClr val="222B33"/>
                </a:solidFill>
                <a:latin typeface="Microsoft YaHei"/>
              </a:rPr>
              <a:t>▪ 废弃物按放射性废物处理，不倒下水道</a:t>
            </a:r>
          </a:p>
          <a:p>
            <a:pPr>
              <a:spcAft>
                <a:spcPts val="1000"/>
              </a:spcAft>
            </a:pPr>
            <a:r>
              <a:rPr sz="2000">
                <a:solidFill>
                  <a:srgbClr val="222B33"/>
                </a:solidFill>
                <a:latin typeface="Microsoft YaHei"/>
              </a:rPr>
              <a:t>▪ 地下实验室，要关注通风和氡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实验室里的放射性不只来自购买的放射性同位素。硝酸铀酰、醋酸铀酰（电镜负染色常用）、硝酸钍等含铀、含钍的化学试剂，以及含铀、含钍的矿石和地质样品，都有天然放射性。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把铀酰染色液当普通化学试剂存放和倒掉</a:t>
            </a:r>
          </a:p>
          <a:p>
            <a:pPr>
              <a:spcAft>
                <a:spcPts val="1000"/>
              </a:spcAft>
            </a:pPr>
            <a:r>
              <a:rPr sz="1500">
                <a:solidFill>
                  <a:srgbClr val="222B33"/>
                </a:solidFill>
                <a:latin typeface="Microsoft YaHei"/>
              </a:rPr>
              <a:t>▪ 把矿石标本随意放在办公室当摆件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源头减少放射性废物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用了放射性，就一定会有废物</a:t>
            </a:r>
          </a:p>
          <a:p>
            <a:pPr>
              <a:spcAft>
                <a:spcPts val="1000"/>
              </a:spcAft>
            </a:pPr>
            <a:r>
              <a:rPr sz="2000">
                <a:solidFill>
                  <a:srgbClr val="222B33"/>
                </a:solidFill>
                <a:latin typeface="Microsoft YaHei"/>
              </a:rPr>
              <a:t>▪ 按需领用，够用就好</a:t>
            </a:r>
          </a:p>
          <a:p>
            <a:pPr>
              <a:spcAft>
                <a:spcPts val="1000"/>
              </a:spcAft>
            </a:pPr>
            <a:r>
              <a:rPr sz="2000">
                <a:solidFill>
                  <a:srgbClr val="222B33"/>
                </a:solidFill>
                <a:latin typeface="Microsoft YaHei"/>
              </a:rPr>
              <a:t>▪ 在托盘里操作，少沾污就少废物</a:t>
            </a:r>
          </a:p>
          <a:p>
            <a:pPr>
              <a:spcAft>
                <a:spcPts val="1000"/>
              </a:spcAft>
            </a:pPr>
            <a:r>
              <a:rPr sz="2000">
                <a:solidFill>
                  <a:srgbClr val="222B33"/>
                </a:solidFill>
                <a:latin typeface="Microsoft YaHei"/>
              </a:rPr>
              <a:t>▪ 没沾污的东西，别往放射性桶里塞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只要使用放射性物质，就一定会产生放射性废物：接触过它的吸头、试管、手套、吸水纸、擦拭物和剩余溶液都被沾污了。放射性废物的暂存和处置成本高、周期长，最好的办法是从源头少产生。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一次领取远超实验所需的量</a:t>
            </a:r>
          </a:p>
          <a:p>
            <a:pPr>
              <a:spcAft>
                <a:spcPts val="1000"/>
              </a:spcAft>
            </a:pPr>
            <a:r>
              <a:rPr sz="1500">
                <a:solidFill>
                  <a:srgbClr val="222B33"/>
                </a:solidFill>
                <a:latin typeface="Microsoft YaHei"/>
              </a:rPr>
              <a:t>▪ 把干净的包装纸、纸箱都塞进放射性废物桶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分类收集，不混不倒</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放射性废物单独收集，进专用容器</a:t>
            </a:r>
          </a:p>
          <a:p>
            <a:pPr>
              <a:spcAft>
                <a:spcPts val="1000"/>
              </a:spcAft>
            </a:pPr>
            <a:r>
              <a:rPr sz="1700">
                <a:solidFill>
                  <a:srgbClr val="222B33"/>
                </a:solidFill>
                <a:latin typeface="Microsoft YaHei"/>
              </a:rPr>
              <a:t>▪ 不混入普通垃圾、化学废物和医疗废物</a:t>
            </a:r>
          </a:p>
          <a:p>
            <a:pPr>
              <a:spcAft>
                <a:spcPts val="1000"/>
              </a:spcAft>
            </a:pPr>
            <a:r>
              <a:rPr sz="1700">
                <a:solidFill>
                  <a:srgbClr val="222B33"/>
                </a:solidFill>
                <a:latin typeface="Microsoft YaHei"/>
              </a:rPr>
              <a:t>▪ 放射性废液，绝不倒进下水道</a:t>
            </a:r>
          </a:p>
          <a:p>
            <a:pPr>
              <a:spcAft>
                <a:spcPts val="1000"/>
              </a:spcAft>
            </a:pPr>
            <a:r>
              <a:rPr sz="1700">
                <a:solidFill>
                  <a:srgbClr val="222B33"/>
                </a:solidFill>
                <a:latin typeface="Microsoft YaHei"/>
              </a:rPr>
              <a:t>▪ 固体、液体、锐器分开收集</a:t>
            </a:r>
          </a:p>
          <a:p>
            <a:pPr>
              <a:spcAft>
                <a:spcPts val="1000"/>
              </a:spcAft>
            </a:pPr>
            <a:r>
              <a:rPr sz="1700">
                <a:solidFill>
                  <a:srgbClr val="222B33"/>
                </a:solidFill>
                <a:latin typeface="Microsoft YaHei"/>
              </a:rPr>
              <a:t>▪ 不同核素、长短半衰期也要分开</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沾有放射性的废物（擦拭物、手套、吸头、吸水纸、剩余溶液等）一律放进带电离辐射警告标志的专用容器，单独收集；不得混入普通生活垃圾、化学废物或医疗废物，也不得自行焚烧、填埋（实验室废物总体分类见第 053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沾污的手套扔进普通垃圾桶</a:t>
            </a:r>
          </a:p>
          <a:p>
            <a:pPr>
              <a:spcAft>
                <a:spcPts val="1000"/>
              </a:spcAft>
            </a:pPr>
            <a:r>
              <a:rPr sz="1500">
                <a:solidFill>
                  <a:srgbClr val="222B33"/>
                </a:solidFill>
                <a:latin typeface="Microsoft YaHei"/>
              </a:rPr>
              <a:t>▪ 少量放射性废液“冲水稀释”倒进水槽</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专用容器与规范标签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专用容器有警告标志，盖子要盖严</a:t>
            </a:r>
          </a:p>
          <a:p>
            <a:pPr>
              <a:spcAft>
                <a:spcPts val="1000"/>
              </a:spcAft>
            </a:pPr>
            <a:r>
              <a:rPr sz="1700">
                <a:solidFill>
                  <a:srgbClr val="222B33"/>
                </a:solidFill>
                <a:latin typeface="Microsoft YaHei"/>
              </a:rPr>
              <a:t>▪ 标签写核素、活度、日期和责任人</a:t>
            </a:r>
          </a:p>
          <a:p>
            <a:pPr>
              <a:spcAft>
                <a:spcPts val="1000"/>
              </a:spcAft>
            </a:pPr>
            <a:r>
              <a:rPr sz="1700">
                <a:solidFill>
                  <a:srgbClr val="222B33"/>
                </a:solidFill>
                <a:latin typeface="Microsoft YaHei"/>
              </a:rPr>
              <a:t>▪ 如实填写，后面的人才能核对</a:t>
            </a:r>
          </a:p>
          <a:p>
            <a:pPr>
              <a:spcAft>
                <a:spcPts val="1000"/>
              </a:spcAft>
            </a:pPr>
            <a:r>
              <a:rPr sz="1700">
                <a:solidFill>
                  <a:srgbClr val="222B33"/>
                </a:solidFill>
                <a:latin typeface="Microsoft YaHei"/>
              </a:rPr>
              <a:t>▪ 容器外表面，不能有沾污</a:t>
            </a:r>
          </a:p>
          <a:p>
            <a:pPr>
              <a:spcAft>
                <a:spcPts val="1000"/>
              </a:spcAft>
            </a:pPr>
            <a:r>
              <a:rPr sz="1700">
                <a:solidFill>
                  <a:srgbClr val="222B33"/>
                </a:solidFill>
                <a:latin typeface="Microsoft YaHei"/>
              </a:rPr>
              <a:t>▪ 装满后密封，贴好规定的标签</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放射性废物容器要专用、结实、防漏，带盖（最好脚踏开盖，避免用手碰），外面有电离辐射警告标志；按需要放在屏蔽容器或屏蔽箱里。不用时盖严。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标签空着或只写“放射性”</a:t>
            </a:r>
          </a:p>
          <a:p>
            <a:pPr>
              <a:spcAft>
                <a:spcPts val="1000"/>
              </a:spcAft>
            </a:pPr>
            <a:r>
              <a:rPr sz="1500">
                <a:solidFill>
                  <a:srgbClr val="222B33"/>
                </a:solidFill>
                <a:latin typeface="Microsoft YaHei"/>
              </a:rPr>
              <a:t>▪ 废物袋装得太满，封不住口</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动物示踪实验的废物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示踪实验后，动物体内也有核素</a:t>
            </a:r>
          </a:p>
          <a:p>
            <a:pPr>
              <a:spcAft>
                <a:spcPts val="1000"/>
              </a:spcAft>
            </a:pPr>
            <a:r>
              <a:rPr sz="2000">
                <a:solidFill>
                  <a:srgbClr val="222B33"/>
                </a:solidFill>
                <a:latin typeface="Microsoft YaHei"/>
              </a:rPr>
              <a:t>▪ 排泄物和垫料，也带放射性</a:t>
            </a:r>
          </a:p>
          <a:p>
            <a:pPr>
              <a:spcAft>
                <a:spcPts val="1000"/>
              </a:spcAft>
            </a:pPr>
            <a:r>
              <a:rPr sz="2000">
                <a:solidFill>
                  <a:srgbClr val="222B33"/>
                </a:solidFill>
                <a:latin typeface="Microsoft YaHei"/>
              </a:rPr>
              <a:t>▪ 收进专用袋，标明核素和日期</a:t>
            </a:r>
          </a:p>
          <a:p>
            <a:pPr>
              <a:spcAft>
                <a:spcPts val="1000"/>
              </a:spcAft>
            </a:pPr>
            <a:r>
              <a:rPr sz="2000">
                <a:solidFill>
                  <a:srgbClr val="222B33"/>
                </a:solidFill>
                <a:latin typeface="Microsoft YaHei"/>
              </a:rPr>
              <a:t>▪ 尸体进专柜暂存，登记后按规定处理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用放射性核素做动物示踪实验后，动物体内带有核素，会随排泄物排出。给药后的动物应在指定区域饲养，笼具、垫料、排泄物都可能带有放射性。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把给药动物的垫料倒进普通垃圾</a:t>
            </a:r>
          </a:p>
          <a:p>
            <a:pPr>
              <a:spcAft>
                <a:spcPts val="1000"/>
              </a:spcAft>
            </a:pPr>
            <a:r>
              <a:rPr sz="1500">
                <a:solidFill>
                  <a:srgbClr val="222B33"/>
                </a:solidFill>
                <a:latin typeface="Microsoft YaHei"/>
              </a:rPr>
              <a:t>▪ 把带放射性的动物尸体放进公用尸体冷柜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收集、核对与搬运防护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专人上门收集，送到专用暂存间</a:t>
            </a:r>
          </a:p>
          <a:p>
            <a:pPr>
              <a:spcAft>
                <a:spcPts val="1000"/>
              </a:spcAft>
            </a:pPr>
            <a:r>
              <a:rPr sz="1700">
                <a:solidFill>
                  <a:srgbClr val="222B33"/>
                </a:solidFill>
                <a:latin typeface="Microsoft YaHei"/>
              </a:rPr>
              <a:t>▪ 先检查评估，看清是什么废物</a:t>
            </a:r>
          </a:p>
          <a:p>
            <a:pPr>
              <a:spcAft>
                <a:spcPts val="1000"/>
              </a:spcAft>
            </a:pPr>
            <a:r>
              <a:rPr sz="1700">
                <a:solidFill>
                  <a:srgbClr val="222B33"/>
                </a:solidFill>
                <a:latin typeface="Microsoft YaHei"/>
              </a:rPr>
              <a:t>▪ 用仪器再测，核对标签上的活度</a:t>
            </a:r>
          </a:p>
          <a:p>
            <a:pPr>
              <a:spcAft>
                <a:spcPts val="1000"/>
              </a:spcAft>
            </a:pPr>
            <a:r>
              <a:rPr sz="1700">
                <a:solidFill>
                  <a:srgbClr val="222B33"/>
                </a:solidFill>
                <a:latin typeface="Microsoft YaHei"/>
              </a:rPr>
              <a:t>▪ 穿戴防护用推车，别抱在怀里</a:t>
            </a:r>
          </a:p>
          <a:p>
            <a:pPr>
              <a:spcAft>
                <a:spcPts val="1000"/>
              </a:spcAft>
            </a:pPr>
            <a:r>
              <a:rPr sz="1700">
                <a:solidFill>
                  <a:srgbClr val="222B33"/>
                </a:solidFill>
                <a:latin typeface="Microsoft YaHei"/>
              </a:rPr>
              <a:t>▪ 搬完测一测手和鞋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实验室的放射性废物由学校指定的专人定期上门收集，送到专用的放射性废物暂存间，实验室人员不自行搬运到校内其他地方。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学生自己把废物桶搬到楼外角落</a:t>
            </a:r>
          </a:p>
          <a:p>
            <a:pPr>
              <a:spcAft>
                <a:spcPts val="1000"/>
              </a:spcAft>
            </a:pPr>
            <a:r>
              <a:rPr sz="1500">
                <a:solidFill>
                  <a:srgbClr val="222B33"/>
                </a:solidFill>
                <a:latin typeface="Microsoft YaHei"/>
              </a:rPr>
              <a:t>▪ 收废物不核对标签和活度</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暂存间：专用、上锁、有台账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暂存间专用、上锁、有警告标志</a:t>
            </a:r>
          </a:p>
          <a:p>
            <a:pPr>
              <a:spcAft>
                <a:spcPts val="1000"/>
              </a:spcAft>
            </a:pPr>
            <a:r>
              <a:rPr sz="1700">
                <a:solidFill>
                  <a:srgbClr val="222B33"/>
                </a:solidFill>
                <a:latin typeface="Microsoft YaHei"/>
              </a:rPr>
              <a:t>▪ 进出登记，定期清点，账物相符</a:t>
            </a:r>
          </a:p>
          <a:p>
            <a:pPr>
              <a:spcAft>
                <a:spcPts val="1000"/>
              </a:spcAft>
            </a:pPr>
            <a:r>
              <a:rPr sz="1700">
                <a:solidFill>
                  <a:srgbClr val="222B33"/>
                </a:solidFill>
                <a:latin typeface="Microsoft YaHei"/>
              </a:rPr>
              <a:t>▪ 必要时加屏蔽，无关人员不得进入</a:t>
            </a:r>
          </a:p>
          <a:p>
            <a:pPr>
              <a:spcAft>
                <a:spcPts val="1000"/>
              </a:spcAft>
            </a:pPr>
            <a:r>
              <a:rPr sz="1700">
                <a:solidFill>
                  <a:srgbClr val="222B33"/>
                </a:solidFill>
                <a:latin typeface="Microsoft YaHei"/>
              </a:rPr>
              <a:t>▪ 暂存期间，安全和安保永远第一</a:t>
            </a:r>
          </a:p>
          <a:p>
            <a:pPr>
              <a:spcAft>
                <a:spcPts val="1000"/>
              </a:spcAft>
            </a:pPr>
            <a:r>
              <a:rPr sz="1700">
                <a:solidFill>
                  <a:srgbClr val="222B33"/>
                </a:solidFill>
                <a:latin typeface="Microsoft YaHei"/>
              </a:rPr>
              <a:t>▪ 教学楼不是长期仓库，不能久存</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放射性废物暂存间（库）要专用，防火、防水、防盗、防丢失，上锁并设电离辐射警告标志；按需要设置屏蔽和通风，周围剂量率满足要求；无关人员不得进入。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废物桶堆在走廊、楼梯间</a:t>
            </a:r>
          </a:p>
          <a:p>
            <a:pPr>
              <a:spcAft>
                <a:spcPts val="1000"/>
              </a:spcAft>
            </a:pPr>
            <a:r>
              <a:rPr sz="1500">
                <a:solidFill>
                  <a:srgbClr val="222B33"/>
                </a:solidFill>
                <a:latin typeface="Microsoft YaHei"/>
              </a:rPr>
              <a:t>▪ 暂存间不上锁、没有台账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衰变暂存与清洁解控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短半衰期废物，可以存放等它衰变</a:t>
            </a:r>
          </a:p>
          <a:p>
            <a:pPr>
              <a:spcAft>
                <a:spcPts val="1000"/>
              </a:spcAft>
            </a:pPr>
            <a:r>
              <a:rPr sz="2000">
                <a:solidFill>
                  <a:srgbClr val="222B33"/>
                </a:solidFill>
                <a:latin typeface="Microsoft YaHei"/>
              </a:rPr>
              <a:t>▪ 半衰期短衰变快，半衰期长存得久</a:t>
            </a:r>
          </a:p>
          <a:p>
            <a:pPr>
              <a:spcAft>
                <a:spcPts val="1000"/>
              </a:spcAft>
            </a:pPr>
            <a:r>
              <a:rPr sz="2000">
                <a:solidFill>
                  <a:srgbClr val="222B33"/>
                </a:solidFill>
                <a:latin typeface="Microsoft YaHei"/>
              </a:rPr>
              <a:t>▪ 到期监测达标、经批准，才能解控</a:t>
            </a:r>
          </a:p>
          <a:p>
            <a:pPr>
              <a:spcAft>
                <a:spcPts val="1000"/>
              </a:spcAft>
            </a:pPr>
            <a:r>
              <a:rPr sz="2000">
                <a:solidFill>
                  <a:srgbClr val="222B33"/>
                </a:solidFill>
                <a:latin typeface="Microsoft YaHei"/>
              </a:rPr>
              <a:t>▪ 全程记录；时间和标准以现行规定为准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放射性会按半衰期自然衰减（见第 086 课）。短半衰期核素的废物，可以按核素分开，放在暂存间里衰变暂存：半衰期越短，需要存放的时间越短；半衰期长的核素存放时间很长，通常不适合衰变处理。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估计“差不多衰变完了”，不监测就当普通垃圾扔</a:t>
            </a:r>
          </a:p>
          <a:p>
            <a:pPr>
              <a:spcAft>
                <a:spcPts val="1000"/>
              </a:spcAft>
            </a:pPr>
            <a:r>
              <a:rPr sz="1500">
                <a:solidFill>
                  <a:srgbClr val="222B33"/>
                </a:solidFill>
                <a:latin typeface="Microsoft YaHei"/>
              </a:rPr>
              <a:t>▪ 长半衰期废物也混在衰变桶里等衰变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长寿命废物交有资质单位收贮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不能衰变解控的废物交有资质单位收贮</a:t>
            </a:r>
          </a:p>
          <a:p>
            <a:pPr>
              <a:spcAft>
                <a:spcPts val="1000"/>
              </a:spcAft>
            </a:pPr>
            <a:r>
              <a:rPr sz="2000">
                <a:solidFill>
                  <a:srgbClr val="222B33"/>
                </a:solidFill>
                <a:latin typeface="Microsoft YaHei"/>
              </a:rPr>
              <a:t>▪ 医学和科研单位都会遇到废物去向问题</a:t>
            </a:r>
          </a:p>
          <a:p>
            <a:pPr>
              <a:spcAft>
                <a:spcPts val="1000"/>
              </a:spcAft>
            </a:pPr>
            <a:r>
              <a:rPr sz="2000">
                <a:solidFill>
                  <a:srgbClr val="222B33"/>
                </a:solidFill>
                <a:latin typeface="Microsoft YaHei"/>
              </a:rPr>
              <a:t>▪ 集中到专门设施，安全安保更稳妥</a:t>
            </a:r>
          </a:p>
          <a:p>
            <a:pPr>
              <a:spcAft>
                <a:spcPts val="1000"/>
              </a:spcAft>
            </a:pPr>
            <a:r>
              <a:rPr sz="2000">
                <a:solidFill>
                  <a:srgbClr val="222B33"/>
                </a:solidFill>
                <a:latin typeface="Microsoft YaHei"/>
              </a:rPr>
              <a:t>▪ 多是干燥固体，层层包装，不必恐慌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不能衰变解控的放射性废物（如长半衰期核素的废物、废旧放射源以外的其他放射性固体废物），按《放射性污染防治法》《放射性废物安全管理条例》（以现行文本为准）的要求，由学校统一送交有资质的放射性废物贮存或处置单位收贮（如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把长半衰期废物长期堆放在实验室“以后再说”</a:t>
            </a:r>
          </a:p>
          <a:p>
            <a:pPr>
              <a:spcAft>
                <a:spcPts val="1000"/>
              </a:spcAft>
            </a:pPr>
            <a:r>
              <a:rPr sz="1500">
                <a:solidFill>
                  <a:srgbClr val="222B33"/>
                </a:solidFill>
                <a:latin typeface="Microsoft YaHei"/>
              </a:rPr>
              <a:t>▪ 私下交给无资质的单位或个人</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下列做法中，不能防止放射性物质进入体内的是：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在托盘里操作并垫吸水纸</a:t>
            </a:r>
          </a:p>
          <a:p>
            <a:pPr algn="l"/>
            <a:r>
              <a:rPr sz="1500" b="0">
                <a:solidFill>
                  <a:srgbClr val="222B33"/>
                </a:solidFill>
                <a:latin typeface="Microsoft YaHei"/>
              </a:rPr>
              <a:t>B. 用移液器代替嘴吸</a:t>
            </a:r>
          </a:p>
          <a:p>
            <a:pPr algn="l"/>
            <a:r>
              <a:rPr sz="1500" b="0">
                <a:solidFill>
                  <a:srgbClr val="222B33"/>
                </a:solidFill>
                <a:latin typeface="Microsoft YaHei"/>
              </a:rPr>
              <a:t>C. 工作区内不饮食、不化妆</a:t>
            </a:r>
          </a:p>
          <a:p>
            <a:pPr algn="l"/>
            <a:r>
              <a:rPr sz="1500" b="0">
                <a:solidFill>
                  <a:srgbClr val="222B33"/>
                </a:solidFill>
                <a:latin typeface="Microsoft YaHei"/>
              </a:rPr>
              <a:t>D. 在源和人之间加铅砖就可以不戴手套</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判断：α 射线一张纸就能挡住，所以操作 α 核素的开放溶液不需要特别防护。</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做完放射性标记实验发现台面有一小片污染，正确的顺序是：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用纸从中心向外擦干净，不用报告</a:t>
            </a:r>
          </a:p>
          <a:p>
            <a:pPr algn="l"/>
            <a:r>
              <a:rPr sz="1500" b="0">
                <a:solidFill>
                  <a:srgbClr val="222B33"/>
                </a:solidFill>
                <a:latin typeface="Microsoft YaHei"/>
              </a:rPr>
              <a:t>B. 停下并盖住标出范围—报告—由外向内去污—复测记录</a:t>
            </a:r>
          </a:p>
          <a:p>
            <a:pPr algn="l"/>
            <a:r>
              <a:rPr sz="1500" b="0">
                <a:solidFill>
                  <a:srgbClr val="222B33"/>
                </a:solidFill>
                <a:latin typeface="Microsoft YaHei"/>
              </a:rPr>
              <a:t>C. 用水冲进水槽</a:t>
            </a:r>
          </a:p>
          <a:p>
            <a:pPr algn="l"/>
            <a:r>
              <a:rPr sz="1500" b="0">
                <a:solidFill>
                  <a:srgbClr val="222B33"/>
                </a:solidFill>
                <a:latin typeface="Microsoft YaHei"/>
              </a:rPr>
              <a:t>D. 先下班，第二天再处理</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关于放射性废物，下列说法正确的是：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少量放射性废液可以大量冲水后倒入下水道</a:t>
            </a:r>
          </a:p>
          <a:p>
            <a:pPr algn="l"/>
            <a:r>
              <a:rPr sz="1500" b="0">
                <a:solidFill>
                  <a:srgbClr val="222B33"/>
                </a:solidFill>
                <a:latin typeface="Microsoft YaHei"/>
              </a:rPr>
              <a:t>B. 沾污的手套可以扔进普通垃圾桶</a:t>
            </a:r>
          </a:p>
          <a:p>
            <a:pPr algn="l"/>
            <a:r>
              <a:rPr sz="1500" b="0">
                <a:solidFill>
                  <a:srgbClr val="222B33"/>
                </a:solidFill>
                <a:latin typeface="Microsoft YaHei"/>
              </a:rPr>
              <a:t>C. 短半衰期废物衰变暂存后，经监测达标并批准才能解控</a:t>
            </a:r>
          </a:p>
          <a:p>
            <a:pPr algn="l"/>
            <a:r>
              <a:rPr sz="1500" b="0">
                <a:solidFill>
                  <a:srgbClr val="222B33"/>
                </a:solidFill>
                <a:latin typeface="Microsoft YaHei"/>
              </a:rPr>
              <a:t>D. 长半衰期废物可以长期堆放在实验楼走廊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判断：放射性废物标签只要写“放射性”三个字就可以。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简答：为什么不同半衰期的放射性废物要分开收集？</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放射性物质怎样进入体内</a:t>
            </a:r>
          </a:p>
          <a:p>
            <a:pPr>
              <a:spcAft>
                <a:spcPts val="800"/>
              </a:spcAft>
            </a:pPr>
            <a:r>
              <a:rPr sz="1500">
                <a:solidFill>
                  <a:srgbClr val="FFFFFF"/>
                </a:solidFill>
                <a:latin typeface="Microsoft YaHei"/>
              </a:rPr>
              <a:t>▪ K2  指定区域与专用设施</a:t>
            </a:r>
          </a:p>
          <a:p>
            <a:pPr>
              <a:spcAft>
                <a:spcPts val="800"/>
              </a:spcAft>
            </a:pPr>
            <a:r>
              <a:rPr sz="1500">
                <a:solidFill>
                  <a:srgbClr val="FFFFFF"/>
                </a:solidFill>
                <a:latin typeface="Microsoft YaHei"/>
              </a:rPr>
              <a:t>▪ K3  托盘、吸水纸与个人防护</a:t>
            </a:r>
          </a:p>
          <a:p>
            <a:pPr>
              <a:spcAft>
                <a:spcPts val="800"/>
              </a:spcAft>
            </a:pPr>
            <a:r>
              <a:rPr sz="1500">
                <a:solidFill>
                  <a:srgbClr val="FFFFFF"/>
                </a:solidFill>
                <a:latin typeface="Microsoft YaHei"/>
              </a:rPr>
              <a:t>▪ K4  工作区卫生纪律</a:t>
            </a:r>
          </a:p>
          <a:p>
            <a:pPr>
              <a:spcAft>
                <a:spcPts val="800"/>
              </a:spcAft>
            </a:pPr>
            <a:r>
              <a:rPr sz="1500">
                <a:solidFill>
                  <a:srgbClr val="FFFFFF"/>
                </a:solidFill>
                <a:latin typeface="Microsoft YaHei"/>
              </a:rPr>
              <a:t>▪ K5  操作后自检与擦拭监测</a:t>
            </a:r>
          </a:p>
          <a:p>
            <a:pPr>
              <a:spcAft>
                <a:spcPts val="800"/>
              </a:spcAft>
            </a:pPr>
            <a:r>
              <a:rPr sz="1500">
                <a:solidFill>
                  <a:srgbClr val="FFFFFF"/>
                </a:solidFill>
                <a:latin typeface="Microsoft YaHei"/>
              </a:rPr>
              <a:t>▪ K6  发现污染：围住、报告、去污、复测</a:t>
            </a:r>
          </a:p>
          <a:p>
            <a:pPr>
              <a:spcAft>
                <a:spcPts val="800"/>
              </a:spcAft>
            </a:pPr>
            <a:r>
              <a:rPr sz="1500">
                <a:solidFill>
                  <a:srgbClr val="FFFFFF"/>
                </a:solidFill>
                <a:latin typeface="Microsoft YaHei"/>
              </a:rPr>
              <a:t>▪ K7  天然放射性物质也要管</a:t>
            </a:r>
          </a:p>
          <a:p>
            <a:pPr>
              <a:spcAft>
                <a:spcPts val="800"/>
              </a:spcAft>
            </a:pPr>
            <a:r>
              <a:rPr sz="1500">
                <a:solidFill>
                  <a:srgbClr val="FFFFFF"/>
                </a:solidFill>
                <a:latin typeface="Microsoft YaHei"/>
              </a:rPr>
              <a:t>▪ K8  源头减少放射性废物</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分类收集，不混不倒</a:t>
            </a:r>
          </a:p>
          <a:p>
            <a:pPr>
              <a:spcAft>
                <a:spcPts val="800"/>
              </a:spcAft>
            </a:pPr>
            <a:r>
              <a:rPr sz="1500">
                <a:solidFill>
                  <a:srgbClr val="FFFFFF"/>
                </a:solidFill>
                <a:latin typeface="Microsoft YaHei"/>
              </a:rPr>
              <a:t>▪ K10  专用容器与规范标签</a:t>
            </a:r>
          </a:p>
          <a:p>
            <a:pPr>
              <a:spcAft>
                <a:spcPts val="800"/>
              </a:spcAft>
            </a:pPr>
            <a:r>
              <a:rPr sz="1500">
                <a:solidFill>
                  <a:srgbClr val="FFFFFF"/>
                </a:solidFill>
                <a:latin typeface="Microsoft YaHei"/>
              </a:rPr>
              <a:t>▪ K11  动物示踪实验的废物</a:t>
            </a:r>
          </a:p>
          <a:p>
            <a:pPr>
              <a:spcAft>
                <a:spcPts val="800"/>
              </a:spcAft>
            </a:pPr>
            <a:r>
              <a:rPr sz="1500">
                <a:solidFill>
                  <a:srgbClr val="FFFFFF"/>
                </a:solidFill>
                <a:latin typeface="Microsoft YaHei"/>
              </a:rPr>
              <a:t>▪ K12  收集、核对与搬运防护</a:t>
            </a:r>
          </a:p>
          <a:p>
            <a:pPr>
              <a:spcAft>
                <a:spcPts val="800"/>
              </a:spcAft>
            </a:pPr>
            <a:r>
              <a:rPr sz="1500">
                <a:solidFill>
                  <a:srgbClr val="FFFFFF"/>
                </a:solidFill>
                <a:latin typeface="Microsoft YaHei"/>
              </a:rPr>
              <a:t>▪ K13  暂存间：专用、上锁、有台账</a:t>
            </a:r>
          </a:p>
          <a:p>
            <a:pPr>
              <a:spcAft>
                <a:spcPts val="800"/>
              </a:spcAft>
            </a:pPr>
            <a:r>
              <a:rPr sz="1500">
                <a:solidFill>
                  <a:srgbClr val="FFFFFF"/>
                </a:solidFill>
                <a:latin typeface="Microsoft YaHei"/>
              </a:rPr>
              <a:t>▪ K14  衰变暂存与清洁解控</a:t>
            </a:r>
          </a:p>
          <a:p>
            <a:pPr>
              <a:spcAft>
                <a:spcPts val="800"/>
              </a:spcAft>
            </a:pPr>
            <a:r>
              <a:rPr sz="1500">
                <a:solidFill>
                  <a:srgbClr val="FFFFFF"/>
                </a:solidFill>
                <a:latin typeface="Microsoft YaHei"/>
              </a:rPr>
              <a:t>▪ K15  长寿命废物交有资质单位收贮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