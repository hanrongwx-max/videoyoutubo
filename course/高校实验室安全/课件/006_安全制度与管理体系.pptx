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实的方式（制度、培训、检查、资源保障）。</a:t>
            </a:r>
          </a:p>
          <a:p>
            <a:r>
              <a:t>方针要简短明确、让所有成员知晓，并由负责人带头践行。在高校，学校层面的实验室安全管理办法、学院和实验室的安全责任书，都体现了这种承诺。</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手册、化学品安全管理制度和各项操作规程。</a:t>
            </a:r>
          </a:p>
          <a:p>
            <a:r>
              <a:t>计划的落实需要负责人的管理：向成员讲清本室的特殊危险，监督防护措施的落实；应急预案和安全信息张贴在显眼处；需要定期检测的设备（如通风柜、压力容器、气瓶）按时检测；实验室保存化学品清单，化学品安全技术说明书（SDS）随时可查；风险评估、采取的措施和效果都要记录下来。</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入要求；需要事先审批的危险实验；健康监护和受伤后的就医流程；实验室安全员及其职责；对剧毒、易制爆、自燃、高致病性等高危物质的特别管理措施；废物处置和应急处置。</a:t>
            </a:r>
          </a:p>
          <a:p>
            <a:r>
              <a:t>手册是本实验室安全工作的总纲，进入实验室的每个人都要学习并遵守。具体内容以本实验室现行手册为准。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章讲解）；危险能量控制即上锁挂牌制度，检修、清理设备前切断能源并上锁挂牌，防止他人误启动造成伤害（依据 GB/T 33579-2017，以现行文本为准，第 10 章讲解）；呼吸防护制度，按 GB 18664-2025（以现行文本为准）进行危害评估、选型、培训、适合性检验和维护（第 3 章讲解）。</a:t>
            </a:r>
          </a:p>
          <a:p>
            <a:r>
              <a:t>其他常见的专项制度还有危险化学品采购与储存、气瓶管理、生物安全、辐射安全、仪器设备使用等。</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a:p>
            <a:r>
              <a:t>本室规程应由熟悉工作的人员编写，经实验室负责人审核批准后执行，并对成员进行培训。SOP 的编写方法在第 19 课讲解。</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灾、化学品泄漏、人员暴露、触电、病原微生物溢洒等），写清处置步骤、分工、报告程序和应急资源的位置。</a:t>
            </a:r>
          </a:p>
          <a:p>
            <a:r>
              <a:t>应急处置流程和应急电话（119、120、实验室负责人、学院、保卫处）应张贴在实验室显眼处。预案要定期组织演练，演练后总结问题、修订预案。各类事故的具体处置方法在第 14 章讲解。</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制度和手册不能写完就束之高阁。实验室的人员、设备、试剂和实验方法一直在变化：写着已拆除的设备、早已不用的试剂，而新引进的高危试剂、新仪器却没有规程，这样的手册已经失效。</a:t>
            </a:r>
          </a:p>
          <a:p>
            <a:r>
              <a:t>因此，制度要定期修订（以本校规定周期为准），在引入新试剂、新设备、新方法或发生事故、险情后及时更新；新技术可能带来新的危害，要在使用前就考虑到。修订后还要对成员重新培训。可以经常问自己：手册和现实一致吗？新试剂写进去了吗？培训跟上了吗？</a:t>
            </a:r>
          </a:p>
          <a:p>
            <a:r>
              <a:t>手册是实验室与每位成员之间的约定，既要制定，更要执行。</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a:p>
            <a:r>
              <a:t>还有实验室因制度与现实严重脱节受到重罚：安全手册多年未修订，手册中的负责人早已离任，培训内容过时，新使用的高危试剂没有规程和专门区域。</a:t>
            </a:r>
          </a:p>
          <a:p>
            <a:r>
              <a:t>这些教训说明：制度的价值在于执行。高危操作前必须确认防护到位（如阻燃服、面屏）、确认操作者经过培训且具备能力、安排他人在场；放大实验必须重新评估（第 19 课讲解）。</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四是没出事就不报告险情——每一起事故背后，往往有许多次被忽视的险情和隐患。</a:t>
            </a:r>
          </a:p>
          <a:p>
            <a:r>
              <a:t>避开这些陷阱，制度才能真正起作用：手册日常使用，安全员真在岗、真管事、有实权，安全与质量一体管理，险情如实报告并整改。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存放位置）的不能随意复印外传。</a:t>
            </a:r>
          </a:p>
          <a:p>
            <a:r>
              <a:t>培训、检查、事故和险情、设备使用、样本和试剂领用等都要登记，形成安全档案，归档保存。留痕可查，出了问题才能追溯原因、改进管理。档案保存期限见第 5 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实际。</a:t>
            </a:r>
          </a:p>
          <a:p>
            <a:r>
              <a:t>高校通常在学校层面设有实验室安全工作领导机构，学院设有相应的安全工作小组，部分领域还有专门的委员会（如生物安全委员会，第 6 章讲解）。具体设置以本校规定为准。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患整改率、险情报告数量。</a:t>
            </a:r>
          </a:p>
          <a:p>
            <a:r>
              <a:t>只看滞后指标，往往要等出了事才发现问题；多关注领先指标，可以在事故之前发现薄弱环节。注意，险情报告数增加通常是好现象，说明大家愿意报告。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职业健康安全管理体系是系统管理安全与健康风险的方法，其核心是 PDCA 循环：计划（识别危害、评估风险、确定目标和措施）、实施（按计划落实措施、培训和运行控制）、检查（监测、检查、审核、事故调查）、改进（纠正问题、修订制度），然后进入下一轮循环，螺旋上升。我国现行标准为 GB/T 45001-2020（以现行文本为准），等同采用相应国际标准，早期使用的旧版体系标准已被取代。</a:t>
            </a:r>
          </a:p>
          <a:p>
            <a:r>
              <a:t>落到实验室，这一思想可以概括为三点：以可靠的风险评估为基础；采用安全的方法和合适的设备；不断寻找更安全的做法，持续改进。高校实验室不一定都进行体系认证，但这种管理思路同样适用。</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环境管理体系是单位系统识别和控制自身活动对环境影响的管理方法，我国现行标准为 GB/T 24001-2016（以现行文本为准）。它同样采用 PDCA 循环：识别环境因素和合规义务，制定目标和措施，运行控制，监测检查，持续改进。</a:t>
            </a:r>
          </a:p>
          <a:p>
            <a:r>
              <a:t>实验室的环境因素包括危险废物和废液、废气排放、废水、能源和水的消耗等。用环境管理的思路管理实验室，有助于依法处置危险废物、减少排放和能耗。绿色实验室与节能环保在第 55 课讲解。</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于强制检定或定期检验的按规定送检；停用、报废前进行清洁、去污（化学、生物、放射性），按学校资产和危险废物管理规定处置，不得随意丢弃或转让。</a:t>
            </a:r>
          </a:p>
          <a:p>
            <a:r>
              <a:t>《高等学校实验室安全规范》对仪器设备安全管理有相应要求（以现行文本为准）；特种设备还须遵守《中华人民共和国特种设备安全法》。</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答案：C。解析：领先指标反映预防工作的开展情况，事故次数、缺勤和赔偿属于滞后指标。</a:t>
            </a:r>
          </a:p>
          <a:p>
            <a:r>
              <a:t>第 2 题 答案：B。解析：规程是受控文件，修改须升版本、审批、发布并防止旧版误用。</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答案：B。解析：纸上的计划救不了人，关键在落实——防护、能力确认、结伴等都要做到。</a:t>
            </a:r>
          </a:p>
          <a:p>
            <a:r>
              <a:t>第 4 题 答案：A。解析：PDCA 循环，我国现行标准为 GB/T 45001-2020。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答案：手册只为应付检查；安全员随便指派、没有实权；安全和质量各管各的；没出事就不报告险情。解析：见 K8。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安全制度与管理体系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67 镜）　适用对象：全体进入高校实验室的本科生、研究生、新进教职工和博士后（必修）；实验室负责人、安全员重点学习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能说出实验室安全文件体系的组成：安全方针、安全计划（手册）、专项制度、操作规程、应急预案和记录档案。</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能判断制度“活”与“死”的区别，指出制度管理的常见陷阱，做到受控更新、写了就做。</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能说明 PDCA 持续改进、领先指标与滞后指标的含义，以及职业健康安全和环境管理体系的作用。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《中华人民共和国安全生产法》（以现行文本为准）：建立健全安全生产责任制和规章制度、操作规程，制定应急救援预案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号，以现行文本为准）：安全管理制度、应急管理、仪器设备安全管理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日起施行）及《危险化学品安全管理条例》（以现行文本为准）：使用单位的安全管理制度和操作规程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24001-2016（以现行文本为准）《环境管理体系 要求及使用指南》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33579-2017（以现行文本为准）《机械安全 危险能量控制方法 上锁/挂牌》；GB 18664-2025（以现行文本为准）《呼吸防护装备的选择、使用和维护》</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本校实验室安全管理制度、应急预案和仪器设备管理办法（以本校规定为准）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安全方针：负责人的书面承诺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安全方针是负责人对安全的书面承诺</a:t>
            </a:r>
          </a:p>
          <a:p>
            <a:pPr>
              <a:spcAft>
                <a:spcPts val="1000"/>
              </a:spcAft>
            </a:pPr>
            <a:r>
              <a:rPr sz="2000">
                <a:solidFill>
                  <a:srgbClr val="222B33"/>
                </a:solidFill>
                <a:latin typeface="Microsoft YaHei"/>
              </a:rPr>
              <a:t>▪ 写清目标、各人职责、怎么落实</a:t>
            </a:r>
          </a:p>
          <a:p>
            <a:pPr>
              <a:spcAft>
                <a:spcPts val="1000"/>
              </a:spcAft>
            </a:pPr>
            <a:r>
              <a:rPr sz="2000">
                <a:solidFill>
                  <a:srgbClr val="222B33"/>
                </a:solidFill>
                <a:latin typeface="Microsoft YaHei"/>
              </a:rPr>
              <a:t>▪ 承诺照顾好每个人的安全健康，持续改进</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方针只是一句口号，没有职责和落实方式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安全计划：逐项找危害、配措施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安全计划把方针变成具体行动</a:t>
            </a:r>
          </a:p>
          <a:p>
            <a:pPr>
              <a:spcAft>
                <a:spcPts val="1000"/>
              </a:spcAft>
            </a:pPr>
            <a:r>
              <a:rPr sz="2000">
                <a:solidFill>
                  <a:srgbClr val="222B33"/>
                </a:solidFill>
                <a:latin typeface="Microsoft YaHei"/>
              </a:rPr>
              <a:t>▪ 逐项找出危害和风险，配上控制措施</a:t>
            </a:r>
          </a:p>
          <a:p>
            <a:pPr>
              <a:spcAft>
                <a:spcPts val="1000"/>
              </a:spcAft>
            </a:pPr>
            <a:r>
              <a:rPr sz="2000">
                <a:solidFill>
                  <a:srgbClr val="222B33"/>
                </a:solidFill>
                <a:latin typeface="Microsoft YaHei"/>
              </a:rPr>
              <a:t>▪ 负责人讲清特殊危险，监督防护落实</a:t>
            </a:r>
          </a:p>
          <a:p>
            <a:pPr>
              <a:spcAft>
                <a:spcPts val="1000"/>
              </a:spcAft>
            </a:pPr>
            <a:r>
              <a:rPr sz="2000">
                <a:solidFill>
                  <a:srgbClr val="222B33"/>
                </a:solidFill>
                <a:latin typeface="Microsoft YaHei"/>
              </a:rPr>
              <a:t>▪ 化学品有清单、SDS 随时可查；评估、措施、效果要记录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计划只列危害，不写具体措施和责任人</a:t>
            </a:r>
          </a:p>
          <a:p>
            <a:pPr>
              <a:spcAft>
                <a:spcPts val="1000"/>
              </a:spcAft>
            </a:pPr>
            <a:r>
              <a:rPr sz="1500">
                <a:solidFill>
                  <a:srgbClr val="222B33"/>
                </a:solidFill>
                <a:latin typeface="Microsoft YaHei"/>
              </a:rPr>
              <a:t>▪ 化学品没有清单，SDS 找不到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安全手册里有什么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安全手册像实验室的“操作系统”</a:t>
            </a:r>
          </a:p>
          <a:p>
            <a:pPr>
              <a:spcAft>
                <a:spcPts val="1000"/>
              </a:spcAft>
            </a:pPr>
            <a:r>
              <a:rPr sz="2000">
                <a:solidFill>
                  <a:srgbClr val="222B33"/>
                </a:solidFill>
                <a:latin typeface="Microsoft YaHei"/>
              </a:rPr>
              <a:t>▪ 操作规程、控制措施、防护要求</a:t>
            </a:r>
          </a:p>
          <a:p>
            <a:pPr>
              <a:spcAft>
                <a:spcPts val="1000"/>
              </a:spcAft>
            </a:pPr>
            <a:r>
              <a:rPr sz="2000">
                <a:solidFill>
                  <a:srgbClr val="222B33"/>
                </a:solidFill>
                <a:latin typeface="Microsoft YaHei"/>
              </a:rPr>
              <a:t>▪ 培训准入、危险实验审批、健康与就医</a:t>
            </a:r>
          </a:p>
          <a:p>
            <a:pPr>
              <a:spcAft>
                <a:spcPts val="1000"/>
              </a:spcAft>
            </a:pPr>
            <a:r>
              <a:rPr sz="2000">
                <a:solidFill>
                  <a:srgbClr val="222B33"/>
                </a:solidFill>
                <a:latin typeface="Microsoft YaHei"/>
              </a:rPr>
              <a:t>▪ 明确安全员，高危化学品和感染性材料专门管理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进实验室从未读过本室安全手册</a:t>
            </a:r>
          </a:p>
          <a:p>
            <a:pPr>
              <a:spcAft>
                <a:spcPts val="1000"/>
              </a:spcAft>
            </a:pPr>
            <a:r>
              <a:rPr sz="1500">
                <a:solidFill>
                  <a:srgbClr val="222B33"/>
                </a:solidFill>
                <a:latin typeface="Microsoft YaHei"/>
              </a:rPr>
              <a:t>▪ 手册缺少高危物质的专门管理要求</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专项制度：废物、上锁挂牌、呼吸防护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特殊风险要有专项制度</a:t>
            </a:r>
          </a:p>
          <a:p>
            <a:pPr>
              <a:spcAft>
                <a:spcPts val="1000"/>
              </a:spcAft>
            </a:pPr>
            <a:r>
              <a:rPr sz="2000">
                <a:solidFill>
                  <a:srgbClr val="222B33"/>
                </a:solidFill>
                <a:latin typeface="Microsoft YaHei"/>
              </a:rPr>
              <a:t>▪ 危险废物：分类收集、规范贮存、合规处置</a:t>
            </a:r>
          </a:p>
          <a:p>
            <a:pPr>
              <a:spcAft>
                <a:spcPts val="1000"/>
              </a:spcAft>
            </a:pPr>
            <a:r>
              <a:rPr sz="2000">
                <a:solidFill>
                  <a:srgbClr val="222B33"/>
                </a:solidFill>
                <a:latin typeface="Microsoft YaHei"/>
              </a:rPr>
              <a:t>▪ 检修设备时上锁挂牌，防止误启动</a:t>
            </a:r>
          </a:p>
          <a:p>
            <a:pPr>
              <a:spcAft>
                <a:spcPts val="1000"/>
              </a:spcAft>
            </a:pPr>
            <a:r>
              <a:rPr sz="2000">
                <a:solidFill>
                  <a:srgbClr val="222B33"/>
                </a:solidFill>
                <a:latin typeface="Microsoft YaHei"/>
              </a:rPr>
              <a:t>▪ 呼吸防护：评估、选型、培训和适合性检验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检修设备不上锁挂牌，他人误合闸</a:t>
            </a:r>
          </a:p>
          <a:p>
            <a:pPr>
              <a:spcAft>
                <a:spcPts val="1000"/>
              </a:spcAft>
            </a:pPr>
            <a:r>
              <a:rPr sz="1500">
                <a:solidFill>
                  <a:srgbClr val="222B33"/>
                </a:solidFill>
                <a:latin typeface="Microsoft YaHei"/>
              </a:rPr>
              <a:t>▪ 随意选用口罩代替呼吸防护装备，未做适合性检验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制度定目标，实验室定做法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学校制度规定要达到的安全目标</a:t>
            </a:r>
          </a:p>
          <a:p>
            <a:pPr>
              <a:spcAft>
                <a:spcPts val="1000"/>
              </a:spcAft>
            </a:pPr>
            <a:r>
              <a:rPr sz="2000">
                <a:solidFill>
                  <a:srgbClr val="222B33"/>
                </a:solidFill>
                <a:latin typeface="Microsoft YaHei"/>
              </a:rPr>
              <a:t>▪ 具体怎么做，由实验室写进本室规程</a:t>
            </a:r>
          </a:p>
          <a:p>
            <a:pPr>
              <a:spcAft>
                <a:spcPts val="1000"/>
              </a:spcAft>
            </a:pPr>
            <a:r>
              <a:rPr sz="2000">
                <a:solidFill>
                  <a:srgbClr val="222B33"/>
                </a:solidFill>
                <a:latin typeface="Microsoft YaHei"/>
              </a:rPr>
              <a:t>▪ 本室规程经负责人审核后执行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只有学校的原则性制度，本室没有具体规程</a:t>
            </a:r>
          </a:p>
          <a:p>
            <a:pPr>
              <a:spcAft>
                <a:spcPts val="1000"/>
              </a:spcAft>
            </a:pPr>
            <a:r>
              <a:rPr sz="1500">
                <a:solidFill>
                  <a:srgbClr val="222B33"/>
                </a:solidFill>
                <a:latin typeface="Microsoft YaHei"/>
              </a:rPr>
              <a:t>▪ 规程未经审核就使用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应急预案：写好、贴好、练好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应急预案是制度体系的重要组成部分</a:t>
            </a:r>
          </a:p>
          <a:p>
            <a:pPr>
              <a:spcAft>
                <a:spcPts val="1000"/>
              </a:spcAft>
            </a:pPr>
            <a:r>
              <a:rPr sz="2000">
                <a:solidFill>
                  <a:srgbClr val="222B33"/>
                </a:solidFill>
                <a:latin typeface="Microsoft YaHei"/>
              </a:rPr>
              <a:t>▪ 写清可能的事故、谁做什么、怎么报告</a:t>
            </a:r>
          </a:p>
          <a:p>
            <a:pPr>
              <a:spcAft>
                <a:spcPts val="1000"/>
              </a:spcAft>
            </a:pPr>
            <a:r>
              <a:rPr sz="2000">
                <a:solidFill>
                  <a:srgbClr val="222B33"/>
                </a:solidFill>
                <a:latin typeface="Microsoft YaHei"/>
              </a:rPr>
              <a:t>▪ 应急流程和电话贴在显眼处</a:t>
            </a:r>
          </a:p>
          <a:p>
            <a:pPr>
              <a:spcAft>
                <a:spcPts val="1000"/>
              </a:spcAft>
            </a:pPr>
            <a:r>
              <a:rPr sz="2000">
                <a:solidFill>
                  <a:srgbClr val="222B33"/>
                </a:solidFill>
                <a:latin typeface="Microsoft YaHei"/>
              </a:rPr>
              <a:t>▪ 定期演练，演练后修订预案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预案照抄模板，与本室实际危险不符</a:t>
            </a:r>
          </a:p>
          <a:p>
            <a:pPr>
              <a:spcAft>
                <a:spcPts val="1000"/>
              </a:spcAft>
            </a:pPr>
            <a:r>
              <a:rPr sz="1500">
                <a:solidFill>
                  <a:srgbClr val="222B33"/>
                </a:solidFill>
                <a:latin typeface="Microsoft YaHei"/>
              </a:rPr>
              <a:t>▪ 有预案从不演练，人员不知道怎么做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制度要活，跟上实验室的变化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手册要跟着实验室一起变</a:t>
            </a:r>
          </a:p>
          <a:p>
            <a:pPr>
              <a:spcAft>
                <a:spcPts val="1000"/>
              </a:spcAft>
            </a:pPr>
            <a:r>
              <a:rPr sz="2000">
                <a:solidFill>
                  <a:srgbClr val="222B33"/>
                </a:solidFill>
                <a:latin typeface="Microsoft YaHei"/>
              </a:rPr>
              <a:t>▪ 定期修订：新试剂写进去，拆掉的设备删掉</a:t>
            </a:r>
          </a:p>
          <a:p>
            <a:pPr>
              <a:spcAft>
                <a:spcPts val="1000"/>
              </a:spcAft>
            </a:pPr>
            <a:r>
              <a:rPr sz="2000">
                <a:solidFill>
                  <a:srgbClr val="222B33"/>
                </a:solidFill>
                <a:latin typeface="Microsoft YaHei"/>
              </a:rPr>
              <a:t>▪ 新技术带来新危害，要提前预判</a:t>
            </a:r>
          </a:p>
          <a:p>
            <a:pPr>
              <a:spcAft>
                <a:spcPts val="1000"/>
              </a:spcAft>
            </a:pPr>
            <a:r>
              <a:rPr sz="2000">
                <a:solidFill>
                  <a:srgbClr val="222B33"/>
                </a:solidFill>
                <a:latin typeface="Microsoft YaHei"/>
              </a:rPr>
              <a:t>▪ 手册是实验室和每个人的约定，要制定更要执行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制度和手册不能写完就束之高阁。实验室的人员、设备、试剂和实验方法一直在变化：写着已拆除的设备、早已不用的试剂，而新引进的高危试剂、新仪器却没有规程，这样的手册已经失效。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手册多年不修订，与现实脱节</a:t>
            </a:r>
          </a:p>
          <a:p>
            <a:pPr>
              <a:spcAft>
                <a:spcPts val="1000"/>
              </a:spcAft>
            </a:pPr>
            <a:r>
              <a:rPr sz="1500">
                <a:solidFill>
                  <a:srgbClr val="222B33"/>
                </a:solidFill>
                <a:latin typeface="Microsoft YaHei"/>
              </a:rPr>
              <a:t>▪ 修订后不培训，成员仍按旧做法操作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纸上的计划救不了人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有书面计划却不落实，等于没有</a:t>
            </a:r>
          </a:p>
          <a:p>
            <a:pPr>
              <a:spcAft>
                <a:spcPts val="1000"/>
              </a:spcAft>
            </a:pPr>
            <a:r>
              <a:rPr sz="2000">
                <a:solidFill>
                  <a:srgbClr val="222B33"/>
                </a:solidFill>
                <a:latin typeface="Microsoft YaHei"/>
              </a:rPr>
              <a:t>▪ 曾有研究人员放大使用自燃试剂、未穿阻燃服而遇难</a:t>
            </a:r>
          </a:p>
          <a:p>
            <a:pPr>
              <a:spcAft>
                <a:spcPts val="1000"/>
              </a:spcAft>
            </a:pPr>
            <a:r>
              <a:rPr sz="2000">
                <a:solidFill>
                  <a:srgbClr val="222B33"/>
                </a:solidFill>
                <a:latin typeface="Microsoft YaHei"/>
              </a:rPr>
              <a:t>▪ 防护、能力确认、结伴，一样不能少</a:t>
            </a:r>
          </a:p>
          <a:p>
            <a:pPr>
              <a:spcAft>
                <a:spcPts val="1000"/>
              </a:spcAft>
            </a:pPr>
            <a:r>
              <a:rPr sz="2000">
                <a:solidFill>
                  <a:srgbClr val="222B33"/>
                </a:solidFill>
                <a:latin typeface="Microsoft YaHei"/>
              </a:rPr>
              <a:t>▪ 手册过时、负责人缺位、新试剂无规程，必出问题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有计划就以为安全了，不检查落实</a:t>
            </a:r>
          </a:p>
          <a:p>
            <a:pPr>
              <a:spcAft>
                <a:spcPts val="1000"/>
              </a:spcAft>
            </a:pPr>
            <a:r>
              <a:rPr sz="1500">
                <a:solidFill>
                  <a:srgbClr val="222B33"/>
                </a:solidFill>
                <a:latin typeface="Microsoft YaHei"/>
              </a:rPr>
              <a:t>▪ 高危试剂放大使用前不重新评估、不确认能力</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制度管理的四个常见陷阱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陷阱一：手册只为应付检查</a:t>
            </a:r>
          </a:p>
          <a:p>
            <a:pPr>
              <a:spcAft>
                <a:spcPts val="1000"/>
              </a:spcAft>
            </a:pPr>
            <a:r>
              <a:rPr sz="2000">
                <a:solidFill>
                  <a:srgbClr val="222B33"/>
                </a:solidFill>
                <a:latin typeface="Microsoft YaHei"/>
              </a:rPr>
              <a:t>▪ 陷阱二：安全员随便指派，没有实权</a:t>
            </a:r>
          </a:p>
          <a:p>
            <a:pPr>
              <a:spcAft>
                <a:spcPts val="1000"/>
              </a:spcAft>
            </a:pPr>
            <a:r>
              <a:rPr sz="2000">
                <a:solidFill>
                  <a:srgbClr val="222B33"/>
                </a:solidFill>
                <a:latin typeface="Microsoft YaHei"/>
              </a:rPr>
              <a:t>▪ 陷阱三：安全和质量各管各的</a:t>
            </a:r>
          </a:p>
          <a:p>
            <a:pPr>
              <a:spcAft>
                <a:spcPts val="1000"/>
              </a:spcAft>
            </a:pPr>
            <a:r>
              <a:rPr sz="2000">
                <a:solidFill>
                  <a:srgbClr val="222B33"/>
                </a:solidFill>
                <a:latin typeface="Microsoft YaHei"/>
              </a:rPr>
              <a:t>▪ 陷阱四：没出事就不报告险情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安全员是“挂名”的，从不巡查</a:t>
            </a:r>
          </a:p>
          <a:p>
            <a:pPr>
              <a:spcAft>
                <a:spcPts val="1000"/>
              </a:spcAft>
            </a:pPr>
            <a:r>
              <a:rPr sz="1500">
                <a:solidFill>
                  <a:srgbClr val="222B33"/>
                </a:solidFill>
                <a:latin typeface="Microsoft YaHei"/>
              </a:rPr>
              <a:t>▪ 险情不报告，直到发生事故</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受控文件与安全档案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规程和检查单是受控文件</a:t>
            </a:r>
          </a:p>
          <a:p>
            <a:pPr>
              <a:spcAft>
                <a:spcPts val="1000"/>
              </a:spcAft>
            </a:pPr>
            <a:r>
              <a:rPr sz="2000">
                <a:solidFill>
                  <a:srgbClr val="222B33"/>
                </a:solidFill>
                <a:latin typeface="Microsoft YaHei"/>
              </a:rPr>
              <a:t>▪ 改一处就升版本，写明日期和修改人</a:t>
            </a:r>
          </a:p>
          <a:p>
            <a:pPr>
              <a:spcAft>
                <a:spcPts val="1000"/>
              </a:spcAft>
            </a:pPr>
            <a:r>
              <a:rPr sz="2000">
                <a:solidFill>
                  <a:srgbClr val="222B33"/>
                </a:solidFill>
                <a:latin typeface="Microsoft YaHei"/>
              </a:rPr>
              <a:t>▪ 培训、检查、事故、设备使用、样本领用都要记录</a:t>
            </a:r>
          </a:p>
          <a:p>
            <a:pPr>
              <a:spcAft>
                <a:spcPts val="1000"/>
              </a:spcAft>
            </a:pPr>
            <a:r>
              <a:rPr sz="2000">
                <a:solidFill>
                  <a:srgbClr val="222B33"/>
                </a:solidFill>
                <a:latin typeface="Microsoft YaHei"/>
              </a:rPr>
              <a:t>▪ 归档保存，权限受控，出了问题能追溯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规程随手修改不升版本，新旧版本混用</a:t>
            </a:r>
          </a:p>
          <a:p>
            <a:pPr>
              <a:spcAft>
                <a:spcPts val="1000"/>
              </a:spcAft>
            </a:pPr>
            <a:r>
              <a:rPr sz="1500">
                <a:solidFill>
                  <a:srgbClr val="222B33"/>
                </a:solidFill>
                <a:latin typeface="Microsoft YaHei"/>
              </a:rPr>
              <a:t>▪ 安全档案随意复印外传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安全委员会：大家一起商量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管理者和人员代表共同参加</a:t>
            </a:r>
          </a:p>
          <a:p>
            <a:pPr>
              <a:spcAft>
                <a:spcPts val="1000"/>
              </a:spcAft>
            </a:pPr>
            <a:r>
              <a:rPr sz="2000">
                <a:solidFill>
                  <a:srgbClr val="222B33"/>
                </a:solidFill>
                <a:latin typeface="Microsoft YaHei"/>
              </a:rPr>
              <a:t>▪ 专门讨论安全问题，共同想办法</a:t>
            </a:r>
          </a:p>
          <a:p>
            <a:pPr>
              <a:spcAft>
                <a:spcPts val="1000"/>
              </a:spcAft>
            </a:pPr>
            <a:r>
              <a:rPr sz="2000">
                <a:solidFill>
                  <a:srgbClr val="222B33"/>
                </a:solidFill>
                <a:latin typeface="Microsoft YaHei"/>
              </a:rPr>
              <a:t>▪ 大家都能发声</a:t>
            </a:r>
          </a:p>
          <a:p>
            <a:pPr>
              <a:spcAft>
                <a:spcPts val="1000"/>
              </a:spcAft>
            </a:pPr>
            <a:r>
              <a:rPr sz="2000">
                <a:solidFill>
                  <a:srgbClr val="222B33"/>
                </a:solidFill>
                <a:latin typeface="Microsoft YaHei"/>
              </a:rPr>
              <a:t>▪ 学校和学院也设有安全工作组织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会议只有领导参加，听不到一线意见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领先指标与滞后指标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安全指标分领先指标和滞后指标</a:t>
            </a:r>
          </a:p>
          <a:p>
            <a:pPr>
              <a:spcAft>
                <a:spcPts val="1000"/>
              </a:spcAft>
            </a:pPr>
            <a:r>
              <a:rPr sz="2000">
                <a:solidFill>
                  <a:srgbClr val="222B33"/>
                </a:solidFill>
                <a:latin typeface="Microsoft YaHei"/>
              </a:rPr>
              <a:t>▪ 滞后指标：事故率、伤病缺勤，事后才知道</a:t>
            </a:r>
          </a:p>
          <a:p>
            <a:pPr>
              <a:spcAft>
                <a:spcPts val="1000"/>
              </a:spcAft>
            </a:pPr>
            <a:r>
              <a:rPr sz="2000">
                <a:solidFill>
                  <a:srgbClr val="222B33"/>
                </a:solidFill>
                <a:latin typeface="Microsoft YaHei"/>
              </a:rPr>
              <a:t>▪ 领先指标：培训、巡查次数，险情报告数</a:t>
            </a:r>
          </a:p>
          <a:p>
            <a:pPr>
              <a:spcAft>
                <a:spcPts val="1000"/>
              </a:spcAft>
            </a:pPr>
            <a:r>
              <a:rPr sz="2000">
                <a:solidFill>
                  <a:srgbClr val="222B33"/>
                </a:solidFill>
                <a:latin typeface="Microsoft YaHei"/>
              </a:rPr>
              <a:t>▪ 多盯领先指标，才能防患于未然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只看“零事故”，不看培训、巡查和险情报告</a:t>
            </a:r>
          </a:p>
          <a:p>
            <a:pPr>
              <a:spcAft>
                <a:spcPts val="1000"/>
              </a:spcAft>
            </a:pPr>
            <a:r>
              <a:rPr sz="1500">
                <a:solidFill>
                  <a:srgbClr val="222B33"/>
                </a:solidFill>
                <a:latin typeface="Microsoft YaHei"/>
              </a:rPr>
              <a:t>▪ 把险情报告多当作坏事而压制报告</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PDCA：职业健康安全管理体系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职业健康安全管理体系的核心是 PDCA 循环</a:t>
            </a:r>
          </a:p>
          <a:p>
            <a:pPr>
              <a:spcAft>
                <a:spcPts val="1000"/>
              </a:spcAft>
            </a:pPr>
            <a:r>
              <a:rPr sz="2000">
                <a:solidFill>
                  <a:srgbClr val="222B33"/>
                </a:solidFill>
                <a:latin typeface="Microsoft YaHei"/>
              </a:rPr>
              <a:t>▪ 计划、实施、检查、改进，循环上升</a:t>
            </a:r>
          </a:p>
          <a:p>
            <a:pPr>
              <a:spcAft>
                <a:spcPts val="1000"/>
              </a:spcAft>
            </a:pPr>
            <a:r>
              <a:rPr sz="2000">
                <a:solidFill>
                  <a:srgbClr val="222B33"/>
                </a:solidFill>
                <a:latin typeface="Microsoft YaHei"/>
              </a:rPr>
              <a:t>▪ 国内现行标准为 GB/T 45001-2020</a:t>
            </a:r>
          </a:p>
          <a:p>
            <a:pPr>
              <a:spcAft>
                <a:spcPts val="1000"/>
              </a:spcAft>
            </a:pPr>
            <a:r>
              <a:rPr sz="2000">
                <a:solidFill>
                  <a:srgbClr val="222B33"/>
                </a:solidFill>
                <a:latin typeface="Microsoft YaHei"/>
              </a:rPr>
              <a:t>▪ 以风险评估为基础，持续寻找更安全的做法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职业健康安全管理体系是系统管理安全与健康风险的方法，其核心是 PDCA 循环：计划（识别危害、评估风险、确定目标和措施）、实施（按计划落实措施、培训和运行控制）、检查（监测、检查、审核、事故调查）、改进（纠正问题、修……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只做计划和实施，不检查、不改进</a:t>
            </a:r>
          </a:p>
          <a:p>
            <a:pPr>
              <a:spcAft>
                <a:spcPts val="1000"/>
              </a:spcAft>
            </a:pPr>
            <a:r>
              <a:rPr sz="1500">
                <a:solidFill>
                  <a:srgbClr val="222B33"/>
                </a:solidFill>
                <a:latin typeface="Microsoft YaHei"/>
              </a:rPr>
              <a:t>▪ 引用已被取代的旧版体系标准</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环境管理体系帮助系统减少对环境的影响</a:t>
            </a:r>
          </a:p>
          <a:p>
            <a:pPr>
              <a:spcAft>
                <a:spcPts val="1000"/>
              </a:spcAft>
            </a:pPr>
            <a:r>
              <a:rPr sz="2000">
                <a:solidFill>
                  <a:srgbClr val="222B33"/>
                </a:solidFill>
                <a:latin typeface="Microsoft YaHei"/>
              </a:rPr>
              <a:t>▪ 国内现行标准为 GB/T 24001-2016</a:t>
            </a:r>
          </a:p>
          <a:p>
            <a:pPr>
              <a:spcAft>
                <a:spcPts val="1000"/>
              </a:spcAft>
            </a:pPr>
            <a:r>
              <a:rPr sz="2000">
                <a:solidFill>
                  <a:srgbClr val="222B33"/>
                </a:solidFill>
                <a:latin typeface="Microsoft YaHei"/>
              </a:rPr>
              <a:t>▪ 实验室的废物、排放、能耗都适用</a:t>
            </a:r>
          </a:p>
          <a:p>
            <a:pPr>
              <a:spcAft>
                <a:spcPts val="1000"/>
              </a:spcAft>
            </a:pPr>
            <a:r>
              <a:rPr sz="2000">
                <a:solidFill>
                  <a:srgbClr val="222B33"/>
                </a:solidFill>
                <a:latin typeface="Microsoft YaHei"/>
              </a:rPr>
              <a:t>▪ 同样遵循 PDCA 持续改进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环境管理体系是单位系统识别和控制自身活动对环境影响的管理方法，我国现行标准为 GB/T 24001-2016（以现行文本为准）。它同样采用 PDCA 循环：识别环境因素和合规义务，制定目标和措施，运行控制，监测检查，……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认为环境管理只与工厂有关，与实验室无关</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设备全生命周期管理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设备从采购到报废都要管</a:t>
            </a:r>
          </a:p>
          <a:p>
            <a:pPr>
              <a:spcAft>
                <a:spcPts val="1000"/>
              </a:spcAft>
            </a:pPr>
            <a:r>
              <a:rPr sz="2000">
                <a:solidFill>
                  <a:srgbClr val="222B33"/>
                </a:solidFill>
                <a:latin typeface="Microsoft YaHei"/>
              </a:rPr>
              <a:t>▪ 采购前论证安全条件，验收后建档</a:t>
            </a:r>
          </a:p>
          <a:p>
            <a:pPr>
              <a:spcAft>
                <a:spcPts val="1000"/>
              </a:spcAft>
            </a:pPr>
            <a:r>
              <a:rPr sz="2000">
                <a:solidFill>
                  <a:srgbClr val="222B33"/>
                </a:solidFill>
                <a:latin typeface="Microsoft YaHei"/>
              </a:rPr>
              <a:t>▪ 使用前培训授权，按期维护、检定</a:t>
            </a:r>
          </a:p>
          <a:p>
            <a:pPr>
              <a:spcAft>
                <a:spcPts val="1000"/>
              </a:spcAft>
            </a:pPr>
            <a:r>
              <a:rPr sz="2000">
                <a:solidFill>
                  <a:srgbClr val="222B33"/>
                </a:solidFill>
                <a:latin typeface="Microsoft YaHei"/>
              </a:rPr>
              <a:t>▪ 报废前清洁去污，规范处置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设备到货就用，没有规程和培训</a:t>
            </a:r>
          </a:p>
          <a:p>
            <a:pPr>
              <a:spcAft>
                <a:spcPts val="1000"/>
              </a:spcAft>
            </a:pPr>
            <a:r>
              <a:rPr sz="1500">
                <a:solidFill>
                  <a:srgbClr val="222B33"/>
                </a:solidFill>
                <a:latin typeface="Microsoft YaHei"/>
              </a:rPr>
              <a:t>▪ 报废设备未去污就交出处置</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下列属于领先指标的是：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年度事故次数</a:t>
            </a:r>
          </a:p>
          <a:p>
            <a:pPr algn="l"/>
            <a:r>
              <a:rPr sz="1500" b="0">
                <a:solidFill>
                  <a:srgbClr val="222B33"/>
                </a:solidFill>
                <a:latin typeface="Microsoft YaHei"/>
              </a:rPr>
              <a:t>B. 伤病缺勤天数</a:t>
            </a:r>
          </a:p>
          <a:p>
            <a:pPr algn="l"/>
            <a:r>
              <a:rPr sz="1500" b="0">
                <a:solidFill>
                  <a:srgbClr val="222B33"/>
                </a:solidFill>
                <a:latin typeface="Microsoft YaHei"/>
              </a:rPr>
              <a:t>C. 险情报告数量和巡查次数</a:t>
            </a:r>
          </a:p>
          <a:p>
            <a:pPr algn="l"/>
            <a:r>
              <a:rPr sz="1500" b="0">
                <a:solidFill>
                  <a:srgbClr val="222B33"/>
                </a:solidFill>
                <a:latin typeface="Microsoft YaHei"/>
              </a:rPr>
              <a:t>D. 事故赔偿金额</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修改本实验室一份操作规程中的一个步骤，正确的做法是：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直接在打印稿上手写修改</a:t>
            </a:r>
          </a:p>
          <a:p>
            <a:pPr algn="l"/>
            <a:r>
              <a:rPr sz="1500" b="0">
                <a:solidFill>
                  <a:srgbClr val="222B33"/>
                </a:solidFill>
                <a:latin typeface="Microsoft YaHei"/>
              </a:rPr>
              <a:t>B. 升级版本号，注明日期和修改人，经审批后发布并收回旧版</a:t>
            </a:r>
          </a:p>
          <a:p>
            <a:pPr algn="l"/>
            <a:r>
              <a:rPr sz="1500" b="0">
                <a:solidFill>
                  <a:srgbClr val="222B33"/>
                </a:solidFill>
                <a:latin typeface="Microsoft YaHei"/>
              </a:rPr>
              <a:t>C. 口头通知大家</a:t>
            </a:r>
          </a:p>
          <a:p>
            <a:pPr algn="l"/>
            <a:r>
              <a:rPr sz="1500" b="0">
                <a:solidFill>
                  <a:srgbClr val="222B33"/>
                </a:solidFill>
                <a:latin typeface="Microsoft YaHei"/>
              </a:rPr>
              <a:t>D. 不必记录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判断：实验室有一份书面安全计划，就说明安全工作已经做到位了。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职业健康安全管理体系的核心循环是：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计划—实施—检查—改进</a:t>
            </a:r>
          </a:p>
          <a:p>
            <a:pPr algn="l"/>
            <a:r>
              <a:rPr sz="1500" b="0">
                <a:solidFill>
                  <a:srgbClr val="222B33"/>
                </a:solidFill>
                <a:latin typeface="Microsoft YaHei"/>
              </a:rPr>
              <a:t>B. 发现—报告—处罚</a:t>
            </a:r>
          </a:p>
          <a:p>
            <a:pPr algn="l"/>
            <a:r>
              <a:rPr sz="1500" b="0">
                <a:solidFill>
                  <a:srgbClr val="222B33"/>
                </a:solidFill>
                <a:latin typeface="Microsoft YaHei"/>
              </a:rPr>
              <a:t>C. 采购—使用—报废</a:t>
            </a:r>
          </a:p>
          <a:p>
            <a:pPr algn="l"/>
            <a:r>
              <a:rPr sz="1500" b="0">
                <a:solidFill>
                  <a:srgbClr val="222B33"/>
                </a:solidFill>
                <a:latin typeface="Microsoft YaHei"/>
              </a:rPr>
              <a:t>D. 培训—考试—准入</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简答：制度管理有哪四个常见陷阱？</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安全方针：负责人的书面承诺</a:t>
            </a:r>
          </a:p>
          <a:p>
            <a:pPr>
              <a:spcAft>
                <a:spcPts val="800"/>
              </a:spcAft>
            </a:pPr>
            <a:r>
              <a:rPr sz="1500">
                <a:solidFill>
                  <a:srgbClr val="FFFFFF"/>
                </a:solidFill>
                <a:latin typeface="Microsoft YaHei"/>
              </a:rPr>
              <a:t>▪ K2  安全计划：逐项找危害、配措施</a:t>
            </a:r>
          </a:p>
          <a:p>
            <a:pPr>
              <a:spcAft>
                <a:spcPts val="800"/>
              </a:spcAft>
            </a:pPr>
            <a:r>
              <a:rPr sz="1500">
                <a:solidFill>
                  <a:srgbClr val="FFFFFF"/>
                </a:solidFill>
                <a:latin typeface="Microsoft YaHei"/>
              </a:rPr>
              <a:t>▪ K3  安全手册里有什么</a:t>
            </a:r>
          </a:p>
          <a:p>
            <a:pPr>
              <a:spcAft>
                <a:spcPts val="800"/>
              </a:spcAft>
            </a:pPr>
            <a:r>
              <a:rPr sz="1500">
                <a:solidFill>
                  <a:srgbClr val="FFFFFF"/>
                </a:solidFill>
                <a:latin typeface="Microsoft YaHei"/>
              </a:rPr>
              <a:t>▪ K4  专项制度：废物、上锁挂牌、呼吸防护</a:t>
            </a:r>
          </a:p>
          <a:p>
            <a:pPr>
              <a:spcAft>
                <a:spcPts val="800"/>
              </a:spcAft>
            </a:pPr>
            <a:r>
              <a:rPr sz="1500">
                <a:solidFill>
                  <a:srgbClr val="FFFFFF"/>
                </a:solidFill>
                <a:latin typeface="Microsoft YaHei"/>
              </a:rPr>
              <a:t>▪ K5  制度定目标，实验室定做法</a:t>
            </a:r>
          </a:p>
          <a:p>
            <a:pPr>
              <a:spcAft>
                <a:spcPts val="800"/>
              </a:spcAft>
            </a:pPr>
            <a:r>
              <a:rPr sz="1500">
                <a:solidFill>
                  <a:srgbClr val="FFFFFF"/>
                </a:solidFill>
                <a:latin typeface="Microsoft YaHei"/>
              </a:rPr>
              <a:t>▪ S1  应急预案：写好、贴好、练好</a:t>
            </a:r>
          </a:p>
          <a:p>
            <a:pPr>
              <a:spcAft>
                <a:spcPts val="800"/>
              </a:spcAft>
            </a:pPr>
            <a:r>
              <a:rPr sz="1500">
                <a:solidFill>
                  <a:srgbClr val="FFFFFF"/>
                </a:solidFill>
                <a:latin typeface="Microsoft YaHei"/>
              </a:rPr>
              <a:t>▪ K6  制度要活，跟上实验室的变化</a:t>
            </a:r>
          </a:p>
          <a:p>
            <a:pPr>
              <a:spcAft>
                <a:spcPts val="800"/>
              </a:spcAft>
            </a:pPr>
            <a:r>
              <a:rPr sz="1500">
                <a:solidFill>
                  <a:srgbClr val="FFFFFF"/>
                </a:solidFill>
                <a:latin typeface="Microsoft YaHei"/>
              </a:rPr>
              <a:t>▪ K7  纸上的计划救不了人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制度管理的四个常见陷阱</a:t>
            </a:r>
          </a:p>
          <a:p>
            <a:pPr>
              <a:spcAft>
                <a:spcPts val="800"/>
              </a:spcAft>
            </a:pPr>
            <a:r>
              <a:rPr sz="1500">
                <a:solidFill>
                  <a:srgbClr val="FFFFFF"/>
                </a:solidFill>
                <a:latin typeface="Microsoft YaHei"/>
              </a:rPr>
              <a:t>▪ K9  受控文件与安全档案</a:t>
            </a:r>
          </a:p>
          <a:p>
            <a:pPr>
              <a:spcAft>
                <a:spcPts val="800"/>
              </a:spcAft>
            </a:pPr>
            <a:r>
              <a:rPr sz="1500">
                <a:solidFill>
                  <a:srgbClr val="FFFFFF"/>
                </a:solidFill>
                <a:latin typeface="Microsoft YaHei"/>
              </a:rPr>
              <a:t>▪ K10  安全委员会：大家一起商量</a:t>
            </a:r>
          </a:p>
          <a:p>
            <a:pPr>
              <a:spcAft>
                <a:spcPts val="800"/>
              </a:spcAft>
            </a:pPr>
            <a:r>
              <a:rPr sz="1500">
                <a:solidFill>
                  <a:srgbClr val="FFFFFF"/>
                </a:solidFill>
                <a:latin typeface="Microsoft YaHei"/>
              </a:rPr>
              <a:t>▪ K11  领先指标与滞后指标</a:t>
            </a:r>
          </a:p>
          <a:p>
            <a:pPr>
              <a:spcAft>
                <a:spcPts val="800"/>
              </a:spcAft>
            </a:pPr>
            <a:r>
              <a:rPr sz="1500">
                <a:solidFill>
                  <a:srgbClr val="FFFFFF"/>
                </a:solidFill>
                <a:latin typeface="Microsoft YaHei"/>
              </a:rPr>
              <a:t>▪ K12  PDCA：职业健康安全管理体系</a:t>
            </a:r>
          </a:p>
          <a:p>
            <a:pPr>
              <a:spcAft>
                <a:spcPts val="800"/>
              </a:spcAft>
            </a:pPr>
            <a:r>
              <a:rPr sz="1500">
                <a:solidFill>
                  <a:srgbClr val="FFFFFF"/>
                </a:solidFill>
                <a:latin typeface="Microsoft YaHei"/>
              </a:rPr>
              <a:t>▪ K13  环境管理体系</a:t>
            </a:r>
          </a:p>
          <a:p>
            <a:pPr>
              <a:spcAft>
                <a:spcPts val="800"/>
              </a:spcAft>
            </a:pPr>
            <a:r>
              <a:rPr sz="1500">
                <a:solidFill>
                  <a:srgbClr val="FFFFFF"/>
                </a:solidFill>
                <a:latin typeface="Microsoft YaHei"/>
              </a:rPr>
              <a:t>▪ S2  设备全生命周期管理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