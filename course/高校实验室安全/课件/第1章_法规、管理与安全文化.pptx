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a:p/>
          <a:p>
            <a:r>
              <a:t>来源：合并了 2 个原知识点，最佳讲解取自 CDC Laboratory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a:p/>
          <a:p>
            <a:r>
              <a:t>来源：合并了 2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a:p/>
          <a:p>
            <a:r>
              <a:t>来源：合并了 3 个原知识点，最佳讲解取自 Laboratory Ergonomics &amp; RSI 17（详见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a:p/>
          <a:p>
            <a:r>
              <a:t>来源：合并了 2 个原知识点，最佳讲解取自 ACS College Lab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a:p/>
          <a:p>
            <a:r>
              <a:t>来源：合并了 1 个原知识点，最佳讲解取自 Lab Safety Training Series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a:p/>
          <a:p>
            <a:r>
              <a:t>来源：补充知识点（依据《中华人民共和国安全生产法》和《高等学校实验室安全规范》，原视频未涉及）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a:p/>
          <a:p>
            <a:r>
              <a:t>来源：补充知识点（依据本课程大纲，原视频未涉及）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a:p/>
          <a:p>
            <a:r>
              <a:t>来源：补充知识点（依据《中华人民共和国立法法》《中华人民共和国标准化法》的层级规定，原视频未涉及）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a:p/>
          <a:p>
            <a:r>
              <a:t>来源：合并了 1 个原知识点，最佳讲解取自 Laboratory Ergonomics &amp; RSI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a:p/>
          <a:p>
            <a:r>
              <a:t>来源：合并了 1 个原知识点，最佳讲解取自 Laboratory Ergonomics &amp; RSI 04（详见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a:p/>
          <a:p>
            <a:r>
              <a:t>来源：补充知识点（依据《中华人民共和国危险化学品安全法》《危险化学品安全管理条例》等，原视频未涉及）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a:p/>
          <a:p>
            <a:r>
              <a:t>来源：补充知识点（依据《中华人民共和国生物安全法》《病原微生物实验室生物安全管理条例》等，原视频未涉及）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a:p/>
          <a:p>
            <a:r>
              <a:t>来源：补充知识点（依据《中华人民共和国放射性污染防治法》《中华人民共和国特种设备安全法》《中华人民共和国固体废物污染环境防治法》等，原视频未涉及）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a:p/>
          <a:p>
            <a:r>
              <a:t>来源：合并了 2 个原知识点，最佳讲解取自 Lab Safety Training - Essential Protocols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a:p/>
          <a:p>
            <a:r>
              <a:t>来源：合并了 1 个原知识点，最佳讲解取自 Laboratory Ergonomics &amp; RSI 32（详见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《高等学校实验室安全规范》由教育部办公厅于 2023 年印发（教科信厅函〔2023〕5 号），是针对高校实验室安全工作的专门规范性文件。它以安全生产、消防、危险化学品、生物安全、辐射安全等法律法规为基础，结合高校实验室人员流动大、学科门类多、危险源分散等特点，对高校实验室安全管理提出系统要求。</a:t>
            </a:r>
          </a:p>
          <a:p>
            <a:r>
              <a:t>规范适用于高校开展教学、科研活动的各类实验室（含实验场所）。各高校依据规范制定或修订本校的实验室安全管理办法、准入、检查、应急等制度，学院和实验室再细化为具体规程。学生日常遵守的本校制度，背后就是规范和上位法的要求。</a:t>
            </a:r>
          </a:p>
          <a:p>
            <a:r>
              <a:t>规范的具体条文以现行文本为准；本课介绍其主要内容，各项要求在后续各章中展开。</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须接受安全教育培训并考核合格；四是风险管控与隐患排查，对实验项目和危险源进行风险评估、分级管控，开展安全检查并对隐患闭环整改；五是应急管理，制定应急预案、配备应急设施并开展演练；六是条件保障，学校在经费、人员、设施等方面予以保障。</a:t>
            </a:r>
          </a:p>
          <a:p>
            <a:r>
              <a:t>此外，规范对危险化学品、病原微生物、放射性物质和射线装置、机电设备、特种设备、激光、废弃物等各类危险源的管理分别提出要求。这些要求就是本课程第 3 章至第 14 章的主要内容。</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分级。</a:t>
            </a:r>
          </a:p>
          <a:p>
            <a:r>
              <a:t>很多高校将实验室按风险由高到低分为若干级，并用红、橙、黄、蓝等颜色在信息牌上标识。级别越高，管控要求越严：准入培训更严格、进出需授权登记、检查频次更高、对危险源的数量和存放条件要求更严。低风险实验室也要管理，只是要求相对简单。</a:t>
            </a:r>
          </a:p>
          <a:p>
            <a:r>
              <a:t>分级的具体标准、级数和颜色以本校规定为准。实验内容、危险源发生变化时，实验室的级别和信息牌也要相应调整。</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a:p>
            <a:r>
              <a:t>因此，判断管理要求不能只看“清单上有什么物质”，而要看实际在做什么：用量多少、是否加热加压、是否产生气溶胶或蒸气、在什么场所、由谁操作。这也是第 2 章风险评估要解决的问题。</a:t>
            </a:r>
          </a:p>
          <a:p>
            <a:r>
              <a:t>当用量增加、操作条件改变或换到新场所时，要重新评估风险并相应调整措施。</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主要的安全操作规程和应急处置流程。</a:t>
            </a:r>
          </a:p>
          <a:p>
            <a:r>
              <a:t>信息牌的作用之一，是让不熟悉实验室的人——新同学、访客、维修人员，尤其是火灾或事故时赶来的救援人员——在进门之前就知道里面有什么危险、该采取什么防护、该联系谁。</a:t>
            </a:r>
          </a:p>
          <a:p>
            <a:r>
              <a:t>信息牌必须准确、及时：新进了危险化学品或开展新的危险性实验，要对照化学品安全技术说明书（SDS）更新危险类别和防护要求；责任人、电话变更要立即更换。信息过期或不全的信息牌，等于没有挂。</a:t>
            </a:r>
          </a:p>
          <a:p/>
          <a:p>
            <a:r>
              <a:t>来源：合并了 1 个原知识点，最佳讲解取自 Microbiology Biosafety 23（详见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很多高校要求进入实验室的人员签订安全承诺书（或安全责任书），承诺遵守学校和实验室的安全制度、规范操作、及时报告隐患。签字是一种郑重的承诺，也意味着本人知晓并愿意承担相应责任。</a:t>
            </a:r>
          </a:p>
          <a:p>
            <a:r>
              <a:t>但承诺的意义在于落实到每天的行动：进门时按要求穿好实验服、戴好防护用品，查看仪器使用记录和交接信息；实验中遵守规程；离开前检查并关闭水、电、气，关好门窗，按本实验室的离室检查清单逐项确认。</a:t>
            </a:r>
          </a:p>
          <a:p/>
          <a:p>
            <a:r>
              <a:t>来源：合并了 1 个原知识点，最佳讲解取自 Laboratory Ergonomics &amp; RSI 34（详见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教育部组织制定的高校实验室安全检查项目表，把规范和相关法规的要求细化为一条条可检查的条目，是学校、学院、实验室自查和上级部门检查的依据。</a:t>
            </a:r>
          </a:p>
          <a:p>
            <a:r>
              <a:t>项目表大体可分为两部分（具体类别和条目以教育部发布的现行版本为准）：管理类，包括责任体系、规章制度、安全宣传教育与培训、安全检查等；现场类，包括实验场所、安全设施、基础安全，以及化学、生物、辐射、机电、特种设备和常规冷热设备等专项安全。</a:t>
            </a:r>
          </a:p>
          <a:p>
            <a:r>
              <a:t>检查中问题较集中的往往是：危险化学品的存放和台账、气瓶的固定和管理、消防器材和疏散通道、用电线路和插座、废弃物的收集存放、个人防护等。平时对照项目表逐项自查，是发现问题、避免“临检突击”的最有效办法。</a:t>
            </a:r>
          </a:p>
          <a:p/>
          <a:p>
            <a:r>
              <a:t>来源：补充知识点（依据教育部高校实验室安全检查项目表，原视频未涉及）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高校实验室安全检查分层开展：学校层面组织定期和专项检查，学院（二级单位）开展定期巡查，实验室负责人和安全员组织日常自查。教育部等上级部门也会按检查项目表对高校进行检查或抽查。</a:t>
            </a:r>
          </a:p>
          <a:p>
            <a:r>
              <a:t>检查的目的是发现和消除隐患，而不是“过关”。把杂物塞进柜子、临时补记录的突击做法，既掩盖了问题，也可能制造新的隐患（如堵塞柜内通风、混放不相容物质）。真正有效的迎检准备就是平时按规范做到位。</a:t>
            </a:r>
          </a:p>
          <a:p>
            <a:r>
              <a:t>检查发现的问题要登记、整改并复查；存在重大隐患的，要立即停止相关实验或停用相关设备，整改合格后才能恢复。日常自查、隐患分级和整改闭环的具体方法在第 5 课讲解。</a:t>
            </a:r>
          </a:p>
          <a:p/>
          <a:p>
            <a:r>
              <a:t>来源：合并了 1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答案：A。解析：规范由教育部办公厅于 2023 年印发，文号为教科信厅函〔2023〕5 号。</a:t>
            </a:r>
          </a:p>
          <a:p>
            <a:r>
              <a:t>第 2 题 答案：B。解析：风险取决于用量、操作方式和场所，管理要求按实际在做的工作来定。</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答案：D。解析：信息牌写明危险类别、安全责任人、防护要求和应急电话等，供进入人员和救援人员识别。</a:t>
            </a:r>
          </a:p>
          <a:p>
            <a:r>
              <a:t>第 4 题 答案：B。解析：突击藏匿会掩盖问题并可能造成混放等新隐患，迎检应靠平时做到位。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答案：关水、关电、关气，关好门窗，按本实验室离室检查清单逐项确认。解析：安全承诺要落实到每天的行动。</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高校实验室安全规范与检查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56 镜）　适用对象：全体进入高校实验室的本科生、研究生、新进教职工和博士后（必修）；实验室负责人、安全员可作为迎检准备参考</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能说出《高等学校实验室安全规范》的发布单位、适用范围和主要要求。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能说出高校实验室安全检查项目表的大体结构和检查重点。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能理解实验室分类分级管理的含义，判断“同样的物质、不同的操作”为什么管理要求不同。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能做到：看懂并协助更新门口安全信息牌，把安全承诺落实到每天的进出实验室行为中。</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教育部高校实验室安全检查项目表（以教育部当年发布的现行版本为准）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《中华人民共和国安全生产法》（风险分级管控和隐患排查治理，以现行文本为准）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2894-2025（以现行文本为准）《安全色和安全标志》：信息牌上的安全标志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本校实验室安全管理办法、分级分类管理规定（以本校规定为准）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《高等学校实验室安全规范》是什么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教育部办公厅 2023 年印发（教科信厅函〔2023〕5 号）</a:t>
            </a:r>
          </a:p>
          <a:p>
            <a:pPr>
              <a:spcAft>
                <a:spcPts val="1000"/>
              </a:spcAft>
            </a:pPr>
            <a:r>
              <a:rPr sz="2000">
                <a:solidFill>
                  <a:srgbClr val="222B33"/>
                </a:solidFill>
                <a:latin typeface="Microsoft YaHei"/>
              </a:rPr>
              <a:t>▪ 适用于高校各类教学、科研实验室</a:t>
            </a:r>
          </a:p>
          <a:p>
            <a:pPr>
              <a:spcAft>
                <a:spcPts val="1000"/>
              </a:spcAft>
            </a:pPr>
            <a:r>
              <a:rPr sz="2000">
                <a:solidFill>
                  <a:srgbClr val="222B33"/>
                </a:solidFill>
                <a:latin typeface="Microsoft YaHei"/>
              </a:rPr>
              <a:t>▪ 把法律法规要求落到高校日常管理</a:t>
            </a:r>
          </a:p>
          <a:p>
            <a:pPr>
              <a:spcAft>
                <a:spcPts val="1000"/>
              </a:spcAft>
            </a:pPr>
            <a:r>
              <a:rPr sz="2000">
                <a:solidFill>
                  <a:srgbClr val="222B33"/>
                </a:solidFill>
                <a:latin typeface="Microsoft YaHei"/>
              </a:rPr>
              <a:t>▪ 学校据此制定本校制度，以现行文本为准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《高等学校实验室安全规范》由教育部办公厅于 2023 年印发（教科信厅函〔2023〕5 号），是针对高校实验室安全工作的专门规范性文件。它以安全生产、消防、危险化学品、生物安全、辐射安全等法律法规为基础，结合高校实验……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认为规范只是管理部门的文件，与学生无关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规范的主要要求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建立责任体系，制定管理制度和操作规程</a:t>
            </a:r>
          </a:p>
          <a:p>
            <a:pPr>
              <a:spcAft>
                <a:spcPts val="1000"/>
              </a:spcAft>
            </a:pPr>
            <a:r>
              <a:rPr sz="1700">
                <a:solidFill>
                  <a:srgbClr val="222B33"/>
                </a:solidFill>
                <a:latin typeface="Microsoft YaHei"/>
              </a:rPr>
              <a:t>▪ 开展安全教育培训，考核合格才准入</a:t>
            </a:r>
          </a:p>
          <a:p>
            <a:pPr>
              <a:spcAft>
                <a:spcPts val="1000"/>
              </a:spcAft>
            </a:pPr>
            <a:r>
              <a:rPr sz="1700">
                <a:solidFill>
                  <a:srgbClr val="222B33"/>
                </a:solidFill>
                <a:latin typeface="Microsoft YaHei"/>
              </a:rPr>
              <a:t>▪ 风险评估、分级管控，排查治理隐患</a:t>
            </a:r>
          </a:p>
          <a:p>
            <a:pPr>
              <a:spcAft>
                <a:spcPts val="1000"/>
              </a:spcAft>
            </a:pPr>
            <a:r>
              <a:rPr sz="1700">
                <a:solidFill>
                  <a:srgbClr val="222B33"/>
                </a:solidFill>
                <a:latin typeface="Microsoft YaHei"/>
              </a:rPr>
              <a:t>▪ 应急管理、安全设施和条件保障</a:t>
            </a:r>
          </a:p>
          <a:p>
            <a:pPr>
              <a:spcAft>
                <a:spcPts val="1000"/>
              </a:spcAft>
            </a:pPr>
            <a:r>
              <a:rPr sz="1700">
                <a:solidFill>
                  <a:srgbClr val="222B33"/>
                </a:solidFill>
                <a:latin typeface="Microsoft YaHei"/>
              </a:rPr>
              <a:t>▪ 对化学、生物、辐射、机电等危险源分类管理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把规范理解为“只管化学实验室”</a:t>
            </a:r>
          </a:p>
          <a:p>
            <a:pPr>
              <a:spcAft>
                <a:spcPts val="1000"/>
              </a:spcAft>
            </a:pPr>
            <a:r>
              <a:rPr sz="1500">
                <a:solidFill>
                  <a:srgbClr val="222B33"/>
                </a:solidFill>
                <a:latin typeface="Microsoft YaHei"/>
              </a:rPr>
              <a:t>▪ 只关注设施配备，忽视制度、培训和应急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按危险源分类分级管理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先按危险源分类：化学、生物、辐射、机电等</a:t>
            </a:r>
          </a:p>
          <a:p>
            <a:pPr>
              <a:spcAft>
                <a:spcPts val="1000"/>
              </a:spcAft>
            </a:pPr>
            <a:r>
              <a:rPr sz="2000">
                <a:solidFill>
                  <a:srgbClr val="222B33"/>
                </a:solidFill>
                <a:latin typeface="Microsoft YaHei"/>
              </a:rPr>
              <a:t>▪ 再按风险高低分级，危险越高管控越严</a:t>
            </a:r>
          </a:p>
          <a:p>
            <a:pPr>
              <a:spcAft>
                <a:spcPts val="1000"/>
              </a:spcAft>
            </a:pPr>
            <a:r>
              <a:rPr sz="2000">
                <a:solidFill>
                  <a:srgbClr val="222B33"/>
                </a:solidFill>
                <a:latin typeface="Microsoft YaHei"/>
              </a:rPr>
              <a:t>▪ 高风险实验室准入更严、检查更勤</a:t>
            </a:r>
          </a:p>
          <a:p>
            <a:pPr>
              <a:spcAft>
                <a:spcPts val="1000"/>
              </a:spcAft>
            </a:pPr>
            <a:r>
              <a:rPr sz="2000">
                <a:solidFill>
                  <a:srgbClr val="222B33"/>
                </a:solidFill>
                <a:latin typeface="Microsoft YaHei"/>
              </a:rPr>
              <a:t>▪ 分级标准和标识颜色以本校规定为准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认为低级别实验室“不用管”</a:t>
            </a:r>
          </a:p>
          <a:p>
            <a:pPr>
              <a:spcAft>
                <a:spcPts val="1000"/>
              </a:spcAft>
            </a:pPr>
            <a:r>
              <a:rPr sz="1500">
                <a:solidFill>
                  <a:srgbClr val="222B33"/>
                </a:solidFill>
                <a:latin typeface="Microsoft YaHei"/>
              </a:rPr>
              <a:t>▪ 实验内容已变化，实验室分级和信息牌仍不更新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同样的化学品，不同的管法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风险不只取决于用什么，还取决于怎么用</a:t>
            </a:r>
          </a:p>
          <a:p>
            <a:pPr>
              <a:spcAft>
                <a:spcPts val="1000"/>
              </a:spcAft>
            </a:pPr>
            <a:r>
              <a:rPr sz="2000">
                <a:solidFill>
                  <a:srgbClr val="222B33"/>
                </a:solidFill>
                <a:latin typeface="Microsoft YaHei"/>
              </a:rPr>
              <a:t>▪ 用量、操作方式、场所不同，风险不同</a:t>
            </a:r>
          </a:p>
          <a:p>
            <a:pPr>
              <a:spcAft>
                <a:spcPts val="1000"/>
              </a:spcAft>
            </a:pPr>
            <a:r>
              <a:rPr sz="2000">
                <a:solidFill>
                  <a:srgbClr val="222B33"/>
                </a:solidFill>
                <a:latin typeface="Microsoft YaHei"/>
              </a:rPr>
              <a:t>▪ 管理要求按实际在做的工作来定</a:t>
            </a:r>
          </a:p>
          <a:p>
            <a:pPr>
              <a:spcAft>
                <a:spcPts val="1000"/>
              </a:spcAft>
            </a:pPr>
            <a:r>
              <a:rPr sz="2000">
                <a:solidFill>
                  <a:srgbClr val="222B33"/>
                </a:solidFill>
                <a:latin typeface="Microsoft YaHei"/>
              </a:rPr>
              <a:t>▪ 改变操作方式时要重新评估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照搬别的实验室的防护要求，不看自己的实际操作</a:t>
            </a:r>
          </a:p>
          <a:p>
            <a:pPr>
              <a:spcAft>
                <a:spcPts val="1000"/>
              </a:spcAft>
            </a:pPr>
            <a:r>
              <a:rPr sz="1500">
                <a:solidFill>
                  <a:srgbClr val="222B33"/>
                </a:solidFill>
                <a:latin typeface="Microsoft YaHei"/>
              </a:rPr>
              <a:t>▪ 实验放大后仍沿用小量实验的防护措施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门口信息牌写明主要危险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实验室门口要张贴安全信息牌</a:t>
            </a:r>
          </a:p>
          <a:p>
            <a:pPr>
              <a:spcAft>
                <a:spcPts val="1000"/>
              </a:spcAft>
            </a:pPr>
            <a:r>
              <a:rPr sz="2000">
                <a:solidFill>
                  <a:srgbClr val="222B33"/>
                </a:solidFill>
                <a:latin typeface="Microsoft YaHei"/>
              </a:rPr>
              <a:t>▪ 写明危险类别、安全责任人、防护要求、应急电话</a:t>
            </a:r>
          </a:p>
          <a:p>
            <a:pPr>
              <a:spcAft>
                <a:spcPts val="1000"/>
              </a:spcAft>
            </a:pPr>
            <a:r>
              <a:rPr sz="2000">
                <a:solidFill>
                  <a:srgbClr val="222B33"/>
                </a:solidFill>
                <a:latin typeface="Microsoft YaHei"/>
              </a:rPr>
              <a:t>▪ 新进危化品要对照 SDS 及时更新</a:t>
            </a:r>
          </a:p>
          <a:p>
            <a:pPr>
              <a:spcAft>
                <a:spcPts val="1000"/>
              </a:spcAft>
            </a:pPr>
            <a:r>
              <a:rPr sz="2000">
                <a:solidFill>
                  <a:srgbClr val="222B33"/>
                </a:solidFill>
                <a:latin typeface="Microsoft YaHei"/>
              </a:rPr>
              <a:t>▪ 让救援人员进门前一看就懂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信息牌多年不更新，责任人、电话已失效</a:t>
            </a:r>
          </a:p>
          <a:p>
            <a:pPr>
              <a:spcAft>
                <a:spcPts val="1000"/>
              </a:spcAft>
            </a:pPr>
            <a:r>
              <a:rPr sz="1500">
                <a:solidFill>
                  <a:srgbClr val="222B33"/>
                </a:solidFill>
                <a:latin typeface="Microsoft YaHei"/>
              </a:rPr>
              <a:t>▪ 新增危化品或危险实验后不更新危险类别</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安全承诺要落到行动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进入实验室前签订安全承诺书</a:t>
            </a:r>
          </a:p>
          <a:p>
            <a:pPr>
              <a:spcAft>
                <a:spcPts val="1000"/>
              </a:spcAft>
            </a:pPr>
            <a:r>
              <a:rPr sz="2000">
                <a:solidFill>
                  <a:srgbClr val="222B33"/>
                </a:solidFill>
                <a:latin typeface="Microsoft YaHei"/>
              </a:rPr>
              <a:t>▪ 签了不等于做了，不能签完就算</a:t>
            </a:r>
          </a:p>
          <a:p>
            <a:pPr>
              <a:spcAft>
                <a:spcPts val="1000"/>
              </a:spcAft>
            </a:pPr>
            <a:r>
              <a:rPr sz="2000">
                <a:solidFill>
                  <a:srgbClr val="222B33"/>
                </a:solidFill>
                <a:latin typeface="Microsoft YaHei"/>
              </a:rPr>
              <a:t>▪ 每天进门穿好防护、查看记录</a:t>
            </a:r>
          </a:p>
          <a:p>
            <a:pPr>
              <a:spcAft>
                <a:spcPts val="1000"/>
              </a:spcAft>
            </a:pPr>
            <a:r>
              <a:rPr sz="2000">
                <a:solidFill>
                  <a:srgbClr val="222B33"/>
                </a:solidFill>
                <a:latin typeface="Microsoft YaHei"/>
              </a:rPr>
              <a:t>▪ 离开前关水、关电、关气、关门窗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很多高校要求进入实验室的人员签订安全承诺书（或安全责任书），承诺遵守学校和实验室的安全制度、规范操作、及时报告隐患。签字是一种郑重的承诺，也意味着本人知晓并愿意承担相应责任。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签完承诺书就忘，实际行为不变</a:t>
            </a:r>
          </a:p>
          <a:p>
            <a:pPr>
              <a:spcAft>
                <a:spcPts val="1000"/>
              </a:spcAft>
            </a:pPr>
            <a:r>
              <a:rPr sz="1500">
                <a:solidFill>
                  <a:srgbClr val="222B33"/>
                </a:solidFill>
                <a:latin typeface="Microsoft YaHei"/>
              </a:rPr>
              <a:t>▪ 最后离开的人不做关水关电检查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检查项目表的结构与重点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检查项目表是校内自查和上级检查的依据</a:t>
            </a:r>
          </a:p>
          <a:p>
            <a:pPr>
              <a:spcAft>
                <a:spcPts val="1000"/>
              </a:spcAft>
            </a:pPr>
            <a:r>
              <a:rPr sz="2000">
                <a:solidFill>
                  <a:srgbClr val="222B33"/>
                </a:solidFill>
                <a:latin typeface="Microsoft YaHei"/>
              </a:rPr>
              <a:t>▪ 大体分为管理类和现场类两部分</a:t>
            </a:r>
          </a:p>
          <a:p>
            <a:pPr>
              <a:spcAft>
                <a:spcPts val="1000"/>
              </a:spcAft>
            </a:pPr>
            <a:r>
              <a:rPr sz="2000">
                <a:solidFill>
                  <a:srgbClr val="222B33"/>
                </a:solidFill>
                <a:latin typeface="Microsoft YaHei"/>
              </a:rPr>
              <a:t>▪ 现场重点：危化品、气瓶、消防、用电等</a:t>
            </a:r>
          </a:p>
          <a:p>
            <a:pPr>
              <a:spcAft>
                <a:spcPts val="1000"/>
              </a:spcAft>
            </a:pPr>
            <a:r>
              <a:rPr sz="2000">
                <a:solidFill>
                  <a:srgbClr val="222B33"/>
                </a:solidFill>
                <a:latin typeface="Microsoft YaHei"/>
              </a:rPr>
              <a:t>▪ 项目表会更新，以现行版本为准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教育部组织制定的高校实验室安全检查项目表，把规范和相关法规的要求细化为一条条可检查的条目，是学校、学院、实验室自查和上级部门检查的依据。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只在检查前才翻看项目表</a:t>
            </a:r>
          </a:p>
          <a:p>
            <a:pPr>
              <a:spcAft>
                <a:spcPts val="1000"/>
              </a:spcAft>
            </a:pPr>
            <a:r>
              <a:rPr sz="1500">
                <a:solidFill>
                  <a:srgbClr val="222B33"/>
                </a:solidFill>
                <a:latin typeface="Microsoft YaHei"/>
              </a:rPr>
              <a:t>▪ 使用过时版本的检查表自查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校院室定期检查与上级检查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学校、学院、实验室分层开展定期检查</a:t>
            </a:r>
          </a:p>
          <a:p>
            <a:pPr>
              <a:spcAft>
                <a:spcPts val="1000"/>
              </a:spcAft>
            </a:pPr>
            <a:r>
              <a:rPr sz="2000">
                <a:solidFill>
                  <a:srgbClr val="222B33"/>
                </a:solidFill>
                <a:latin typeface="Microsoft YaHei"/>
              </a:rPr>
              <a:t>▪ 上级部门按检查项目表开展检查</a:t>
            </a:r>
          </a:p>
          <a:p>
            <a:pPr>
              <a:spcAft>
                <a:spcPts val="1000"/>
              </a:spcAft>
            </a:pPr>
            <a:r>
              <a:rPr sz="2000">
                <a:solidFill>
                  <a:srgbClr val="222B33"/>
                </a:solidFill>
                <a:latin typeface="Microsoft YaHei"/>
              </a:rPr>
              <a:t>▪ 迎检不靠突击，靠平时做到位</a:t>
            </a:r>
          </a:p>
          <a:p>
            <a:pPr>
              <a:spcAft>
                <a:spcPts val="1000"/>
              </a:spcAft>
            </a:pPr>
            <a:r>
              <a:rPr sz="2000">
                <a:solidFill>
                  <a:srgbClr val="222B33"/>
                </a:solidFill>
                <a:latin typeface="Microsoft YaHei"/>
              </a:rPr>
              <a:t>▪ 查出问题要整改、复查；重大隐患立即停用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高校实验室安全检查分层开展：学校层面组织定期和专项检查，学院（二级单位）开展定期巡查，实验室负责人和安全员组织日常自查。教育部等上级部门也会按检查项目表对高校进行检查或抽查。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检查前突击藏匿杂物、补记录</a:t>
            </a:r>
          </a:p>
          <a:p>
            <a:pPr>
              <a:spcAft>
                <a:spcPts val="1000"/>
              </a:spcAft>
            </a:pPr>
            <a:r>
              <a:rPr sz="1500">
                <a:solidFill>
                  <a:srgbClr val="222B33"/>
                </a:solidFill>
                <a:latin typeface="Microsoft YaHei"/>
              </a:rPr>
              <a:t>▪ 查出问题后只做表面整改，不复查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《高等学校实验室安全规范》的文号是：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教科信厅函〔2023〕5 号</a:t>
            </a:r>
          </a:p>
          <a:p>
            <a:pPr algn="l"/>
            <a:r>
              <a:rPr sz="1500" b="0">
                <a:solidFill>
                  <a:srgbClr val="222B33"/>
                </a:solidFill>
                <a:latin typeface="Microsoft YaHei"/>
              </a:rPr>
              <a:t>B. 国务院令第 591 号</a:t>
            </a:r>
          </a:p>
          <a:p>
            <a:pPr algn="l"/>
            <a:r>
              <a:rPr sz="1500" b="0">
                <a:solidFill>
                  <a:srgbClr val="222B33"/>
                </a:solidFill>
                <a:latin typeface="Microsoft YaHei"/>
              </a:rPr>
              <a:t>C. GB 19489-2008</a:t>
            </a:r>
          </a:p>
          <a:p>
            <a:pPr algn="l"/>
            <a:r>
              <a:rPr sz="1500" b="0">
                <a:solidFill>
                  <a:srgbClr val="222B33"/>
                </a:solidFill>
                <a:latin typeface="Microsoft YaHei"/>
              </a:rPr>
              <a:t>D. 主席令第六十四号</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隔壁两间实验室用同一种化学品，一间只取几滴，一间大量加热回流。关于管理要求，正确的是：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两间完全一样</a:t>
            </a:r>
          </a:p>
          <a:p>
            <a:pPr algn="l"/>
            <a:r>
              <a:rPr sz="1500" b="0">
                <a:solidFill>
                  <a:srgbClr val="222B33"/>
                </a:solidFill>
                <a:latin typeface="Microsoft YaHei"/>
              </a:rPr>
              <a:t>B. 按实际操作的风险分别确定，加热回流的一间要求更严</a:t>
            </a:r>
          </a:p>
          <a:p>
            <a:pPr algn="l"/>
            <a:r>
              <a:rPr sz="1500" b="0">
                <a:solidFill>
                  <a:srgbClr val="222B33"/>
                </a:solidFill>
                <a:latin typeface="Microsoft YaHei"/>
              </a:rPr>
              <a:t>C. 只看化学品清单</a:t>
            </a:r>
          </a:p>
          <a:p>
            <a:pPr algn="l"/>
            <a:r>
              <a:rPr sz="1500" b="0">
                <a:solidFill>
                  <a:srgbClr val="222B33"/>
                </a:solidFill>
                <a:latin typeface="Microsoft YaHei"/>
              </a:rPr>
              <a:t>D. 取几滴的一间可以不管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实验室门口安全信息牌一般不需要包括的是：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主要危险类别和警示标志</a:t>
            </a:r>
          </a:p>
          <a:p>
            <a:pPr algn="l"/>
            <a:r>
              <a:rPr sz="1500" b="0">
                <a:solidFill>
                  <a:srgbClr val="222B33"/>
                </a:solidFill>
                <a:latin typeface="Microsoft YaHei"/>
              </a:rPr>
              <a:t>B. 安全责任人</a:t>
            </a:r>
          </a:p>
          <a:p>
            <a:pPr algn="l"/>
            <a:r>
              <a:rPr sz="1500" b="0">
                <a:solidFill>
                  <a:srgbClr val="222B33"/>
                </a:solidFill>
                <a:latin typeface="Microsoft YaHei"/>
              </a:rPr>
              <a:t>C. 应急联系电话</a:t>
            </a:r>
          </a:p>
          <a:p>
            <a:pPr algn="l"/>
            <a:r>
              <a:rPr sz="1500" b="0">
                <a:solidFill>
                  <a:srgbClr val="222B33"/>
                </a:solidFill>
                <a:latin typeface="Microsoft YaHei"/>
              </a:rPr>
              <a:t>D. 实验室成员的考试成绩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判断：为了顺利通过检查，可以在检查前把杂物临时塞进柜子。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简答：签了安全承诺书后，每天离开实验室前要做哪些检查？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《高等学校实验室安全规范》是什么</a:t>
            </a:r>
          </a:p>
          <a:p>
            <a:pPr>
              <a:spcAft>
                <a:spcPts val="800"/>
              </a:spcAft>
            </a:pPr>
            <a:r>
              <a:rPr sz="1800">
                <a:solidFill>
                  <a:srgbClr val="FFFFFF"/>
                </a:solidFill>
                <a:latin typeface="Microsoft YaHei"/>
              </a:rPr>
              <a:t>▪ S2  规范的主要要求</a:t>
            </a:r>
          </a:p>
          <a:p>
            <a:pPr>
              <a:spcAft>
                <a:spcPts val="800"/>
              </a:spcAft>
            </a:pPr>
            <a:r>
              <a:rPr sz="1800">
                <a:solidFill>
                  <a:srgbClr val="FFFFFF"/>
                </a:solidFill>
                <a:latin typeface="Microsoft YaHei"/>
              </a:rPr>
              <a:t>▪ K1  按危险源分类分级管理</a:t>
            </a:r>
          </a:p>
          <a:p>
            <a:pPr>
              <a:spcAft>
                <a:spcPts val="800"/>
              </a:spcAft>
            </a:pPr>
            <a:r>
              <a:rPr sz="1800">
                <a:solidFill>
                  <a:srgbClr val="FFFFFF"/>
                </a:solidFill>
                <a:latin typeface="Microsoft YaHei"/>
              </a:rPr>
              <a:t>▪ K2  同样的化学品，不同的管法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门口信息牌写明主要危险</a:t>
            </a:r>
          </a:p>
          <a:p>
            <a:pPr>
              <a:spcAft>
                <a:spcPts val="800"/>
              </a:spcAft>
            </a:pPr>
            <a:r>
              <a:rPr sz="1800">
                <a:solidFill>
                  <a:srgbClr val="FFFFFF"/>
                </a:solidFill>
                <a:latin typeface="Microsoft YaHei"/>
              </a:rPr>
              <a:t>▪ K4  安全承诺要落到行动</a:t>
            </a:r>
          </a:p>
          <a:p>
            <a:pPr>
              <a:spcAft>
                <a:spcPts val="800"/>
              </a:spcAft>
            </a:pPr>
            <a:r>
              <a:rPr sz="1800">
                <a:solidFill>
                  <a:srgbClr val="FFFFFF"/>
                </a:solidFill>
                <a:latin typeface="Microsoft YaHei"/>
              </a:rPr>
              <a:t>▪ S3  检查项目表的结构与重点</a:t>
            </a:r>
          </a:p>
          <a:p>
            <a:pPr>
              <a:spcAft>
                <a:spcPts val="800"/>
              </a:spcAft>
            </a:pPr>
            <a:r>
              <a:rPr sz="1800">
                <a:solidFill>
                  <a:srgbClr val="FFFFFF"/>
                </a:solidFill>
                <a:latin typeface="Microsoft YaHei"/>
              </a:rPr>
              <a:t>▪ K5  校院室定期检查与上级检查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