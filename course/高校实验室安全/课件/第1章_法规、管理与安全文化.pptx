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不得上岗作业，高校实验室同样遵循这一原则。</a:t>
            </a:r>
          </a:p>
          <a:p>
            <a:r>
              <a:t>培训的关键是“学会”，而不是“到场”：签到不等于受了培训，培训后必须通过考核证明掌握了要求的内容。培训内容既包括操作规程，也包括应急预案和应急处置方法。</a:t>
            </a:r>
          </a:p>
          <a:p>
            <a:r>
              <a:t>取得准入后，进出实验室要按规定登记，听从实验室负责人和指导教师的安排。新实验开展前还要先做风险评估、确定防护措施（第 2 章讲解）。</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负责人、安全员或带教人讲授本岗位、本课题使用的物质、设备、操作规程、应急设施和应急程序。</a:t>
            </a:r>
          </a:p>
          <a:p>
            <a:r>
              <a:t>三层培训缺一不可：学校和学院的培训打基础，实验室的培训解决“在这间屋子里、做这个实验具体怎么做”。生物安全、辐射、激光等专项培训分别见第 61、93、116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a:p>
            <a:r>
              <a:t>同样，实验室准备引入一种新的危险化学品或开展新的危险性工作时，如果相应的操作规程还没有制定、人员培训还没有完成，就不能使用，也不能先储存这种化学品。</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制危害。</a:t>
            </a:r>
          </a:p>
          <a:p>
            <a:r>
              <a:t>需要培训的不只是做实验的人：安装、维修、维护电气设备的人员，以及在电气设备旁边工作的人员，都要接受相应的培训（电工作业须持证）。负责危险废物管理、承担应急职责的人员还有专门的培训要求，需要什么培训、到哪里参加，要事先向学院或学校问清楚。</a:t>
            </a:r>
          </a:p>
          <a:p>
            <a:r>
              <a:t>没有经过培训就上手操作，是事故和伤害的常见原因。</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正会为止。</a:t>
            </a:r>
          </a:p>
          <a:p>
            <a:r>
              <a:t>培训应当按需设计：先分析不同人员需要什么（新生、老生、教师、维修人员需求不同），据此确定内容和方式；培训后通过考核、实操和日常观察检验效果，并定期再培训。对带教人来说，教别人的过程也是巩固自己的过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一次做某个实验，一定要在老师或带教人指导下进行。</a:t>
            </a:r>
          </a:p>
          <a:p>
            <a:r>
              <a:t>过程中有任何疑问随时提出，不要硬着头皮上。危险性较高的操作（如使用剧毒品、高压、自燃试剂等）不得一个人在实验室进行，要有人在场或按本校规定执行。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进入新实验室，面对新同事、新材料、新流程，既兴奋又有压力。这时最重要的不是马上开始实验，而是学会在这里安全地工作。</a:t>
            </a:r>
          </a:p>
          <a:p>
            <a:r>
              <a:t>第一天应由实验室负责人或安全员带领巡视一圈，逐一指出危险的地方：气瓶在哪里、化学品柜和危险废物暂存点在哪里、哪些设备有特殊危险。然后实地走一遍应急设施：洗眼器、紧急喷淋、灭火器、急救箱、紧急切断开关和安全出口在哪里，怎么最快到达。还要约定出事时如何通知全实验室的人（喊话、警报方式等），以及本室所用物料各自的应急处置方法。</a:t>
            </a:r>
          </a:p>
          <a:p>
            <a:r>
              <a:t>就像熟悉灯开关在哪里一样，第一天就要学会这里的安全规则。看不懂的随时问负责人和安全员。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有序；六是知道出了事怎么应急。最后，听从实验室负责人的安排，遵守规矩，才能天天安全。</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章讲解），以及急救和心肺复苏培训（在训练模型上练习）。这些技能平时用不上，关键时刻却可能挽救生命。</a:t>
            </a:r>
          </a:p>
          <a:p>
            <a:r>
              <a:t>应急技能要定期复习；没有经过培训的人员，在火情面前首先要确保自身安全、及时报警（119）和撤离。</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长时间（如一个假期或更久）没有进行某项操作，熟练度会下降，容易出错。重新开始前，应先复习规程，在他人看护下操作一遍，确认没有问题后再独立进行。</a:t>
            </a:r>
          </a:p>
          <a:p>
            <a:r>
              <a:t>所有人员都要定期复训，有经验的老手也不例外，规程更新时更要及时学习；同时定期参加应急演练，保持应急处置能力。复训周期以本校和本实验室规定为准。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记录。</a:t>
            </a:r>
          </a:p>
          <a:p>
            <a:r>
              <a:t>培训记录要归档保存，并跟踪复训到期时间，及时提醒。好的培训记录能证明人员真正掌握了内容，而不只是签过到。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程和本校规定为准，并可向负责人反映。</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不留下无人认领、无标签的样本和试剂；实验记录、数据和相关资料完整移交；归还钥匙、门禁卡，注销门禁和仪器使用权限。</a:t>
            </a:r>
          </a:p>
          <a:p>
            <a:r>
              <a:t>无主样本和试剂是实验室常见的隐患来源：标签模糊、性质不明，处置困难，甚至可能变质产生危险。离开时办好交接，是对实验室和后来者负责。</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答案：C。解析：通用证书只是第一步，还要本室培训、实操考核和批准；签到不等于培训。</a:t>
            </a:r>
          </a:p>
          <a:p>
            <a:r>
              <a:t>第 2 题 答案：B。解析：先跟做，再在看护下做并当场纠正，考核通过才能独立。</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答案：A。解析：规程改版、换课题、用新设备都要补专项培训，定期复训老手也不例外。</a:t>
            </a:r>
          </a:p>
          <a:p>
            <a:r>
              <a:t>第 4 题 答案：D。解析：不能留下无人认领的样本和试剂，不需要的要按规定处置。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答案：B。解析：第一天最重要的是学会在这里安全地工作。</a:t>
            </a:r>
          </a:p>
          <a:p>
            <a:r>
              <a:t>第 6 题 答案：培训内容、培训人、受训人、日期、考核方式和结果。解析：记录要能证明真正掌握，并跟踪复训到期时间。</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安全培训。</a:t>
            </a:r>
          </a:p>
          <a:p>
            <a:r>
              <a:t>因此接待参观的人（向导）最重要的职责不是讲解得多精彩，而是保护访客的安全：可以展示，但眼睛一直要留意每一位访客的位置和动作。一次参观的人数应与向导能照看的范围相适应，必要时分组进行。</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应急出口和集合点；四是佩戴访客标识，由本实验室人员全程陪同。</a:t>
            </a:r>
          </a:p>
          <a:p>
            <a:r>
              <a:t>访客不得单独在实验室内走动，不得操作仪器设备，不得触碰化学品、样品和废弃物。参观结束后核对人数并登记离开时间。</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访客往往穿着便装甚至凉鞋、短裙前来，身上没有任何防护。接待方应在参观前通知访客着装要求：穿长裤和包住脚面的鞋，长发束起，不戴悬垂饰物。</a:t>
            </a:r>
          </a:p>
          <a:p>
            <a:r>
              <a:t>进门时按实验室风险发放防护用品，至少佩戴护目镜，必要时穿实验服。着装不符合要求的访客，不进入操作区，只在走廊或观察区参观。个人防护的具体要求见第 3 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访客不熟悉现场，容易被通道上的纸箱、线缆、软管绊倒。参观前要把参观路线清理干净，保持通道畅通。</a:t>
            </a:r>
          </a:p>
          <a:p>
            <a:r>
              <a:t>在工程训练中心、大型设备实验室等场所，访客在场时应暂停吊装、搬运重物、装卸板材等作业；起重机械作业要遵守特种设备的有关规定，吊运区下方任何人不得站立和通过（以本校规定为准）。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参观区可以用地面黄色警戒线等方式划定，位置既要能看清设备和演示，又要在设备运动范围、飞溅范围和危险区之外。走到设备前，人人都想凑近看，向导要提前说明“只在线内看”，发现越线及时提醒退回。</a:t>
            </a:r>
          </a:p>
          <a:p>
            <a:r>
              <a:t>激光加工设备、激光实验室等区域设有激光警告标志和隔离措施，访客不得越线进入，只能隔着设备的观察窗或防护屏观看，不靠近机门，不打开防护门。激光的危害和防护见第 9 章。</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很多设备的台面、格栅、导轨边缘锋利，部件可能是热的或会突然移动。访客和非操作人员不要倚靠在设备上，不要把手搭在格栅或台面上，更不能爬上台面。曾有人摔倒在设备台面上，受了很重的伤。</a:t>
            </a:r>
          </a:p>
          <a:p>
            <a:r>
              <a:t>向导在讲解前就要提醒“不靠、不搭、不爬”，并注意儿童和青少年访客的好奇举动。</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实验室和车间里有不少会突然启动或发出巨响的设备：气动台面、储气罐排气、自动门、真空泵、离心机、空压机等。气动上料台的滚珠靠压缩空气顶起，一按按钮就会“砰”的一声升起。</a:t>
            </a:r>
          </a:p>
          <a:p>
            <a:r>
              <a:t>受惊本身也会造成伤害：人被吓到后会本能地后退，撞上货架、设备或其他人，甚至摔倒。背对设备站立、第一次来的人最容易受惊。向导要事先了解现场哪些设备会突然动作，站位时让访客面向设备，替他们留意。</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操作人员和向导在设备动作前，先告诉访客接下来要做什么，指出声音从哪里发出、哪个部位会怎样运动，然后再操作。访客心里有准备，就不会突然受惊后退。</a:t>
            </a:r>
          </a:p>
          <a:p>
            <a:r>
              <a:t>这一做法同样适用于实验室内部：在他人身边开启设备、移动物品、开关柜门前，先说一声。</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访客喜欢拍照、拍视频留念，这可以在规定范围内进行：只在参观区内拍摄，不为了取景越线，不挤到操作人员身边，不使用闪光灯干扰操作。</a:t>
            </a:r>
          </a:p>
          <a:p>
            <a:r>
              <a:t>涉及危险化学品储存、病原微生物、放射源、重要科研数据和未公开成果的区域，以及标明禁止拍摄的地方，一律不拍；拍摄的内容不得暴露安保设施的位置和薄弱环节（以本校规定为准）。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人员陪同。</a:t>
            </a:r>
          </a:p>
          <a:p>
            <a:r>
              <a:t>实验室成员发现走廊或实验室内有身份不明的陌生人，应礼貌询问来意；无法确认时不要放行，及时报告实验室负责人或学校保卫处。</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访客不熟悉实验室的布局、安全出口和应急集合点。参观前的安全交底就要说明：一旦听到警报或接到撤离指令，跟着向导走，不要自行乱跑，不要返回取物。</a:t>
            </a:r>
          </a:p>
          <a:p>
            <a:r>
              <a:t>发生紧急情况时，向导立即组织访客沿疏散通道撤离到集合点，清点人数，确认无人遗漏，并向现场负责人报告；如有人员不明下落，告知消防救援人员，不要自行返回寻找。报火警拨打 119，急救拨打 120。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勤维修、设备厂家工程师、保洁人员等进入实验室区域作业时，往往并不了解实验室里有哪些危险。实验室要主动告知：作业点附近有哪些化学品、气体、生物材料、带电设备，哪些东西不能碰，出了意外怎么办。</a:t>
            </a:r>
          </a:p>
          <a:p>
            <a:r>
              <a:t>同时，外来作业人员也应主动询问作业部位（如通风管道、排水管、配电箱）可能残留的危险物质。双方都把信息讲清楚，才能避免伤害。</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污（涉及生物材料的先消毒），标明仍有危险的部位。</a:t>
            </a:r>
          </a:p>
          <a:p>
            <a:r>
              <a:t>作业期间实验室要有人陪同，随时提醒；作业完成后检查现场、恢复设施并登记离开，不让外来人员独自进出实验室。动火、高处、带电等特殊作业要按学校规定另行审批，校园施工承包商管理见第 146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学生社团开展科普展示、竞赛、实践等活动，活动方案（时间、地点、内容、人数、风险和防范措施、应急预案）要先报指导教师和学校有关部门审批，批准后才能举办。</a:t>
            </a:r>
          </a:p>
          <a:p>
            <a:r>
              <a:t>每场活动都要指定安全负责人，负责活动前检查场地、活动中维持秩序、发生意外时组织处置和报告。活动内容有安全风险的，要相应调整或取消。</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a:p>
            <a:r>
              <a:t>活动中不进行明火表演和未经评估的“趣味实验”，不私自携带化学品、气体和生物材料进入实验室；所需材料由实验室按规定提供和管理，活动结束后清理现场、交还实验室。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答案：B。解析：外来人员要登记、批准、交底、全程陪同，不得单独走动和操作设备。</a:t>
            </a:r>
          </a:p>
          <a:p>
            <a:r>
              <a:t>第 2 题 答案：B。解析：激光区不越线，只能隔着观察窗看，不靠近机门、不打开防护门。</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答案：B。解析：先说清楚再动手，访客心里有数就不会受惊后退、碰撞摔倒。</a:t>
            </a:r>
          </a:p>
          <a:p>
            <a:r>
              <a:t>第 4 题 答案：D。解析：作业期间实验室要有人陪同，不让外来人员独自进出。</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答案：B。解析：社团活动先审批、定安全负责人；借用实验室须培训准入、老师在场，不私带化学品。</a:t>
            </a:r>
          </a:p>
          <a:p>
            <a:r>
              <a:t>第 6 题 答案：不倚靠设备，不把手搭在格栅或台面上，不爬上设备台面。解析：设备格栅锋利、部件可能突然移动，摔在台面上会严重受伤。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准入、培训与离岗交接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适用对象：全体进入高校实验室的本科生、研究生、新进教职工和博士后（必修）；导师、带教人和实验室安全员重点学习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能说出“先培训考核、再准入”的要求和学校—学院—实验室三层培训的内容。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能做到：进入新实验室第一天认清危害和应急设施，掌握入门须知六件事。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能判断何时需要补专项培训和复训，并说出培训记录应包括的内容。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能做到：毕业或离开课题组前清点交接样本试剂、移交记录、注销权限。</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《中华人民共和国安全生产法》（以现行文本为准）：未经安全生产教育和培训合格的人员不得上岗作业；培训应当建立档案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教育部高校实验室安全检查项目表（以现行文本为准）：安全教育与准入类检查项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《中华人民共和国职业病防治法》（以现行文本为准）：上岗前和在岗期间的职业卫生培训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日起施行）及《危险化学品安全管理条例》（以现行文本为准）：危险化学品从业人员安全教育培训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本校实验室安全准入、培训考核和人员离校管理规定（以本校规定为准）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进实验室前先接受安全教育，考核合格才准入</a:t>
            </a:r>
          </a:p>
          <a:p>
            <a:pPr>
              <a:spcAft>
                <a:spcPts val="1000"/>
              </a:spcAft>
            </a:pPr>
            <a:r>
              <a:rPr sz="2000">
                <a:solidFill>
                  <a:srgbClr val="222B33"/>
                </a:solidFill>
                <a:latin typeface="Microsoft YaHei"/>
              </a:rPr>
              <a:t>▪ 签了到不等于受了培训</a:t>
            </a:r>
          </a:p>
          <a:p>
            <a:pPr>
              <a:spcAft>
                <a:spcPts val="1000"/>
              </a:spcAft>
            </a:pPr>
            <a:r>
              <a:rPr sz="2000">
                <a:solidFill>
                  <a:srgbClr val="222B33"/>
                </a:solidFill>
                <a:latin typeface="Microsoft YaHei"/>
              </a:rPr>
              <a:t>▪ 签安全承诺书后取得准入资格</a:t>
            </a:r>
          </a:p>
          <a:p>
            <a:pPr>
              <a:spcAft>
                <a:spcPts val="1000"/>
              </a:spcAft>
            </a:pPr>
            <a:r>
              <a:rPr sz="2000">
                <a:solidFill>
                  <a:srgbClr val="222B33"/>
                </a:solidFill>
                <a:latin typeface="Microsoft YaHei"/>
              </a:rPr>
              <a:t>▪ 既学操作规程，也学应急预案；进出登记，听从安排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未取得准入就跟着同学进实验室做实验</a:t>
            </a:r>
          </a:p>
          <a:p>
            <a:pPr>
              <a:spcAft>
                <a:spcPts val="1000"/>
              </a:spcAft>
            </a:pPr>
            <a:r>
              <a:rPr sz="1500">
                <a:solidFill>
                  <a:srgbClr val="222B33"/>
                </a:solidFill>
                <a:latin typeface="Microsoft YaHei"/>
              </a:rPr>
              <a:t>▪ 培训时只签到、不认真学，考核找人代考</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培训分三层：学校、学院、实验室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培训分三层，一层比一层具体</a:t>
            </a:r>
          </a:p>
          <a:p>
            <a:pPr>
              <a:spcAft>
                <a:spcPts val="1000"/>
              </a:spcAft>
            </a:pPr>
            <a:r>
              <a:rPr sz="2000">
                <a:solidFill>
                  <a:srgbClr val="222B33"/>
                </a:solidFill>
                <a:latin typeface="Microsoft YaHei"/>
              </a:rPr>
              <a:t>▪ 学校：通识培训和准入考试</a:t>
            </a:r>
          </a:p>
          <a:p>
            <a:pPr>
              <a:spcAft>
                <a:spcPts val="1000"/>
              </a:spcAft>
            </a:pPr>
            <a:r>
              <a:rPr sz="2000">
                <a:solidFill>
                  <a:srgbClr val="222B33"/>
                </a:solidFill>
                <a:latin typeface="Microsoft YaHei"/>
              </a:rPr>
              <a:t>▪ 学院：按学科开设专项课程</a:t>
            </a:r>
          </a:p>
          <a:p>
            <a:pPr>
              <a:spcAft>
                <a:spcPts val="1000"/>
              </a:spcAft>
            </a:pPr>
            <a:r>
              <a:rPr sz="2000">
                <a:solidFill>
                  <a:srgbClr val="222B33"/>
                </a:solidFill>
                <a:latin typeface="Microsoft YaHei"/>
              </a:rPr>
              <a:t>▪ 实验室：本岗位、本课题的规程和设备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只参加学校通识培训，跳过学院和实验室培训</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证书不等于准入，要结合本实验室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网课证书只是第一步</a:t>
            </a:r>
          </a:p>
          <a:p>
            <a:pPr>
              <a:spcAft>
                <a:spcPts val="1000"/>
              </a:spcAft>
            </a:pPr>
            <a:r>
              <a:rPr sz="2000">
                <a:solidFill>
                  <a:srgbClr val="222B33"/>
                </a:solidFill>
                <a:latin typeface="Microsoft YaHei"/>
              </a:rPr>
              <a:t>▪ 还要本室培训和实操考核，批准后才准入</a:t>
            </a:r>
          </a:p>
          <a:p>
            <a:pPr>
              <a:spcAft>
                <a:spcPts val="1000"/>
              </a:spcAft>
            </a:pPr>
            <a:r>
              <a:rPr sz="2000">
                <a:solidFill>
                  <a:srgbClr val="222B33"/>
                </a:solidFill>
                <a:latin typeface="Microsoft YaHei"/>
              </a:rPr>
              <a:t>▪ 通用证书代替不了现场培训</a:t>
            </a:r>
          </a:p>
          <a:p>
            <a:pPr>
              <a:spcAft>
                <a:spcPts val="1000"/>
              </a:spcAft>
            </a:pPr>
            <a:r>
              <a:rPr sz="2000">
                <a:solidFill>
                  <a:srgbClr val="222B33"/>
                </a:solidFill>
                <a:latin typeface="Microsoft YaHei"/>
              </a:rPr>
              <a:t>▪ 规则没定、培训没做，不能使用和储存该化学品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拿着通用培训证书直接进新实验室工作</a:t>
            </a:r>
          </a:p>
          <a:p>
            <a:pPr>
              <a:spcAft>
                <a:spcPts val="1000"/>
              </a:spcAft>
            </a:pPr>
            <a:r>
              <a:rPr sz="1500">
                <a:solidFill>
                  <a:srgbClr val="222B33"/>
                </a:solidFill>
                <a:latin typeface="Microsoft YaHei"/>
              </a:rPr>
              <a:t>▪ 先把新的危险化学品买回来，再考虑规程和培训</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培训讲清本岗位的危害和防护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讲清本岗位有哪些危害</a:t>
            </a:r>
          </a:p>
          <a:p>
            <a:pPr>
              <a:spcAft>
                <a:spcPts val="1000"/>
              </a:spcAft>
            </a:pPr>
            <a:r>
              <a:rPr sz="2000">
                <a:solidFill>
                  <a:srgbClr val="222B33"/>
                </a:solidFill>
                <a:latin typeface="Microsoft YaHei"/>
              </a:rPr>
              <a:t>▪ 讲清自己该采取哪些防护</a:t>
            </a:r>
          </a:p>
          <a:p>
            <a:pPr>
              <a:spcAft>
                <a:spcPts val="1000"/>
              </a:spcAft>
            </a:pPr>
            <a:r>
              <a:rPr sz="2000">
                <a:solidFill>
                  <a:srgbClr val="222B33"/>
                </a:solidFill>
                <a:latin typeface="Microsoft YaHei"/>
              </a:rPr>
              <a:t>▪ 安装维修或在电气设备旁工作的人也要培训</a:t>
            </a:r>
          </a:p>
          <a:p>
            <a:pPr>
              <a:spcAft>
                <a:spcPts val="1000"/>
              </a:spcAft>
            </a:pPr>
            <a:r>
              <a:rPr sz="2000">
                <a:solidFill>
                  <a:srgbClr val="222B33"/>
                </a:solidFill>
                <a:latin typeface="Microsoft YaHei"/>
              </a:rPr>
              <a:t>▪ 危险废物和应急岗位有专门培训；没培训易出事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培训只讲通用知识，不讲本岗位的具体危害</a:t>
            </a:r>
          </a:p>
          <a:p>
            <a:pPr>
              <a:spcAft>
                <a:spcPts val="1000"/>
              </a:spcAft>
            </a:pPr>
            <a:r>
              <a:rPr sz="1500">
                <a:solidFill>
                  <a:srgbClr val="222B33"/>
                </a:solidFill>
                <a:latin typeface="Microsoft YaHei"/>
              </a:rPr>
              <a:t>▪ 认为维修、保洁等辅助人员不需要培训</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培训要动手、有实效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只在电脑上做题远远不够</a:t>
            </a:r>
          </a:p>
          <a:p>
            <a:pPr>
              <a:spcAft>
                <a:spcPts val="1000"/>
              </a:spcAft>
            </a:pPr>
            <a:r>
              <a:rPr sz="2000">
                <a:solidFill>
                  <a:srgbClr val="222B33"/>
                </a:solidFill>
                <a:latin typeface="Microsoft YaHei"/>
              </a:rPr>
              <a:t>▪ 考试是门槛，现场培训才是真本事</a:t>
            </a:r>
          </a:p>
          <a:p>
            <a:pPr>
              <a:spcAft>
                <a:spcPts val="1000"/>
              </a:spcAft>
            </a:pPr>
            <a:r>
              <a:rPr sz="2000">
                <a:solidFill>
                  <a:srgbClr val="222B33"/>
                </a:solidFill>
                <a:latin typeface="Microsoft YaHei"/>
              </a:rPr>
              <a:t>▪ 好的培训一定要动手练，不懂就问到会</a:t>
            </a:r>
          </a:p>
          <a:p>
            <a:pPr>
              <a:spcAft>
                <a:spcPts val="1000"/>
              </a:spcAft>
            </a:pPr>
            <a:r>
              <a:rPr sz="2000">
                <a:solidFill>
                  <a:srgbClr val="222B33"/>
                </a:solidFill>
                <a:latin typeface="Microsoft YaHei"/>
              </a:rPr>
              <a:t>▪ 按对象设计内容，培训后检验效果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以线上考试代替全部培训</a:t>
            </a:r>
          </a:p>
          <a:p>
            <a:pPr>
              <a:spcAft>
                <a:spcPts val="1000"/>
              </a:spcAft>
            </a:pPr>
            <a:r>
              <a:rPr sz="1500">
                <a:solidFill>
                  <a:srgbClr val="222B33"/>
                </a:solidFill>
                <a:latin typeface="Microsoft YaHei"/>
              </a:rPr>
              <a:t>▪ 培训完不检验效果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跟做、看护下做、考核后独立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新人先跟着老手做</a:t>
            </a:r>
          </a:p>
          <a:p>
            <a:pPr>
              <a:spcAft>
                <a:spcPts val="1000"/>
              </a:spcAft>
            </a:pPr>
            <a:r>
              <a:rPr sz="2000">
                <a:solidFill>
                  <a:srgbClr val="222B33"/>
                </a:solidFill>
                <a:latin typeface="Microsoft YaHei"/>
              </a:rPr>
              <a:t>▪ 再在老手看护下自己做，当场纠正</a:t>
            </a:r>
          </a:p>
          <a:p>
            <a:pPr>
              <a:spcAft>
                <a:spcPts val="1000"/>
              </a:spcAft>
            </a:pPr>
            <a:r>
              <a:rPr sz="2000">
                <a:solidFill>
                  <a:srgbClr val="222B33"/>
                </a:solidFill>
                <a:latin typeface="Microsoft YaHei"/>
              </a:rPr>
              <a:t>▪ 考核通过才能独立操作</a:t>
            </a:r>
          </a:p>
          <a:p>
            <a:pPr>
              <a:spcAft>
                <a:spcPts val="1000"/>
              </a:spcAft>
            </a:pPr>
            <a:r>
              <a:rPr sz="2000">
                <a:solidFill>
                  <a:srgbClr val="222B33"/>
                </a:solidFill>
                <a:latin typeface="Microsoft YaHei"/>
              </a:rPr>
              <a:t>▪ 不懂就问；危险操作不要一个人做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看过一遍就自己上手</a:t>
            </a:r>
          </a:p>
          <a:p>
            <a:pPr>
              <a:spcAft>
                <a:spcPts val="1000"/>
              </a:spcAft>
            </a:pPr>
            <a:r>
              <a:rPr sz="1500">
                <a:solidFill>
                  <a:srgbClr val="222B33"/>
                </a:solidFill>
                <a:latin typeface="Microsoft YaHei"/>
              </a:rPr>
              <a:t>▪ 不懂装懂，怕问被笑话</a:t>
            </a:r>
          </a:p>
          <a:p>
            <a:pPr>
              <a:spcAft>
                <a:spcPts val="1000"/>
              </a:spcAft>
            </a:pPr>
            <a:r>
              <a:rPr sz="1500">
                <a:solidFill>
                  <a:srgbClr val="222B33"/>
                </a:solidFill>
                <a:latin typeface="Microsoft YaHei"/>
              </a:rPr>
              <a:t>▪ 夜间独自进行危险操作</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进新实验室的第一天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第一天面对陌生环境，最重要的是学会安全工作</a:t>
            </a:r>
          </a:p>
          <a:p>
            <a:pPr>
              <a:spcAft>
                <a:spcPts val="1000"/>
              </a:spcAft>
            </a:pPr>
            <a:r>
              <a:rPr sz="2000">
                <a:solidFill>
                  <a:srgbClr val="222B33"/>
                </a:solidFill>
                <a:latin typeface="Microsoft YaHei"/>
              </a:rPr>
              <a:t>▪ 负责人带你转一圈，指出危险源</a:t>
            </a:r>
          </a:p>
          <a:p>
            <a:pPr>
              <a:spcAft>
                <a:spcPts val="1000"/>
              </a:spcAft>
            </a:pPr>
            <a:r>
              <a:rPr sz="2000">
                <a:solidFill>
                  <a:srgbClr val="222B33"/>
                </a:solidFill>
                <a:latin typeface="Microsoft YaHei"/>
              </a:rPr>
              <a:t>▪ 走一遍：洗眼器、喷淋、灭火器、安全出口</a:t>
            </a:r>
          </a:p>
          <a:p>
            <a:pPr>
              <a:spcAft>
                <a:spcPts val="1000"/>
              </a:spcAft>
            </a:pPr>
            <a:r>
              <a:rPr sz="2000">
                <a:solidFill>
                  <a:srgbClr val="222B33"/>
                </a:solidFill>
                <a:latin typeface="Microsoft YaHei"/>
              </a:rPr>
              <a:t>▪ 约定出事时怎么通知全实验室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进入新实验室，面对新同事、新材料、新流程，既兴奋又有压力。这时最重要的不是马上开始实验，而是学会在这里安全地工作。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第一天就急着开始实验，不熟悉环境</a:t>
            </a:r>
          </a:p>
          <a:p>
            <a:pPr>
              <a:spcAft>
                <a:spcPts val="1000"/>
              </a:spcAft>
            </a:pPr>
            <a:r>
              <a:rPr sz="1500">
                <a:solidFill>
                  <a:srgbClr val="222B33"/>
                </a:solidFill>
                <a:latin typeface="Microsoft YaHei"/>
              </a:rPr>
              <a:t>▪ 不知道洗眼器和灭火器的位置</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入门须知六件事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知道用什么，SDS 和手册在哪</a:t>
            </a:r>
          </a:p>
          <a:p>
            <a:pPr>
              <a:spcAft>
                <a:spcPts val="1000"/>
              </a:spcAft>
            </a:pPr>
            <a:r>
              <a:rPr sz="2000">
                <a:solidFill>
                  <a:srgbClr val="222B33"/>
                </a:solidFill>
                <a:latin typeface="Microsoft YaHei"/>
              </a:rPr>
              <a:t>▪ 知道要什么防护、怎么用</a:t>
            </a:r>
          </a:p>
          <a:p>
            <a:pPr>
              <a:spcAft>
                <a:spcPts val="1000"/>
              </a:spcAft>
            </a:pPr>
            <a:r>
              <a:rPr sz="2000">
                <a:solidFill>
                  <a:srgbClr val="222B33"/>
                </a:solidFill>
                <a:latin typeface="Microsoft YaHei"/>
              </a:rPr>
              <a:t>▪ 设备先检查，台面保持整洁</a:t>
            </a:r>
          </a:p>
          <a:p>
            <a:pPr>
              <a:spcAft>
                <a:spcPts val="1000"/>
              </a:spcAft>
            </a:pPr>
            <a:r>
              <a:rPr sz="2000">
                <a:solidFill>
                  <a:srgbClr val="222B33"/>
                </a:solidFill>
                <a:latin typeface="Microsoft YaHei"/>
              </a:rPr>
              <a:t>▪ 出了事知道怎么应急；听负责人的话，守规矩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 SDS 放在哪里</a:t>
            </a:r>
          </a:p>
          <a:p>
            <a:pPr>
              <a:spcAft>
                <a:spcPts val="1000"/>
              </a:spcAft>
            </a:pPr>
            <a:r>
              <a:rPr sz="1500">
                <a:solidFill>
                  <a:srgbClr val="222B33"/>
                </a:solidFill>
                <a:latin typeface="Microsoft YaHei"/>
              </a:rPr>
              <a:t>▪ 设备不检查就开机使用</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应急技能培训：灭火器与急救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参加灭火器使用培训，亲手练过</a:t>
            </a:r>
          </a:p>
          <a:p>
            <a:pPr>
              <a:spcAft>
                <a:spcPts val="1000"/>
              </a:spcAft>
            </a:pPr>
            <a:r>
              <a:rPr sz="2000">
                <a:solidFill>
                  <a:srgbClr val="222B33"/>
                </a:solidFill>
                <a:latin typeface="Microsoft YaHei"/>
              </a:rPr>
              <a:t>▪ 灭火器使用要领：提、拔、握、压</a:t>
            </a:r>
          </a:p>
          <a:p>
            <a:pPr>
              <a:spcAft>
                <a:spcPts val="1000"/>
              </a:spcAft>
            </a:pPr>
            <a:r>
              <a:rPr sz="2000">
                <a:solidFill>
                  <a:srgbClr val="222B33"/>
                </a:solidFill>
                <a:latin typeface="Microsoft YaHei"/>
              </a:rPr>
              <a:t>▪ 参加急救和心肺复苏培训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从未亲手操作过灭火器</a:t>
            </a:r>
          </a:p>
          <a:p>
            <a:pPr>
              <a:spcAft>
                <a:spcPts val="1000"/>
              </a:spcAft>
            </a:pPr>
            <a:r>
              <a:rPr sz="1500">
                <a:solidFill>
                  <a:srgbClr val="222B33"/>
                </a:solidFill>
                <a:latin typeface="Microsoft YaHei"/>
              </a:rPr>
              <a:t>▪ 认为急救是医生的事，自己不必学</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换实验、用新设备，先补专项培训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学过一次，不等于什么都会了</a:t>
            </a:r>
          </a:p>
          <a:p>
            <a:pPr>
              <a:spcAft>
                <a:spcPts val="1000"/>
              </a:spcAft>
            </a:pPr>
            <a:r>
              <a:rPr sz="2000">
                <a:solidFill>
                  <a:srgbClr val="222B33"/>
                </a:solidFill>
                <a:latin typeface="Microsoft YaHei"/>
              </a:rPr>
              <a:t>▪ 换课题、用新设备、规程改版</a:t>
            </a:r>
          </a:p>
          <a:p>
            <a:pPr>
              <a:spcAft>
                <a:spcPts val="1000"/>
              </a:spcAft>
            </a:pPr>
            <a:r>
              <a:rPr sz="2000">
                <a:solidFill>
                  <a:srgbClr val="222B33"/>
                </a:solidFill>
                <a:latin typeface="Microsoft YaHei"/>
              </a:rPr>
              <a:t>▪ 都要先补专项培训，再上手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凭原来的经验直接操作新设备</a:t>
            </a:r>
          </a:p>
          <a:p>
            <a:pPr>
              <a:spcAft>
                <a:spcPts val="1000"/>
              </a:spcAft>
            </a:pPr>
            <a:r>
              <a:rPr sz="1500">
                <a:solidFill>
                  <a:srgbClr val="222B33"/>
                </a:solidFill>
                <a:latin typeface="Microsoft YaHei"/>
              </a:rPr>
              <a:t>▪ 规程改版后仍按旧版操作</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久未操作先复训，定期复训演练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很久没操作，手生了，先复训再确认</a:t>
            </a:r>
          </a:p>
          <a:p>
            <a:pPr>
              <a:spcAft>
                <a:spcPts val="1000"/>
              </a:spcAft>
            </a:pPr>
            <a:r>
              <a:rPr sz="2000">
                <a:solidFill>
                  <a:srgbClr val="222B33"/>
                </a:solidFill>
                <a:latin typeface="Microsoft YaHei"/>
              </a:rPr>
              <a:t>▪ 定期复训，老手也不例外</a:t>
            </a:r>
          </a:p>
          <a:p>
            <a:pPr>
              <a:spcAft>
                <a:spcPts val="1000"/>
              </a:spcAft>
            </a:pPr>
            <a:r>
              <a:rPr sz="2000">
                <a:solidFill>
                  <a:srgbClr val="222B33"/>
                </a:solidFill>
                <a:latin typeface="Microsoft YaHei"/>
              </a:rPr>
              <a:t>▪ 规程更新后更要学</a:t>
            </a:r>
          </a:p>
          <a:p>
            <a:pPr>
              <a:spcAft>
                <a:spcPts val="1000"/>
              </a:spcAft>
            </a:pPr>
            <a:r>
              <a:rPr sz="2000">
                <a:solidFill>
                  <a:srgbClr val="222B33"/>
                </a:solidFill>
                <a:latin typeface="Microsoft YaHei"/>
              </a:rPr>
              <a:t>▪ 定期参加应急演练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长时间（如一个假期或更久）没有进行某项操作，熟练度会下降，容易出错。重新开始前，应先复习规程，在他人看护下操作一遍，确认没有问题后再独立进行。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认为老手不需要复训</a:t>
            </a:r>
          </a:p>
          <a:p>
            <a:pPr>
              <a:spcAft>
                <a:spcPts val="1000"/>
              </a:spcAft>
            </a:pPr>
            <a:r>
              <a:rPr sz="1500">
                <a:solidFill>
                  <a:srgbClr val="222B33"/>
                </a:solidFill>
                <a:latin typeface="Microsoft YaHei"/>
              </a:rPr>
              <a:t>▪ 隔了很久直接上手高风险操作</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培训要有记录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每次培训都要留下记录</a:t>
            </a:r>
          </a:p>
          <a:p>
            <a:pPr>
              <a:spcAft>
                <a:spcPts val="1000"/>
              </a:spcAft>
            </a:pPr>
            <a:r>
              <a:rPr sz="2000">
                <a:solidFill>
                  <a:srgbClr val="222B33"/>
                </a:solidFill>
                <a:latin typeface="Microsoft YaHei"/>
              </a:rPr>
              <a:t>▪ 写清学了什么、谁讲的、考得怎样、日期</a:t>
            </a:r>
          </a:p>
          <a:p>
            <a:pPr>
              <a:spcAft>
                <a:spcPts val="1000"/>
              </a:spcAft>
            </a:pPr>
            <a:r>
              <a:rPr sz="2000">
                <a:solidFill>
                  <a:srgbClr val="222B33"/>
                </a:solidFill>
                <a:latin typeface="Microsoft YaHei"/>
              </a:rPr>
              <a:t>▪ 到期提醒复训，记录归档可查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培训记录只有签名，没有内容和考核结果</a:t>
            </a:r>
          </a:p>
          <a:p>
            <a:pPr>
              <a:spcAft>
                <a:spcPts val="1000"/>
              </a:spcAft>
            </a:pPr>
            <a:r>
              <a:rPr sz="1500">
                <a:solidFill>
                  <a:srgbClr val="222B33"/>
                </a:solidFill>
                <a:latin typeface="Microsoft YaHei"/>
              </a:rPr>
              <a:t>▪ 复训过期无人提醒</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本课程只是基础</a:t>
            </a:r>
          </a:p>
          <a:p>
            <a:pPr>
              <a:spcAft>
                <a:spcPts val="1000"/>
              </a:spcAft>
            </a:pPr>
            <a:r>
              <a:rPr sz="2000">
                <a:solidFill>
                  <a:srgbClr val="222B33"/>
                </a:solidFill>
                <a:latin typeface="Microsoft YaHei"/>
              </a:rPr>
              <a:t>▪ 不能代替本实验室的操作规程</a:t>
            </a:r>
          </a:p>
          <a:p>
            <a:pPr>
              <a:spcAft>
                <a:spcPts val="1000"/>
              </a:spcAft>
            </a:pPr>
            <a:r>
              <a:rPr sz="2000">
                <a:solidFill>
                  <a:srgbClr val="222B33"/>
                </a:solidFill>
                <a:latin typeface="Microsoft YaHei"/>
              </a:rPr>
              <a:t>▪ 具体做法以本实验室规程为准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以课程内容为由不遵守本实验室规程</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离开课题组：清点交接、注销权限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毕业或离开课题组前办理交接</a:t>
            </a:r>
          </a:p>
          <a:p>
            <a:pPr>
              <a:spcAft>
                <a:spcPts val="1000"/>
              </a:spcAft>
            </a:pPr>
            <a:r>
              <a:rPr sz="2000">
                <a:solidFill>
                  <a:srgbClr val="222B33"/>
                </a:solidFill>
                <a:latin typeface="Microsoft YaHei"/>
              </a:rPr>
              <a:t>▪ 样本、试剂逐一清点交接</a:t>
            </a:r>
          </a:p>
          <a:p>
            <a:pPr>
              <a:spcAft>
                <a:spcPts val="1000"/>
              </a:spcAft>
            </a:pPr>
            <a:r>
              <a:rPr sz="2000">
                <a:solidFill>
                  <a:srgbClr val="222B33"/>
                </a:solidFill>
                <a:latin typeface="Microsoft YaHei"/>
              </a:rPr>
              <a:t>▪ 实验记录完整移交</a:t>
            </a:r>
          </a:p>
          <a:p>
            <a:pPr>
              <a:spcAft>
                <a:spcPts val="1000"/>
              </a:spcAft>
            </a:pPr>
            <a:r>
              <a:rPr sz="2000">
                <a:solidFill>
                  <a:srgbClr val="222B33"/>
                </a:solidFill>
                <a:latin typeface="Microsoft YaHei"/>
              </a:rPr>
              <a:t>▪ 门禁和仪器权限及时注销，不留无主样本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离开时把样本和试剂留在冰箱里不交代</a:t>
            </a:r>
          </a:p>
          <a:p>
            <a:pPr>
              <a:spcAft>
                <a:spcPts val="1000"/>
              </a:spcAft>
            </a:pPr>
            <a:r>
              <a:rPr sz="1500">
                <a:solidFill>
                  <a:srgbClr val="222B33"/>
                </a:solidFill>
                <a:latin typeface="Microsoft YaHei"/>
              </a:rPr>
              <a:t>▪ 毕业后门禁权限仍未注销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关于实验室准入，下列说法正确的是：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完成线上课程拿到证书即可进入任何实验室</a:t>
            </a:r>
          </a:p>
          <a:p>
            <a:pPr algn="l"/>
            <a:r>
              <a:rPr sz="1500" b="0">
                <a:solidFill>
                  <a:srgbClr val="222B33"/>
                </a:solidFill>
                <a:latin typeface="Microsoft YaHei"/>
              </a:rPr>
              <a:t>B. 跟着师兄进门就行</a:t>
            </a:r>
          </a:p>
          <a:p>
            <a:pPr algn="l"/>
            <a:r>
              <a:rPr sz="1500" b="0">
                <a:solidFill>
                  <a:srgbClr val="222B33"/>
                </a:solidFill>
                <a:latin typeface="Microsoft YaHei"/>
              </a:rPr>
              <a:t>C. 培训考核合格、签承诺书并经本室培训和批准后才能准入</a:t>
            </a:r>
          </a:p>
          <a:p>
            <a:pPr algn="l"/>
            <a:r>
              <a:rPr sz="1500" b="0">
                <a:solidFill>
                  <a:srgbClr val="222B33"/>
                </a:solidFill>
                <a:latin typeface="Microsoft YaHei"/>
              </a:rPr>
              <a:t>D. 签到即视为完成培训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新人学习一项实验操作，正确的顺序是：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看说明书后独立操作</a:t>
            </a:r>
          </a:p>
          <a:p>
            <a:pPr algn="l"/>
            <a:r>
              <a:rPr sz="1500" b="0">
                <a:solidFill>
                  <a:srgbClr val="222B33"/>
                </a:solidFill>
                <a:latin typeface="Microsoft YaHei"/>
              </a:rPr>
              <a:t>B. 跟着老手做—在看护下自己做—考核通过后独立操作</a:t>
            </a:r>
          </a:p>
          <a:p>
            <a:pPr algn="l"/>
            <a:r>
              <a:rPr sz="1500" b="0">
                <a:solidFill>
                  <a:srgbClr val="222B33"/>
                </a:solidFill>
                <a:latin typeface="Microsoft YaHei"/>
              </a:rPr>
              <a:t>C. 先自己试，出错再问</a:t>
            </a:r>
          </a:p>
          <a:p>
            <a:pPr algn="l"/>
            <a:r>
              <a:rPr sz="1500" b="0">
                <a:solidFill>
                  <a:srgbClr val="222B33"/>
                </a:solidFill>
                <a:latin typeface="Microsoft YaHei"/>
              </a:rPr>
              <a:t>D. 夜间人少时练习</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判断：已经在实验室工作三年的老手，规程改版后也需要参加培训。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毕业离开课题组前，下列哪项做法不正确？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清点并交接样本和试剂</a:t>
            </a:r>
          </a:p>
          <a:p>
            <a:pPr algn="l"/>
            <a:r>
              <a:rPr sz="1500" b="0">
                <a:solidFill>
                  <a:srgbClr val="222B33"/>
                </a:solidFill>
                <a:latin typeface="Microsoft YaHei"/>
              </a:rPr>
              <a:t>B. 移交实验记录</a:t>
            </a:r>
          </a:p>
          <a:p>
            <a:pPr algn="l"/>
            <a:r>
              <a:rPr sz="1500" b="0">
                <a:solidFill>
                  <a:srgbClr val="222B33"/>
                </a:solidFill>
                <a:latin typeface="Microsoft YaHei"/>
              </a:rPr>
              <a:t>C. 注销门禁和仪器权限</a:t>
            </a:r>
          </a:p>
          <a:p>
            <a:pPr algn="l"/>
            <a:r>
              <a:rPr sz="1500" b="0">
                <a:solidFill>
                  <a:srgbClr val="222B33"/>
                </a:solidFill>
                <a:latin typeface="Microsoft YaHei"/>
              </a:rPr>
              <a:t>D. 把不用的样品留在冰箱里，以后有人会处理</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进入新实验室第一天，最先应做的是：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马上开始实验</a:t>
            </a:r>
          </a:p>
          <a:p>
            <a:pPr algn="l"/>
            <a:r>
              <a:rPr sz="1500" b="0">
                <a:solidFill>
                  <a:srgbClr val="222B33"/>
                </a:solidFill>
                <a:latin typeface="Microsoft YaHei"/>
              </a:rPr>
              <a:t>B. 在负责人带领下认清危险源，实地走一遍洗眼器、喷淋、灭火器和安全出口</a:t>
            </a:r>
          </a:p>
          <a:p>
            <a:pPr algn="l"/>
            <a:r>
              <a:rPr sz="1500" b="0">
                <a:solidFill>
                  <a:srgbClr val="222B33"/>
                </a:solidFill>
                <a:latin typeface="Microsoft YaHei"/>
              </a:rPr>
              <a:t>C. 先整理自己的桌面</a:t>
            </a:r>
          </a:p>
          <a:p>
            <a:pPr algn="l"/>
            <a:r>
              <a:rPr sz="1500" b="0">
                <a:solidFill>
                  <a:srgbClr val="222B33"/>
                </a:solidFill>
                <a:latin typeface="Microsoft YaHei"/>
              </a:rPr>
              <a:t>D. 上网查实验方法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简答：一份完整的培训记录应包括哪些内容？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先培训考核，再准入</a:t>
            </a:r>
          </a:p>
          <a:p>
            <a:pPr>
              <a:spcAft>
                <a:spcPts val="800"/>
              </a:spcAft>
            </a:pPr>
            <a:r>
              <a:rPr sz="1500">
                <a:solidFill>
                  <a:srgbClr val="FFFFFF"/>
                </a:solidFill>
                <a:latin typeface="Microsoft YaHei"/>
              </a:rPr>
              <a:t>▪ K2  培训分三层：学校、学院、实验室</a:t>
            </a:r>
          </a:p>
          <a:p>
            <a:pPr>
              <a:spcAft>
                <a:spcPts val="800"/>
              </a:spcAft>
            </a:pPr>
            <a:r>
              <a:rPr sz="1500">
                <a:solidFill>
                  <a:srgbClr val="FFFFFF"/>
                </a:solidFill>
                <a:latin typeface="Microsoft YaHei"/>
              </a:rPr>
              <a:t>▪ K3  证书不等于准入，要结合本实验室</a:t>
            </a:r>
          </a:p>
          <a:p>
            <a:pPr>
              <a:spcAft>
                <a:spcPts val="800"/>
              </a:spcAft>
            </a:pPr>
            <a:r>
              <a:rPr sz="1500">
                <a:solidFill>
                  <a:srgbClr val="FFFFFF"/>
                </a:solidFill>
                <a:latin typeface="Microsoft YaHei"/>
              </a:rPr>
              <a:t>▪ K4  培训讲清本岗位的危害和防护</a:t>
            </a:r>
          </a:p>
          <a:p>
            <a:pPr>
              <a:spcAft>
                <a:spcPts val="800"/>
              </a:spcAft>
            </a:pPr>
            <a:r>
              <a:rPr sz="1500">
                <a:solidFill>
                  <a:srgbClr val="FFFFFF"/>
                </a:solidFill>
                <a:latin typeface="Microsoft YaHei"/>
              </a:rPr>
              <a:t>▪ K5  培训要动手、有实效</a:t>
            </a:r>
          </a:p>
          <a:p>
            <a:pPr>
              <a:spcAft>
                <a:spcPts val="800"/>
              </a:spcAft>
            </a:pPr>
            <a:r>
              <a:rPr sz="1500">
                <a:solidFill>
                  <a:srgbClr val="FFFFFF"/>
                </a:solidFill>
                <a:latin typeface="Microsoft YaHei"/>
              </a:rPr>
              <a:t>▪ K6  跟做、看护下做、考核后独立</a:t>
            </a:r>
          </a:p>
          <a:p>
            <a:pPr>
              <a:spcAft>
                <a:spcPts val="800"/>
              </a:spcAft>
            </a:pPr>
            <a:r>
              <a:rPr sz="1500">
                <a:solidFill>
                  <a:srgbClr val="FFFFFF"/>
                </a:solidFill>
                <a:latin typeface="Microsoft YaHei"/>
              </a:rPr>
              <a:t>▪ K7  进新实验室的第一天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入门须知六件事</a:t>
            </a:r>
          </a:p>
          <a:p>
            <a:pPr>
              <a:spcAft>
                <a:spcPts val="800"/>
              </a:spcAft>
            </a:pPr>
            <a:r>
              <a:rPr sz="1500">
                <a:solidFill>
                  <a:srgbClr val="FFFFFF"/>
                </a:solidFill>
                <a:latin typeface="Microsoft YaHei"/>
              </a:rPr>
              <a:t>▪ K9  应急技能培训：灭火器与急救</a:t>
            </a:r>
          </a:p>
          <a:p>
            <a:pPr>
              <a:spcAft>
                <a:spcPts val="800"/>
              </a:spcAft>
            </a:pPr>
            <a:r>
              <a:rPr sz="1500">
                <a:solidFill>
                  <a:srgbClr val="FFFFFF"/>
                </a:solidFill>
                <a:latin typeface="Microsoft YaHei"/>
              </a:rPr>
              <a:t>▪ K10  换实验、用新设备，先补专项培训</a:t>
            </a:r>
          </a:p>
          <a:p>
            <a:pPr>
              <a:spcAft>
                <a:spcPts val="800"/>
              </a:spcAft>
            </a:pPr>
            <a:r>
              <a:rPr sz="1500">
                <a:solidFill>
                  <a:srgbClr val="FFFFFF"/>
                </a:solidFill>
                <a:latin typeface="Microsoft YaHei"/>
              </a:rPr>
              <a:t>▪ K11  久未操作先复训，定期复训演练</a:t>
            </a:r>
          </a:p>
          <a:p>
            <a:pPr>
              <a:spcAft>
                <a:spcPts val="800"/>
              </a:spcAft>
            </a:pPr>
            <a:r>
              <a:rPr sz="1500">
                <a:solidFill>
                  <a:srgbClr val="FFFFFF"/>
                </a:solidFill>
                <a:latin typeface="Microsoft YaHei"/>
              </a:rPr>
              <a:t>▪ K12  培训要有记录</a:t>
            </a:r>
          </a:p>
          <a:p>
            <a:pPr>
              <a:spcAft>
                <a:spcPts val="800"/>
              </a:spcAft>
            </a:pPr>
            <a:r>
              <a:rPr sz="1500">
                <a:solidFill>
                  <a:srgbClr val="FFFFFF"/>
                </a:solidFill>
                <a:latin typeface="Microsoft YaHei"/>
              </a:rPr>
              <a:t>▪ K13  本课程不能代替本实验室规程</a:t>
            </a:r>
          </a:p>
          <a:p>
            <a:pPr>
              <a:spcAft>
                <a:spcPts val="800"/>
              </a:spcAft>
            </a:pPr>
            <a:r>
              <a:rPr sz="1500">
                <a:solidFill>
                  <a:srgbClr val="FFFFFF"/>
                </a:solidFill>
                <a:latin typeface="Microsoft YaHei"/>
              </a:rPr>
              <a:t>▪ K14  离开课题组：清点交接、注销权限</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访客与外来人员管理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64 镜）　适用对象：全体进入高校实验室的人员；实验室负责人、安全员、承担参观接待的师生、学生社团负责人和指导教师重点学习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能说出访客和外来人员进入实验室“登记、批准、交底、全程陪同”的要求。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能做到：带访客参观时选好安全区，提醒不越线、不靠不搭不爬，动作前先告知，紧急时带队撤离。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能做到：外来维修人员进实验室前双向告知危险，清场、去污、关闭气源并全程陪同。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能判断社团借用实验室或开展活动是否已审批、有安全负责人、参加者已培训准入。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《中华人民共和国安全生产法》（以现行文本为准）：生产经营单位对进入作业场所的人员告知危险因素和防范措施</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号，以现行文本为准）：外来人员进入实验室的管理和安全告知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教育部高校实验室安全检查项目表（以现行文本为准）：人员准入与外来人员管理类检查项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《中华人民共和国消防法》（以现行文本为准）：人员密集活动的安全疏散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《中华人民共和国特种设备安全法》（以现行文本为准）：起重机械作业安全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2894-2025（以现行文本为准）《安全色和安全标志》：警戒线、禁止和警告标志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7247.1-2024（以现行文本为准）《激光产品的安全 第1部分》：激光警告标志和受控区域</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本校实验室外来人员管理、参观接待和学生社团活动管理规定（以本校规定为准）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欢迎参观，保护访客是第一位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想看实验室很正常，也很欢迎</a:t>
            </a:r>
          </a:p>
          <a:p>
            <a:pPr>
              <a:spcAft>
                <a:spcPts val="1000"/>
              </a:spcAft>
            </a:pPr>
            <a:r>
              <a:rPr sz="2000">
                <a:solidFill>
                  <a:srgbClr val="222B33"/>
                </a:solidFill>
                <a:latin typeface="Microsoft YaHei"/>
              </a:rPr>
              <a:t>▪ 访客只熟悉家和办公室，不熟悉实验室</a:t>
            </a:r>
          </a:p>
          <a:p>
            <a:pPr>
              <a:spcAft>
                <a:spcPts val="1000"/>
              </a:spcAft>
            </a:pPr>
            <a:r>
              <a:rPr sz="2000">
                <a:solidFill>
                  <a:srgbClr val="222B33"/>
                </a:solidFill>
                <a:latin typeface="Microsoft YaHei"/>
              </a:rPr>
              <a:t>▪ 带人进来，要时刻照看好每一个</a:t>
            </a:r>
          </a:p>
          <a:p>
            <a:pPr>
              <a:spcAft>
                <a:spcPts val="1000"/>
              </a:spcAft>
            </a:pPr>
            <a:r>
              <a:rPr sz="2000">
                <a:solidFill>
                  <a:srgbClr val="222B33"/>
                </a:solidFill>
                <a:latin typeface="Microsoft YaHei"/>
              </a:rPr>
              <a:t>▪ 可以展示，保护访客永远第一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放日、参观考察、招生宣传、科普活动时，常有校外人员或其他专业的师生进入实验室。他们对实验设备感兴趣，这很正常，也值得欢迎。但访客习惯的是家和办公室，不知道实验室里哪些东西危险、哪些地方不能去，也没有接受过本实验室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只顾讲解，不留意访客走到了哪里</a:t>
            </a:r>
          </a:p>
          <a:p>
            <a:pPr>
              <a:spcAft>
                <a:spcPts val="1000"/>
              </a:spcAft>
            </a:pPr>
            <a:r>
              <a:rPr sz="1500">
                <a:solidFill>
                  <a:srgbClr val="222B33"/>
                </a:solidFill>
                <a:latin typeface="Microsoft YaHei"/>
              </a:rPr>
              <a:t>▪ 一次带太多人参观，照看不过来</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登记、批准、交底、全程陪同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访客进门先登记</a:t>
            </a:r>
          </a:p>
          <a:p>
            <a:pPr>
              <a:spcAft>
                <a:spcPts val="1000"/>
              </a:spcAft>
            </a:pPr>
            <a:r>
              <a:rPr sz="2000">
                <a:solidFill>
                  <a:srgbClr val="222B33"/>
                </a:solidFill>
                <a:latin typeface="Microsoft YaHei"/>
              </a:rPr>
              <a:t>▪ 经实验室负责人批准</a:t>
            </a:r>
          </a:p>
          <a:p>
            <a:pPr>
              <a:spcAft>
                <a:spcPts val="1000"/>
              </a:spcAft>
            </a:pPr>
            <a:r>
              <a:rPr sz="2000">
                <a:solidFill>
                  <a:srgbClr val="222B33"/>
                </a:solidFill>
                <a:latin typeface="Microsoft YaHei"/>
              </a:rPr>
              <a:t>▪ 进门前讲清安全须知</a:t>
            </a:r>
          </a:p>
          <a:p>
            <a:pPr>
              <a:spcAft>
                <a:spcPts val="1000"/>
              </a:spcAft>
            </a:pPr>
            <a:r>
              <a:rPr sz="2000">
                <a:solidFill>
                  <a:srgbClr val="222B33"/>
                </a:solidFill>
                <a:latin typeface="Microsoft YaHei"/>
              </a:rPr>
              <a:t>▪ 佩戴访客牌，全程陪同，不单独走动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进入实验室，应按本校规定办理：一是登记，写明姓名、单位、事由、进出时间和接待人；二是经实验室负责人（必要时经学院）批准；三是进门前进行安全交底，讲清实验室的主要危险、不能触碰的物品和设备、需要佩戴的防护用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熟人来访不登记，直接带进实验室</a:t>
            </a:r>
          </a:p>
          <a:p>
            <a:pPr>
              <a:spcAft>
                <a:spcPts val="1000"/>
              </a:spcAft>
            </a:pPr>
            <a:r>
              <a:rPr sz="1500">
                <a:solidFill>
                  <a:srgbClr val="222B33"/>
                </a:solidFill>
                <a:latin typeface="Microsoft YaHei"/>
              </a:rPr>
              <a:t>▪ 把访客一个人留在实验室里</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参观前告知着装，进门配防护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参观前就告诉访客怎么穿</a:t>
            </a:r>
          </a:p>
          <a:p>
            <a:pPr>
              <a:spcAft>
                <a:spcPts val="1000"/>
              </a:spcAft>
            </a:pPr>
            <a:r>
              <a:rPr sz="2000">
                <a:solidFill>
                  <a:srgbClr val="222B33"/>
                </a:solidFill>
                <a:latin typeface="Microsoft YaHei"/>
              </a:rPr>
              <a:t>▪ 长裤、包脚鞋，长发束起</a:t>
            </a:r>
          </a:p>
          <a:p>
            <a:pPr>
              <a:spcAft>
                <a:spcPts val="1000"/>
              </a:spcAft>
            </a:pPr>
            <a:r>
              <a:rPr sz="2000">
                <a:solidFill>
                  <a:srgbClr val="222B33"/>
                </a:solidFill>
                <a:latin typeface="Microsoft YaHei"/>
              </a:rPr>
              <a:t>▪ 进门发护目镜，戴好再进</a:t>
            </a:r>
          </a:p>
          <a:p>
            <a:pPr>
              <a:spcAft>
                <a:spcPts val="1000"/>
              </a:spcAft>
            </a:pPr>
            <a:r>
              <a:rPr sz="2000">
                <a:solidFill>
                  <a:srgbClr val="222B33"/>
                </a:solidFill>
                <a:latin typeface="Microsoft YaHei"/>
              </a:rPr>
              <a:t>▪ 穿凉鞋、裙装的访客不进操作区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访客往往穿着便装甚至凉鞋、短裙前来，身上没有任何防护。接待方应在参观前通知访客着装要求：穿长裤和包住脚面的鞋，长发束起，不戴悬垂饰物。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访客穿凉鞋短裤进入操作区，接待人“通融”</a:t>
            </a:r>
          </a:p>
          <a:p>
            <a:pPr>
              <a:spcAft>
                <a:spcPts val="1000"/>
              </a:spcAft>
            </a:pPr>
            <a:r>
              <a:rPr sz="1500">
                <a:solidFill>
                  <a:srgbClr val="222B33"/>
                </a:solidFill>
                <a:latin typeface="Microsoft YaHei"/>
              </a:rPr>
              <a:t>▪ 只给访客发护目镜，自己却不戴</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访客在场：通道畅通，暂停吊运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访客在场，通道要清空，防止绊倒</a:t>
            </a:r>
          </a:p>
          <a:p>
            <a:pPr>
              <a:spcAft>
                <a:spcPts val="1000"/>
              </a:spcAft>
            </a:pPr>
            <a:r>
              <a:rPr sz="2000">
                <a:solidFill>
                  <a:srgbClr val="222B33"/>
                </a:solidFill>
                <a:latin typeface="Microsoft YaHei"/>
              </a:rPr>
              <a:t>▪ 暂停吊装、搬运重物等高风险作业</a:t>
            </a:r>
          </a:p>
          <a:p>
            <a:pPr>
              <a:spcAft>
                <a:spcPts val="1000"/>
              </a:spcAft>
            </a:pPr>
            <a:r>
              <a:rPr sz="2000">
                <a:solidFill>
                  <a:srgbClr val="222B33"/>
                </a:solidFill>
                <a:latin typeface="Microsoft YaHei"/>
              </a:rPr>
              <a:t>▪ 吊运区下方绝不能站人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访客不熟悉现场，容易被通道上的纸箱、线缆、软管绊倒。参观前要把参观路线清理干净，保持通道畅通。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参观时照常吊运，访客从吊物下方经过</a:t>
            </a:r>
          </a:p>
          <a:p>
            <a:pPr>
              <a:spcAft>
                <a:spcPts val="1000"/>
              </a:spcAft>
            </a:pPr>
            <a:r>
              <a:rPr sz="1500">
                <a:solidFill>
                  <a:srgbClr val="222B33"/>
                </a:solidFill>
                <a:latin typeface="Microsoft YaHei"/>
              </a:rPr>
              <a:t>▪ 参观路线上堆放杂物和线缆</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站在安全区：不越线，隔窗看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把访客带到划定的参观区</a:t>
            </a:r>
          </a:p>
          <a:p>
            <a:pPr>
              <a:spcAft>
                <a:spcPts val="1000"/>
              </a:spcAft>
            </a:pPr>
            <a:r>
              <a:rPr sz="2000">
                <a:solidFill>
                  <a:srgbClr val="222B33"/>
                </a:solidFill>
                <a:latin typeface="Microsoft YaHei"/>
              </a:rPr>
              <a:t>▪ 既看得清，又在安全范围里</a:t>
            </a:r>
          </a:p>
          <a:p>
            <a:pPr>
              <a:spcAft>
                <a:spcPts val="1000"/>
              </a:spcAft>
            </a:pPr>
            <a:r>
              <a:rPr sz="2000">
                <a:solidFill>
                  <a:srgbClr val="222B33"/>
                </a:solidFill>
                <a:latin typeface="Microsoft YaHei"/>
              </a:rPr>
              <a:t>▪ 人人都想凑近看，不能越线</a:t>
            </a:r>
          </a:p>
          <a:p>
            <a:pPr>
              <a:spcAft>
                <a:spcPts val="1000"/>
              </a:spcAft>
            </a:pPr>
            <a:r>
              <a:rPr sz="2000">
                <a:solidFill>
                  <a:srgbClr val="222B33"/>
                </a:solidFill>
                <a:latin typeface="Microsoft YaHei"/>
              </a:rPr>
              <a:t>▪ 激光区有警示，只隔着观察窗看，不靠近机门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参观区可以用地面黄色警戒线等方式划定，位置既要能看清设备和演示，又要在设备运动范围、飞溅范围和危险区之外。走到设备前，人人都想凑近看，向导要提前说明“只在线内看”，发现越线及时提醒退回。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为了看得清楚，让访客站到设备旁边</a:t>
            </a:r>
          </a:p>
          <a:p>
            <a:pPr>
              <a:spcAft>
                <a:spcPts val="1000"/>
              </a:spcAft>
            </a:pPr>
            <a:r>
              <a:rPr sz="1500">
                <a:solidFill>
                  <a:srgbClr val="222B33"/>
                </a:solidFill>
                <a:latin typeface="Microsoft YaHei"/>
              </a:rPr>
              <a:t>▪ 访客好奇推开设备防护门向里看</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不靠、不搭、不爬</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设备台面的格栅又尖又利</a:t>
            </a:r>
          </a:p>
          <a:p>
            <a:pPr>
              <a:spcAft>
                <a:spcPts val="1000"/>
              </a:spcAft>
            </a:pPr>
            <a:r>
              <a:rPr sz="2000">
                <a:solidFill>
                  <a:srgbClr val="222B33"/>
                </a:solidFill>
                <a:latin typeface="Microsoft YaHei"/>
              </a:rPr>
              <a:t>▪ 不靠机器，不搭格栅，不爬台面</a:t>
            </a:r>
          </a:p>
          <a:p>
            <a:pPr>
              <a:spcAft>
                <a:spcPts val="1000"/>
              </a:spcAft>
            </a:pPr>
            <a:r>
              <a:rPr sz="2000">
                <a:solidFill>
                  <a:srgbClr val="222B33"/>
                </a:solidFill>
                <a:latin typeface="Microsoft YaHei"/>
              </a:rPr>
              <a:t>▪ 摔在设备台面上，伤得会很重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很多设备的台面、格栅、导轨边缘锋利，部件可能是热的或会突然移动。访客和非操作人员不要倚靠在设备上，不要把手搭在格栅或台面上，更不能爬上台面。曾有人摔倒在设备台面上，受了很重的伤。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访客倚靠在设备上听讲解</a:t>
            </a:r>
          </a:p>
          <a:p>
            <a:pPr>
              <a:spcAft>
                <a:spcPts val="1000"/>
              </a:spcAft>
            </a:pPr>
            <a:r>
              <a:rPr sz="1500">
                <a:solidFill>
                  <a:srgbClr val="222B33"/>
                </a:solidFill>
                <a:latin typeface="Microsoft YaHei"/>
              </a:rPr>
              <a:t>▪ 为拍照爬上设备台面</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留意会突然启动的设备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有些设备会突然动起来、突然发出响声</a:t>
            </a:r>
          </a:p>
          <a:p>
            <a:pPr>
              <a:spcAft>
                <a:spcPts val="1000"/>
              </a:spcAft>
            </a:pPr>
            <a:r>
              <a:rPr sz="2000">
                <a:solidFill>
                  <a:srgbClr val="222B33"/>
                </a:solidFill>
                <a:latin typeface="Microsoft YaHei"/>
              </a:rPr>
              <a:t>▪ 气动台面一按按钮就“砰”地升起</a:t>
            </a:r>
          </a:p>
          <a:p>
            <a:pPr>
              <a:spcAft>
                <a:spcPts val="1000"/>
              </a:spcAft>
            </a:pPr>
            <a:r>
              <a:rPr sz="2000">
                <a:solidFill>
                  <a:srgbClr val="222B33"/>
                </a:solidFill>
                <a:latin typeface="Microsoft YaHei"/>
              </a:rPr>
              <a:t>▪ 受惊的人常往后乱退，碰撞、摔倒</a:t>
            </a:r>
          </a:p>
          <a:p>
            <a:pPr>
              <a:spcAft>
                <a:spcPts val="1000"/>
              </a:spcAft>
            </a:pPr>
            <a:r>
              <a:rPr sz="2000">
                <a:solidFill>
                  <a:srgbClr val="222B33"/>
                </a:solidFill>
                <a:latin typeface="Microsoft YaHei"/>
              </a:rPr>
              <a:t>▪ 向导替访客留意，背对设备的人最易受惊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实验室和车间里有不少会突然启动或发出巨响的设备：气动台面、储气罐排气、自动门、真空泵、离心机、空压机等。气动上料台的滚珠靠压缩空气顶起，一按按钮就会“砰”的一声升起。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有访客在场时，不打招呼就启动设备</a:t>
            </a:r>
          </a:p>
          <a:p>
            <a:pPr>
              <a:spcAft>
                <a:spcPts val="1000"/>
              </a:spcAft>
            </a:pPr>
            <a:r>
              <a:rPr sz="1500">
                <a:solidFill>
                  <a:srgbClr val="222B33"/>
                </a:solidFill>
                <a:latin typeface="Microsoft YaHei"/>
              </a:rPr>
              <a:t>▪ 让访客背对设备站立</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先说清楚，再动手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动作之前，先告诉访客要做什么</a:t>
            </a:r>
          </a:p>
          <a:p>
            <a:pPr>
              <a:spcAft>
                <a:spcPts val="1000"/>
              </a:spcAft>
            </a:pPr>
            <a:r>
              <a:rPr sz="2000">
                <a:solidFill>
                  <a:srgbClr val="222B33"/>
                </a:solidFill>
                <a:latin typeface="Microsoft YaHei"/>
              </a:rPr>
              <a:t>▪ 指给他们看：从这里响，会这样动</a:t>
            </a:r>
          </a:p>
          <a:p>
            <a:pPr>
              <a:spcAft>
                <a:spcPts val="1000"/>
              </a:spcAft>
            </a:pPr>
            <a:r>
              <a:rPr sz="2000">
                <a:solidFill>
                  <a:srgbClr val="222B33"/>
                </a:solidFill>
                <a:latin typeface="Microsoft YaHei"/>
              </a:rPr>
              <a:t>▪ 心里有数，就不会被吓到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操作人员和向导在设备动作前，先告诉访客接下来要做什么，指出声音从哪里发出、哪个部位会怎样运动，然后再操作。访客心里有准备，就不会突然受惊后退。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演示时突然开机，“给大家一个惊喜”</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拍照拍视频有边界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拍照拍视频只在参观区里拍</a:t>
            </a:r>
          </a:p>
          <a:p>
            <a:pPr>
              <a:spcAft>
                <a:spcPts val="1000"/>
              </a:spcAft>
            </a:pPr>
            <a:r>
              <a:rPr sz="2000">
                <a:solidFill>
                  <a:srgbClr val="222B33"/>
                </a:solidFill>
                <a:latin typeface="Microsoft YaHei"/>
              </a:rPr>
              <a:t>▪ 不挤到操作员身边，不打扰操作</a:t>
            </a:r>
          </a:p>
          <a:p>
            <a:pPr>
              <a:spcAft>
                <a:spcPts val="1000"/>
              </a:spcAft>
            </a:pPr>
            <a:r>
              <a:rPr sz="2000">
                <a:solidFill>
                  <a:srgbClr val="222B33"/>
                </a:solidFill>
                <a:latin typeface="Microsoft YaHei"/>
              </a:rPr>
              <a:t>▪ 标明禁止拍摄的地方不拍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访客喜欢拍照、拍视频留念，这可以在规定范围内进行：只在参观区内拍摄，不为了取景越线，不挤到操作人员身边，不使用闪光灯干扰操作。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为拍到好角度越过警戒线</a:t>
            </a:r>
          </a:p>
          <a:p>
            <a:pPr>
              <a:spcAft>
                <a:spcPts val="1000"/>
              </a:spcAft>
            </a:pPr>
            <a:r>
              <a:rPr sz="1500">
                <a:solidFill>
                  <a:srgbClr val="222B33"/>
                </a:solidFill>
                <a:latin typeface="Microsoft YaHei"/>
              </a:rPr>
              <a:t>▪ 拍摄并公开发布危化品库、门禁等安保信息</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高风险区域限制进入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生物安全实验室、辐射场所、危化品库不对访客开放</a:t>
            </a:r>
          </a:p>
          <a:p>
            <a:pPr>
              <a:spcAft>
                <a:spcPts val="1000"/>
              </a:spcAft>
            </a:pPr>
            <a:r>
              <a:rPr sz="2000">
                <a:solidFill>
                  <a:srgbClr val="222B33"/>
                </a:solidFill>
                <a:latin typeface="Microsoft YaHei"/>
              </a:rPr>
              <a:t>▪ 未经批准，外来人员不得进入</a:t>
            </a:r>
          </a:p>
          <a:p>
            <a:pPr>
              <a:spcAft>
                <a:spcPts val="1000"/>
              </a:spcAft>
            </a:pPr>
            <a:r>
              <a:rPr sz="2000">
                <a:solidFill>
                  <a:srgbClr val="222B33"/>
                </a:solidFill>
                <a:latin typeface="Microsoft YaHei"/>
              </a:rPr>
              <a:t>▪ 看到陌生人，主动询问并报告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微生物实验室（尤其是二级及以上生物安全实验室）、放射性同位素和射线装置工作场所、剧毒和易制爆等危险化学品储存场所，有专门的准入和安保要求，一般不安排参观；确需进入的，要按相关法规和本校规定另行审批，并由具备资质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把参观者带进生物安全实验室或辐射工作场所“看一眼”</a:t>
            </a:r>
          </a:p>
          <a:p>
            <a:pPr>
              <a:spcAft>
                <a:spcPts val="1000"/>
              </a:spcAft>
            </a:pPr>
            <a:r>
              <a:rPr sz="1500">
                <a:solidFill>
                  <a:srgbClr val="222B33"/>
                </a:solidFill>
                <a:latin typeface="Microsoft YaHei"/>
              </a:rPr>
              <a:t>▪ 看到陌生人在实验室里转悠不闻不问</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紧急时带访客撤离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访客不知道出口和集合点</a:t>
            </a:r>
          </a:p>
          <a:p>
            <a:pPr>
              <a:spcAft>
                <a:spcPts val="1000"/>
              </a:spcAft>
            </a:pPr>
            <a:r>
              <a:rPr sz="2000">
                <a:solidFill>
                  <a:srgbClr val="222B33"/>
                </a:solidFill>
                <a:latin typeface="Microsoft YaHei"/>
              </a:rPr>
              <a:t>▪ 向导带队沿疏散通道撤离</a:t>
            </a:r>
          </a:p>
          <a:p>
            <a:pPr>
              <a:spcAft>
                <a:spcPts val="1000"/>
              </a:spcAft>
            </a:pPr>
            <a:r>
              <a:rPr sz="2000">
                <a:solidFill>
                  <a:srgbClr val="222B33"/>
                </a:solidFill>
                <a:latin typeface="Microsoft YaHei"/>
              </a:rPr>
              <a:t>▪ 到集合点清点人数，一个不少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访客不熟悉实验室的布局、安全出口和应急集合点。参观前的安全交底就要说明：一旦听到警报或接到撤离指令，跟着向导走，不要自行乱跑，不要返回取物。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警报响起时只顾自己撤离，忘了访客</a:t>
            </a:r>
          </a:p>
          <a:p>
            <a:pPr>
              <a:spcAft>
                <a:spcPts val="1000"/>
              </a:spcAft>
            </a:pPr>
            <a:r>
              <a:rPr sz="1500">
                <a:solidFill>
                  <a:srgbClr val="222B33"/>
                </a:solidFill>
                <a:latin typeface="Microsoft YaHei"/>
              </a:rPr>
              <a:t>▪ 撤离后不清点人数</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外来维修人员：双向告知危险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维修、保洁人员进实验室，实验室主动讲清危险</a:t>
            </a:r>
          </a:p>
          <a:p>
            <a:pPr>
              <a:spcAft>
                <a:spcPts val="1000"/>
              </a:spcAft>
            </a:pPr>
            <a:r>
              <a:rPr sz="2000">
                <a:solidFill>
                  <a:srgbClr val="222B33"/>
                </a:solidFill>
                <a:latin typeface="Microsoft YaHei"/>
              </a:rPr>
              <a:t>▪ 维修人员也要主动问清楚</a:t>
            </a:r>
          </a:p>
          <a:p>
            <a:pPr>
              <a:spcAft>
                <a:spcPts val="1000"/>
              </a:spcAft>
            </a:pPr>
            <a:r>
              <a:rPr sz="2000">
                <a:solidFill>
                  <a:srgbClr val="222B33"/>
                </a:solidFill>
                <a:latin typeface="Microsoft YaHei"/>
              </a:rPr>
              <a:t>▪ 信息双向流动，才安全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后勤维修、设备厂家工程师、保洁人员等进入实验室区域作业时，往往并不了解实验室里有哪些危险。实验室要主动告知：作业点附近有哪些化学品、气体、生物材料、带电设备，哪些东西不能碰，出了意外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维修人员进来后，实验室没人告知任何危险</a:t>
            </a:r>
          </a:p>
          <a:p>
            <a:pPr>
              <a:spcAft>
                <a:spcPts val="1000"/>
              </a:spcAft>
            </a:pPr>
            <a:r>
              <a:rPr sz="1500">
                <a:solidFill>
                  <a:srgbClr val="222B33"/>
                </a:solidFill>
                <a:latin typeface="Microsoft YaHei"/>
              </a:rPr>
              <a:t>▪ 维修人员不问情况就拆开通风管道、下水管</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外来人员作业前：清场、去污、陪同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作业前负责人当面交底</a:t>
            </a:r>
          </a:p>
          <a:p>
            <a:pPr>
              <a:spcAft>
                <a:spcPts val="1000"/>
              </a:spcAft>
            </a:pPr>
            <a:r>
              <a:rPr sz="2000">
                <a:solidFill>
                  <a:srgbClr val="222B33"/>
                </a:solidFill>
                <a:latin typeface="Microsoft YaHei"/>
              </a:rPr>
              <a:t>▪ 清走作业点附近的化学品，关闭相关气源</a:t>
            </a:r>
          </a:p>
          <a:p>
            <a:pPr>
              <a:spcAft>
                <a:spcPts val="1000"/>
              </a:spcAft>
            </a:pPr>
            <a:r>
              <a:rPr sz="2000">
                <a:solidFill>
                  <a:srgbClr val="222B33"/>
                </a:solidFill>
                <a:latin typeface="Microsoft YaHei"/>
              </a:rPr>
              <a:t>▪ 要碰的设备台面先去污，标明危险部位</a:t>
            </a:r>
          </a:p>
          <a:p>
            <a:pPr>
              <a:spcAft>
                <a:spcPts val="1000"/>
              </a:spcAft>
            </a:pPr>
            <a:r>
              <a:rPr sz="2000">
                <a:solidFill>
                  <a:srgbClr val="222B33"/>
                </a:solidFill>
                <a:latin typeface="Microsoft YaHei"/>
              </a:rPr>
              <a:t>▪ 作业期间有人陪同，做完登记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来人员在实验室内维修、安装或施工前，实验室负责人或安全员应当面交底，必要时填写作业审批单。随后做好现场准备：把作业点附近的化学品移走或妥善存放，关闭相关气源、水源、电源并挂牌提示，对要触碰的设备、管道和台面先进行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维修人员到场时，台面上的化学品和样品没有清走</a:t>
            </a:r>
          </a:p>
          <a:p>
            <a:pPr>
              <a:spcAft>
                <a:spcPts val="1000"/>
              </a:spcAft>
            </a:pPr>
            <a:r>
              <a:rPr sz="1500">
                <a:solidFill>
                  <a:srgbClr val="222B33"/>
                </a:solidFill>
                <a:latin typeface="Microsoft YaHei"/>
              </a:rPr>
              <a:t>▪ 交了钥匙就走，让维修人员独自在实验室作业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社团活动：先审批，定安全负责人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社团办活动，安全第一位</a:t>
            </a:r>
          </a:p>
          <a:p>
            <a:pPr>
              <a:spcAft>
                <a:spcPts val="1000"/>
              </a:spcAft>
            </a:pPr>
            <a:r>
              <a:rPr sz="2000">
                <a:solidFill>
                  <a:srgbClr val="222B33"/>
                </a:solidFill>
                <a:latin typeface="Microsoft YaHei"/>
              </a:rPr>
              <a:t>▪ 活动方案先报指导老师和学校审批</a:t>
            </a:r>
          </a:p>
          <a:p>
            <a:pPr>
              <a:spcAft>
                <a:spcPts val="1000"/>
              </a:spcAft>
            </a:pPr>
            <a:r>
              <a:rPr sz="2000">
                <a:solidFill>
                  <a:srgbClr val="222B33"/>
                </a:solidFill>
                <a:latin typeface="Microsoft YaHei"/>
              </a:rPr>
              <a:t>▪ 每场活动都要明确安全负责人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学生社团开展科普展示、竞赛、实践等活动，活动方案（时间、地点、内容、人数、风险和防范措施、应急预案）要先报指导教师和学校有关部门审批，批准后才能举办。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先办活动，再补审批</a:t>
            </a:r>
          </a:p>
          <a:p>
            <a:pPr>
              <a:spcAft>
                <a:spcPts val="1000"/>
              </a:spcAft>
            </a:pPr>
            <a:r>
              <a:rPr sz="1500">
                <a:solidFill>
                  <a:srgbClr val="222B33"/>
                </a:solidFill>
                <a:latin typeface="Microsoft YaHei"/>
              </a:rPr>
              <a:t>▪ 活动没有指定安全负责人，出了事没人管</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社团借用实验室：先培训准入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借用实验室，先完成安全培训和准入</a:t>
            </a:r>
          </a:p>
          <a:p>
            <a:pPr>
              <a:spcAft>
                <a:spcPts val="1000"/>
              </a:spcAft>
            </a:pPr>
            <a:r>
              <a:rPr sz="2000">
                <a:solidFill>
                  <a:srgbClr val="222B33"/>
                </a:solidFill>
                <a:latin typeface="Microsoft YaHei"/>
              </a:rPr>
              <a:t>▪ 要有老师在场，遵守实验室规定</a:t>
            </a:r>
          </a:p>
          <a:p>
            <a:pPr>
              <a:spcAft>
                <a:spcPts val="1000"/>
              </a:spcAft>
            </a:pPr>
            <a:r>
              <a:rPr sz="2000">
                <a:solidFill>
                  <a:srgbClr val="222B33"/>
                </a:solidFill>
                <a:latin typeface="Microsoft YaHei"/>
              </a:rPr>
              <a:t>▪ 活动不玩火，不私带化学品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社团借用实验室开展活动，与正式进入实验室工作一样，参加者要先完成实验室安全培训和准入考核（见第 007 课），并经实验室负责人同意。活动时要有指导教师或实验室人员在场，所有人遵守该实验室的规章制度和着装要求。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社团成员未经培训就在实验室里做“演示实验”</a:t>
            </a:r>
          </a:p>
          <a:p>
            <a:pPr>
              <a:spcAft>
                <a:spcPts val="1000"/>
              </a:spcAft>
            </a:pPr>
            <a:r>
              <a:rPr sz="1500">
                <a:solidFill>
                  <a:srgbClr val="222B33"/>
                </a:solidFill>
                <a:latin typeface="Microsoft YaHei"/>
              </a:rPr>
              <a:t>▪ 自带化学品到实验室搞展示</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校外访客到实验室参观，下列做法正确的是：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熟人来访可以不登记</a:t>
            </a:r>
          </a:p>
          <a:p>
            <a:pPr algn="l"/>
            <a:r>
              <a:rPr sz="1500" b="0">
                <a:solidFill>
                  <a:srgbClr val="222B33"/>
                </a:solidFill>
                <a:latin typeface="Microsoft YaHei"/>
              </a:rPr>
              <a:t>B. 登记并经负责人批准，进门前安全交底，全程陪同</a:t>
            </a:r>
          </a:p>
          <a:p>
            <a:pPr algn="l"/>
            <a:r>
              <a:rPr sz="1500" b="0">
                <a:solidFill>
                  <a:srgbClr val="222B33"/>
                </a:solidFill>
                <a:latin typeface="Microsoft YaHei"/>
              </a:rPr>
              <a:t>C. 讲解完让访客自己随便看</a:t>
            </a:r>
          </a:p>
          <a:p>
            <a:pPr algn="l"/>
            <a:r>
              <a:rPr sz="1500" b="0">
                <a:solidFill>
                  <a:srgbClr val="222B33"/>
                </a:solidFill>
                <a:latin typeface="Microsoft YaHei"/>
              </a:rPr>
              <a:t>D. 访客可以试操作仪器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判断：参观激光加工设备时，访客可以打开设备防护门凑近观看。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设备即将启动并会发出较大声响，向导应当：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直接启动，给访客惊喜</a:t>
            </a:r>
          </a:p>
          <a:p>
            <a:pPr algn="l"/>
            <a:r>
              <a:rPr sz="1500" b="0">
                <a:solidFill>
                  <a:srgbClr val="222B33"/>
                </a:solidFill>
                <a:latin typeface="Microsoft YaHei"/>
              </a:rPr>
              <a:t>B. 先告诉访客要做什么、哪里会响、会怎样动，再操作</a:t>
            </a:r>
          </a:p>
          <a:p>
            <a:pPr algn="l"/>
            <a:r>
              <a:rPr sz="1500" b="0">
                <a:solidFill>
                  <a:srgbClr val="222B33"/>
                </a:solidFill>
                <a:latin typeface="Microsoft YaHei"/>
              </a:rPr>
              <a:t>C. 让访客背对设备</a:t>
            </a:r>
          </a:p>
          <a:p>
            <a:pPr algn="l"/>
            <a:r>
              <a:rPr sz="1500" b="0">
                <a:solidFill>
                  <a:srgbClr val="222B33"/>
                </a:solidFill>
                <a:latin typeface="Microsoft YaHei"/>
              </a:rPr>
              <a:t>D. 让访客离开实验室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后勤维修人员要进实验室检修通风管道，下列哪项做法不正确？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当面交底，讲清危险</a:t>
            </a:r>
          </a:p>
          <a:p>
            <a:pPr algn="l"/>
            <a:r>
              <a:rPr sz="1500" b="0">
                <a:solidFill>
                  <a:srgbClr val="222B33"/>
                </a:solidFill>
                <a:latin typeface="Microsoft YaHei"/>
              </a:rPr>
              <a:t>B. 清走作业点附近化学品、关闭相关气源</a:t>
            </a:r>
          </a:p>
          <a:p>
            <a:pPr algn="l"/>
            <a:r>
              <a:rPr sz="1500" b="0">
                <a:solidFill>
                  <a:srgbClr val="222B33"/>
                </a:solidFill>
                <a:latin typeface="Microsoft YaHei"/>
              </a:rPr>
              <a:t>C. 对要触碰的部位先去污</a:t>
            </a:r>
          </a:p>
          <a:p>
            <a:pPr algn="l"/>
            <a:r>
              <a:rPr sz="1500" b="0">
                <a:solidFill>
                  <a:srgbClr val="222B33"/>
                </a:solidFill>
                <a:latin typeface="Microsoft YaHei"/>
              </a:rPr>
              <a:t>D. 把钥匙交给维修人员，自己先下班</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008 · 访客与外来人员管理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008 访客与外来人员管理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学生社团想借用实验室开展科普活动，应当：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跟实验室同学打个招呼就行</a:t>
            </a:r>
          </a:p>
          <a:p>
            <a:pPr algn="l"/>
            <a:r>
              <a:rPr sz="1500" b="0">
                <a:solidFill>
                  <a:srgbClr val="222B33"/>
                </a:solidFill>
                <a:latin typeface="Microsoft YaHei"/>
              </a:rPr>
              <a:t>B. 活动方案报指导老师和学校审批，明确安全负责人，参加者先培训准入，活动时老师在场</a:t>
            </a:r>
          </a:p>
          <a:p>
            <a:pPr algn="l"/>
            <a:r>
              <a:rPr sz="1500" b="0">
                <a:solidFill>
                  <a:srgbClr val="222B33"/>
                </a:solidFill>
                <a:latin typeface="Microsoft YaHei"/>
              </a:rPr>
              <a:t>C. 自带化学品做演示</a:t>
            </a:r>
          </a:p>
          <a:p>
            <a:pPr algn="l"/>
            <a:r>
              <a:rPr sz="1500" b="0">
                <a:solidFill>
                  <a:srgbClr val="222B33"/>
                </a:solidFill>
                <a:latin typeface="Microsoft YaHei"/>
              </a:rPr>
              <a:t>D. 活动后再补审批</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简答：带访客参观时，“不靠、不搭、不爬”指什么？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欢迎参观，保护访客是第一位</a:t>
            </a:r>
          </a:p>
          <a:p>
            <a:pPr>
              <a:spcAft>
                <a:spcPts val="800"/>
              </a:spcAft>
            </a:pPr>
            <a:r>
              <a:rPr sz="1500">
                <a:solidFill>
                  <a:srgbClr val="FFFFFF"/>
                </a:solidFill>
                <a:latin typeface="Microsoft YaHei"/>
              </a:rPr>
              <a:t>▪ K2  登记、批准、交底、全程陪同</a:t>
            </a:r>
          </a:p>
          <a:p>
            <a:pPr>
              <a:spcAft>
                <a:spcPts val="800"/>
              </a:spcAft>
            </a:pPr>
            <a:r>
              <a:rPr sz="1500">
                <a:solidFill>
                  <a:srgbClr val="FFFFFF"/>
                </a:solidFill>
                <a:latin typeface="Microsoft YaHei"/>
              </a:rPr>
              <a:t>▪ K3  参观前告知着装，进门配防护</a:t>
            </a:r>
          </a:p>
          <a:p>
            <a:pPr>
              <a:spcAft>
                <a:spcPts val="800"/>
              </a:spcAft>
            </a:pPr>
            <a:r>
              <a:rPr sz="1500">
                <a:solidFill>
                  <a:srgbClr val="FFFFFF"/>
                </a:solidFill>
                <a:latin typeface="Microsoft YaHei"/>
              </a:rPr>
              <a:t>▪ K4  访客在场：通道畅通，暂停吊运</a:t>
            </a:r>
          </a:p>
          <a:p>
            <a:pPr>
              <a:spcAft>
                <a:spcPts val="800"/>
              </a:spcAft>
            </a:pPr>
            <a:r>
              <a:rPr sz="1500">
                <a:solidFill>
                  <a:srgbClr val="FFFFFF"/>
                </a:solidFill>
                <a:latin typeface="Microsoft YaHei"/>
              </a:rPr>
              <a:t>▪ K5  站在安全区：不越线，隔窗看</a:t>
            </a:r>
          </a:p>
          <a:p>
            <a:pPr>
              <a:spcAft>
                <a:spcPts val="800"/>
              </a:spcAft>
            </a:pPr>
            <a:r>
              <a:rPr sz="1500">
                <a:solidFill>
                  <a:srgbClr val="FFFFFF"/>
                </a:solidFill>
                <a:latin typeface="Microsoft YaHei"/>
              </a:rPr>
              <a:t>▪ K6  不靠、不搭、不爬</a:t>
            </a:r>
          </a:p>
          <a:p>
            <a:pPr>
              <a:spcAft>
                <a:spcPts val="800"/>
              </a:spcAft>
            </a:pPr>
            <a:r>
              <a:rPr sz="1500">
                <a:solidFill>
                  <a:srgbClr val="FFFFFF"/>
                </a:solidFill>
                <a:latin typeface="Microsoft YaHei"/>
              </a:rPr>
              <a:t>▪ K7  留意会突然启动的设备</a:t>
            </a:r>
          </a:p>
          <a:p>
            <a:pPr>
              <a:spcAft>
                <a:spcPts val="800"/>
              </a:spcAft>
            </a:pPr>
            <a:r>
              <a:rPr sz="1500">
                <a:solidFill>
                  <a:srgbClr val="FFFFFF"/>
                </a:solidFill>
                <a:latin typeface="Microsoft YaHei"/>
              </a:rPr>
              <a:t>▪ K8  先说清楚，再动手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拍照拍视频有边界</a:t>
            </a:r>
          </a:p>
          <a:p>
            <a:pPr>
              <a:spcAft>
                <a:spcPts val="800"/>
              </a:spcAft>
            </a:pPr>
            <a:r>
              <a:rPr sz="1500">
                <a:solidFill>
                  <a:srgbClr val="FFFFFF"/>
                </a:solidFill>
                <a:latin typeface="Microsoft YaHei"/>
              </a:rPr>
              <a:t>▪ S1  高风险区域限制进入</a:t>
            </a:r>
          </a:p>
          <a:p>
            <a:pPr>
              <a:spcAft>
                <a:spcPts val="800"/>
              </a:spcAft>
            </a:pPr>
            <a:r>
              <a:rPr sz="1500">
                <a:solidFill>
                  <a:srgbClr val="FFFFFF"/>
                </a:solidFill>
                <a:latin typeface="Microsoft YaHei"/>
              </a:rPr>
              <a:t>▪ S2  紧急时带访客撤离</a:t>
            </a:r>
          </a:p>
          <a:p>
            <a:pPr>
              <a:spcAft>
                <a:spcPts val="800"/>
              </a:spcAft>
            </a:pPr>
            <a:r>
              <a:rPr sz="1500">
                <a:solidFill>
                  <a:srgbClr val="FFFFFF"/>
                </a:solidFill>
                <a:latin typeface="Microsoft YaHei"/>
              </a:rPr>
              <a:t>▪ K10  外来维修人员：双向告知危险</a:t>
            </a:r>
          </a:p>
          <a:p>
            <a:pPr>
              <a:spcAft>
                <a:spcPts val="800"/>
              </a:spcAft>
            </a:pPr>
            <a:r>
              <a:rPr sz="1500">
                <a:solidFill>
                  <a:srgbClr val="FFFFFF"/>
                </a:solidFill>
                <a:latin typeface="Microsoft YaHei"/>
              </a:rPr>
              <a:t>▪ K11  外来人员作业前：清场、去污、陪同</a:t>
            </a:r>
          </a:p>
          <a:p>
            <a:pPr>
              <a:spcAft>
                <a:spcPts val="800"/>
              </a:spcAft>
            </a:pPr>
            <a:r>
              <a:rPr sz="1500">
                <a:solidFill>
                  <a:srgbClr val="FFFFFF"/>
                </a:solidFill>
                <a:latin typeface="Microsoft YaHei"/>
              </a:rPr>
              <a:t>▪ K12  社团活动：先审批，定安全负责人</a:t>
            </a:r>
          </a:p>
          <a:p>
            <a:pPr>
              <a:spcAft>
                <a:spcPts val="800"/>
              </a:spcAft>
            </a:pPr>
            <a:r>
              <a:rPr sz="1500">
                <a:solidFill>
                  <a:srgbClr val="FFFFFF"/>
                </a:solidFill>
                <a:latin typeface="Microsoft YaHei"/>
              </a:rPr>
              <a:t>▪ K13  社团借用实验室：先培训准入</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