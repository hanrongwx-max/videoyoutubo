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a:p>
            <a:r>
              <a:t>除了人员行为和环境，设备设施本身也要定期检查和维护：通风柜、生物安全柜、洗眼器和喷淋、灭火器、电气线路、压力容器等，按规定周期检查维护并做好记录，发现问题及时整改。各类设备设施的具体检查要求在对应专题课中讲解（如电气检查见第 104 课，消防器材检查见第 33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专项），必要时组织校内互查或请校外专家检查。上级教育主管部门也会按检查项目表进行检查。</a:t>
            </a:r>
          </a:p>
          <a:p>
            <a:r>
              <a:t>检查频次以本校规定为准。各级检查发现的问题都应登记，并进入隐患整改闭环。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火器等消防器材是否在位，水、电、气是否按要求关闭。</a:t>
            </a:r>
          </a:p>
          <a:p>
            <a:r>
              <a:t>实验室的状况一直在变化：新试剂到货、实验装置搭建、人员进出。因此安全员和负责人一天中要多次巡视。自查中发现的小问题，能当场处理的就当场处理（如收好线缆、盖好试剂瓶）；处理不了的及时报告。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每年组织一次全面的模拟检查。具体周期以本校规定为准。</a:t>
            </a:r>
          </a:p>
          <a:p>
            <a:r>
              <a:t>模拟检查查出的问题，要像正式检查一样登记和整改。它能暴露记录缺失、人员回答不上来、隐患长期存在等问题，帮助在正式检查和事故之前把漏洞补上。</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入柜上锁；检查冰箱、培养箱等必须持续运行的设备状态。</a:t>
            </a:r>
          </a:p>
          <a:p>
            <a:r>
              <a:t>必须持续运行的设备应在显著位置注明值守人和联系方式，并按本校规定报备，安排假期巡查。</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分类存放、不相容物质是否分开，废液是否分类收集、贴好标签、没有倒入下水道；管控化学品台账是否账物相符；安全信息牌、消防器材和应急设施是否在位有效。各检查项的具体要求在对应专题课中讲解。</a:t>
            </a:r>
          </a:p>
          <a:p>
            <a:r>
              <a:t>隐患常常藏在不显眼的地方：柜子后面、实验台下、通风柜内角、天花板上方、长期不用的储物间。检查时要仔细，必要时借助手电。清单只是起点，平时多看多想，才能发现清单没写到的问题。</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否知道本岗位的危险、防护和应急措施。</a:t>
            </a:r>
          </a:p>
          <a:p>
            <a:r>
              <a:t>安全审核的目的，是找出与法规、标准和制度不符合或没有执行的地方。发现的问题要记录在案，并限期整改。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发现隐患、违规操作或不安全情况时，要立即报告导师或实验室负责人（或安全员），而不是视而不见、想着“等出了事再说”。能够安全制止的违规操作，应当场提醒或叫停。</a:t>
            </a:r>
          </a:p>
          <a:p>
            <a:r>
              <a:t>险情（未遂事件）同样要报告：虽然没有造成伤害，但说明防线存在漏洞。报告后要登记、整改、复查，形成闭环；在组会等场合分享出来，其他人就不会再犯同样的错误。报告隐患和险情是每个人的权利和义务，学校鼓励并保护报告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关键安全设施失效等。</a:t>
            </a:r>
          </a:p>
          <a:p>
            <a:r>
              <a:t>重大隐患不能“记下来等例会再说”：要立即报告实验室负责人和学院，必要时报学校；同时立即停止相关实验、停用相关设备或场所，采取临时防护措施。整改完成后，经复查合格才能恢复使用，并记录跟踪。</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后由检查方或负责人复查验证，确认问题已解决且不会再次发生，才能销号。</a:t>
            </a:r>
          </a:p>
          <a:p>
            <a:r>
              <a:t>漏掉“找根因”和“验证”两步，问题就会反复出现；小问题如果不从根上改，会越积越多，最终酿成事故或受到严重处理。收到学校或上级的检查意见后，要按时回复，逐项写明整改措施和完成日期；拖延、敷衍只会让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自查和互查中发现问题，说明检查起了作用，是改进的机会，不必把它当作“丢面子”的事而隐瞒。</a:t>
            </a:r>
          </a:p>
          <a:p>
            <a:r>
              <a:t>要定期把检查发现的问题汇总起来，看看有没有重复出现的趋势。例如多个实验室都缺培训记录，说明问题不在个人，而在培训和记录系统本身，应从制度和流程上改进。这样，检查就成为持续改进的帮手，而不是负担。</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格后才能重新使用。</a:t>
            </a:r>
          </a:p>
          <a:p>
            <a:r>
              <a:t>危险化学品领用登记、仪器使用记录、安全检查记录等台账，与实验记录本一样，要如实、及时填写，不事后补记。</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职业健康监护档案并按规定期限妥善保存。</a:t>
            </a:r>
          </a:p>
          <a:p>
            <a:r>
              <a:t>不同记录的保存期限各不相同（培训记录、检查记录、化学品台账、废弃物转移联单、个人剂量档案等），具体期限按国家规定和本校档案管理规定执行。乱塞的文件柜无法满足这些要求，建议建立分类清晰、备份可靠的电子档案，做到随时调出、查找方便。</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如果一听说要检查就手忙脚乱，说明平时没有做到位。应当把检查看成一次“彩排”——检验日常工作是否扎实的机会，而不是需要临时排练的“正式演出”。</a:t>
            </a:r>
          </a:p>
          <a:p>
            <a:r>
              <a:t>一个安全管理成熟的实验室，日常就是这样的：安全制度和规程现行有效、审批签字齐全、随时能调出；培训记录能证明人员确实会做，而不只是签到；设备状态有效、标识清楚；连险情也进入整改闭环。做到这些，即使是不打招呼的突击检查，实验室也能一切照常。检查还可以成为大家一起学习的机会。</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迎接检查必须实事求是：不藏匿超量或违规存放的物品，不临时转移问题，不补签、伪造记录。藏匿和造假不但掩盖了隐患，还可能造成新的危险（如把化学品塞进不合适的柜子），一旦发现，后果比问题本身严重得多。</a:t>
            </a:r>
          </a:p>
          <a:p>
            <a:r>
              <a:t>检查人员提问时如实回答；不知道的就说不知道，并当场查阅手册或请教负责人，而不是随口编造。平时什么样，检查时就什么样。</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答案：B。解析：重大隐患不能等，先停用、立即报告，整改并复查合格后才能恢复使用；电气维修须由持证电工进行。</a:t>
            </a:r>
          </a:p>
          <a:p>
            <a:r>
              <a:t>第 2 题 答案：C。解析：只处理表面、不找根因、不复查验证，问题就会反复出现。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答案：B。解析：记录要如实、及时，不补签、不造假；如实迎检，平时什么样检查就什么样。</a:t>
            </a:r>
          </a:p>
          <a:p>
            <a:r>
              <a:t>第 4 题 答案：D。解析：废液必须分类收集、贴签，交有资质单位处置，任何时候都不得倒入下水道。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答案：定人（整改责任人）、定时（整改期限）、定措施（整改措施）。解析：整改完成后还要复查合格才能销号。</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实的方式（制度、培训、检查、资源保障）。</a:t>
            </a:r>
          </a:p>
          <a:p>
            <a:r>
              <a:t>方针要简短明确、让所有成员知晓，并由负责人带头践行。在高校，学校层面的实验室安全管理办法、学院和实验室的安全责任书，都体现了这种承诺。</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手册、化学品安全管理制度和各项操作规程。</a:t>
            </a:r>
          </a:p>
          <a:p>
            <a:r>
              <a:t>计划的落实需要负责人的管理：向成员讲清本室的特殊危险，监督防护措施的落实；应急预案和安全信息张贴在显眼处；需要定期检测的设备（如通风柜、压力容器、气瓶）按时检测；实验室保存化学品清单，化学品安全技术说明书（SDS）随时可查；风险评估、采取的措施和效果都要记录下来。</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入要求；需要事先审批的危险实验；健康监护和受伤后的就医流程；实验室安全员及其职责；对剧毒、易制爆、自燃、高致病性等高危物质的特别管理措施；废物处置和应急处置。</a:t>
            </a:r>
          </a:p>
          <a:p>
            <a:r>
              <a:t>手册是本实验室安全工作的总纲，进入实验室的每个人都要学习并遵守。具体内容以本实验室现行手册为准。</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章讲解）；危险能量控制即上锁挂牌制度，检修、清理设备前切断能源并上锁挂牌，防止他人误启动造成伤害（依据 GB/T 33579-2017，以现行文本为准，第 10 章讲解）；呼吸防护制度，按 GB 18664-2025（以现行文本为准）进行危害评估、选型、培训、适合性检验和维护（第 3 章讲解）。</a:t>
            </a:r>
          </a:p>
          <a:p>
            <a:r>
              <a:t>其他常见的专项制度还有危险化学品采购与储存、气瓶管理、生物安全、辐射安全、仪器设备使用等。</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a:p>
            <a:r>
              <a:t>本室规程应由熟悉工作的人员编写，经实验室负责人审核批准后执行，并对成员进行培训。SOP 的编写方法在第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灾、化学品泄漏、人员暴露、触电、病原微生物溢洒等），写清处置步骤、分工、报告程序和应急资源的位置。</a:t>
            </a:r>
          </a:p>
          <a:p>
            <a:r>
              <a:t>应急处置流程和应急电话（119、120、实验室负责人、学院、保卫处）应张贴在实验室显眼处。预案要定期组织演练，演练后总结问题、修订预案。各类事故的具体处置方法在第 14 章讲解。</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制度和手册不能写完就束之高阁。实验室的人员、设备、试剂和实验方法一直在变化：写着已拆除的设备、早已不用的试剂，而新引进的高危试剂、新仪器却没有规程，这样的手册已经失效。</a:t>
            </a:r>
          </a:p>
          <a:p>
            <a:r>
              <a:t>因此，制度要定期修订（以本校规定周期为准），在引入新试剂、新设备、新方法或发生事故、险情后及时更新；新技术可能带来新的危害，要在使用前就考虑到。修订后还要对成员重新培训。可以经常问自己：手册和现实一致吗？新试剂写进去了吗？培训跟上了吗？</a:t>
            </a:r>
          </a:p>
          <a:p>
            <a:r>
              <a:t>手册是实验室与每位成员之间的约定，既要制定，更要执行。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a:p>
            <a:r>
              <a:t>还有实验室因制度与现实严重脱节受到重罚：安全手册多年未修订，手册中的负责人早已离任，培训内容过时，新使用的高危试剂没有规程和专门区域。</a:t>
            </a:r>
          </a:p>
          <a:p>
            <a:r>
              <a:t>这些教训说明：制度的价值在于执行。高危操作前必须确认防护到位（如阻燃服、面屏）、确认操作者经过培训且具备能力、安排他人在场；放大实验必须重新评估（第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四是没出事就不报告险情——每一起事故背后，往往有许多次被忽视的险情和隐患。</a:t>
            </a:r>
          </a:p>
          <a:p>
            <a:r>
              <a:t>避开这些陷阱，制度才能真正起作用：手册日常使用，安全员真在岗、真管事、有实权，安全与质量一体管理，险情如实报告并整改。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存放位置）的不能随意复印外传。</a:t>
            </a:r>
          </a:p>
          <a:p>
            <a:r>
              <a:t>培训、检查、事故和险情、设备使用、样本和试剂领用等都要登记，形成安全档案，归档保存。留痕可查，出了问题才能追溯原因、改进管理。档案保存期限见第 5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实际。</a:t>
            </a:r>
          </a:p>
          <a:p>
            <a:r>
              <a:t>高校通常在学校层面设有实验室安全工作领导机构，学院设有相应的安全工作小组，部分领域还有专门的委员会（如生物安全委员会，第 6 章讲解）。具体设置以本校规定为准。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患整改率、险情报告数量。</a:t>
            </a:r>
          </a:p>
          <a:p>
            <a:r>
              <a:t>只看滞后指标，往往要等出了事才发现问题；多关注领先指标，可以在事故之前发现薄弱环节。注意，险情报告数增加通常是好现象，说明大家愿意报告。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职业健康安全管理体系是系统管理安全与健康风险的方法，其核心是 PDCA 循环：计划（识别危害、评估风险、确定目标和措施）、实施（按计划落实措施、培训和运行控制）、检查（监测、检查、审核、事故调查）、改进（纠正问题、修订制度），然后进入下一轮循环，螺旋上升。我国现行标准为 GB/T 45001-2020（以现行文本为准），等同采用相应国际标准，早期使用的旧版体系标准已被取代。</a:t>
            </a:r>
          </a:p>
          <a:p>
            <a:r>
              <a:t>落到实验室，这一思想可以概括为三点：以可靠的风险评估为基础；采用安全的方法和合适的设备；不断寻找更安全的做法，持续改进。高校实验室不一定都进行体系认证，但这种管理思路同样适用。</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环境管理体系是单位系统识别和控制自身活动对环境影响的管理方法，我国现行标准为 GB/T 24001-2016（以现行文本为准）。它同样采用 PDCA 循环：识别环境因素和合规义务，制定目标和措施，运行控制，监测检查，持续改进。</a:t>
            </a:r>
          </a:p>
          <a:p>
            <a:r>
              <a:t>实验室的环境因素包括危险废物和废液、废气排放、废水、能源和水的消耗等。用环境管理的思路管理实验室，有助于依法处置危险废物、减少排放和能耗。绿色实验室与节能环保在第 55 课讲解。</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于强制检定或定期检验的按规定送检；停用、报废前进行清洁、去污（化学、生物、放射性），按学校资产和危险废物管理规定处置，不得随意丢弃或转让。</a:t>
            </a:r>
          </a:p>
          <a:p>
            <a:r>
              <a:t>《高等学校实验室安全规范》对仪器设备安全管理有相应要求（以现行文本为准）；特种设备还须遵守《中华人民共和国特种设备安全法》。</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答案：C。解析：领先指标反映预防工作的开展情况，事故次数、缺勤和赔偿属于滞后指标。</a:t>
            </a:r>
          </a:p>
          <a:p>
            <a:r>
              <a:t>第 2 题 答案：B。解析：规程是受控文件，修改须升版本、审批、发布并防止旧版误用。</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答案：B。解析：纸上的计划救不了人，关键在落实——防护、能力确认、结伴等都要做到。</a:t>
            </a:r>
          </a:p>
          <a:p>
            <a:r>
              <a:t>第 4 题 答案：A。解析：PDCA 循环，我国现行标准为 GB/T 45001-2020。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答案：手册只为应付检查；安全员随便指派、没有实权；安全和质量各管各的；没出事就不报告险情。解析：见 K8。</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不得上岗作业，高校实验室同样遵循这一原则。</a:t>
            </a:r>
          </a:p>
          <a:p>
            <a:r>
              <a:t>培训的关键是“学会”，而不是“到场”：签到不等于受了培训，培训后必须通过考核证明掌握了要求的内容。培训内容既包括操作规程，也包括应急预案和应急处置方法。</a:t>
            </a:r>
          </a:p>
          <a:p>
            <a:r>
              <a:t>取得准入后，进出实验室要按规定登记，听从实验室负责人和指导教师的安排。新实验开展前还要先做风险评估、确定防护措施（第 2 章讲解）。</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负责人、安全员或带教人讲授本岗位、本课题使用的物质、设备、操作规程、应急设施和应急程序。</a:t>
            </a:r>
          </a:p>
          <a:p>
            <a:r>
              <a:t>三层培训缺一不可：学校和学院的培训打基础，实验室的培训解决“在这间屋子里、做这个实验具体怎么做”。生物安全、辐射、激光等专项培训分别见第 61、93、116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a:p>
            <a:r>
              <a:t>同样，实验室准备引入一种新的危险化学品或开展新的危险性工作时，如果相应的操作规程还没有制定、人员培训还没有完成，就不能使用，也不能先储存这种化学品。</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制危害。</a:t>
            </a:r>
          </a:p>
          <a:p>
            <a:r>
              <a:t>需要培训的不只是做实验的人：安装、维修、维护电气设备的人员，以及在电气设备旁边工作的人员，都要接受相应的培训（电工作业须持证）。负责危险废物管理、承担应急职责的人员还有专门的培训要求，需要什么培训、到哪里参加，要事先向学院或学校问清楚。</a:t>
            </a:r>
          </a:p>
          <a:p>
            <a:r>
              <a:t>没有经过培训就上手操作，是事故和伤害的常见原因。</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正会为止。</a:t>
            </a:r>
          </a:p>
          <a:p>
            <a:r>
              <a:t>培训应当按需设计：先分析不同人员需要什么（新生、老生、教师、维修人员需求不同），据此确定内容和方式；培训后通过考核、实操和日常观察检验效果，并定期再培训。对带教人来说，教别人的过程也是巩固自己的过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一次做某个实验，一定要在老师或带教人指导下进行。</a:t>
            </a:r>
          </a:p>
          <a:p>
            <a:r>
              <a:t>过程中有任何疑问随时提出，不要硬着头皮上。危险性较高的操作（如使用剧毒品、高压、自燃试剂等）不得一个人在实验室进行，要有人在场或按本校规定执行。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进入新实验室，面对新同事、新材料、新流程，既兴奋又有压力。这时最重要的不是马上开始实验，而是学会在这里安全地工作。</a:t>
            </a:r>
          </a:p>
          <a:p>
            <a:r>
              <a:t>第一天应由实验室负责人或安全员带领巡视一圈，逐一指出危险的地方：气瓶在哪里、化学品柜和危险废物暂存点在哪里、哪些设备有特殊危险。然后实地走一遍应急设施：洗眼器、紧急喷淋、灭火器、急救箱、紧急切断开关和安全出口在哪里，怎么最快到达。还要约定出事时如何通知全实验室的人（喊话、警报方式等），以及本室所用物料各自的应急处置方法。</a:t>
            </a:r>
          </a:p>
          <a:p>
            <a:r>
              <a:t>就像熟悉灯开关在哪里一样，第一天就要学会这里的安全规则。看不懂的随时问负责人和安全员。</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有序；六是知道出了事怎么应急。最后，听从实验室负责人的安排，遵守规矩，才能天天安全。</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章讲解），以及急救和心肺复苏培训（在训练模型上练习）。这些技能平时用不上，关键时刻却可能挽救生命。</a:t>
            </a:r>
          </a:p>
          <a:p>
            <a:r>
              <a:t>应急技能要定期复习；没有经过培训的人员，在火情面前首先要确保自身安全、及时报警（119）和撤离。</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长时间（如一个假期或更久）没有进行某项操作，熟练度会下降，容易出错。重新开始前，应先复习规程，在他人看护下操作一遍，确认没有问题后再独立进行。</a:t>
            </a:r>
          </a:p>
          <a:p>
            <a:r>
              <a:t>所有人员都要定期复训，有经验的老手也不例外，规程更新时更要及时学习；同时定期参加应急演练，保持应急处置能力。复训周期以本校和本实验室规定为准。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记录。</a:t>
            </a:r>
          </a:p>
          <a:p>
            <a:r>
              <a:t>培训记录要归档保存，并跟踪复训到期时间，及时提醒。好的培训记录能证明人员真正掌握了内容，而不只是签过到。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程和本校规定为准，并可向负责人反映。</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不留下无人认领、无标签的样本和试剂；实验记录、数据和相关资料完整移交；归还钥匙、门禁卡，注销门禁和仪器使用权限。</a:t>
            </a:r>
          </a:p>
          <a:p>
            <a:r>
              <a:t>无主样本和试剂是实验室常见的隐患来源：标签模糊、性质不明，处置困难，甚至可能变质产生危险。离开时办好交接，是对实验室和后来者负责。</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答案：C。解析：通用证书只是第一步，还要本室培训、实操考核和批准；签到不等于培训。</a:t>
            </a:r>
          </a:p>
          <a:p>
            <a:r>
              <a:t>第 2 题 答案：B。解析：先跟做，再在看护下做并当场纠正，考核通过才能独立。</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答案：A。解析：规程改版、换课题、用新设备都要补专项培训，定期复训老手也不例外。</a:t>
            </a:r>
          </a:p>
          <a:p>
            <a:r>
              <a:t>第 4 题 答案：D。解析：不能留下无人认领的样本和试剂，不需要的要按规定处置。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答案：B。解析：第一天最重要的是学会在这里安全地工作。</a:t>
            </a:r>
          </a:p>
          <a:p>
            <a:r>
              <a:t>第 6 题 答案：培训内容、培训人、受训人、日期、考核方式和结果。解析：记录要能证明真正掌握，并跟踪复训到期时间。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安全检查与隐患整改</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适用对象：全体进入高校实验室的本科生、研究生、新进教职工和博士后（必修）；实验室负责人、安全员和学院安全管理员重点学习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能说出实验室日常自查、学院定期检查、学校专项检查和节假日前检查的要求与节奏。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能做到：按清单开展日常自查，发现隐患立即报告，重大隐患先停用再报告。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能说出隐患整改闭环（定人、定时、定措施，找根因、纠正、复查销号）的步骤。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能判断检查记录、标识和台账的规范做法，理解记录保存期限和如实迎检的要求。</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《中华人民共和国安全生产法》（以现行文本为准）：安全风险分级管控和隐患排查治理双重预防机制；事故隐患排查治理与记录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号，以现行文本为准）：安全检查与隐患排查治理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教育部高校实验室安全检查项目表（以现行文本为准）：安全检查类检查项（检查记录、整改台账）</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《中华人民共和国职业病防治法》（以现行文本为准）：职业健康监护档案按规定期限妥善保存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本校实验室安全检查、隐患整改和档案管理规定（以本校规定为准）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检查就是主动找隐患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巡查就是主动去找隐患，找到再想怎么改</a:t>
            </a:r>
          </a:p>
          <a:p>
            <a:pPr>
              <a:spcAft>
                <a:spcPts val="1000"/>
              </a:spcAft>
            </a:pPr>
            <a:r>
              <a:rPr sz="2000">
                <a:solidFill>
                  <a:srgbClr val="222B33"/>
                </a:solidFill>
                <a:latin typeface="Microsoft YaHei"/>
              </a:rPr>
              <a:t>▪ 设备设施要定期检查、按时维护并记录</a:t>
            </a:r>
          </a:p>
          <a:p>
            <a:pPr>
              <a:spcAft>
                <a:spcPts val="1000"/>
              </a:spcAft>
            </a:pPr>
            <a:r>
              <a:rPr sz="2000">
                <a:solidFill>
                  <a:srgbClr val="222B33"/>
                </a:solidFill>
                <a:latin typeface="Microsoft YaHei"/>
              </a:rPr>
              <a:t>▪ 定期巡查是安全管理的重要一环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把检查当成“走过场”，只看表面</a:t>
            </a:r>
          </a:p>
          <a:p>
            <a:pPr>
              <a:spcAft>
                <a:spcPts val="1000"/>
              </a:spcAft>
            </a:pPr>
            <a:r>
              <a:rPr sz="1500">
                <a:solidFill>
                  <a:srgbClr val="222B33"/>
                </a:solidFill>
                <a:latin typeface="Microsoft YaHei"/>
              </a:rPr>
              <a:t>▪ 设备只用不管，坏了才修</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三级检查：自查、学院查、学校查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高校实行学校、学院、实验室三级安全检查</a:t>
            </a:r>
          </a:p>
          <a:p>
            <a:pPr>
              <a:spcAft>
                <a:spcPts val="1000"/>
              </a:spcAft>
            </a:pPr>
            <a:r>
              <a:rPr sz="2000">
                <a:solidFill>
                  <a:srgbClr val="222B33"/>
                </a:solidFill>
                <a:latin typeface="Microsoft YaHei"/>
              </a:rPr>
              <a:t>▪ 实验室天天自查</a:t>
            </a:r>
          </a:p>
          <a:p>
            <a:pPr>
              <a:spcAft>
                <a:spcPts val="1000"/>
              </a:spcAft>
            </a:pPr>
            <a:r>
              <a:rPr sz="2000">
                <a:solidFill>
                  <a:srgbClr val="222B33"/>
                </a:solidFill>
                <a:latin typeface="Microsoft YaHei"/>
              </a:rPr>
              <a:t>▪ 学院定期检查，学校组织定期和专项检查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认为有学院和学校检查，实验室就不必自查</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日常自查：开工收工查一遍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等别人来查，不如自己先查</a:t>
            </a:r>
          </a:p>
          <a:p>
            <a:pPr>
              <a:spcAft>
                <a:spcPts val="1000"/>
              </a:spcAft>
            </a:pPr>
            <a:r>
              <a:rPr sz="2000">
                <a:solidFill>
                  <a:srgbClr val="222B33"/>
                </a:solidFill>
                <a:latin typeface="Microsoft YaHei"/>
              </a:rPr>
              <a:t>▪ 每天收工前按清单查一遍</a:t>
            </a:r>
          </a:p>
          <a:p>
            <a:pPr>
              <a:spcAft>
                <a:spcPts val="1000"/>
              </a:spcAft>
            </a:pPr>
            <a:r>
              <a:rPr sz="2000">
                <a:solidFill>
                  <a:srgbClr val="222B33"/>
                </a:solidFill>
                <a:latin typeface="Microsoft YaHei"/>
              </a:rPr>
              <a:t>▪ 通道、线缆、废料、消防都要查到</a:t>
            </a:r>
          </a:p>
          <a:p>
            <a:pPr>
              <a:spcAft>
                <a:spcPts val="1000"/>
              </a:spcAft>
            </a:pPr>
            <a:r>
              <a:rPr sz="2000">
                <a:solidFill>
                  <a:srgbClr val="222B33"/>
                </a:solidFill>
                <a:latin typeface="Microsoft YaHei"/>
              </a:rPr>
              <a:t>▪ 现场一直在变，一天要多看几次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最后离开的人不做收工检查</a:t>
            </a:r>
          </a:p>
          <a:p>
            <a:pPr>
              <a:spcAft>
                <a:spcPts val="1000"/>
              </a:spcAft>
            </a:pPr>
            <a:r>
              <a:rPr sz="1500">
                <a:solidFill>
                  <a:srgbClr val="222B33"/>
                </a:solidFill>
                <a:latin typeface="Microsoft YaHei"/>
              </a:rPr>
              <a:t>▪ 发现小问题觉得“不是我弄的”就不管</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逐级累积的检查节奏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自查要一层层累积起来</a:t>
            </a:r>
          </a:p>
          <a:p>
            <a:pPr>
              <a:spcAft>
                <a:spcPts val="1000"/>
              </a:spcAft>
            </a:pPr>
            <a:r>
              <a:rPr sz="2000">
                <a:solidFill>
                  <a:srgbClr val="222B33"/>
                </a:solidFill>
                <a:latin typeface="Microsoft YaHei"/>
              </a:rPr>
              <a:t>▪ 每周带清单巡查，每季度全面自查</a:t>
            </a:r>
          </a:p>
          <a:p>
            <a:pPr>
              <a:spcAft>
                <a:spcPts val="1000"/>
              </a:spcAft>
            </a:pPr>
            <a:r>
              <a:rPr sz="2000">
                <a:solidFill>
                  <a:srgbClr val="222B33"/>
                </a:solidFill>
                <a:latin typeface="Microsoft YaHei"/>
              </a:rPr>
              <a:t>▪ 定期请外部人员互查，每年一次全面模拟检查</a:t>
            </a:r>
          </a:p>
          <a:p>
            <a:pPr>
              <a:spcAft>
                <a:spcPts val="1000"/>
              </a:spcAft>
            </a:pPr>
            <a:r>
              <a:rPr sz="2000">
                <a:solidFill>
                  <a:srgbClr val="222B33"/>
                </a:solidFill>
                <a:latin typeface="Microsoft YaHei"/>
              </a:rPr>
              <a:t>▪ 模拟检查查出的问题当真整改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只在正式检查前突击自查一次</a:t>
            </a:r>
          </a:p>
          <a:p>
            <a:pPr>
              <a:spcAft>
                <a:spcPts val="1000"/>
              </a:spcAft>
            </a:pPr>
            <a:r>
              <a:rPr sz="1500">
                <a:solidFill>
                  <a:srgbClr val="222B33"/>
                </a:solidFill>
                <a:latin typeface="Microsoft YaHei"/>
              </a:rPr>
              <a:t>▪ 模拟检查查出的问题不当回事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节假日和恶劣天气前检查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节假日和恶劣天气前专门检查</a:t>
            </a:r>
          </a:p>
          <a:p>
            <a:pPr>
              <a:spcAft>
                <a:spcPts val="1000"/>
              </a:spcAft>
            </a:pPr>
            <a:r>
              <a:rPr sz="2000">
                <a:solidFill>
                  <a:srgbClr val="222B33"/>
                </a:solidFill>
                <a:latin typeface="Microsoft YaHei"/>
              </a:rPr>
              <a:t>▪ 关好门窗，查排水</a:t>
            </a:r>
          </a:p>
          <a:p>
            <a:pPr>
              <a:spcAft>
                <a:spcPts val="1000"/>
              </a:spcAft>
            </a:pPr>
            <a:r>
              <a:rPr sz="2000">
                <a:solidFill>
                  <a:srgbClr val="222B33"/>
                </a:solidFill>
                <a:latin typeface="Microsoft YaHei"/>
              </a:rPr>
              <a:t>▪ 关闭气瓶，切断不必要的电源</a:t>
            </a:r>
          </a:p>
          <a:p>
            <a:pPr>
              <a:spcAft>
                <a:spcPts val="1000"/>
              </a:spcAft>
            </a:pPr>
            <a:r>
              <a:rPr sz="2000">
                <a:solidFill>
                  <a:srgbClr val="222B33"/>
                </a:solidFill>
                <a:latin typeface="Microsoft YaHei"/>
              </a:rPr>
              <a:t>▪ 必须运行的设备留好值守联系人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放假前不检查，气瓶不关、设备不断电</a:t>
            </a:r>
          </a:p>
          <a:p>
            <a:pPr>
              <a:spcAft>
                <a:spcPts val="1000"/>
              </a:spcAft>
            </a:pPr>
            <a:r>
              <a:rPr sz="1500">
                <a:solidFill>
                  <a:srgbClr val="222B33"/>
                </a:solidFill>
                <a:latin typeface="Microsoft YaHei"/>
              </a:rPr>
              <a:t>▪ 长时间运行设备无人值守、无联系人</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拿好清单，留心隐蔽隐患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拿好检查清单，一项一项查</a:t>
            </a:r>
          </a:p>
          <a:p>
            <a:pPr>
              <a:spcAft>
                <a:spcPts val="1000"/>
              </a:spcAft>
            </a:pPr>
            <a:r>
              <a:rPr sz="2000">
                <a:solidFill>
                  <a:srgbClr val="222B33"/>
                </a:solidFill>
                <a:latin typeface="Microsoft YaHei"/>
              </a:rPr>
              <a:t>▪ 例：插线板不串接，气瓶要固定</a:t>
            </a:r>
          </a:p>
          <a:p>
            <a:pPr>
              <a:spcAft>
                <a:spcPts val="1000"/>
              </a:spcAft>
            </a:pPr>
            <a:r>
              <a:rPr sz="2000">
                <a:solidFill>
                  <a:srgbClr val="222B33"/>
                </a:solidFill>
                <a:latin typeface="Microsoft YaHei"/>
              </a:rPr>
              <a:t>▪ 例：化学品分类存放，废液贴签不倒下水道，账物相符</a:t>
            </a:r>
          </a:p>
          <a:p>
            <a:pPr>
              <a:spcAft>
                <a:spcPts val="1000"/>
              </a:spcAft>
            </a:pPr>
            <a:r>
              <a:rPr sz="2000">
                <a:solidFill>
                  <a:srgbClr val="222B33"/>
                </a:solidFill>
                <a:latin typeface="Microsoft YaHei"/>
              </a:rPr>
              <a:t>▪ 隐患可能藏得深；清单只是起点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不拿清单凭印象查，漏项</a:t>
            </a:r>
          </a:p>
          <a:p>
            <a:pPr>
              <a:spcAft>
                <a:spcPts val="1000"/>
              </a:spcAft>
            </a:pPr>
            <a:r>
              <a:rPr sz="1500">
                <a:solidFill>
                  <a:srgbClr val="222B33"/>
                </a:solidFill>
                <a:latin typeface="Microsoft YaHei"/>
              </a:rPr>
              <a:t>▪ 只查显眼处，不看柜后、桌下等隐蔽位置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检查看现场，也看记录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检查既看现场，也核对手册和各类记录</a:t>
            </a:r>
          </a:p>
          <a:p>
            <a:pPr>
              <a:spcAft>
                <a:spcPts val="1000"/>
              </a:spcAft>
            </a:pPr>
            <a:r>
              <a:rPr sz="2000">
                <a:solidFill>
                  <a:srgbClr val="222B33"/>
                </a:solidFill>
                <a:latin typeface="Microsoft YaHei"/>
              </a:rPr>
              <a:t>▪ 还会单独询问实验室人员</a:t>
            </a:r>
          </a:p>
          <a:p>
            <a:pPr>
              <a:spcAft>
                <a:spcPts val="1000"/>
              </a:spcAft>
            </a:pPr>
            <a:r>
              <a:rPr sz="2000">
                <a:solidFill>
                  <a:srgbClr val="222B33"/>
                </a:solidFill>
                <a:latin typeface="Microsoft YaHei"/>
              </a:rPr>
              <a:t>▪ 审核就是找出不符合、没执行的地方</a:t>
            </a:r>
          </a:p>
          <a:p>
            <a:pPr>
              <a:spcAft>
                <a:spcPts val="1000"/>
              </a:spcAft>
            </a:pPr>
            <a:r>
              <a:rPr sz="2000">
                <a:solidFill>
                  <a:srgbClr val="222B33"/>
                </a:solidFill>
                <a:latin typeface="Microsoft YaHei"/>
              </a:rPr>
              <a:t>▪ 发现问题限期整改并记录在案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只顾现场整理，忽视记录和文件</a:t>
            </a:r>
          </a:p>
          <a:p>
            <a:pPr>
              <a:spcAft>
                <a:spcPts val="1000"/>
              </a:spcAft>
            </a:pPr>
            <a:r>
              <a:rPr sz="1500">
                <a:solidFill>
                  <a:srgbClr val="222B33"/>
                </a:solidFill>
                <a:latin typeface="Microsoft YaHei"/>
              </a:rPr>
              <a:t>▪ 实验室成员说不清自己岗位的危险和应急措施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发现隐患立即报告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看到违规或不安全情况，立即报告</a:t>
            </a:r>
          </a:p>
          <a:p>
            <a:pPr>
              <a:spcAft>
                <a:spcPts val="1000"/>
              </a:spcAft>
            </a:pPr>
            <a:r>
              <a:rPr sz="2000">
                <a:solidFill>
                  <a:srgbClr val="222B33"/>
                </a:solidFill>
                <a:latin typeface="Microsoft YaHei"/>
              </a:rPr>
              <a:t>▪ 报告导师或实验室负责人</a:t>
            </a:r>
          </a:p>
          <a:p>
            <a:pPr>
              <a:spcAft>
                <a:spcPts val="1000"/>
              </a:spcAft>
            </a:pPr>
            <a:r>
              <a:rPr sz="2000">
                <a:solidFill>
                  <a:srgbClr val="222B33"/>
                </a:solidFill>
                <a:latin typeface="Microsoft YaHei"/>
              </a:rPr>
              <a:t>▪ 不要视而不见，不要等出了事</a:t>
            </a:r>
          </a:p>
          <a:p>
            <a:pPr>
              <a:spcAft>
                <a:spcPts val="1000"/>
              </a:spcAft>
            </a:pPr>
            <a:r>
              <a:rPr sz="2000">
                <a:solidFill>
                  <a:srgbClr val="222B33"/>
                </a:solidFill>
                <a:latin typeface="Microsoft YaHei"/>
              </a:rPr>
              <a:t>▪ 险情分享出来，别人就不再踩坑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发现隐患、违规操作或不安全情况时，要立即报告导师或实验室负责人（或安全员），而不是视而不见、想着“等出了事再说”。能够安全制止的违规操作，应当场提醒或叫停。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发现隐患觉得“不关我事”</a:t>
            </a:r>
          </a:p>
          <a:p>
            <a:pPr>
              <a:spcAft>
                <a:spcPts val="1000"/>
              </a:spcAft>
            </a:pPr>
            <a:r>
              <a:rPr sz="1500">
                <a:solidFill>
                  <a:srgbClr val="222B33"/>
                </a:solidFill>
                <a:latin typeface="Microsoft YaHei"/>
              </a:rPr>
              <a:t>▪ 险情没造成后果就不报告</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重大隐患先停用、立即报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隐患分一般隐患和重大隐患</a:t>
            </a:r>
          </a:p>
          <a:p>
            <a:pPr>
              <a:spcAft>
                <a:spcPts val="1000"/>
              </a:spcAft>
            </a:pPr>
            <a:r>
              <a:rPr sz="2000">
                <a:solidFill>
                  <a:srgbClr val="222B33"/>
                </a:solidFill>
                <a:latin typeface="Microsoft YaHei"/>
              </a:rPr>
              <a:t>▪ 重大隐患不能等例会，立即报告</a:t>
            </a:r>
          </a:p>
          <a:p>
            <a:pPr>
              <a:spcAft>
                <a:spcPts val="1000"/>
              </a:spcAft>
            </a:pPr>
            <a:r>
              <a:rPr sz="2000">
                <a:solidFill>
                  <a:srgbClr val="222B33"/>
                </a:solidFill>
                <a:latin typeface="Microsoft YaHei"/>
              </a:rPr>
              <a:t>▪ 先停用设备、停止实验，再整改</a:t>
            </a:r>
          </a:p>
          <a:p>
            <a:pPr>
              <a:spcAft>
                <a:spcPts val="1000"/>
              </a:spcAft>
            </a:pPr>
            <a:r>
              <a:rPr sz="2000">
                <a:solidFill>
                  <a:srgbClr val="222B33"/>
                </a:solidFill>
                <a:latin typeface="Microsoft YaHei"/>
              </a:rPr>
              <a:t>▪ 整改合格、复查通过才能恢复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重大隐患记下来等开会再说</a:t>
            </a:r>
          </a:p>
          <a:p>
            <a:pPr>
              <a:spcAft>
                <a:spcPts val="1000"/>
              </a:spcAft>
            </a:pPr>
            <a:r>
              <a:rPr sz="1500">
                <a:solidFill>
                  <a:srgbClr val="222B33"/>
                </a:solidFill>
                <a:latin typeface="Microsoft YaHei"/>
              </a:rPr>
              <a:t>▪ 未经复查就自行恢复使用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整改闭环：定人定时，复查销号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查出隐患开整改单：定人、定时、定措施</a:t>
            </a:r>
          </a:p>
          <a:p>
            <a:pPr>
              <a:spcAft>
                <a:spcPts val="1000"/>
              </a:spcAft>
            </a:pPr>
            <a:r>
              <a:rPr sz="2000">
                <a:solidFill>
                  <a:srgbClr val="222B33"/>
                </a:solidFill>
                <a:latin typeface="Microsoft YaHei"/>
              </a:rPr>
              <a:t>▪ 先找根本原因，再采取纠正措施</a:t>
            </a:r>
          </a:p>
          <a:p>
            <a:pPr>
              <a:spcAft>
                <a:spcPts val="1000"/>
              </a:spcAft>
            </a:pPr>
            <a:r>
              <a:rPr sz="2000">
                <a:solidFill>
                  <a:srgbClr val="222B33"/>
                </a:solidFill>
                <a:latin typeface="Microsoft YaHei"/>
              </a:rPr>
              <a:t>▪ 改完复查，确认问题不再发生才销号</a:t>
            </a:r>
          </a:p>
          <a:p>
            <a:pPr>
              <a:spcAft>
                <a:spcPts val="1000"/>
              </a:spcAft>
            </a:pPr>
            <a:r>
              <a:rPr sz="2000">
                <a:solidFill>
                  <a:srgbClr val="222B33"/>
                </a:solidFill>
                <a:latin typeface="Microsoft YaHei"/>
              </a:rPr>
              <a:t>▪ 按时回复，写明完成日期，不拖不推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只处理表面，不分析根本原因</a:t>
            </a:r>
          </a:p>
          <a:p>
            <a:pPr>
              <a:spcAft>
                <a:spcPts val="1000"/>
              </a:spcAft>
            </a:pPr>
            <a:r>
              <a:rPr sz="1500">
                <a:solidFill>
                  <a:srgbClr val="222B33"/>
                </a:solidFill>
                <a:latin typeface="Microsoft YaHei"/>
              </a:rPr>
              <a:t>▪ 整改后不复查就销号</a:t>
            </a:r>
          </a:p>
          <a:p>
            <a:pPr>
              <a:spcAft>
                <a:spcPts val="1000"/>
              </a:spcAft>
            </a:pPr>
            <a:r>
              <a:rPr sz="1500">
                <a:solidFill>
                  <a:srgbClr val="222B33"/>
                </a:solidFill>
                <a:latin typeface="Microsoft YaHei"/>
              </a:rPr>
              <a:t>▪ 整改拖延、反复“回潮”</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发现问题是收获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自己查出问题不是失败，是收获</a:t>
            </a:r>
          </a:p>
          <a:p>
            <a:pPr>
              <a:spcAft>
                <a:spcPts val="1000"/>
              </a:spcAft>
            </a:pPr>
            <a:r>
              <a:rPr sz="2000">
                <a:solidFill>
                  <a:srgbClr val="222B33"/>
                </a:solidFill>
                <a:latin typeface="Microsoft YaHei"/>
              </a:rPr>
              <a:t>▪ 汇总问题看趋势，从系统上改进</a:t>
            </a:r>
          </a:p>
          <a:p>
            <a:pPr>
              <a:spcAft>
                <a:spcPts val="1000"/>
              </a:spcAft>
            </a:pPr>
            <a:r>
              <a:rPr sz="2000">
                <a:solidFill>
                  <a:srgbClr val="222B33"/>
                </a:solidFill>
                <a:latin typeface="Microsoft YaHei"/>
              </a:rPr>
              <a:t>▪ 检查是帮手，不是负担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自查和互查中发现问题，说明检查起了作用，是改进的机会，不必把它当作“丢面子”的事而隐瞒。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隐瞒自查发现的问题</a:t>
            </a:r>
          </a:p>
          <a:p>
            <a:pPr>
              <a:spcAft>
                <a:spcPts val="1000"/>
              </a:spcAft>
            </a:pPr>
            <a:r>
              <a:rPr sz="1500">
                <a:solidFill>
                  <a:srgbClr val="222B33"/>
                </a:solidFill>
                <a:latin typeface="Microsoft YaHei"/>
              </a:rPr>
              <a:t>▪ 同类问题反复出现却不从系统上找原因</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检查要记录、贴标识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检查结果要记录、签名、留存</a:t>
            </a:r>
          </a:p>
          <a:p>
            <a:pPr>
              <a:spcAft>
                <a:spcPts val="1000"/>
              </a:spcAft>
            </a:pPr>
            <a:r>
              <a:rPr sz="2000">
                <a:solidFill>
                  <a:srgbClr val="222B33"/>
                </a:solidFill>
                <a:latin typeface="Microsoft YaHei"/>
              </a:rPr>
              <a:t>▪ 合格设备贴合格标识，按期复查</a:t>
            </a:r>
          </a:p>
          <a:p>
            <a:pPr>
              <a:spcAft>
                <a:spcPts val="1000"/>
              </a:spcAft>
            </a:pPr>
            <a:r>
              <a:rPr sz="2000">
                <a:solidFill>
                  <a:srgbClr val="222B33"/>
                </a:solidFill>
                <a:latin typeface="Microsoft YaHei"/>
              </a:rPr>
              <a:t>▪ 不合格设备挂禁用牌，送修</a:t>
            </a:r>
          </a:p>
          <a:p>
            <a:pPr>
              <a:spcAft>
                <a:spcPts val="1000"/>
              </a:spcAft>
            </a:pPr>
            <a:r>
              <a:rPr sz="2000">
                <a:solidFill>
                  <a:srgbClr val="222B33"/>
                </a:solidFill>
                <a:latin typeface="Microsoft YaHei"/>
              </a:rPr>
              <a:t>▪ 领用、使用、检查台账如实及时填写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检查后不记录，或只记“正常”不写细节</a:t>
            </a:r>
          </a:p>
          <a:p>
            <a:pPr>
              <a:spcAft>
                <a:spcPts val="1000"/>
              </a:spcAft>
            </a:pPr>
            <a:r>
              <a:rPr sz="1500">
                <a:solidFill>
                  <a:srgbClr val="222B33"/>
                </a:solidFill>
                <a:latin typeface="Microsoft YaHei"/>
              </a:rPr>
              <a:t>▪ 故障设备不挂禁用标识，被他人继续使用</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记录的保存期限与数字化归档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有的记录多年后还可能被调阅</a:t>
            </a:r>
          </a:p>
          <a:p>
            <a:pPr>
              <a:spcAft>
                <a:spcPts val="1000"/>
              </a:spcAft>
            </a:pPr>
            <a:r>
              <a:rPr sz="2000">
                <a:solidFill>
                  <a:srgbClr val="222B33"/>
                </a:solidFill>
                <a:latin typeface="Microsoft YaHei"/>
              </a:rPr>
              <a:t>▪ 接触和健康检查记录要长期保存</a:t>
            </a:r>
          </a:p>
          <a:p>
            <a:pPr>
              <a:spcAft>
                <a:spcPts val="1000"/>
              </a:spcAft>
            </a:pPr>
            <a:r>
              <a:rPr sz="2000">
                <a:solidFill>
                  <a:srgbClr val="222B33"/>
                </a:solidFill>
                <a:latin typeface="Microsoft YaHei"/>
              </a:rPr>
              <a:t>▪ 不同记录保存期限不同，按国家和学校规定执行</a:t>
            </a:r>
          </a:p>
          <a:p>
            <a:pPr>
              <a:spcAft>
                <a:spcPts val="1000"/>
              </a:spcAft>
            </a:pPr>
            <a:r>
              <a:rPr sz="2000">
                <a:solidFill>
                  <a:srgbClr val="222B33"/>
                </a:solidFill>
                <a:latin typeface="Microsoft YaHei"/>
              </a:rPr>
              <a:t>▪ 建好电子档案，随时调出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记录随手乱放，人员离校后无从查找</a:t>
            </a:r>
          </a:p>
          <a:p>
            <a:pPr>
              <a:spcAft>
                <a:spcPts val="1000"/>
              </a:spcAft>
            </a:pPr>
            <a:r>
              <a:rPr sz="1500">
                <a:solidFill>
                  <a:srgbClr val="222B33"/>
                </a:solidFill>
                <a:latin typeface="Microsoft YaHei"/>
              </a:rPr>
              <a:t>▪ 到期前销毁仍需保存的记录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检查是彩排，天天经得起查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把检查当彩排，而不是正式演出</a:t>
            </a:r>
          </a:p>
          <a:p>
            <a:pPr>
              <a:spcAft>
                <a:spcPts val="1000"/>
              </a:spcAft>
            </a:pPr>
            <a:r>
              <a:rPr sz="2000">
                <a:solidFill>
                  <a:srgbClr val="222B33"/>
                </a:solidFill>
                <a:latin typeface="Microsoft YaHei"/>
              </a:rPr>
              <a:t>▪ 听说要查才突击补材料，不可取</a:t>
            </a:r>
          </a:p>
          <a:p>
            <a:pPr>
              <a:spcAft>
                <a:spcPts val="1000"/>
              </a:spcAft>
            </a:pPr>
            <a:r>
              <a:rPr sz="2000">
                <a:solidFill>
                  <a:srgbClr val="222B33"/>
                </a:solidFill>
                <a:latin typeface="Microsoft YaHei"/>
              </a:rPr>
              <a:t>▪ 成熟实验室：制度现行、记录齐全、标识清楚</a:t>
            </a:r>
          </a:p>
          <a:p>
            <a:pPr>
              <a:spcAft>
                <a:spcPts val="1000"/>
              </a:spcAft>
            </a:pPr>
            <a:r>
              <a:rPr sz="2000">
                <a:solidFill>
                  <a:srgbClr val="222B33"/>
                </a:solidFill>
                <a:latin typeface="Microsoft YaHei"/>
              </a:rPr>
              <a:t>▪ 准备是每天的状态，突击检查也一切照常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如果一听说要检查就手忙脚乱，说明平时没有做到位。应当把检查看成一次“彩排”——检验日常工作是否扎实的机会，而不是需要临时排练的“正式演出”。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检查前突击补材料、补签字</a:t>
            </a:r>
          </a:p>
          <a:p>
            <a:pPr>
              <a:spcAft>
                <a:spcPts val="1000"/>
              </a:spcAft>
            </a:pPr>
            <a:r>
              <a:rPr sz="1500">
                <a:solidFill>
                  <a:srgbClr val="222B33"/>
                </a:solidFill>
                <a:latin typeface="Microsoft YaHei"/>
              </a:rPr>
              <a:t>▪ 培训记录只有签到，不能证明掌握</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如实迎检，不补造记录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检查前突击藏东西，不可取</a:t>
            </a:r>
          </a:p>
          <a:p>
            <a:pPr>
              <a:spcAft>
                <a:spcPts val="1000"/>
              </a:spcAft>
            </a:pPr>
            <a:r>
              <a:rPr sz="2000">
                <a:solidFill>
                  <a:srgbClr val="222B33"/>
                </a:solidFill>
                <a:latin typeface="Microsoft YaHei"/>
              </a:rPr>
              <a:t>▪ 记录不补签、不造假</a:t>
            </a:r>
          </a:p>
          <a:p>
            <a:pPr>
              <a:spcAft>
                <a:spcPts val="1000"/>
              </a:spcAft>
            </a:pPr>
            <a:r>
              <a:rPr sz="2000">
                <a:solidFill>
                  <a:srgbClr val="222B33"/>
                </a:solidFill>
                <a:latin typeface="Microsoft YaHei"/>
              </a:rPr>
              <a:t>▪ 检查时如实说明，不知道就去查</a:t>
            </a:r>
          </a:p>
          <a:p>
            <a:pPr>
              <a:spcAft>
                <a:spcPts val="1000"/>
              </a:spcAft>
            </a:pPr>
            <a:r>
              <a:rPr sz="2000">
                <a:solidFill>
                  <a:srgbClr val="222B33"/>
                </a:solidFill>
                <a:latin typeface="Microsoft YaHei"/>
              </a:rPr>
              <a:t>▪ 平时什么样，检查就什么样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迎接检查必须实事求是：不藏匿超量或违规存放的物品，不临时转移问题，不补签、伪造记录。藏匿和造假不但掩盖了隐患，还可能造成新的危险（如把化学品塞进不合适的柜子），一旦发现，后果比问题本身严重得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检查前把东西塞进柜子或转移到别处</a:t>
            </a:r>
          </a:p>
          <a:p>
            <a:pPr>
              <a:spcAft>
                <a:spcPts val="1000"/>
              </a:spcAft>
            </a:pPr>
            <a:r>
              <a:rPr sz="1500">
                <a:solidFill>
                  <a:srgbClr val="222B33"/>
                </a:solidFill>
                <a:latin typeface="Microsoft YaHei"/>
              </a:rPr>
              <a:t>▪ 事后补签培训、检查记录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实验室安全员在巡查中发现一处电气线路严重老化发热，正确做法是：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记下来，等下周例会讨论</a:t>
            </a:r>
          </a:p>
          <a:p>
            <a:pPr algn="l"/>
            <a:r>
              <a:rPr sz="1500" b="0">
                <a:solidFill>
                  <a:srgbClr val="222B33"/>
                </a:solidFill>
                <a:latin typeface="Microsoft YaHei"/>
              </a:rPr>
              <a:t>B. 立即停用相关设备并报告负责人和学院，整改复查合格后再恢复</a:t>
            </a:r>
          </a:p>
          <a:p>
            <a:pPr algn="l"/>
            <a:r>
              <a:rPr sz="1500" b="0">
                <a:solidFill>
                  <a:srgbClr val="222B33"/>
                </a:solidFill>
                <a:latin typeface="Microsoft YaHei"/>
              </a:rPr>
              <a:t>C. 自己动手更换线路</a:t>
            </a:r>
          </a:p>
          <a:p>
            <a:pPr algn="l"/>
            <a:r>
              <a:rPr sz="1500" b="0">
                <a:solidFill>
                  <a:srgbClr val="222B33"/>
                </a:solidFill>
                <a:latin typeface="Microsoft YaHei"/>
              </a:rPr>
              <a:t>D. 贴张提示纸继续使用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隐患整改闭环中最容易被漏掉、导致问题反复的步骤是：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登记隐患</a:t>
            </a:r>
          </a:p>
          <a:p>
            <a:pPr algn="l"/>
            <a:r>
              <a:rPr sz="1500" b="0">
                <a:solidFill>
                  <a:srgbClr val="222B33"/>
                </a:solidFill>
                <a:latin typeface="Microsoft YaHei"/>
              </a:rPr>
              <a:t>B. 开整改单</a:t>
            </a:r>
          </a:p>
          <a:p>
            <a:pPr algn="l"/>
            <a:r>
              <a:rPr sz="1500" b="0">
                <a:solidFill>
                  <a:srgbClr val="222B33"/>
                </a:solidFill>
                <a:latin typeface="Microsoft YaHei"/>
              </a:rPr>
              <a:t>C. 找根本原因和复查验证</a:t>
            </a:r>
          </a:p>
          <a:p>
            <a:pPr algn="l"/>
            <a:r>
              <a:rPr sz="1500" b="0">
                <a:solidFill>
                  <a:srgbClr val="222B33"/>
                </a:solidFill>
                <a:latin typeface="Microsoft YaHei"/>
              </a:rPr>
              <a:t>D. 通知相关人员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判断：为了应付检查，可以在检查前补签以前漏签的培训记录。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寒假放假前的实验室检查，不包括下列哪项？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关好门窗、检查排水</a:t>
            </a:r>
          </a:p>
          <a:p>
            <a:pPr algn="l"/>
            <a:r>
              <a:rPr sz="1500" b="0">
                <a:solidFill>
                  <a:srgbClr val="222B33"/>
                </a:solidFill>
                <a:latin typeface="Microsoft YaHei"/>
              </a:rPr>
              <a:t>B. 关闭气瓶总阀</a:t>
            </a:r>
          </a:p>
          <a:p>
            <a:pPr algn="l"/>
            <a:r>
              <a:rPr sz="1500" b="0">
                <a:solidFill>
                  <a:srgbClr val="222B33"/>
                </a:solidFill>
                <a:latin typeface="Microsoft YaHei"/>
              </a:rPr>
              <a:t>C. 切断不必要的电源</a:t>
            </a:r>
          </a:p>
          <a:p>
            <a:pPr algn="l"/>
            <a:r>
              <a:rPr sz="1500" b="0">
                <a:solidFill>
                  <a:srgbClr val="222B33"/>
                </a:solidFill>
                <a:latin typeface="Microsoft YaHei"/>
              </a:rPr>
              <a:t>D. 把剩余废液倒入下水道清空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简答：隐患整改单上要明确哪“三定”？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检查就是主动找隐患</a:t>
            </a:r>
          </a:p>
          <a:p>
            <a:pPr>
              <a:spcAft>
                <a:spcPts val="800"/>
              </a:spcAft>
            </a:pPr>
            <a:r>
              <a:rPr sz="1500">
                <a:solidFill>
                  <a:srgbClr val="FFFFFF"/>
                </a:solidFill>
                <a:latin typeface="Microsoft YaHei"/>
              </a:rPr>
              <a:t>▪ K2  三级检查：自查、学院查、学校查</a:t>
            </a:r>
          </a:p>
          <a:p>
            <a:pPr>
              <a:spcAft>
                <a:spcPts val="800"/>
              </a:spcAft>
            </a:pPr>
            <a:r>
              <a:rPr sz="1500">
                <a:solidFill>
                  <a:srgbClr val="FFFFFF"/>
                </a:solidFill>
                <a:latin typeface="Microsoft YaHei"/>
              </a:rPr>
              <a:t>▪ K3  日常自查：开工收工查一遍</a:t>
            </a:r>
          </a:p>
          <a:p>
            <a:pPr>
              <a:spcAft>
                <a:spcPts val="800"/>
              </a:spcAft>
            </a:pPr>
            <a:r>
              <a:rPr sz="1500">
                <a:solidFill>
                  <a:srgbClr val="FFFFFF"/>
                </a:solidFill>
                <a:latin typeface="Microsoft YaHei"/>
              </a:rPr>
              <a:t>▪ K4  逐级累积的检查节奏</a:t>
            </a:r>
          </a:p>
          <a:p>
            <a:pPr>
              <a:spcAft>
                <a:spcPts val="800"/>
              </a:spcAft>
            </a:pPr>
            <a:r>
              <a:rPr sz="1500">
                <a:solidFill>
                  <a:srgbClr val="FFFFFF"/>
                </a:solidFill>
                <a:latin typeface="Microsoft YaHei"/>
              </a:rPr>
              <a:t>▪ K5  节假日和恶劣天气前检查</a:t>
            </a:r>
          </a:p>
          <a:p>
            <a:pPr>
              <a:spcAft>
                <a:spcPts val="800"/>
              </a:spcAft>
            </a:pPr>
            <a:r>
              <a:rPr sz="1500">
                <a:solidFill>
                  <a:srgbClr val="FFFFFF"/>
                </a:solidFill>
                <a:latin typeface="Microsoft YaHei"/>
              </a:rPr>
              <a:t>▪ K6  拿好清单，留心隐蔽隐患</a:t>
            </a:r>
          </a:p>
          <a:p>
            <a:pPr>
              <a:spcAft>
                <a:spcPts val="800"/>
              </a:spcAft>
            </a:pPr>
            <a:r>
              <a:rPr sz="1500">
                <a:solidFill>
                  <a:srgbClr val="FFFFFF"/>
                </a:solidFill>
                <a:latin typeface="Microsoft YaHei"/>
              </a:rPr>
              <a:t>▪ K7  检查看现场，也看记录</a:t>
            </a:r>
          </a:p>
          <a:p>
            <a:pPr>
              <a:spcAft>
                <a:spcPts val="800"/>
              </a:spcAft>
            </a:pPr>
            <a:r>
              <a:rPr sz="1500">
                <a:solidFill>
                  <a:srgbClr val="FFFFFF"/>
                </a:solidFill>
                <a:latin typeface="Microsoft YaHei"/>
              </a:rPr>
              <a:t>▪ K8  发现隐患立即报告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重大隐患先停用、立即报</a:t>
            </a:r>
          </a:p>
          <a:p>
            <a:pPr>
              <a:spcAft>
                <a:spcPts val="800"/>
              </a:spcAft>
            </a:pPr>
            <a:r>
              <a:rPr sz="1500">
                <a:solidFill>
                  <a:srgbClr val="FFFFFF"/>
                </a:solidFill>
                <a:latin typeface="Microsoft YaHei"/>
              </a:rPr>
              <a:t>▪ K10  整改闭环：定人定时，复查销号</a:t>
            </a:r>
          </a:p>
          <a:p>
            <a:pPr>
              <a:spcAft>
                <a:spcPts val="800"/>
              </a:spcAft>
            </a:pPr>
            <a:r>
              <a:rPr sz="1500">
                <a:solidFill>
                  <a:srgbClr val="FFFFFF"/>
                </a:solidFill>
                <a:latin typeface="Microsoft YaHei"/>
              </a:rPr>
              <a:t>▪ K11  发现问题是收获</a:t>
            </a:r>
          </a:p>
          <a:p>
            <a:pPr>
              <a:spcAft>
                <a:spcPts val="800"/>
              </a:spcAft>
            </a:pPr>
            <a:r>
              <a:rPr sz="1500">
                <a:solidFill>
                  <a:srgbClr val="FFFFFF"/>
                </a:solidFill>
                <a:latin typeface="Microsoft YaHei"/>
              </a:rPr>
              <a:t>▪ K12  检查要记录、贴标识</a:t>
            </a:r>
          </a:p>
          <a:p>
            <a:pPr>
              <a:spcAft>
                <a:spcPts val="800"/>
              </a:spcAft>
            </a:pPr>
            <a:r>
              <a:rPr sz="1500">
                <a:solidFill>
                  <a:srgbClr val="FFFFFF"/>
                </a:solidFill>
                <a:latin typeface="Microsoft YaHei"/>
              </a:rPr>
              <a:t>▪ K13  记录的保存期限与数字化归档</a:t>
            </a:r>
          </a:p>
          <a:p>
            <a:pPr>
              <a:spcAft>
                <a:spcPts val="800"/>
              </a:spcAft>
            </a:pPr>
            <a:r>
              <a:rPr sz="1500">
                <a:solidFill>
                  <a:srgbClr val="FFFFFF"/>
                </a:solidFill>
                <a:latin typeface="Microsoft YaHei"/>
              </a:rPr>
              <a:t>▪ K14  检查是彩排，天天经得起查</a:t>
            </a:r>
          </a:p>
          <a:p>
            <a:pPr>
              <a:spcAft>
                <a:spcPts val="800"/>
              </a:spcAft>
            </a:pPr>
            <a:r>
              <a:rPr sz="1500">
                <a:solidFill>
                  <a:srgbClr val="FFFFFF"/>
                </a:solidFill>
                <a:latin typeface="Microsoft YaHei"/>
              </a:rPr>
              <a:t>▪ K15  如实迎检，不补造记录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安全制度与管理体系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67 镜）　适用对象：全体进入高校实验室的本科生、研究生、新进教职工和博士后（必修）；实验室负责人、安全员重点学习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能说出实验室安全文件体系的组成：安全方针、安全计划（手册）、专项制度、操作规程、应急预案和记录档案。</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能判断制度“活”与“死”的区别，指出制度管理的常见陷阱，做到受控更新、写了就做。</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能说明 PDCA 持续改进、领先指标与滞后指标的含义，以及职业健康安全和环境管理体系的作用。</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《中华人民共和国安全生产法》（以现行文本为准）：建立健全安全生产责任制和规章制度、操作规程，制定应急救援预案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号，以现行文本为准）：安全管理制度、应急管理、仪器设备安全管理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日起施行）及《危险化学品安全管理条例》（以现行文本为准）：使用单位的安全管理制度和操作规程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24001-2016（以现行文本为准）《环境管理体系 要求及使用指南》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33579-2017（以现行文本为准）《机械安全 危险能量控制方法 上锁/挂牌》；GB 18664-2025（以现行文本为准）《呼吸防护装备的选择、使用和维护》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本校实验室安全管理制度、应急预案和仪器设备管理办法（以本校规定为准）</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安全方针：负责人的书面承诺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安全方针是负责人对安全的书面承诺</a:t>
            </a:r>
          </a:p>
          <a:p>
            <a:pPr>
              <a:spcAft>
                <a:spcPts val="1000"/>
              </a:spcAft>
            </a:pPr>
            <a:r>
              <a:rPr sz="2000">
                <a:solidFill>
                  <a:srgbClr val="222B33"/>
                </a:solidFill>
                <a:latin typeface="Microsoft YaHei"/>
              </a:rPr>
              <a:t>▪ 写清目标、各人职责、怎么落实</a:t>
            </a:r>
          </a:p>
          <a:p>
            <a:pPr>
              <a:spcAft>
                <a:spcPts val="1000"/>
              </a:spcAft>
            </a:pPr>
            <a:r>
              <a:rPr sz="2000">
                <a:solidFill>
                  <a:srgbClr val="222B33"/>
                </a:solidFill>
                <a:latin typeface="Microsoft YaHei"/>
              </a:rPr>
              <a:t>▪ 承诺照顾好每个人的安全健康，持续改进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方针只是一句口号，没有职责和落实方式</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安全计划：逐项找危害、配措施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安全计划把方针变成具体行动</a:t>
            </a:r>
          </a:p>
          <a:p>
            <a:pPr>
              <a:spcAft>
                <a:spcPts val="1000"/>
              </a:spcAft>
            </a:pPr>
            <a:r>
              <a:rPr sz="2000">
                <a:solidFill>
                  <a:srgbClr val="222B33"/>
                </a:solidFill>
                <a:latin typeface="Microsoft YaHei"/>
              </a:rPr>
              <a:t>▪ 逐项找出危害和风险，配上控制措施</a:t>
            </a:r>
          </a:p>
          <a:p>
            <a:pPr>
              <a:spcAft>
                <a:spcPts val="1000"/>
              </a:spcAft>
            </a:pPr>
            <a:r>
              <a:rPr sz="2000">
                <a:solidFill>
                  <a:srgbClr val="222B33"/>
                </a:solidFill>
                <a:latin typeface="Microsoft YaHei"/>
              </a:rPr>
              <a:t>▪ 负责人讲清特殊危险，监督防护落实</a:t>
            </a:r>
          </a:p>
          <a:p>
            <a:pPr>
              <a:spcAft>
                <a:spcPts val="1000"/>
              </a:spcAft>
            </a:pPr>
            <a:r>
              <a:rPr sz="2000">
                <a:solidFill>
                  <a:srgbClr val="222B33"/>
                </a:solidFill>
                <a:latin typeface="Microsoft YaHei"/>
              </a:rPr>
              <a:t>▪ 化学品有清单、SDS 随时可查；评估、措施、效果要记录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计划只列危害，不写具体措施和责任人</a:t>
            </a:r>
          </a:p>
          <a:p>
            <a:pPr>
              <a:spcAft>
                <a:spcPts val="1000"/>
              </a:spcAft>
            </a:pPr>
            <a:r>
              <a:rPr sz="1500">
                <a:solidFill>
                  <a:srgbClr val="222B33"/>
                </a:solidFill>
                <a:latin typeface="Microsoft YaHei"/>
              </a:rPr>
              <a:t>▪ 化学品没有清单，SDS 找不到</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安全手册里有什么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安全手册像实验室的“操作系统”</a:t>
            </a:r>
          </a:p>
          <a:p>
            <a:pPr>
              <a:spcAft>
                <a:spcPts val="1000"/>
              </a:spcAft>
            </a:pPr>
            <a:r>
              <a:rPr sz="2000">
                <a:solidFill>
                  <a:srgbClr val="222B33"/>
                </a:solidFill>
                <a:latin typeface="Microsoft YaHei"/>
              </a:rPr>
              <a:t>▪ 操作规程、控制措施、防护要求</a:t>
            </a:r>
          </a:p>
          <a:p>
            <a:pPr>
              <a:spcAft>
                <a:spcPts val="1000"/>
              </a:spcAft>
            </a:pPr>
            <a:r>
              <a:rPr sz="2000">
                <a:solidFill>
                  <a:srgbClr val="222B33"/>
                </a:solidFill>
                <a:latin typeface="Microsoft YaHei"/>
              </a:rPr>
              <a:t>▪ 培训准入、危险实验审批、健康与就医</a:t>
            </a:r>
          </a:p>
          <a:p>
            <a:pPr>
              <a:spcAft>
                <a:spcPts val="1000"/>
              </a:spcAft>
            </a:pPr>
            <a:r>
              <a:rPr sz="2000">
                <a:solidFill>
                  <a:srgbClr val="222B33"/>
                </a:solidFill>
                <a:latin typeface="Microsoft YaHei"/>
              </a:rPr>
              <a:t>▪ 明确安全员，高危化学品和感染性材料专门管理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进实验室从未读过本室安全手册</a:t>
            </a:r>
          </a:p>
          <a:p>
            <a:pPr>
              <a:spcAft>
                <a:spcPts val="1000"/>
              </a:spcAft>
            </a:pPr>
            <a:r>
              <a:rPr sz="1500">
                <a:solidFill>
                  <a:srgbClr val="222B33"/>
                </a:solidFill>
                <a:latin typeface="Microsoft YaHei"/>
              </a:rPr>
              <a:t>▪ 手册缺少高危物质的专门管理要求</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专项制度：废物、上锁挂牌、呼吸防护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特殊风险要有专项制度</a:t>
            </a:r>
          </a:p>
          <a:p>
            <a:pPr>
              <a:spcAft>
                <a:spcPts val="1000"/>
              </a:spcAft>
            </a:pPr>
            <a:r>
              <a:rPr sz="2000">
                <a:solidFill>
                  <a:srgbClr val="222B33"/>
                </a:solidFill>
                <a:latin typeface="Microsoft YaHei"/>
              </a:rPr>
              <a:t>▪ 危险废物：分类收集、规范贮存、合规处置</a:t>
            </a:r>
          </a:p>
          <a:p>
            <a:pPr>
              <a:spcAft>
                <a:spcPts val="1000"/>
              </a:spcAft>
            </a:pPr>
            <a:r>
              <a:rPr sz="2000">
                <a:solidFill>
                  <a:srgbClr val="222B33"/>
                </a:solidFill>
                <a:latin typeface="Microsoft YaHei"/>
              </a:rPr>
              <a:t>▪ 检修设备时上锁挂牌，防止误启动</a:t>
            </a:r>
          </a:p>
          <a:p>
            <a:pPr>
              <a:spcAft>
                <a:spcPts val="1000"/>
              </a:spcAft>
            </a:pPr>
            <a:r>
              <a:rPr sz="2000">
                <a:solidFill>
                  <a:srgbClr val="222B33"/>
                </a:solidFill>
                <a:latin typeface="Microsoft YaHei"/>
              </a:rPr>
              <a:t>▪ 呼吸防护：评估、选型、培训和适合性检验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检修设备不上锁挂牌，他人误合闸</a:t>
            </a:r>
          </a:p>
          <a:p>
            <a:pPr>
              <a:spcAft>
                <a:spcPts val="1000"/>
              </a:spcAft>
            </a:pPr>
            <a:r>
              <a:rPr sz="1500">
                <a:solidFill>
                  <a:srgbClr val="222B33"/>
                </a:solidFill>
                <a:latin typeface="Microsoft YaHei"/>
              </a:rPr>
              <a:t>▪ 随意选用口罩代替呼吸防护装备，未做适合性检验</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制度定目标，实验室定做法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学校制度规定要达到的安全目标</a:t>
            </a:r>
          </a:p>
          <a:p>
            <a:pPr>
              <a:spcAft>
                <a:spcPts val="1000"/>
              </a:spcAft>
            </a:pPr>
            <a:r>
              <a:rPr sz="2000">
                <a:solidFill>
                  <a:srgbClr val="222B33"/>
                </a:solidFill>
                <a:latin typeface="Microsoft YaHei"/>
              </a:rPr>
              <a:t>▪ 具体怎么做，由实验室写进本室规程</a:t>
            </a:r>
          </a:p>
          <a:p>
            <a:pPr>
              <a:spcAft>
                <a:spcPts val="1000"/>
              </a:spcAft>
            </a:pPr>
            <a:r>
              <a:rPr sz="2000">
                <a:solidFill>
                  <a:srgbClr val="222B33"/>
                </a:solidFill>
                <a:latin typeface="Microsoft YaHei"/>
              </a:rPr>
              <a:t>▪ 本室规程经负责人审核后执行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只有学校的原则性制度，本室没有具体规程</a:t>
            </a:r>
          </a:p>
          <a:p>
            <a:pPr>
              <a:spcAft>
                <a:spcPts val="1000"/>
              </a:spcAft>
            </a:pPr>
            <a:r>
              <a:rPr sz="1500">
                <a:solidFill>
                  <a:srgbClr val="222B33"/>
                </a:solidFill>
                <a:latin typeface="Microsoft YaHei"/>
              </a:rPr>
              <a:t>▪ 规程未经审核就使用</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应急预案：写好、贴好、练好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应急预案是制度体系的重要组成部分</a:t>
            </a:r>
          </a:p>
          <a:p>
            <a:pPr>
              <a:spcAft>
                <a:spcPts val="1000"/>
              </a:spcAft>
            </a:pPr>
            <a:r>
              <a:rPr sz="2000">
                <a:solidFill>
                  <a:srgbClr val="222B33"/>
                </a:solidFill>
                <a:latin typeface="Microsoft YaHei"/>
              </a:rPr>
              <a:t>▪ 写清可能的事故、谁做什么、怎么报告</a:t>
            </a:r>
          </a:p>
          <a:p>
            <a:pPr>
              <a:spcAft>
                <a:spcPts val="1000"/>
              </a:spcAft>
            </a:pPr>
            <a:r>
              <a:rPr sz="2000">
                <a:solidFill>
                  <a:srgbClr val="222B33"/>
                </a:solidFill>
                <a:latin typeface="Microsoft YaHei"/>
              </a:rPr>
              <a:t>▪ 应急流程和电话贴在显眼处</a:t>
            </a:r>
          </a:p>
          <a:p>
            <a:pPr>
              <a:spcAft>
                <a:spcPts val="1000"/>
              </a:spcAft>
            </a:pPr>
            <a:r>
              <a:rPr sz="2000">
                <a:solidFill>
                  <a:srgbClr val="222B33"/>
                </a:solidFill>
                <a:latin typeface="Microsoft YaHei"/>
              </a:rPr>
              <a:t>▪ 定期演练，演练后修订预案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预案照抄模板，与本室实际危险不符</a:t>
            </a:r>
          </a:p>
          <a:p>
            <a:pPr>
              <a:spcAft>
                <a:spcPts val="1000"/>
              </a:spcAft>
            </a:pPr>
            <a:r>
              <a:rPr sz="1500">
                <a:solidFill>
                  <a:srgbClr val="222B33"/>
                </a:solidFill>
                <a:latin typeface="Microsoft YaHei"/>
              </a:rPr>
              <a:t>▪ 有预案从不演练，人员不知道怎么做</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制度要活，跟上实验室的变化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手册要跟着实验室一起变</a:t>
            </a:r>
          </a:p>
          <a:p>
            <a:pPr>
              <a:spcAft>
                <a:spcPts val="1000"/>
              </a:spcAft>
            </a:pPr>
            <a:r>
              <a:rPr sz="2000">
                <a:solidFill>
                  <a:srgbClr val="222B33"/>
                </a:solidFill>
                <a:latin typeface="Microsoft YaHei"/>
              </a:rPr>
              <a:t>▪ 定期修订：新试剂写进去，拆掉的设备删掉</a:t>
            </a:r>
          </a:p>
          <a:p>
            <a:pPr>
              <a:spcAft>
                <a:spcPts val="1000"/>
              </a:spcAft>
            </a:pPr>
            <a:r>
              <a:rPr sz="2000">
                <a:solidFill>
                  <a:srgbClr val="222B33"/>
                </a:solidFill>
                <a:latin typeface="Microsoft YaHei"/>
              </a:rPr>
              <a:t>▪ 新技术带来新危害，要提前预判</a:t>
            </a:r>
          </a:p>
          <a:p>
            <a:pPr>
              <a:spcAft>
                <a:spcPts val="1000"/>
              </a:spcAft>
            </a:pPr>
            <a:r>
              <a:rPr sz="2000">
                <a:solidFill>
                  <a:srgbClr val="222B33"/>
                </a:solidFill>
                <a:latin typeface="Microsoft YaHei"/>
              </a:rPr>
              <a:t>▪ 手册是实验室和每个人的约定，要制定更要执行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制度和手册不能写完就束之高阁。实验室的人员、设备、试剂和实验方法一直在变化：写着已拆除的设备、早已不用的试剂，而新引进的高危试剂、新仪器却没有规程，这样的手册已经失效。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手册多年不修订，与现实脱节</a:t>
            </a:r>
          </a:p>
          <a:p>
            <a:pPr>
              <a:spcAft>
                <a:spcPts val="1000"/>
              </a:spcAft>
            </a:pPr>
            <a:r>
              <a:rPr sz="1500">
                <a:solidFill>
                  <a:srgbClr val="222B33"/>
                </a:solidFill>
                <a:latin typeface="Microsoft YaHei"/>
              </a:rPr>
              <a:t>▪ 修订后不培训，成员仍按旧做法操作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纸上的计划救不了人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有书面计划却不落实，等于没有</a:t>
            </a:r>
          </a:p>
          <a:p>
            <a:pPr>
              <a:spcAft>
                <a:spcPts val="1000"/>
              </a:spcAft>
            </a:pPr>
            <a:r>
              <a:rPr sz="2000">
                <a:solidFill>
                  <a:srgbClr val="222B33"/>
                </a:solidFill>
                <a:latin typeface="Microsoft YaHei"/>
              </a:rPr>
              <a:t>▪ 曾有研究人员放大使用自燃试剂、未穿阻燃服而遇难</a:t>
            </a:r>
          </a:p>
          <a:p>
            <a:pPr>
              <a:spcAft>
                <a:spcPts val="1000"/>
              </a:spcAft>
            </a:pPr>
            <a:r>
              <a:rPr sz="2000">
                <a:solidFill>
                  <a:srgbClr val="222B33"/>
                </a:solidFill>
                <a:latin typeface="Microsoft YaHei"/>
              </a:rPr>
              <a:t>▪ 防护、能力确认、结伴，一样不能少</a:t>
            </a:r>
          </a:p>
          <a:p>
            <a:pPr>
              <a:spcAft>
                <a:spcPts val="1000"/>
              </a:spcAft>
            </a:pPr>
            <a:r>
              <a:rPr sz="2000">
                <a:solidFill>
                  <a:srgbClr val="222B33"/>
                </a:solidFill>
                <a:latin typeface="Microsoft YaHei"/>
              </a:rPr>
              <a:t>▪ 手册过时、负责人缺位、新试剂无规程，必出问题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有计划就以为安全了，不检查落实</a:t>
            </a:r>
          </a:p>
          <a:p>
            <a:pPr>
              <a:spcAft>
                <a:spcPts val="1000"/>
              </a:spcAft>
            </a:pPr>
            <a:r>
              <a:rPr sz="1500">
                <a:solidFill>
                  <a:srgbClr val="222B33"/>
                </a:solidFill>
                <a:latin typeface="Microsoft YaHei"/>
              </a:rPr>
              <a:t>▪ 高危试剂放大使用前不重新评估、不确认能力</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制度管理的四个常见陷阱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陷阱一：手册只为应付检查</a:t>
            </a:r>
          </a:p>
          <a:p>
            <a:pPr>
              <a:spcAft>
                <a:spcPts val="1000"/>
              </a:spcAft>
            </a:pPr>
            <a:r>
              <a:rPr sz="2000">
                <a:solidFill>
                  <a:srgbClr val="222B33"/>
                </a:solidFill>
                <a:latin typeface="Microsoft YaHei"/>
              </a:rPr>
              <a:t>▪ 陷阱二：安全员随便指派，没有实权</a:t>
            </a:r>
          </a:p>
          <a:p>
            <a:pPr>
              <a:spcAft>
                <a:spcPts val="1000"/>
              </a:spcAft>
            </a:pPr>
            <a:r>
              <a:rPr sz="2000">
                <a:solidFill>
                  <a:srgbClr val="222B33"/>
                </a:solidFill>
                <a:latin typeface="Microsoft YaHei"/>
              </a:rPr>
              <a:t>▪ 陷阱三：安全和质量各管各的</a:t>
            </a:r>
          </a:p>
          <a:p>
            <a:pPr>
              <a:spcAft>
                <a:spcPts val="1000"/>
              </a:spcAft>
            </a:pPr>
            <a:r>
              <a:rPr sz="2000">
                <a:solidFill>
                  <a:srgbClr val="222B33"/>
                </a:solidFill>
                <a:latin typeface="Microsoft YaHei"/>
              </a:rPr>
              <a:t>▪ 陷阱四：没出事就不报告险情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安全员是“挂名”的，从不巡查</a:t>
            </a:r>
          </a:p>
          <a:p>
            <a:pPr>
              <a:spcAft>
                <a:spcPts val="1000"/>
              </a:spcAft>
            </a:pPr>
            <a:r>
              <a:rPr sz="1500">
                <a:solidFill>
                  <a:srgbClr val="222B33"/>
                </a:solidFill>
                <a:latin typeface="Microsoft YaHei"/>
              </a:rPr>
              <a:t>▪ 险情不报告，直到发生事故</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受控文件与安全档案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规程和检查单是受控文件</a:t>
            </a:r>
          </a:p>
          <a:p>
            <a:pPr>
              <a:spcAft>
                <a:spcPts val="1000"/>
              </a:spcAft>
            </a:pPr>
            <a:r>
              <a:rPr sz="2000">
                <a:solidFill>
                  <a:srgbClr val="222B33"/>
                </a:solidFill>
                <a:latin typeface="Microsoft YaHei"/>
              </a:rPr>
              <a:t>▪ 改一处就升版本，写明日期和修改人</a:t>
            </a:r>
          </a:p>
          <a:p>
            <a:pPr>
              <a:spcAft>
                <a:spcPts val="1000"/>
              </a:spcAft>
            </a:pPr>
            <a:r>
              <a:rPr sz="2000">
                <a:solidFill>
                  <a:srgbClr val="222B33"/>
                </a:solidFill>
                <a:latin typeface="Microsoft YaHei"/>
              </a:rPr>
              <a:t>▪ 培训、检查、事故、设备使用、样本领用都要记录</a:t>
            </a:r>
          </a:p>
          <a:p>
            <a:pPr>
              <a:spcAft>
                <a:spcPts val="1000"/>
              </a:spcAft>
            </a:pPr>
            <a:r>
              <a:rPr sz="2000">
                <a:solidFill>
                  <a:srgbClr val="222B33"/>
                </a:solidFill>
                <a:latin typeface="Microsoft YaHei"/>
              </a:rPr>
              <a:t>▪ 归档保存，权限受控，出了问题能追溯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规程随手修改不升版本，新旧版本混用</a:t>
            </a:r>
          </a:p>
          <a:p>
            <a:pPr>
              <a:spcAft>
                <a:spcPts val="1000"/>
              </a:spcAft>
            </a:pPr>
            <a:r>
              <a:rPr sz="1500">
                <a:solidFill>
                  <a:srgbClr val="222B33"/>
                </a:solidFill>
                <a:latin typeface="Microsoft YaHei"/>
              </a:rPr>
              <a:t>▪ 安全档案随意复印外传</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安全委员会：大家一起商量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管理者和人员代表共同参加</a:t>
            </a:r>
          </a:p>
          <a:p>
            <a:pPr>
              <a:spcAft>
                <a:spcPts val="1000"/>
              </a:spcAft>
            </a:pPr>
            <a:r>
              <a:rPr sz="2000">
                <a:solidFill>
                  <a:srgbClr val="222B33"/>
                </a:solidFill>
                <a:latin typeface="Microsoft YaHei"/>
              </a:rPr>
              <a:t>▪ 专门讨论安全问题，共同想办法</a:t>
            </a:r>
          </a:p>
          <a:p>
            <a:pPr>
              <a:spcAft>
                <a:spcPts val="1000"/>
              </a:spcAft>
            </a:pPr>
            <a:r>
              <a:rPr sz="2000">
                <a:solidFill>
                  <a:srgbClr val="222B33"/>
                </a:solidFill>
                <a:latin typeface="Microsoft YaHei"/>
              </a:rPr>
              <a:t>▪ 大家都能发声</a:t>
            </a:r>
          </a:p>
          <a:p>
            <a:pPr>
              <a:spcAft>
                <a:spcPts val="1000"/>
              </a:spcAft>
            </a:pPr>
            <a:r>
              <a:rPr sz="2000">
                <a:solidFill>
                  <a:srgbClr val="222B33"/>
                </a:solidFill>
                <a:latin typeface="Microsoft YaHei"/>
              </a:rPr>
              <a:t>▪ 学校和学院也设有安全工作组织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会议只有领导参加，听不到一线意见</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领先指标与滞后指标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安全指标分领先指标和滞后指标</a:t>
            </a:r>
          </a:p>
          <a:p>
            <a:pPr>
              <a:spcAft>
                <a:spcPts val="1000"/>
              </a:spcAft>
            </a:pPr>
            <a:r>
              <a:rPr sz="2000">
                <a:solidFill>
                  <a:srgbClr val="222B33"/>
                </a:solidFill>
                <a:latin typeface="Microsoft YaHei"/>
              </a:rPr>
              <a:t>▪ 滞后指标：事故率、伤病缺勤，事后才知道</a:t>
            </a:r>
          </a:p>
          <a:p>
            <a:pPr>
              <a:spcAft>
                <a:spcPts val="1000"/>
              </a:spcAft>
            </a:pPr>
            <a:r>
              <a:rPr sz="2000">
                <a:solidFill>
                  <a:srgbClr val="222B33"/>
                </a:solidFill>
                <a:latin typeface="Microsoft YaHei"/>
              </a:rPr>
              <a:t>▪ 领先指标：培训、巡查次数，险情报告数</a:t>
            </a:r>
          </a:p>
          <a:p>
            <a:pPr>
              <a:spcAft>
                <a:spcPts val="1000"/>
              </a:spcAft>
            </a:pPr>
            <a:r>
              <a:rPr sz="2000">
                <a:solidFill>
                  <a:srgbClr val="222B33"/>
                </a:solidFill>
                <a:latin typeface="Microsoft YaHei"/>
              </a:rPr>
              <a:t>▪ 多盯领先指标，才能防患于未然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只看“零事故”，不看培训、巡查和险情报告</a:t>
            </a:r>
          </a:p>
          <a:p>
            <a:pPr>
              <a:spcAft>
                <a:spcPts val="1000"/>
              </a:spcAft>
            </a:pPr>
            <a:r>
              <a:rPr sz="1500">
                <a:solidFill>
                  <a:srgbClr val="222B33"/>
                </a:solidFill>
                <a:latin typeface="Microsoft YaHei"/>
              </a:rPr>
              <a:t>▪ 把险情报告多当作坏事而压制报告</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PDCA：职业健康安全管理体系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职业健康安全管理体系的核心是 PDCA 循环</a:t>
            </a:r>
          </a:p>
          <a:p>
            <a:pPr>
              <a:spcAft>
                <a:spcPts val="1000"/>
              </a:spcAft>
            </a:pPr>
            <a:r>
              <a:rPr sz="2000">
                <a:solidFill>
                  <a:srgbClr val="222B33"/>
                </a:solidFill>
                <a:latin typeface="Microsoft YaHei"/>
              </a:rPr>
              <a:t>▪ 计划、实施、检查、改进，循环上升</a:t>
            </a:r>
          </a:p>
          <a:p>
            <a:pPr>
              <a:spcAft>
                <a:spcPts val="1000"/>
              </a:spcAft>
            </a:pPr>
            <a:r>
              <a:rPr sz="2000">
                <a:solidFill>
                  <a:srgbClr val="222B33"/>
                </a:solidFill>
                <a:latin typeface="Microsoft YaHei"/>
              </a:rPr>
              <a:t>▪ 国内现行标准为 GB/T 45001-2020</a:t>
            </a:r>
          </a:p>
          <a:p>
            <a:pPr>
              <a:spcAft>
                <a:spcPts val="1000"/>
              </a:spcAft>
            </a:pPr>
            <a:r>
              <a:rPr sz="2000">
                <a:solidFill>
                  <a:srgbClr val="222B33"/>
                </a:solidFill>
                <a:latin typeface="Microsoft YaHei"/>
              </a:rPr>
              <a:t>▪ 以风险评估为基础，持续寻找更安全的做法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职业健康安全管理体系是系统管理安全与健康风险的方法，其核心是 PDCA 循环：计划（识别危害、评估风险、确定目标和措施）、实施（按计划落实措施、培训和运行控制）、检查（监测、检查、审核、事故调查）、改进（纠正问题、修……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只做计划和实施，不检查、不改进</a:t>
            </a:r>
          </a:p>
          <a:p>
            <a:pPr>
              <a:spcAft>
                <a:spcPts val="1000"/>
              </a:spcAft>
            </a:pPr>
            <a:r>
              <a:rPr sz="1500">
                <a:solidFill>
                  <a:srgbClr val="222B33"/>
                </a:solidFill>
                <a:latin typeface="Microsoft YaHei"/>
              </a:rPr>
              <a:t>▪ 引用已被取代的旧版体系标准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环境管理体系帮助系统减少对环境的影响</a:t>
            </a:r>
          </a:p>
          <a:p>
            <a:pPr>
              <a:spcAft>
                <a:spcPts val="1000"/>
              </a:spcAft>
            </a:pPr>
            <a:r>
              <a:rPr sz="2000">
                <a:solidFill>
                  <a:srgbClr val="222B33"/>
                </a:solidFill>
                <a:latin typeface="Microsoft YaHei"/>
              </a:rPr>
              <a:t>▪ 国内现行标准为 GB/T 24001-2016</a:t>
            </a:r>
          </a:p>
          <a:p>
            <a:pPr>
              <a:spcAft>
                <a:spcPts val="1000"/>
              </a:spcAft>
            </a:pPr>
            <a:r>
              <a:rPr sz="2000">
                <a:solidFill>
                  <a:srgbClr val="222B33"/>
                </a:solidFill>
                <a:latin typeface="Microsoft YaHei"/>
              </a:rPr>
              <a:t>▪ 实验室的废物、排放、能耗都适用</a:t>
            </a:r>
          </a:p>
          <a:p>
            <a:pPr>
              <a:spcAft>
                <a:spcPts val="1000"/>
              </a:spcAft>
            </a:pPr>
            <a:r>
              <a:rPr sz="2000">
                <a:solidFill>
                  <a:srgbClr val="222B33"/>
                </a:solidFill>
                <a:latin typeface="Microsoft YaHei"/>
              </a:rPr>
              <a:t>▪ 同样遵循 PDCA 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环境管理体系是单位系统识别和控制自身活动对环境影响的管理方法，我国现行标准为 GB/T 24001-2016（以现行文本为准）。它同样采用 PDCA 循环：识别环境因素和合规义务，制定目标和措施，运行控制，监测检查，……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认为环境管理只与工厂有关，与实验室无关</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设备全生命周期管理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设备从采购到报废都要管</a:t>
            </a:r>
          </a:p>
          <a:p>
            <a:pPr>
              <a:spcAft>
                <a:spcPts val="1000"/>
              </a:spcAft>
            </a:pPr>
            <a:r>
              <a:rPr sz="2000">
                <a:solidFill>
                  <a:srgbClr val="222B33"/>
                </a:solidFill>
                <a:latin typeface="Microsoft YaHei"/>
              </a:rPr>
              <a:t>▪ 采购前论证安全条件，验收后建档</a:t>
            </a:r>
          </a:p>
          <a:p>
            <a:pPr>
              <a:spcAft>
                <a:spcPts val="1000"/>
              </a:spcAft>
            </a:pPr>
            <a:r>
              <a:rPr sz="2000">
                <a:solidFill>
                  <a:srgbClr val="222B33"/>
                </a:solidFill>
                <a:latin typeface="Microsoft YaHei"/>
              </a:rPr>
              <a:t>▪ 使用前培训授权，按期维护、检定</a:t>
            </a:r>
          </a:p>
          <a:p>
            <a:pPr>
              <a:spcAft>
                <a:spcPts val="1000"/>
              </a:spcAft>
            </a:pPr>
            <a:r>
              <a:rPr sz="2000">
                <a:solidFill>
                  <a:srgbClr val="222B33"/>
                </a:solidFill>
                <a:latin typeface="Microsoft YaHei"/>
              </a:rPr>
              <a:t>▪ 报废前清洁去污，规范处置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设备到货就用，没有规程和培训</a:t>
            </a:r>
          </a:p>
          <a:p>
            <a:pPr>
              <a:spcAft>
                <a:spcPts val="1000"/>
              </a:spcAft>
            </a:pPr>
            <a:r>
              <a:rPr sz="1500">
                <a:solidFill>
                  <a:srgbClr val="222B33"/>
                </a:solidFill>
                <a:latin typeface="Microsoft YaHei"/>
              </a:rPr>
              <a:t>▪ 报废设备未去污就交出处置</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下列属于领先指标的是：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年度事故次数</a:t>
            </a:r>
          </a:p>
          <a:p>
            <a:pPr algn="l"/>
            <a:r>
              <a:rPr sz="1500" b="0">
                <a:solidFill>
                  <a:srgbClr val="222B33"/>
                </a:solidFill>
                <a:latin typeface="Microsoft YaHei"/>
              </a:rPr>
              <a:t>B. 伤病缺勤天数</a:t>
            </a:r>
          </a:p>
          <a:p>
            <a:pPr algn="l"/>
            <a:r>
              <a:rPr sz="1500" b="0">
                <a:solidFill>
                  <a:srgbClr val="222B33"/>
                </a:solidFill>
                <a:latin typeface="Microsoft YaHei"/>
              </a:rPr>
              <a:t>C. 险情报告数量和巡查次数</a:t>
            </a:r>
          </a:p>
          <a:p>
            <a:pPr algn="l"/>
            <a:r>
              <a:rPr sz="1500" b="0">
                <a:solidFill>
                  <a:srgbClr val="222B33"/>
                </a:solidFill>
                <a:latin typeface="Microsoft YaHei"/>
              </a:rPr>
              <a:t>D. 事故赔偿金额</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修改本实验室一份操作规程中的一个步骤，正确的做法是：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直接在打印稿上手写修改</a:t>
            </a:r>
          </a:p>
          <a:p>
            <a:pPr algn="l"/>
            <a:r>
              <a:rPr sz="1500" b="0">
                <a:solidFill>
                  <a:srgbClr val="222B33"/>
                </a:solidFill>
                <a:latin typeface="Microsoft YaHei"/>
              </a:rPr>
              <a:t>B. 升级版本号，注明日期和修改人，经审批后发布并收回旧版</a:t>
            </a:r>
          </a:p>
          <a:p>
            <a:pPr algn="l"/>
            <a:r>
              <a:rPr sz="1500" b="0">
                <a:solidFill>
                  <a:srgbClr val="222B33"/>
                </a:solidFill>
                <a:latin typeface="Microsoft YaHei"/>
              </a:rPr>
              <a:t>C. 口头通知大家</a:t>
            </a:r>
          </a:p>
          <a:p>
            <a:pPr algn="l"/>
            <a:r>
              <a:rPr sz="1500" b="0">
                <a:solidFill>
                  <a:srgbClr val="222B33"/>
                </a:solidFill>
                <a:latin typeface="Microsoft YaHei"/>
              </a:rPr>
              <a:t>D. 不必记录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判断：实验室有一份书面安全计划，就说明安全工作已经做到位了。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职业健康安全管理体系的核心循环是：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计划—实施—检查—改进</a:t>
            </a:r>
          </a:p>
          <a:p>
            <a:pPr algn="l"/>
            <a:r>
              <a:rPr sz="1500" b="0">
                <a:solidFill>
                  <a:srgbClr val="222B33"/>
                </a:solidFill>
                <a:latin typeface="Microsoft YaHei"/>
              </a:rPr>
              <a:t>B. 发现—报告—处罚</a:t>
            </a:r>
          </a:p>
          <a:p>
            <a:pPr algn="l"/>
            <a:r>
              <a:rPr sz="1500" b="0">
                <a:solidFill>
                  <a:srgbClr val="222B33"/>
                </a:solidFill>
                <a:latin typeface="Microsoft YaHei"/>
              </a:rPr>
              <a:t>C. 采购—使用—报废</a:t>
            </a:r>
          </a:p>
          <a:p>
            <a:pPr algn="l"/>
            <a:r>
              <a:rPr sz="1500" b="0">
                <a:solidFill>
                  <a:srgbClr val="222B33"/>
                </a:solidFill>
                <a:latin typeface="Microsoft YaHei"/>
              </a:rPr>
              <a:t>D. 培训—考试—准入</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简答：制度管理有哪四个常见陷阱？</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安全方针：负责人的书面承诺</a:t>
            </a:r>
          </a:p>
          <a:p>
            <a:pPr>
              <a:spcAft>
                <a:spcPts val="800"/>
              </a:spcAft>
            </a:pPr>
            <a:r>
              <a:rPr sz="1500">
                <a:solidFill>
                  <a:srgbClr val="FFFFFF"/>
                </a:solidFill>
                <a:latin typeface="Microsoft YaHei"/>
              </a:rPr>
              <a:t>▪ K2  安全计划：逐项找危害、配措施</a:t>
            </a:r>
          </a:p>
          <a:p>
            <a:pPr>
              <a:spcAft>
                <a:spcPts val="800"/>
              </a:spcAft>
            </a:pPr>
            <a:r>
              <a:rPr sz="1500">
                <a:solidFill>
                  <a:srgbClr val="FFFFFF"/>
                </a:solidFill>
                <a:latin typeface="Microsoft YaHei"/>
              </a:rPr>
              <a:t>▪ K3  安全手册里有什么</a:t>
            </a:r>
          </a:p>
          <a:p>
            <a:pPr>
              <a:spcAft>
                <a:spcPts val="800"/>
              </a:spcAft>
            </a:pPr>
            <a:r>
              <a:rPr sz="1500">
                <a:solidFill>
                  <a:srgbClr val="FFFFFF"/>
                </a:solidFill>
                <a:latin typeface="Microsoft YaHei"/>
              </a:rPr>
              <a:t>▪ K4  专项制度：废物、上锁挂牌、呼吸防护</a:t>
            </a:r>
          </a:p>
          <a:p>
            <a:pPr>
              <a:spcAft>
                <a:spcPts val="800"/>
              </a:spcAft>
            </a:pPr>
            <a:r>
              <a:rPr sz="1500">
                <a:solidFill>
                  <a:srgbClr val="FFFFFF"/>
                </a:solidFill>
                <a:latin typeface="Microsoft YaHei"/>
              </a:rPr>
              <a:t>▪ K5  制度定目标，实验室定做法</a:t>
            </a:r>
          </a:p>
          <a:p>
            <a:pPr>
              <a:spcAft>
                <a:spcPts val="800"/>
              </a:spcAft>
            </a:pPr>
            <a:r>
              <a:rPr sz="1500">
                <a:solidFill>
                  <a:srgbClr val="FFFFFF"/>
                </a:solidFill>
                <a:latin typeface="Microsoft YaHei"/>
              </a:rPr>
              <a:t>▪ S1  应急预案：写好、贴好、练好</a:t>
            </a:r>
          </a:p>
          <a:p>
            <a:pPr>
              <a:spcAft>
                <a:spcPts val="800"/>
              </a:spcAft>
            </a:pPr>
            <a:r>
              <a:rPr sz="1500">
                <a:solidFill>
                  <a:srgbClr val="FFFFFF"/>
                </a:solidFill>
                <a:latin typeface="Microsoft YaHei"/>
              </a:rPr>
              <a:t>▪ K6  制度要活，跟上实验室的变化</a:t>
            </a:r>
          </a:p>
          <a:p>
            <a:pPr>
              <a:spcAft>
                <a:spcPts val="800"/>
              </a:spcAft>
            </a:pPr>
            <a:r>
              <a:rPr sz="1500">
                <a:solidFill>
                  <a:srgbClr val="FFFFFF"/>
                </a:solidFill>
                <a:latin typeface="Microsoft YaHei"/>
              </a:rPr>
              <a:t>▪ K7  纸上的计划救不了人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制度管理的四个常见陷阱</a:t>
            </a:r>
          </a:p>
          <a:p>
            <a:pPr>
              <a:spcAft>
                <a:spcPts val="800"/>
              </a:spcAft>
            </a:pPr>
            <a:r>
              <a:rPr sz="1500">
                <a:solidFill>
                  <a:srgbClr val="FFFFFF"/>
                </a:solidFill>
                <a:latin typeface="Microsoft YaHei"/>
              </a:rPr>
              <a:t>▪ K9  受控文件与安全档案</a:t>
            </a:r>
          </a:p>
          <a:p>
            <a:pPr>
              <a:spcAft>
                <a:spcPts val="800"/>
              </a:spcAft>
            </a:pPr>
            <a:r>
              <a:rPr sz="1500">
                <a:solidFill>
                  <a:srgbClr val="FFFFFF"/>
                </a:solidFill>
                <a:latin typeface="Microsoft YaHei"/>
              </a:rPr>
              <a:t>▪ K10  安全委员会：大家一起商量</a:t>
            </a:r>
          </a:p>
          <a:p>
            <a:pPr>
              <a:spcAft>
                <a:spcPts val="800"/>
              </a:spcAft>
            </a:pPr>
            <a:r>
              <a:rPr sz="1500">
                <a:solidFill>
                  <a:srgbClr val="FFFFFF"/>
                </a:solidFill>
                <a:latin typeface="Microsoft YaHei"/>
              </a:rPr>
              <a:t>▪ K11  领先指标与滞后指标</a:t>
            </a:r>
          </a:p>
          <a:p>
            <a:pPr>
              <a:spcAft>
                <a:spcPts val="800"/>
              </a:spcAft>
            </a:pPr>
            <a:r>
              <a:rPr sz="1500">
                <a:solidFill>
                  <a:srgbClr val="FFFFFF"/>
                </a:solidFill>
                <a:latin typeface="Microsoft YaHei"/>
              </a:rPr>
              <a:t>▪ K12  PDCA：职业健康安全管理体系</a:t>
            </a:r>
          </a:p>
          <a:p>
            <a:pPr>
              <a:spcAft>
                <a:spcPts val="800"/>
              </a:spcAft>
            </a:pPr>
            <a:r>
              <a:rPr sz="1500">
                <a:solidFill>
                  <a:srgbClr val="FFFFFF"/>
                </a:solidFill>
                <a:latin typeface="Microsoft YaHei"/>
              </a:rPr>
              <a:t>▪ K13  环境管理体系</a:t>
            </a:r>
          </a:p>
          <a:p>
            <a:pPr>
              <a:spcAft>
                <a:spcPts val="800"/>
              </a:spcAft>
            </a:pPr>
            <a:r>
              <a:rPr sz="1500">
                <a:solidFill>
                  <a:srgbClr val="FFFFFF"/>
                </a:solidFill>
                <a:latin typeface="Microsoft YaHei"/>
              </a:rPr>
              <a:t>▪ S2  设备全生命周期管理</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准入、培训与离岗交接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适用对象：全体进入高校实验室的本科生、研究生、新进教职工和博士后（必修）；导师、带教人和实验室安全员重点学习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能说出“先培训考核、再准入”的要求和学校—学院—实验室三层培训的内容。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能做到：进入新实验室第一天认清危害和应急设施，掌握入门须知六件事。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能判断何时需要补专项培训和复训，并说出培训记录应包括的内容。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能做到：毕业或离开课题组前清点交接样本试剂、移交记录、注销权限。</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《中华人民共和国安全生产法》（以现行文本为准）：未经安全生产教育和培训合格的人员不得上岗作业；培训应当建立档案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教育部高校实验室安全检查项目表（以现行文本为准）：安全教育与准入类检查项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《中华人民共和国职业病防治法》（以现行文本为准）：上岗前和在岗期间的职业卫生培训</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日起施行）及《危险化学品安全管理条例》（以现行文本为准）：危险化学品从业人员安全教育培训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本校实验室安全准入、培训考核和人员离校管理规定（以本校规定为准）</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进实验室前先接受安全教育，考核合格才准入</a:t>
            </a:r>
          </a:p>
          <a:p>
            <a:pPr>
              <a:spcAft>
                <a:spcPts val="1000"/>
              </a:spcAft>
            </a:pPr>
            <a:r>
              <a:rPr sz="2000">
                <a:solidFill>
                  <a:srgbClr val="222B33"/>
                </a:solidFill>
                <a:latin typeface="Microsoft YaHei"/>
              </a:rPr>
              <a:t>▪ 签了到不等于受了培训</a:t>
            </a:r>
          </a:p>
          <a:p>
            <a:pPr>
              <a:spcAft>
                <a:spcPts val="1000"/>
              </a:spcAft>
            </a:pPr>
            <a:r>
              <a:rPr sz="2000">
                <a:solidFill>
                  <a:srgbClr val="222B33"/>
                </a:solidFill>
                <a:latin typeface="Microsoft YaHei"/>
              </a:rPr>
              <a:t>▪ 签安全承诺书后取得准入资格</a:t>
            </a:r>
          </a:p>
          <a:p>
            <a:pPr>
              <a:spcAft>
                <a:spcPts val="1000"/>
              </a:spcAft>
            </a:pPr>
            <a:r>
              <a:rPr sz="2000">
                <a:solidFill>
                  <a:srgbClr val="222B33"/>
                </a:solidFill>
                <a:latin typeface="Microsoft YaHei"/>
              </a:rPr>
              <a:t>▪ 既学操作规程，也学应急预案；进出登记，听从安排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未取得准入就跟着同学进实验室做实验</a:t>
            </a:r>
          </a:p>
          <a:p>
            <a:pPr>
              <a:spcAft>
                <a:spcPts val="1000"/>
              </a:spcAft>
            </a:pPr>
            <a:r>
              <a:rPr sz="1500">
                <a:solidFill>
                  <a:srgbClr val="222B33"/>
                </a:solidFill>
                <a:latin typeface="Microsoft YaHei"/>
              </a:rPr>
              <a:t>▪ 培训时只签到、不认真学，考核找人代考</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培训分三层：学校、学院、实验室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培训分三层，一层比一层具体</a:t>
            </a:r>
          </a:p>
          <a:p>
            <a:pPr>
              <a:spcAft>
                <a:spcPts val="1000"/>
              </a:spcAft>
            </a:pPr>
            <a:r>
              <a:rPr sz="2000">
                <a:solidFill>
                  <a:srgbClr val="222B33"/>
                </a:solidFill>
                <a:latin typeface="Microsoft YaHei"/>
              </a:rPr>
              <a:t>▪ 学校：通识培训和准入考试</a:t>
            </a:r>
          </a:p>
          <a:p>
            <a:pPr>
              <a:spcAft>
                <a:spcPts val="1000"/>
              </a:spcAft>
            </a:pPr>
            <a:r>
              <a:rPr sz="2000">
                <a:solidFill>
                  <a:srgbClr val="222B33"/>
                </a:solidFill>
                <a:latin typeface="Microsoft YaHei"/>
              </a:rPr>
              <a:t>▪ 学院：按学科开设专项课程</a:t>
            </a:r>
          </a:p>
          <a:p>
            <a:pPr>
              <a:spcAft>
                <a:spcPts val="1000"/>
              </a:spcAft>
            </a:pPr>
            <a:r>
              <a:rPr sz="2000">
                <a:solidFill>
                  <a:srgbClr val="222B33"/>
                </a:solidFill>
                <a:latin typeface="Microsoft YaHei"/>
              </a:rPr>
              <a:t>▪ 实验室：本岗位、本课题的规程和设备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只参加学校通识培训，跳过学院和实验室培训</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证书不等于准入，要结合本实验室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网课证书只是第一步</a:t>
            </a:r>
          </a:p>
          <a:p>
            <a:pPr>
              <a:spcAft>
                <a:spcPts val="1000"/>
              </a:spcAft>
            </a:pPr>
            <a:r>
              <a:rPr sz="2000">
                <a:solidFill>
                  <a:srgbClr val="222B33"/>
                </a:solidFill>
                <a:latin typeface="Microsoft YaHei"/>
              </a:rPr>
              <a:t>▪ 还要本室培训和实操考核，批准后才准入</a:t>
            </a:r>
          </a:p>
          <a:p>
            <a:pPr>
              <a:spcAft>
                <a:spcPts val="1000"/>
              </a:spcAft>
            </a:pPr>
            <a:r>
              <a:rPr sz="2000">
                <a:solidFill>
                  <a:srgbClr val="222B33"/>
                </a:solidFill>
                <a:latin typeface="Microsoft YaHei"/>
              </a:rPr>
              <a:t>▪ 通用证书代替不了现场培训</a:t>
            </a:r>
          </a:p>
          <a:p>
            <a:pPr>
              <a:spcAft>
                <a:spcPts val="1000"/>
              </a:spcAft>
            </a:pPr>
            <a:r>
              <a:rPr sz="2000">
                <a:solidFill>
                  <a:srgbClr val="222B33"/>
                </a:solidFill>
                <a:latin typeface="Microsoft YaHei"/>
              </a:rPr>
              <a:t>▪ 规则没定、培训没做，不能使用和储存该化学品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拿着通用培训证书直接进新实验室工作</a:t>
            </a:r>
          </a:p>
          <a:p>
            <a:pPr>
              <a:spcAft>
                <a:spcPts val="1000"/>
              </a:spcAft>
            </a:pPr>
            <a:r>
              <a:rPr sz="1500">
                <a:solidFill>
                  <a:srgbClr val="222B33"/>
                </a:solidFill>
                <a:latin typeface="Microsoft YaHei"/>
              </a:rPr>
              <a:t>▪ 先把新的危险化学品买回来，再考虑规程和培训</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培训讲清本岗位的危害和防护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讲清本岗位有哪些危害</a:t>
            </a:r>
          </a:p>
          <a:p>
            <a:pPr>
              <a:spcAft>
                <a:spcPts val="1000"/>
              </a:spcAft>
            </a:pPr>
            <a:r>
              <a:rPr sz="2000">
                <a:solidFill>
                  <a:srgbClr val="222B33"/>
                </a:solidFill>
                <a:latin typeface="Microsoft YaHei"/>
              </a:rPr>
              <a:t>▪ 讲清自己该采取哪些防护</a:t>
            </a:r>
          </a:p>
          <a:p>
            <a:pPr>
              <a:spcAft>
                <a:spcPts val="1000"/>
              </a:spcAft>
            </a:pPr>
            <a:r>
              <a:rPr sz="2000">
                <a:solidFill>
                  <a:srgbClr val="222B33"/>
                </a:solidFill>
                <a:latin typeface="Microsoft YaHei"/>
              </a:rPr>
              <a:t>▪ 安装维修或在电气设备旁工作的人也要培训</a:t>
            </a:r>
          </a:p>
          <a:p>
            <a:pPr>
              <a:spcAft>
                <a:spcPts val="1000"/>
              </a:spcAft>
            </a:pPr>
            <a:r>
              <a:rPr sz="2000">
                <a:solidFill>
                  <a:srgbClr val="222B33"/>
                </a:solidFill>
                <a:latin typeface="Microsoft YaHei"/>
              </a:rPr>
              <a:t>▪ 危险废物和应急岗位有专门培训；没培训易出事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培训只讲通用知识，不讲本岗位的具体危害</a:t>
            </a:r>
          </a:p>
          <a:p>
            <a:pPr>
              <a:spcAft>
                <a:spcPts val="1000"/>
              </a:spcAft>
            </a:pPr>
            <a:r>
              <a:rPr sz="1500">
                <a:solidFill>
                  <a:srgbClr val="222B33"/>
                </a:solidFill>
                <a:latin typeface="Microsoft YaHei"/>
              </a:rPr>
              <a:t>▪ 认为维修、保洁等辅助人员不需要培训</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培训要动手、有实效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只在电脑上做题远远不够</a:t>
            </a:r>
          </a:p>
          <a:p>
            <a:pPr>
              <a:spcAft>
                <a:spcPts val="1000"/>
              </a:spcAft>
            </a:pPr>
            <a:r>
              <a:rPr sz="2000">
                <a:solidFill>
                  <a:srgbClr val="222B33"/>
                </a:solidFill>
                <a:latin typeface="Microsoft YaHei"/>
              </a:rPr>
              <a:t>▪ 考试是门槛，现场培训才是真本事</a:t>
            </a:r>
          </a:p>
          <a:p>
            <a:pPr>
              <a:spcAft>
                <a:spcPts val="1000"/>
              </a:spcAft>
            </a:pPr>
            <a:r>
              <a:rPr sz="2000">
                <a:solidFill>
                  <a:srgbClr val="222B33"/>
                </a:solidFill>
                <a:latin typeface="Microsoft YaHei"/>
              </a:rPr>
              <a:t>▪ 好的培训一定要动手练，不懂就问到会</a:t>
            </a:r>
          </a:p>
          <a:p>
            <a:pPr>
              <a:spcAft>
                <a:spcPts val="1000"/>
              </a:spcAft>
            </a:pPr>
            <a:r>
              <a:rPr sz="2000">
                <a:solidFill>
                  <a:srgbClr val="222B33"/>
                </a:solidFill>
                <a:latin typeface="Microsoft YaHei"/>
              </a:rPr>
              <a:t>▪ 按对象设计内容，培训后检验效果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以线上考试代替全部培训</a:t>
            </a:r>
          </a:p>
          <a:p>
            <a:pPr>
              <a:spcAft>
                <a:spcPts val="1000"/>
              </a:spcAft>
            </a:pPr>
            <a:r>
              <a:rPr sz="1500">
                <a:solidFill>
                  <a:srgbClr val="222B33"/>
                </a:solidFill>
                <a:latin typeface="Microsoft YaHei"/>
              </a:rPr>
              <a:t>▪ 培训完不检验效果</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跟做、看护下做、考核后独立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新人先跟着老手做</a:t>
            </a:r>
          </a:p>
          <a:p>
            <a:pPr>
              <a:spcAft>
                <a:spcPts val="1000"/>
              </a:spcAft>
            </a:pPr>
            <a:r>
              <a:rPr sz="2000">
                <a:solidFill>
                  <a:srgbClr val="222B33"/>
                </a:solidFill>
                <a:latin typeface="Microsoft YaHei"/>
              </a:rPr>
              <a:t>▪ 再在老手看护下自己做，当场纠正</a:t>
            </a:r>
          </a:p>
          <a:p>
            <a:pPr>
              <a:spcAft>
                <a:spcPts val="1000"/>
              </a:spcAft>
            </a:pPr>
            <a:r>
              <a:rPr sz="2000">
                <a:solidFill>
                  <a:srgbClr val="222B33"/>
                </a:solidFill>
                <a:latin typeface="Microsoft YaHei"/>
              </a:rPr>
              <a:t>▪ 考核通过才能独立操作</a:t>
            </a:r>
          </a:p>
          <a:p>
            <a:pPr>
              <a:spcAft>
                <a:spcPts val="1000"/>
              </a:spcAft>
            </a:pPr>
            <a:r>
              <a:rPr sz="2000">
                <a:solidFill>
                  <a:srgbClr val="222B33"/>
                </a:solidFill>
                <a:latin typeface="Microsoft YaHei"/>
              </a:rPr>
              <a:t>▪ 不懂就问；危险操作不要一个人做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看过一遍就自己上手</a:t>
            </a:r>
          </a:p>
          <a:p>
            <a:pPr>
              <a:spcAft>
                <a:spcPts val="1000"/>
              </a:spcAft>
            </a:pPr>
            <a:r>
              <a:rPr sz="1500">
                <a:solidFill>
                  <a:srgbClr val="222B33"/>
                </a:solidFill>
                <a:latin typeface="Microsoft YaHei"/>
              </a:rPr>
              <a:t>▪ 不懂装懂，怕问被笑话</a:t>
            </a:r>
          </a:p>
          <a:p>
            <a:pPr>
              <a:spcAft>
                <a:spcPts val="1000"/>
              </a:spcAft>
            </a:pPr>
            <a:r>
              <a:rPr sz="1500">
                <a:solidFill>
                  <a:srgbClr val="222B33"/>
                </a:solidFill>
                <a:latin typeface="Microsoft YaHei"/>
              </a:rPr>
              <a:t>▪ 夜间独自进行危险操作</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进新实验室的第一天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第一天面对陌生环境，最重要的是学会安全工作</a:t>
            </a:r>
          </a:p>
          <a:p>
            <a:pPr>
              <a:spcAft>
                <a:spcPts val="1000"/>
              </a:spcAft>
            </a:pPr>
            <a:r>
              <a:rPr sz="2000">
                <a:solidFill>
                  <a:srgbClr val="222B33"/>
                </a:solidFill>
                <a:latin typeface="Microsoft YaHei"/>
              </a:rPr>
              <a:t>▪ 负责人带你转一圈，指出危险源</a:t>
            </a:r>
          </a:p>
          <a:p>
            <a:pPr>
              <a:spcAft>
                <a:spcPts val="1000"/>
              </a:spcAft>
            </a:pPr>
            <a:r>
              <a:rPr sz="2000">
                <a:solidFill>
                  <a:srgbClr val="222B33"/>
                </a:solidFill>
                <a:latin typeface="Microsoft YaHei"/>
              </a:rPr>
              <a:t>▪ 走一遍：洗眼器、喷淋、灭火器、安全出口</a:t>
            </a:r>
          </a:p>
          <a:p>
            <a:pPr>
              <a:spcAft>
                <a:spcPts val="1000"/>
              </a:spcAft>
            </a:pPr>
            <a:r>
              <a:rPr sz="2000">
                <a:solidFill>
                  <a:srgbClr val="222B33"/>
                </a:solidFill>
                <a:latin typeface="Microsoft YaHei"/>
              </a:rPr>
              <a:t>▪ 约定出事时怎么通知全实验室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进入新实验室，面对新同事、新材料、新流程，既兴奋又有压力。这时最重要的不是马上开始实验，而是学会在这里安全地工作。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第一天就急着开始实验，不熟悉环境</a:t>
            </a:r>
          </a:p>
          <a:p>
            <a:pPr>
              <a:spcAft>
                <a:spcPts val="1000"/>
              </a:spcAft>
            </a:pPr>
            <a:r>
              <a:rPr sz="1500">
                <a:solidFill>
                  <a:srgbClr val="222B33"/>
                </a:solidFill>
                <a:latin typeface="Microsoft YaHei"/>
              </a:rPr>
              <a:t>▪ 不知道洗眼器和灭火器的位置</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入门须知六件事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知道用什么，SDS 和手册在哪</a:t>
            </a:r>
          </a:p>
          <a:p>
            <a:pPr>
              <a:spcAft>
                <a:spcPts val="1000"/>
              </a:spcAft>
            </a:pPr>
            <a:r>
              <a:rPr sz="2000">
                <a:solidFill>
                  <a:srgbClr val="222B33"/>
                </a:solidFill>
                <a:latin typeface="Microsoft YaHei"/>
              </a:rPr>
              <a:t>▪ 知道要什么防护、怎么用</a:t>
            </a:r>
          </a:p>
          <a:p>
            <a:pPr>
              <a:spcAft>
                <a:spcPts val="1000"/>
              </a:spcAft>
            </a:pPr>
            <a:r>
              <a:rPr sz="2000">
                <a:solidFill>
                  <a:srgbClr val="222B33"/>
                </a:solidFill>
                <a:latin typeface="Microsoft YaHei"/>
              </a:rPr>
              <a:t>▪ 设备先检查，台面保持整洁</a:t>
            </a:r>
          </a:p>
          <a:p>
            <a:pPr>
              <a:spcAft>
                <a:spcPts val="1000"/>
              </a:spcAft>
            </a:pPr>
            <a:r>
              <a:rPr sz="2000">
                <a:solidFill>
                  <a:srgbClr val="222B33"/>
                </a:solidFill>
                <a:latin typeface="Microsoft YaHei"/>
              </a:rPr>
              <a:t>▪ 出了事知道怎么应急；听负责人的话，守规矩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 SDS 放在哪里</a:t>
            </a:r>
          </a:p>
          <a:p>
            <a:pPr>
              <a:spcAft>
                <a:spcPts val="1000"/>
              </a:spcAft>
            </a:pPr>
            <a:r>
              <a:rPr sz="1500">
                <a:solidFill>
                  <a:srgbClr val="222B33"/>
                </a:solidFill>
                <a:latin typeface="Microsoft YaHei"/>
              </a:rPr>
              <a:t>▪ 设备不检查就开机使用</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应急技能培训：灭火器与急救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参加灭火器使用培训，亲手练过</a:t>
            </a:r>
          </a:p>
          <a:p>
            <a:pPr>
              <a:spcAft>
                <a:spcPts val="1000"/>
              </a:spcAft>
            </a:pPr>
            <a:r>
              <a:rPr sz="2000">
                <a:solidFill>
                  <a:srgbClr val="222B33"/>
                </a:solidFill>
                <a:latin typeface="Microsoft YaHei"/>
              </a:rPr>
              <a:t>▪ 灭火器使用要领：提、拔、握、压</a:t>
            </a:r>
          </a:p>
          <a:p>
            <a:pPr>
              <a:spcAft>
                <a:spcPts val="1000"/>
              </a:spcAft>
            </a:pPr>
            <a:r>
              <a:rPr sz="2000">
                <a:solidFill>
                  <a:srgbClr val="222B33"/>
                </a:solidFill>
                <a:latin typeface="Microsoft YaHei"/>
              </a:rPr>
              <a:t>▪ 参加急救和心肺复苏培训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从未亲手操作过灭火器</a:t>
            </a:r>
          </a:p>
          <a:p>
            <a:pPr>
              <a:spcAft>
                <a:spcPts val="1000"/>
              </a:spcAft>
            </a:pPr>
            <a:r>
              <a:rPr sz="1500">
                <a:solidFill>
                  <a:srgbClr val="222B33"/>
                </a:solidFill>
                <a:latin typeface="Microsoft YaHei"/>
              </a:rPr>
              <a:t>▪ 认为急救是医生的事，自己不必学</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换实验、用新设备，先补专项培训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学过一次，不等于什么都会了</a:t>
            </a:r>
          </a:p>
          <a:p>
            <a:pPr>
              <a:spcAft>
                <a:spcPts val="1000"/>
              </a:spcAft>
            </a:pPr>
            <a:r>
              <a:rPr sz="2000">
                <a:solidFill>
                  <a:srgbClr val="222B33"/>
                </a:solidFill>
                <a:latin typeface="Microsoft YaHei"/>
              </a:rPr>
              <a:t>▪ 换课题、用新设备、规程改版</a:t>
            </a:r>
          </a:p>
          <a:p>
            <a:pPr>
              <a:spcAft>
                <a:spcPts val="1000"/>
              </a:spcAft>
            </a:pPr>
            <a:r>
              <a:rPr sz="2000">
                <a:solidFill>
                  <a:srgbClr val="222B33"/>
                </a:solidFill>
                <a:latin typeface="Microsoft YaHei"/>
              </a:rPr>
              <a:t>▪ 都要先补专项培训，再上手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凭原来的经验直接操作新设备</a:t>
            </a:r>
          </a:p>
          <a:p>
            <a:pPr>
              <a:spcAft>
                <a:spcPts val="1000"/>
              </a:spcAft>
            </a:pPr>
            <a:r>
              <a:rPr sz="1500">
                <a:solidFill>
                  <a:srgbClr val="222B33"/>
                </a:solidFill>
                <a:latin typeface="Microsoft YaHei"/>
              </a:rPr>
              <a:t>▪ 规程改版后仍按旧版操作</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久未操作先复训，定期复训演练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很久没操作，手生了，先复训再确认</a:t>
            </a:r>
          </a:p>
          <a:p>
            <a:pPr>
              <a:spcAft>
                <a:spcPts val="1000"/>
              </a:spcAft>
            </a:pPr>
            <a:r>
              <a:rPr sz="2000">
                <a:solidFill>
                  <a:srgbClr val="222B33"/>
                </a:solidFill>
                <a:latin typeface="Microsoft YaHei"/>
              </a:rPr>
              <a:t>▪ 定期复训，老手也不例外</a:t>
            </a:r>
          </a:p>
          <a:p>
            <a:pPr>
              <a:spcAft>
                <a:spcPts val="1000"/>
              </a:spcAft>
            </a:pPr>
            <a:r>
              <a:rPr sz="2000">
                <a:solidFill>
                  <a:srgbClr val="222B33"/>
                </a:solidFill>
                <a:latin typeface="Microsoft YaHei"/>
              </a:rPr>
              <a:t>▪ 规程更新后更要学</a:t>
            </a:r>
          </a:p>
          <a:p>
            <a:pPr>
              <a:spcAft>
                <a:spcPts val="1000"/>
              </a:spcAft>
            </a:pPr>
            <a:r>
              <a:rPr sz="2000">
                <a:solidFill>
                  <a:srgbClr val="222B33"/>
                </a:solidFill>
                <a:latin typeface="Microsoft YaHei"/>
              </a:rPr>
              <a:t>▪ 定期参加应急演练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长时间（如一个假期或更久）没有进行某项操作，熟练度会下降，容易出错。重新开始前，应先复习规程，在他人看护下操作一遍，确认没有问题后再独立进行。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认为老手不需要复训</a:t>
            </a:r>
          </a:p>
          <a:p>
            <a:pPr>
              <a:spcAft>
                <a:spcPts val="1000"/>
              </a:spcAft>
            </a:pPr>
            <a:r>
              <a:rPr sz="1500">
                <a:solidFill>
                  <a:srgbClr val="222B33"/>
                </a:solidFill>
                <a:latin typeface="Microsoft YaHei"/>
              </a:rPr>
              <a:t>▪ 隔了很久直接上手高风险操作</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培训要有记录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每次培训都要留下记录</a:t>
            </a:r>
          </a:p>
          <a:p>
            <a:pPr>
              <a:spcAft>
                <a:spcPts val="1000"/>
              </a:spcAft>
            </a:pPr>
            <a:r>
              <a:rPr sz="2000">
                <a:solidFill>
                  <a:srgbClr val="222B33"/>
                </a:solidFill>
                <a:latin typeface="Microsoft YaHei"/>
              </a:rPr>
              <a:t>▪ 写清学了什么、谁讲的、考得怎样、日期</a:t>
            </a:r>
          </a:p>
          <a:p>
            <a:pPr>
              <a:spcAft>
                <a:spcPts val="1000"/>
              </a:spcAft>
            </a:pPr>
            <a:r>
              <a:rPr sz="2000">
                <a:solidFill>
                  <a:srgbClr val="222B33"/>
                </a:solidFill>
                <a:latin typeface="Microsoft YaHei"/>
              </a:rPr>
              <a:t>▪ 到期提醒复训，记录归档可查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培训记录只有签名，没有内容和考核结果</a:t>
            </a:r>
          </a:p>
          <a:p>
            <a:pPr>
              <a:spcAft>
                <a:spcPts val="1000"/>
              </a:spcAft>
            </a:pPr>
            <a:r>
              <a:rPr sz="1500">
                <a:solidFill>
                  <a:srgbClr val="222B33"/>
                </a:solidFill>
                <a:latin typeface="Microsoft YaHei"/>
              </a:rPr>
              <a:t>▪ 复训过期无人提醒</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本课程只是基础</a:t>
            </a:r>
          </a:p>
          <a:p>
            <a:pPr>
              <a:spcAft>
                <a:spcPts val="1000"/>
              </a:spcAft>
            </a:pPr>
            <a:r>
              <a:rPr sz="2000">
                <a:solidFill>
                  <a:srgbClr val="222B33"/>
                </a:solidFill>
                <a:latin typeface="Microsoft YaHei"/>
              </a:rPr>
              <a:t>▪ 不能代替本实验室的操作规程</a:t>
            </a:r>
          </a:p>
          <a:p>
            <a:pPr>
              <a:spcAft>
                <a:spcPts val="1000"/>
              </a:spcAft>
            </a:pPr>
            <a:r>
              <a:rPr sz="2000">
                <a:solidFill>
                  <a:srgbClr val="222B33"/>
                </a:solidFill>
                <a:latin typeface="Microsoft YaHei"/>
              </a:rPr>
              <a:t>▪ 具体做法以本实验室规程为准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以课程内容为由不遵守本实验室规程</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离开课题组：清点交接、注销权限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毕业或离开课题组前办理交接</a:t>
            </a:r>
          </a:p>
          <a:p>
            <a:pPr>
              <a:spcAft>
                <a:spcPts val="1000"/>
              </a:spcAft>
            </a:pPr>
            <a:r>
              <a:rPr sz="2000">
                <a:solidFill>
                  <a:srgbClr val="222B33"/>
                </a:solidFill>
                <a:latin typeface="Microsoft YaHei"/>
              </a:rPr>
              <a:t>▪ 样本、试剂逐一清点交接</a:t>
            </a:r>
          </a:p>
          <a:p>
            <a:pPr>
              <a:spcAft>
                <a:spcPts val="1000"/>
              </a:spcAft>
            </a:pPr>
            <a:r>
              <a:rPr sz="2000">
                <a:solidFill>
                  <a:srgbClr val="222B33"/>
                </a:solidFill>
                <a:latin typeface="Microsoft YaHei"/>
              </a:rPr>
              <a:t>▪ 实验记录完整移交</a:t>
            </a:r>
          </a:p>
          <a:p>
            <a:pPr>
              <a:spcAft>
                <a:spcPts val="1000"/>
              </a:spcAft>
            </a:pPr>
            <a:r>
              <a:rPr sz="2000">
                <a:solidFill>
                  <a:srgbClr val="222B33"/>
                </a:solidFill>
                <a:latin typeface="Microsoft YaHei"/>
              </a:rPr>
              <a:t>▪ 门禁和仪器权限及时注销，不留无主样本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离开时把样本和试剂留在冰箱里不交代</a:t>
            </a:r>
          </a:p>
          <a:p>
            <a:pPr>
              <a:spcAft>
                <a:spcPts val="1000"/>
              </a:spcAft>
            </a:pPr>
            <a:r>
              <a:rPr sz="1500">
                <a:solidFill>
                  <a:srgbClr val="222B33"/>
                </a:solidFill>
                <a:latin typeface="Microsoft YaHei"/>
              </a:rPr>
              <a:t>▪ 毕业后门禁权限仍未注销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关于实验室准入，下列说法正确的是：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完成线上课程拿到证书即可进入任何实验室</a:t>
            </a:r>
          </a:p>
          <a:p>
            <a:pPr algn="l"/>
            <a:r>
              <a:rPr sz="1500" b="0">
                <a:solidFill>
                  <a:srgbClr val="222B33"/>
                </a:solidFill>
                <a:latin typeface="Microsoft YaHei"/>
              </a:rPr>
              <a:t>B. 跟着师兄进门就行</a:t>
            </a:r>
          </a:p>
          <a:p>
            <a:pPr algn="l"/>
            <a:r>
              <a:rPr sz="1500" b="0">
                <a:solidFill>
                  <a:srgbClr val="222B33"/>
                </a:solidFill>
                <a:latin typeface="Microsoft YaHei"/>
              </a:rPr>
              <a:t>C. 培训考核合格、签承诺书并经本室培训和批准后才能准入</a:t>
            </a:r>
          </a:p>
          <a:p>
            <a:pPr algn="l"/>
            <a:r>
              <a:rPr sz="1500" b="0">
                <a:solidFill>
                  <a:srgbClr val="222B33"/>
                </a:solidFill>
                <a:latin typeface="Microsoft YaHei"/>
              </a:rPr>
              <a:t>D. 签到即视为完成培训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新人学习一项实验操作，正确的顺序是：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看说明书后独立操作</a:t>
            </a:r>
          </a:p>
          <a:p>
            <a:pPr algn="l"/>
            <a:r>
              <a:rPr sz="1500" b="0">
                <a:solidFill>
                  <a:srgbClr val="222B33"/>
                </a:solidFill>
                <a:latin typeface="Microsoft YaHei"/>
              </a:rPr>
              <a:t>B. 跟着老手做—在看护下自己做—考核通过后独立操作</a:t>
            </a:r>
          </a:p>
          <a:p>
            <a:pPr algn="l"/>
            <a:r>
              <a:rPr sz="1500" b="0">
                <a:solidFill>
                  <a:srgbClr val="222B33"/>
                </a:solidFill>
                <a:latin typeface="Microsoft YaHei"/>
              </a:rPr>
              <a:t>C. 先自己试，出错再问</a:t>
            </a:r>
          </a:p>
          <a:p>
            <a:pPr algn="l"/>
            <a:r>
              <a:rPr sz="1500" b="0">
                <a:solidFill>
                  <a:srgbClr val="222B33"/>
                </a:solidFill>
                <a:latin typeface="Microsoft YaHei"/>
              </a:rPr>
              <a:t>D. 夜间人少时练习</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判断：已经在实验室工作三年的老手，规程改版后也需要参加培训。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毕业离开课题组前，下列哪项做法不正确？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清点并交接样本和试剂</a:t>
            </a:r>
          </a:p>
          <a:p>
            <a:pPr algn="l"/>
            <a:r>
              <a:rPr sz="1500" b="0">
                <a:solidFill>
                  <a:srgbClr val="222B33"/>
                </a:solidFill>
                <a:latin typeface="Microsoft YaHei"/>
              </a:rPr>
              <a:t>B. 移交实验记录</a:t>
            </a:r>
          </a:p>
          <a:p>
            <a:pPr algn="l"/>
            <a:r>
              <a:rPr sz="1500" b="0">
                <a:solidFill>
                  <a:srgbClr val="222B33"/>
                </a:solidFill>
                <a:latin typeface="Microsoft YaHei"/>
              </a:rPr>
              <a:t>C. 注销门禁和仪器权限</a:t>
            </a:r>
          </a:p>
          <a:p>
            <a:pPr algn="l"/>
            <a:r>
              <a:rPr sz="1500" b="0">
                <a:solidFill>
                  <a:srgbClr val="222B33"/>
                </a:solidFill>
                <a:latin typeface="Microsoft YaHei"/>
              </a:rPr>
              <a:t>D. 把不用的样品留在冰箱里，以后有人会处理</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进入新实验室第一天，最先应做的是：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马上开始实验</a:t>
            </a:r>
          </a:p>
          <a:p>
            <a:pPr algn="l"/>
            <a:r>
              <a:rPr sz="1500" b="0">
                <a:solidFill>
                  <a:srgbClr val="222B33"/>
                </a:solidFill>
                <a:latin typeface="Microsoft YaHei"/>
              </a:rPr>
              <a:t>B. 在负责人带领下认清危险源，实地走一遍洗眼器、喷淋、灭火器和安全出口</a:t>
            </a:r>
          </a:p>
          <a:p>
            <a:pPr algn="l"/>
            <a:r>
              <a:rPr sz="1500" b="0">
                <a:solidFill>
                  <a:srgbClr val="222B33"/>
                </a:solidFill>
                <a:latin typeface="Microsoft YaHei"/>
              </a:rPr>
              <a:t>C. 先整理自己的桌面</a:t>
            </a:r>
          </a:p>
          <a:p>
            <a:pPr algn="l"/>
            <a:r>
              <a:rPr sz="1500" b="0">
                <a:solidFill>
                  <a:srgbClr val="222B33"/>
                </a:solidFill>
                <a:latin typeface="Microsoft YaHei"/>
              </a:rPr>
              <a:t>D. 上网查实验方法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简答：一份完整的培训记录应包括哪些内容？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先培训考核，再准入</a:t>
            </a:r>
          </a:p>
          <a:p>
            <a:pPr>
              <a:spcAft>
                <a:spcPts val="800"/>
              </a:spcAft>
            </a:pPr>
            <a:r>
              <a:rPr sz="1500">
                <a:solidFill>
                  <a:srgbClr val="FFFFFF"/>
                </a:solidFill>
                <a:latin typeface="Microsoft YaHei"/>
              </a:rPr>
              <a:t>▪ K2  培训分三层：学校、学院、实验室</a:t>
            </a:r>
          </a:p>
          <a:p>
            <a:pPr>
              <a:spcAft>
                <a:spcPts val="800"/>
              </a:spcAft>
            </a:pPr>
            <a:r>
              <a:rPr sz="1500">
                <a:solidFill>
                  <a:srgbClr val="FFFFFF"/>
                </a:solidFill>
                <a:latin typeface="Microsoft YaHei"/>
              </a:rPr>
              <a:t>▪ K3  证书不等于准入，要结合本实验室</a:t>
            </a:r>
          </a:p>
          <a:p>
            <a:pPr>
              <a:spcAft>
                <a:spcPts val="800"/>
              </a:spcAft>
            </a:pPr>
            <a:r>
              <a:rPr sz="1500">
                <a:solidFill>
                  <a:srgbClr val="FFFFFF"/>
                </a:solidFill>
                <a:latin typeface="Microsoft YaHei"/>
              </a:rPr>
              <a:t>▪ K4  培训讲清本岗位的危害和防护</a:t>
            </a:r>
          </a:p>
          <a:p>
            <a:pPr>
              <a:spcAft>
                <a:spcPts val="800"/>
              </a:spcAft>
            </a:pPr>
            <a:r>
              <a:rPr sz="1500">
                <a:solidFill>
                  <a:srgbClr val="FFFFFF"/>
                </a:solidFill>
                <a:latin typeface="Microsoft YaHei"/>
              </a:rPr>
              <a:t>▪ K5  培训要动手、有实效</a:t>
            </a:r>
          </a:p>
          <a:p>
            <a:pPr>
              <a:spcAft>
                <a:spcPts val="800"/>
              </a:spcAft>
            </a:pPr>
            <a:r>
              <a:rPr sz="1500">
                <a:solidFill>
                  <a:srgbClr val="FFFFFF"/>
                </a:solidFill>
                <a:latin typeface="Microsoft YaHei"/>
              </a:rPr>
              <a:t>▪ K6  跟做、看护下做、考核后独立</a:t>
            </a:r>
          </a:p>
          <a:p>
            <a:pPr>
              <a:spcAft>
                <a:spcPts val="800"/>
              </a:spcAft>
            </a:pPr>
            <a:r>
              <a:rPr sz="1500">
                <a:solidFill>
                  <a:srgbClr val="FFFFFF"/>
                </a:solidFill>
                <a:latin typeface="Microsoft YaHei"/>
              </a:rPr>
              <a:t>▪ K7  进新实验室的第一天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入门须知六件事</a:t>
            </a:r>
          </a:p>
          <a:p>
            <a:pPr>
              <a:spcAft>
                <a:spcPts val="800"/>
              </a:spcAft>
            </a:pPr>
            <a:r>
              <a:rPr sz="1500">
                <a:solidFill>
                  <a:srgbClr val="FFFFFF"/>
                </a:solidFill>
                <a:latin typeface="Microsoft YaHei"/>
              </a:rPr>
              <a:t>▪ K9  应急技能培训：灭火器与急救</a:t>
            </a:r>
          </a:p>
          <a:p>
            <a:pPr>
              <a:spcAft>
                <a:spcPts val="800"/>
              </a:spcAft>
            </a:pPr>
            <a:r>
              <a:rPr sz="1500">
                <a:solidFill>
                  <a:srgbClr val="FFFFFF"/>
                </a:solidFill>
                <a:latin typeface="Microsoft YaHei"/>
              </a:rPr>
              <a:t>▪ K10  换实验、用新设备，先补专项培训</a:t>
            </a:r>
          </a:p>
          <a:p>
            <a:pPr>
              <a:spcAft>
                <a:spcPts val="800"/>
              </a:spcAft>
            </a:pPr>
            <a:r>
              <a:rPr sz="1500">
                <a:solidFill>
                  <a:srgbClr val="FFFFFF"/>
                </a:solidFill>
                <a:latin typeface="Microsoft YaHei"/>
              </a:rPr>
              <a:t>▪ K11  久未操作先复训，定期复训演练</a:t>
            </a:r>
          </a:p>
          <a:p>
            <a:pPr>
              <a:spcAft>
                <a:spcPts val="800"/>
              </a:spcAft>
            </a:pPr>
            <a:r>
              <a:rPr sz="1500">
                <a:solidFill>
                  <a:srgbClr val="FFFFFF"/>
                </a:solidFill>
                <a:latin typeface="Microsoft YaHei"/>
              </a:rPr>
              <a:t>▪ K12  培训要有记录</a:t>
            </a:r>
          </a:p>
          <a:p>
            <a:pPr>
              <a:spcAft>
                <a:spcPts val="800"/>
              </a:spcAft>
            </a:pPr>
            <a:r>
              <a:rPr sz="1500">
                <a:solidFill>
                  <a:srgbClr val="FFFFFF"/>
                </a:solidFill>
                <a:latin typeface="Microsoft YaHei"/>
              </a:rPr>
              <a:t>▪ K13  本课程不能代替本实验室规程</a:t>
            </a:r>
          </a:p>
          <a:p>
            <a:pPr>
              <a:spcAft>
                <a:spcPts val="800"/>
              </a:spcAft>
            </a:pPr>
            <a:r>
              <a:rPr sz="1500">
                <a:solidFill>
                  <a:srgbClr val="FFFFFF"/>
                </a:solidFill>
                <a:latin typeface="Microsoft YaHei"/>
              </a:rPr>
              <a:t>▪ K14  离开课题组：清点交接、注销权限</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