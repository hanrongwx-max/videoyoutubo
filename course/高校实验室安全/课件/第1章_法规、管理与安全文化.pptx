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不得上岗作业，高校实验室同样遵循这一原则。</a:t>
            </a:r>
          </a:p>
          <a:p>
            <a:r>
              <a:t>培训的关键是“学会”，而不是“到场”：签到不等于受了培训，培训后必须通过考核证明掌握了要求的内容。培训内容既包括操作规程，也包括应急预案和应急处置方法。</a:t>
            </a:r>
          </a:p>
          <a:p>
            <a:r>
              <a:t>取得准入后，进出实验室要按规定登记，听从实验室负责人和指导教师的安排。新实验开展前还要先做风险评估、确定防护措施（第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负责人、安全员或带教人讲授本岗位、本课题使用的物质、设备、操作规程、应急设施和应急程序。</a:t>
            </a:r>
          </a:p>
          <a:p>
            <a:r>
              <a:t>三层培训缺一不可：学校和学院的培训打基础，实验室的培训解决“在这间屋子里、做这个实验具体怎么做”。生物安全、辐射、激光等专项培训分别见第 61、93、116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a:p>
            <a:r>
              <a:t>同样，实验室准备引入一种新的危险化学品或开展新的危险性工作时，如果相应的操作规程还没有制定、人员培训还没有完成，就不能使用，也不能先储存这种化学品。</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制危害。</a:t>
            </a:r>
          </a:p>
          <a:p>
            <a:r>
              <a:t>需要培训的不只是做实验的人：安装、维修、维护电气设备的人员，以及在电气设备旁边工作的人员，都要接受相应的培训（电工作业须持证）。负责危险废物管理、承担应急职责的人员还有专门的培训要求，需要什么培训、到哪里参加，要事先向学院或学校问清楚。</a:t>
            </a:r>
          </a:p>
          <a:p>
            <a:r>
              <a:t>没有经过培训就上手操作，是事故和伤害的常见原因。</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正会为止。</a:t>
            </a:r>
          </a:p>
          <a:p>
            <a:r>
              <a:t>培训应当按需设计：先分析不同人员需要什么（新生、老生、教师、维修人员需求不同），据此确定内容和方式；培训后通过考核、实操和日常观察检验效果，并定期再培训。对带教人来说，教别人的过程也是巩固自己的过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一次做某个实验，一定要在老师或带教人指导下进行。</a:t>
            </a:r>
          </a:p>
          <a:p>
            <a:r>
              <a:t>过程中有任何疑问随时提出，不要硬着头皮上。危险性较高的操作（如使用剧毒品、高压、自燃试剂等）不得一个人在实验室进行，要有人在场或按本校规定执行。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进入新实验室，面对新同事、新材料、新流程，既兴奋又有压力。这时最重要的不是马上开始实验，而是学会在这里安全地工作。</a:t>
            </a:r>
          </a:p>
          <a:p>
            <a:r>
              <a:t>第一天应由实验室负责人或安全员带领巡视一圈，逐一指出危险的地方：气瓶在哪里、化学品柜和危险废物暂存点在哪里、哪些设备有特殊危险。然后实地走一遍应急设施：洗眼器、紧急喷淋、灭火器、急救箱、紧急切断开关和安全出口在哪里，怎么最快到达。还要约定出事时如何通知全实验室的人（喊话、警报方式等），以及本室所用物料各自的应急处置方法。</a:t>
            </a:r>
          </a:p>
          <a:p>
            <a:r>
              <a:t>就像熟悉灯开关在哪里一样，第一天就要学会这里的安全规则。看不懂的随时问负责人和安全员。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有序；六是知道出了事怎么应急。最后，听从实验室负责人的安排，遵守规矩，才能天天安全。</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章讲解），以及急救和心肺复苏培训（在训练模型上练习）。这些技能平时用不上，关键时刻却可能挽救生命。</a:t>
            </a:r>
          </a:p>
          <a:p>
            <a:r>
              <a:t>应急技能要定期复习；没有经过培训的人员，在火情面前首先要确保自身安全、及时报警（119）和撤离。</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长时间（如一个假期或更久）没有进行某项操作，熟练度会下降，容易出错。重新开始前，应先复习规程，在他人看护下操作一遍，确认没有问题后再独立进行。</a:t>
            </a:r>
          </a:p>
          <a:p>
            <a:r>
              <a:t>所有人员都要定期复训，有经验的老手也不例外，规程更新时更要及时学习；同时定期参加应急演练，保持应急处置能力。复训周期以本校和本实验室规定为准。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记录。</a:t>
            </a:r>
          </a:p>
          <a:p>
            <a:r>
              <a:t>培训记录要归档保存，并跟踪复训到期时间，及时提醒。好的培训记录能证明人员真正掌握了内容，而不只是签过到。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程和本校规定为准，并可向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不留下无人认领、无标签的样本和试剂；实验记录、数据和相关资料完整移交；归还钥匙、门禁卡，注销门禁和仪器使用权限。</a:t>
            </a:r>
          </a:p>
          <a:p>
            <a:r>
              <a:t>无主样本和试剂是实验室常见的隐患来源：标签模糊、性质不明，处置困难，甚至可能变质产生危险。离开时办好交接，是对实验室和后来者负责。</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答案：C。解析：通用证书只是第一步，还要本室培训、实操考核和批准；签到不等于培训。</a:t>
            </a:r>
          </a:p>
          <a:p>
            <a:r>
              <a:t>第 2 题 答案：B。解析：先跟做，再在看护下做并当场纠正，考核通过才能独立。</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答案：A。解析：规程改版、换课题、用新设备都要补专项培训，定期复训老手也不例外。</a:t>
            </a:r>
          </a:p>
          <a:p>
            <a:r>
              <a:t>第 4 题 答案：D。解析：不能留下无人认领的样本和试剂，不需要的要按规定处置。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答案：B。解析：第一天最重要的是学会在这里安全地工作。</a:t>
            </a:r>
          </a:p>
          <a:p>
            <a:r>
              <a:t>第 6 题 答案：培训内容、培训人、受训人、日期、考核方式和结果。解析：记录要能证明真正掌握，并跟踪复训到期时间。</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安全培训。</a:t>
            </a:r>
          </a:p>
          <a:p>
            <a:r>
              <a:t>因此接待参观的人（向导）最重要的职责不是讲解得多精彩，而是保护访客的安全：可以展示，但眼睛一直要留意每一位访客的位置和动作。一次参观的人数应与向导能照看的范围相适应，必要时分组进行。</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应急出口和集合点；四是佩戴访客标识，由本实验室人员全程陪同。</a:t>
            </a:r>
          </a:p>
          <a:p>
            <a:r>
              <a:t>访客不得单独在实验室内走动，不得操作仪器设备，不得触碰化学品、样品和废弃物。参观结束后核对人数并登记离开时间。</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访客往往穿着便装甚至凉鞋、短裙前来，身上没有任何防护。接待方应在参观前通知访客着装要求：穿长裤和包住脚面的鞋，长发束起，不戴悬垂饰物。</a:t>
            </a:r>
          </a:p>
          <a:p>
            <a:r>
              <a:t>进门时按实验室风险发放防护用品，至少佩戴护目镜，必要时穿实验服。着装不符合要求的访客，不进入操作区，只在走廊或观察区参观。个人防护的具体要求见第 3 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访客不熟悉现场，容易被通道上的纸箱、线缆、软管绊倒。参观前要把参观路线清理干净，保持通道畅通。</a:t>
            </a:r>
          </a:p>
          <a:p>
            <a:r>
              <a:t>在工程训练中心、大型设备实验室等场所，访客在场时应暂停吊装、搬运重物、装卸板材等作业；起重机械作业要遵守特种设备的有关规定，吊运区下方任何人不得站立和通过（以本校规定为准）。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参观区可以用地面黄色警戒线等方式划定，位置既要能看清设备和演示，又要在设备运动范围、飞溅范围和危险区之外。走到设备前，人人都想凑近看，向导要提前说明“只在线内看”，发现越线及时提醒退回。</a:t>
            </a:r>
          </a:p>
          <a:p>
            <a:r>
              <a:t>激光加工设备、激光实验室等区域设有激光警告标志和隔离措施，访客不得越线进入，只能隔着设备的观察窗或防护屏观看，不靠近机门，不打开防护门。激光的危害和防护见第 9 章。</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很多设备的台面、格栅、导轨边缘锋利，部件可能是热的或会突然移动。访客和非操作人员不要倚靠在设备上，不要把手搭在格栅或台面上，更不能爬上台面。曾有人摔倒在设备台面上，受了很重的伤。</a:t>
            </a:r>
          </a:p>
          <a:p>
            <a:r>
              <a:t>向导在讲解前就要提醒“不靠、不搭、不爬”，并注意儿童和青少年访客的好奇举动。</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实验室和车间里有不少会突然启动或发出巨响的设备：气动台面、储气罐排气、自动门、真空泵、离心机、空压机等。气动上料台的滚珠靠压缩空气顶起，一按按钮就会“砰”的一声升起。</a:t>
            </a:r>
          </a:p>
          <a:p>
            <a:r>
              <a:t>受惊本身也会造成伤害：人被吓到后会本能地后退，撞上货架、设备或其他人，甚至摔倒。背对设备站立、第一次来的人最容易受惊。向导要事先了解现场哪些设备会突然动作，站位时让访客面向设备，替他们留意。</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操作人员和向导在设备动作前，先告诉访客接下来要做什么，指出声音从哪里发出、哪个部位会怎样运动，然后再操作。访客心里有准备，就不会突然受惊后退。</a:t>
            </a:r>
          </a:p>
          <a:p>
            <a:r>
              <a:t>这一做法同样适用于实验室内部：在他人身边开启设备、移动物品、开关柜门前，先说一声。</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访客喜欢拍照、拍视频留念，这可以在规定范围内进行：只在参观区内拍摄，不为了取景越线，不挤到操作人员身边，不使用闪光灯干扰操作。</a:t>
            </a:r>
          </a:p>
          <a:p>
            <a:r>
              <a:t>涉及危险化学品储存、病原微生物、放射源、重要科研数据和未公开成果的区域，以及标明禁止拍摄的地方，一律不拍；拍摄的内容不得暴露安保设施的位置和薄弱环节（以本校规定为准）。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人员陪同。</a:t>
            </a:r>
          </a:p>
          <a:p>
            <a:r>
              <a:t>实验室成员发现走廊或实验室内有身份不明的陌生人，应礼貌询问来意；无法确认时不要放行，及时报告实验室负责人或学校保卫处。</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访客不熟悉实验室的布局、安全出口和应急集合点。参观前的安全交底就要说明：一旦听到警报或接到撤离指令，跟着向导走，不要自行乱跑，不要返回取物。</a:t>
            </a:r>
          </a:p>
          <a:p>
            <a:r>
              <a:t>发生紧急情况时，向导立即组织访客沿疏散通道撤离到集合点，清点人数，确认无人遗漏，并向现场负责人报告；如有人员不明下落，告知消防救援人员，不要自行返回寻找。报火警拨打 119，急救拨打 120。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勤维修、设备厂家工程师、保洁人员等进入实验室区域作业时，往往并不了解实验室里有哪些危险。实验室要主动告知：作业点附近有哪些化学品、气体、生物材料、带电设备，哪些东西不能碰，出了意外怎么办。</a:t>
            </a:r>
          </a:p>
          <a:p>
            <a:r>
              <a:t>同时，外来作业人员也应主动询问作业部位（如通风管道、排水管、配电箱）可能残留的危险物质。双方都把信息讲清楚，才能避免伤害。</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污（涉及生物材料的先消毒），标明仍有危险的部位。</a:t>
            </a:r>
          </a:p>
          <a:p>
            <a:r>
              <a:t>作业期间实验室要有人陪同，随时提醒；作业完成后检查现场、恢复设施并登记离开，不让外来人员独自进出实验室。动火、高处、带电等特殊作业要按学校规定另行审批，校园施工承包商管理见第 146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学生社团开展科普展示、竞赛、实践等活动，活动方案（时间、地点、内容、人数、风险和防范措施、应急预案）要先报指导教师和学校有关部门审批，批准后才能举办。</a:t>
            </a:r>
          </a:p>
          <a:p>
            <a:r>
              <a:t>每场活动都要指定安全负责人，负责活动前检查场地、活动中维持秩序、发生意外时组织处置和报告。活动内容有安全风险的，要相应调整或取消。</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a:p>
            <a:r>
              <a:t>活动中不进行明火表演和未经评估的“趣味实验”，不私自携带化学品、气体和生物材料进入实验室；所需材料由实验室按规定提供和管理，活动结束后清理现场、交还实验室。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答案：B。解析：外来人员要登记、批准、交底、全程陪同，不得单独走动和操作设备。</a:t>
            </a:r>
          </a:p>
          <a:p>
            <a:r>
              <a:t>第 2 题 答案：B。解析：激光区不越线，只能隔着观察窗看，不靠近机门、不打开防护门。</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答案：B。解析：先说清楚再动手，访客心里有数就不会受惊后退、碰撞摔倒。</a:t>
            </a:r>
          </a:p>
          <a:p>
            <a:r>
              <a:t>第 4 题 答案：D。解析：作业期间实验室要有人陪同，不让外来人员独自进出。</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答案：B。解析：社团活动先审批、定安全负责人；借用实验室须培训准入、老师在场，不私带化学品。</a:t>
            </a:r>
          </a:p>
          <a:p>
            <a:r>
              <a:t>第 6 题 答案：不倚靠设备，不把手搭在格栅或台面上，不爬上设备台面。解析：设备格栅锋利、部件可能突然移动，摔在台面上会严重受伤。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实验室是多人共用的危险场所，一个人的随意行为可能伤到整个实验室的人。了解规则、遵守规则，是每个人的责任；同时还要学会发现身边的安全隐患，及时提醒或报告。</a:t>
            </a:r>
          </a:p>
          <a:p>
            <a:r>
              <a:t>“体谅前一个人，照顾下一个人”：用前检查，不抱怨前人留下的问题而是按规定处理；用后清理台面、设备归位、废物处置好，把干净安全的环境交给下一位使用者。安全从规范自己的行为做起。</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教学实验课上，指导教师或实验室负责人应始终在场；科研实验中，实验室负责人和导师对本实验室的安全负责（见第 004 课）。开始操作前，他们会讲清实验技术、设备使用方法、需要的防护和注意事项。</a:t>
            </a:r>
          </a:p>
          <a:p>
            <a:r>
              <a:t>遇到问题先找负责人或指导教师。负责人、安全员发出的安全指令（如停止操作、撤离、佩戴防护用品）必须立即执行，有不同意见事后再沟通。</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实验前要认真预习实验讲义或实验方案：明确实验目的、原理、步骤，使用的化学品和设备有哪些危害，需要哪些防护，出现意外如何处置。不能到了实验室才临时翻讲义、等别人告诉你怎么做。</a:t>
            </a:r>
          </a:p>
          <a:p>
            <a:r>
              <a:t>演示视频和老师的示范可以帮助理解操作，但只是预习的一部分，代替不了阅读讲义。原理不懂，就无法判断操作中的异常；只懂原理不会操作，也做不好实验。两样都要掌握。</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实验操作要严格按照书面的操作规程（SOP）或经批准的实验方案进行，一步一步做，不跳步、不随意调换顺序、不凭感觉增减用量和条件。规程的编写见第 019 课。</a:t>
            </a:r>
          </a:p>
          <a:p>
            <a:r>
              <a:t>只做自己受过培训、经考核允许独立操作的工作。别人交给你的陌生任务、没培训过的仪器，要先接受培训，不能“边看边学”直接上手（见第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实验中遇到拿不准的情况——仪器怎么用、条件能不能改、出现了没见过的现象——先停下来问导师、负责人或带教人。自己乱试可能酿成事故；“慢慢做、小心点”也不能代替弄清楚。</a:t>
            </a:r>
          </a:p>
          <a:p>
            <a:r>
              <a:t>不擅自改变实验方案：改变试剂、用量、温度、压力、规模，或者改变装置的摆放（例如要在另一台仪器旁边放一台加热板），都可能带来新的风险，须先经负责人同意，必要时重新进行风险评估（第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化学品和病原微生物等有害物质进入人体，主要有四条途径：经口食入、经呼吸道吸入、经皮肤和黏膜接触吸收、经锐器刺伤或割伤进入。</a:t>
            </a:r>
          </a:p>
          <a:p>
            <a:r>
              <a:t>实验室行为守则的很多条目，正是为了堵住这些途径：不吃不喝、不用手碰嘴，堵住食入；在通风柜内操作、不闻试剂，减少吸入；戴手套、不用手直接接触，防止皮肤吸收；规范使用锐器，防止刺伤。理解了“为什么”，就更容易做到“怎么做”。</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台面上、空气中的污染物会通过饮食进入人体，因此实验室工作区内禁止饮食、饮水、嚼口香糖，禁止吸烟（含电子烟），不化妆，不咬笔头、不用手摸脸。水杯、零食和书包放在实验室外或指定的存放区，吃喝到休息区进行，离开实验室前先洗手。</a:t>
            </a:r>
          </a:p>
          <a:p>
            <a:r>
              <a:t>实验室不是宿舍，不得在实验室内留宿、休息过夜。保持通道畅通、台面整洁。着装（长发束起、长裤、不穿短裙和露脚鞋）和个人卫生的详细要求见第 3 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存放试剂、样品、培养物的冰箱和培养箱，以及实验用的微波炉、烘箱，都可能被化学品或微生物污染，不得存放或加热食品、饮料。同样，食品冰箱不能存放试剂和样品。</a:t>
            </a:r>
          </a:p>
          <a:p>
            <a:r>
              <a:t>实验用冰箱要有明显标识（如“禁止存放食品”）；存放易燃溶剂的冰箱还须符合防爆要求（第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任何化学品、反应产物和样品，都不能用手直接接触，更不能尝味道或凑近容器口闻气味。取用固体用刮刀、药匙或镊子，取用液体用移液器或滴管，并佩戴合适的手套。</a:t>
            </a:r>
          </a:p>
          <a:p>
            <a:r>
              <a:t>确需辨别气味时（教学中极少需要），只能按老师指导用手轻轻扇动、远距离闻，且仅限明确低毒的物质。</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实验时要专心，不玩手机、不戴耳机听音乐、不闲聊分心。实验室里不奔跑、不打闹、不搞恶作剧——一次推搡就可能打翻试剂瓶、撞倒装置。加热和反应进行中不离开岗位。</a:t>
            </a:r>
          </a:p>
          <a:p>
            <a:r>
              <a:t>专心不等于只盯着自己：要留意周围有谁、在做什么，看到地上的水、没盖好的试剂、异常的气味和声音，马上说出来。实验数据如实记录，这是科研诚信，也是事故追溯的依据。</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真实常见的场景：有人辛苦一周准备好一排样品，离开去休息，回来发现被别人当成废瓶洗掉了。这既毁了别人的工作，也可能因为倒掉未知物质而引发危险。两条教训：不认识的瓶子，不要随便洗或倒；再生气，也不要拿东西撒气。</a:t>
            </a:r>
          </a:p>
          <a:p>
            <a:r>
              <a:t>自己的样品和试剂要贴好标签，写明名称、所有人、日期；看到不认识的瓶子、不属于自己的样品，先问清楚再动，无人认领的报告负责人处理。公用的仪器、器具用前登记、用后清洁归位，不据为己有，不擅自挪用。</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仪器设备的外壳、防护罩、安全联锁和报警装置是保护使用者的关键措施。不得私自拆卸外壳和防护罩，不得短接、屏蔽联锁或报警，不得私自改动电路、气路，不得私拉乱接电线、串联插线板。</a:t>
            </a:r>
          </a:p>
          <a:p>
            <a:r>
              <a:t>设备确需改装、维修或改变用途的，报实验室负责人同意，由专业人员按规定实施，改装后经检查确认安全再使用。电气安全见第 8 章。</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人在实验室做危险实验，一旦受伤、中毒或晕倒，就没有人能及时施救和报警。因此危险性较高的实验（如使用剧毒品、易燃易爆品、高温高压、高能量设备等）不得一个人进行，按本校规定至少两人在场，互相照应。</a:t>
            </a:r>
          </a:p>
          <a:p>
            <a:r>
              <a:t>即使是一般实验，也尽量不要在实验室独处；确需单独工作时，要登记去向，让同伴或负责人知道你在哪里、在做什么、预计何时结束，并按约定保持联系。</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夜间、周末和节假日实验室人少，出了事难以及时发现和救援，风险更高。确需在这些时间做实验的，应按本校规定提前向实验室负责人报备或申请，经同意后进行；高风险操作一般不安排在此时，确需进行的必须两人以上在场。</a:t>
            </a:r>
          </a:p>
          <a:p>
            <a:r>
              <a:t>疲劳会让注意力和判断力明显下降，是差错的重要原因（见第 011 课）。累了就停下来休息，不熬夜赶实验。</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热、回流、蒸馏等反应进行中，操作人不得离开。确需长时间或过夜运行的设备（如培养箱、某些长时间反应），要经实验室负责人同意，确认设备和防护措施可靠（如温控、过热保护、冷却水断流保护），并在设备上挂牌，写明实验内容、负责人、运行起止时间和联系电话，出现状况时别人能马上找到你。</a:t>
            </a:r>
          </a:p>
          <a:p>
            <a:r>
              <a:t>不需要继续运行的设备，离开前一律关闭、断电。明火和电炉等加热设备不得无人看管。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或最后一个离开实验室时，要逐项检查：水龙头和冷却水是否关闭，不用的设备是否断电，气瓶总阀和燃气阀是否关闭，化学品是否归位，门窗是否关好，然后再锁门离开。很多实验室在门口设有离开前检查表，照表逐项确认。</a:t>
            </a:r>
          </a:p>
          <a:p>
            <a:r>
              <a:t>漏关的冷却水可能水淹楼下，忘断的电源可能引起火灾，没关的气阀可能导致泄漏，离开前的一分钟检查非常值得。</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答案：C。解析：实验室工作区禁止饮食，实验用冰箱和微波炉不得存放或加热食品。</a:t>
            </a:r>
          </a:p>
          <a:p>
            <a:r>
              <a:t>第 2 题 答案：B。解析：危险实验不得独自做，按规定至少两人在场；夜间节假日实验要先报备。</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答案：C。解析：不认识的瓶子先问再动，自己的样品要贴好名字和日期。</a:t>
            </a:r>
          </a:p>
          <a:p>
            <a:r>
              <a:t>第 4 题 答案：B。解析：无人值守运行须经同意并挂牌留联系方式，其他设备离开前断电。</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答案：C。解析：不得私自改装设备、短接联锁，改装维修由专业人员按规定实施。</a:t>
            </a:r>
          </a:p>
          <a:p>
            <a:r>
              <a:t>第 6 题 答案：食入、吸入、皮肤和黏膜接触、锐器刺伤。解析：不吃不喝、不闻、戴手套、规范用锐器等守则就是堵住这些途径。</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安全文化是一个集体共同拥有的行为方式、信念、价值观和标志符号。在安全文化好的实验室里，进门戴护目镜、用完清理台面、发现问题马上说，已经成为大家不假思索的习惯，而不是需要别人提醒的规定。</a:t>
            </a:r>
          </a:p>
          <a:p>
            <a:r>
              <a:t>文化不会一夜形成，要靠每个人亲自参与、长期坚持，不只是照着条文做。</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检查那天一切都好，不代表真正安全。周五深夜、节假日、一个人又累又赶的时候，是否还戴好防护、按规程操作，才真正反映一个实验室的安全水平。</a:t>
            </a:r>
          </a:p>
          <a:p>
            <a:r>
              <a:t>制度和记录是看得见的“脚手架”，而文化决定没人看着时你怎么做。安全不在文件夹里，而体现在实验台上的每个选择：试剂怎么放、液体怎么倒、废物怎么丢。只靠检查撑着的安全，检查一松就会垮掉。</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遵守法律法规和学校制度（合规）是必须做到的底线，但它只告诉你最低要求。即使设备一流、制度齐全，人仍然会为了赶进度跳过步骤——因为环境在暗中奖励“快”，而不是“稳”。</a:t>
            </a:r>
          </a:p>
          <a:p>
            <a:r>
              <a:t>安全文化要做的，是让稳妥比快更受认可：按规程做、停下来问、主动报告险情，都应得到肯定。负责人可以对照自己的实验室、投入和报告情况自问：是在打勾应付检查，还是在建设文化？</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一种划分把安全文化分为五个阶段：第一级，只要不被发现就行，掩盖问题；第二级，出了事故才去整改；第三级，依靠检查和制度推动；第四级，主动预判危险、提前防范；第五级，安全融入每一个决定，成为大家的自觉。</a:t>
            </a:r>
          </a:p>
          <a:p>
            <a:r>
              <a:t>多数单位处在中间阶段，主要靠检查推动。从“靠检查推动”走到“主动预判”，往往需要好几年的坚持。了解所处阶段，有助于找到改进的方向。</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实验室本身就有危险，风险有多大，取决于你和身边每个人的行为。安全是双向的：学校和实验室要提供安全条件、规程和培训，每个人也要了解规则、遵守规则、发现隐患。</a:t>
            </a:r>
          </a:p>
          <a:p>
            <a:r>
              <a:t>安全工作保护的不只是自己，还有同伴、公众和环境：一处溢洒及时处理，就不会影响下一个人；废物规范处置，就不会污染环境。这与我国安全生产“全员安全生产责任制”的要求一致——人人有责、各负其责。</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和设备的人，需要三样东西：知识（知道有什么危险）、技能（会正确操作）、态度（愿意把安全放在首位）。其中态度最关键：防护装备再齐全，一分心、一侥幸也会出事。实验室有危险但不必害怕，要专心致志、心存敬畏，开工前先弄清危险。</a:t>
            </a:r>
          </a:p>
          <a:p>
            <a:r>
              <a:t>良好的安全态度包括：重视安全，安全地工作，不冒险，推动身边的安全，为安全承担责任。多数事故不大，常因忘了规程；严重事故也真会发生，遵守规程就能减少。安全与实验质量在实验台前汇合：安全护人，质量护数据和样品，好的科学从安全开始。</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培训课程、安全手册提供的只是信息，能不能把知识用到每一次操作中，要靠自己。认真读规程、每一步照着做、积极学习新方法但不自作主张、用完按要求清理，对自己的安全负起首要责任。</a:t>
            </a:r>
          </a:p>
          <a:p>
            <a:r>
              <a:t>建设安全文化，不必等别人先改变：自己先戴好防护、先按规程做，就会影响身边的人。安全也不是做一次就结束的任务，而是天天坚持、不断改进的持续承诺。</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安全文化差的实验室，常见的问题是不专业：台面杂乱、标签不清、随意操作、信息不沟通。从采购、使用到处置、消毒，每个环节都要靠专业素养、做事有条理和充分沟通。</a:t>
            </a:r>
          </a:p>
          <a:p>
            <a:r>
              <a:t>工作中要时刻保持警觉：想清楚危险的途径，用好通风柜，穿对防护；周围有谁、在做什么，心中有数，护好自己也护好同伴。</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安全文化主要靠沟通和模仿传承：新人看老人怎么做，就跟着怎么做。因此负责人、导师和高年级同学要以身作则——要求学生戴护目镜，自己进实验室也要戴；嘴上一套、手上一套，规定就没人信。</a:t>
            </a:r>
          </a:p>
          <a:p>
            <a:r>
              <a:t>安全需要真实投入：更新老旧设备、配齐应急设施、安排培训时间。看得见的改造比空讲更有说服力，投入什么，就说明重视什么。</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人的言语会传递真实的优先级。讲安全时多说“我们”，少说“你”；分析问题时多看系统原因（流程、设备、安排），少归咎于个人失误；把险情看作大家学到东西的机会，而不是追责的由头；有人因安全原因喊停，要公开表扬。</a:t>
            </a:r>
          </a:p>
          <a:p>
            <a:r>
              <a:t>反过来，一句“赶紧弄完”“今天必须出结果”，就可能催出跳步骤、省防护的捷径。人因与公正文化的进一步讨论见第 011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学院领导、实验室负责人和导师定期走进实验室，比在会议室里强调更管用。到现场多看操作，多问开放性问题（如“这一步你觉得哪里最容易出问题？”），多听一线师生的意见，能发现文件里看不到的隐患。</a:t>
            </a:r>
          </a:p>
          <a:p>
            <a:r>
              <a:t>当大家愿意报告险情和隐患时，问题能在酿成事故之前被发现和解决，报告数量上升、事故减少，是安全文化改善的表现。</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事故或险情后，负责人的做法最能检验安全文化：尽快赶到现场，组织处置并按规定报告（实验室负责人→学院→保卫处/实验室管理处）；首先关心受伤和受影响的人；如实通报情况，调查原因，着眼改进系统，而不是找一个替罪羊。</a:t>
            </a:r>
          </a:p>
          <a:p>
            <a:r>
              <a:t>如果负责人推卸、隐瞒或躲闪，大家以后就不愿再报告问题，文化会迅速垮掉。事故报告和调查方法见第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叫停不是安全员的专利。任何人发现违规操作、设备异常或直接危及人身安全的情况，都可以喊停：先停止操作，必要时撤离到安全地点，再报告实验室负责人。停下来问清楚，比硬着头皮做更安全。</a:t>
            </a:r>
          </a:p>
          <a:p>
            <a:r>
              <a:t>我国《安全生产法》赋予从业人员拒绝违章指挥和强令冒险作业的权利，以及在紧急情况下停止作业或撤离的权利（学生安全权利见第 004 课）。同时，人人都有遵守规章制度的义务。报告安全问题不应受到责怪，敢叫停的人应当得到肯定。</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时刻留意自己在做什么，也看看别人。看到同伴有不安全的行为（如穿着实验服走出实验室、戴着手套摸门把手），先友善地当面提醒，发现问题立即处理。提醒时对事不对人，语气友好。</a:t>
            </a:r>
          </a:p>
          <a:p>
            <a:r>
              <a:t>被提醒的人要虚心接受，说声谢谢，马上纠正（例如回到室内脱下实验服，擦拭刚才碰过的地方）。同一问题反复出现，说明可能有系统原因，应向实验室安全员或负责人反映。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遇到没弄懂、没把握的步骤，先停下来问老师或实验室负责人，问清楚再动手，不要硬做。</a:t>
            </a:r>
          </a:p>
          <a:p>
            <a:r>
              <a:t>规程是在实践中不断改进的。学生是一线使用者，发现规程哪里不清楚、不好用、不安全，可以大胆提出改进建议；好的建议经负责人采纳后写入规程，规程随之更新。</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厂和工地每个班次开工前都开班前会，实验室也可以借鉴：每次开始实验前用五分钟，参与者一起说清今天做什么、危险在哪里、出了事怎么办，有疑问当场提出。它不同于新人入职培训，而是每次开工前的例行提醒，形式轻松，贵在坚持。</a:t>
            </a:r>
          </a:p>
          <a:p>
            <a:r>
              <a:t>课题组组会开头可以先讲五分钟安全：通报近期的险情和隐患，请成员讲自己遇到的教训，让大家少走弯路；好的经验和做法写进规程。</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设立安全日、安全月等宣传活动，是为了提醒单位和个人履行安全责任，提高安全意识，认识危害、预防事故，让安全文化深入各行各业。我国常见的宣传节点有：每年六月全国“安全生产月”，11 月 9 日全国消防宣传日，5 月 12 日全国防灾减灾日，四月最后一周《职业病防治法》宣传周，4 月 15 日全民国家安全教育日。具体主题和安排以当年官方通知为准。</a:t>
            </a:r>
          </a:p>
          <a:p>
            <a:r>
              <a:t>高校可以结合这些节点开展实验室安全宣传月（周）：组织应急疏散和灭火演练，开展隐患自查和整改，举办安全知识竞赛（答完要讲清道理）、展览、海报和案例分享，组织安全承诺签名等。</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答案：B。解析：合规是底线，文化定高度；只靠检查撑着，一松就垮。</a:t>
            </a:r>
          </a:p>
          <a:p>
            <a:r>
              <a:t>第 2 题 答案：B。解析：人人都可以叫停，先停止、必要时撤离，再报告负责人。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答案：C。解析：推卸躲闪会让大家不再报告问题，文化就会垮掉。</a:t>
            </a:r>
          </a:p>
          <a:p>
            <a:r>
              <a:t>第 4 题 答案：C。解析：友善提醒、虚心接受；反复出现的问题向安全员反映。</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答案：D。解析：安全宣传应常态化，结合各宣传节点开展演练、自查、竞赛等活动。</a:t>
            </a:r>
          </a:p>
          <a:p>
            <a:r>
              <a:t>第 6 题 答案：今天做什么、危险在哪里、出了事怎么办。解析：每次开工前都讲，有疑问当场问。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准入、培训与离岗交接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适用对象：全体进入高校实验室的本科生、研究生、新进教职工和博士后（必修）；导师、带教人和实验室安全员重点学习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能说出“先培训考核、再准入”的要求和学校—学院—实验室三层培训的内容。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能做到：进入新实验室第一天认清危害和应急设施，掌握入门须知六件事。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能判断何时需要补专项培训和复训，并说出培训记录应包括的内容。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能做到：毕业或离开课题组前清点交接样本试剂、移交记录、注销权限。</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《中华人民共和国安全生产法》（以现行文本为准）：未经安全生产教育和培训合格的人员不得上岗作业；培训应当建立档案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教育部高校实验室安全检查项目表（以现行文本为准）：安全教育与准入类检查项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《中华人民共和国职业病防治法》（以现行文本为准）：上岗前和在岗期间的职业卫生培训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日起施行）及《危险化学品安全管理条例》（以现行文本为准）：危险化学品从业人员安全教育培训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本校实验室安全准入、培训考核和人员离校管理规定（以本校规定为准）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进实验室前先接受安全教育，考核合格才准入</a:t>
            </a:r>
          </a:p>
          <a:p>
            <a:pPr>
              <a:spcAft>
                <a:spcPts val="1000"/>
              </a:spcAft>
            </a:pPr>
            <a:r>
              <a:rPr sz="2000">
                <a:solidFill>
                  <a:srgbClr val="222B33"/>
                </a:solidFill>
                <a:latin typeface="Microsoft YaHei"/>
              </a:rPr>
              <a:t>▪ 签了到不等于受了培训</a:t>
            </a:r>
          </a:p>
          <a:p>
            <a:pPr>
              <a:spcAft>
                <a:spcPts val="1000"/>
              </a:spcAft>
            </a:pPr>
            <a:r>
              <a:rPr sz="2000">
                <a:solidFill>
                  <a:srgbClr val="222B33"/>
                </a:solidFill>
                <a:latin typeface="Microsoft YaHei"/>
              </a:rPr>
              <a:t>▪ 签安全承诺书后取得准入资格</a:t>
            </a:r>
          </a:p>
          <a:p>
            <a:pPr>
              <a:spcAft>
                <a:spcPts val="1000"/>
              </a:spcAft>
            </a:pPr>
            <a:r>
              <a:rPr sz="2000">
                <a:solidFill>
                  <a:srgbClr val="222B33"/>
                </a:solidFill>
                <a:latin typeface="Microsoft YaHei"/>
              </a:rPr>
              <a:t>▪ 既学操作规程，也学应急预案；进出登记，听从安排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未取得准入就跟着同学进实验室做实验</a:t>
            </a:r>
          </a:p>
          <a:p>
            <a:pPr>
              <a:spcAft>
                <a:spcPts val="1000"/>
              </a:spcAft>
            </a:pPr>
            <a:r>
              <a:rPr sz="1500">
                <a:solidFill>
                  <a:srgbClr val="222B33"/>
                </a:solidFill>
                <a:latin typeface="Microsoft YaHei"/>
              </a:rPr>
              <a:t>▪ 培训时只签到、不认真学，考核找人代考</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培训分三层：学校、学院、实验室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培训分三层，一层比一层具体</a:t>
            </a:r>
          </a:p>
          <a:p>
            <a:pPr>
              <a:spcAft>
                <a:spcPts val="1000"/>
              </a:spcAft>
            </a:pPr>
            <a:r>
              <a:rPr sz="2000">
                <a:solidFill>
                  <a:srgbClr val="222B33"/>
                </a:solidFill>
                <a:latin typeface="Microsoft YaHei"/>
              </a:rPr>
              <a:t>▪ 学校：通识培训和准入考试</a:t>
            </a:r>
          </a:p>
          <a:p>
            <a:pPr>
              <a:spcAft>
                <a:spcPts val="1000"/>
              </a:spcAft>
            </a:pPr>
            <a:r>
              <a:rPr sz="2000">
                <a:solidFill>
                  <a:srgbClr val="222B33"/>
                </a:solidFill>
                <a:latin typeface="Microsoft YaHei"/>
              </a:rPr>
              <a:t>▪ 学院：按学科开设专项课程</a:t>
            </a:r>
          </a:p>
          <a:p>
            <a:pPr>
              <a:spcAft>
                <a:spcPts val="1000"/>
              </a:spcAft>
            </a:pPr>
            <a:r>
              <a:rPr sz="2000">
                <a:solidFill>
                  <a:srgbClr val="222B33"/>
                </a:solidFill>
                <a:latin typeface="Microsoft YaHei"/>
              </a:rPr>
              <a:t>▪ 实验室：本岗位、本课题的规程和设备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只参加学校通识培训，跳过学院和实验室培训</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证书不等于准入，要结合本实验室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网课证书只是第一步</a:t>
            </a:r>
          </a:p>
          <a:p>
            <a:pPr>
              <a:spcAft>
                <a:spcPts val="1000"/>
              </a:spcAft>
            </a:pPr>
            <a:r>
              <a:rPr sz="2000">
                <a:solidFill>
                  <a:srgbClr val="222B33"/>
                </a:solidFill>
                <a:latin typeface="Microsoft YaHei"/>
              </a:rPr>
              <a:t>▪ 还要本室培训和实操考核，批准后才准入</a:t>
            </a:r>
          </a:p>
          <a:p>
            <a:pPr>
              <a:spcAft>
                <a:spcPts val="1000"/>
              </a:spcAft>
            </a:pPr>
            <a:r>
              <a:rPr sz="2000">
                <a:solidFill>
                  <a:srgbClr val="222B33"/>
                </a:solidFill>
                <a:latin typeface="Microsoft YaHei"/>
              </a:rPr>
              <a:t>▪ 通用证书代替不了现场培训</a:t>
            </a:r>
          </a:p>
          <a:p>
            <a:pPr>
              <a:spcAft>
                <a:spcPts val="1000"/>
              </a:spcAft>
            </a:pPr>
            <a:r>
              <a:rPr sz="2000">
                <a:solidFill>
                  <a:srgbClr val="222B33"/>
                </a:solidFill>
                <a:latin typeface="Microsoft YaHei"/>
              </a:rPr>
              <a:t>▪ 规则没定、培训没做，不能使用和储存该化学品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拿着通用培训证书直接进新实验室工作</a:t>
            </a:r>
          </a:p>
          <a:p>
            <a:pPr>
              <a:spcAft>
                <a:spcPts val="1000"/>
              </a:spcAft>
            </a:pPr>
            <a:r>
              <a:rPr sz="1500">
                <a:solidFill>
                  <a:srgbClr val="222B33"/>
                </a:solidFill>
                <a:latin typeface="Microsoft YaHei"/>
              </a:rPr>
              <a:t>▪ 先把新的危险化学品买回来，再考虑规程和培训</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培训讲清本岗位的危害和防护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讲清本岗位有哪些危害</a:t>
            </a:r>
          </a:p>
          <a:p>
            <a:pPr>
              <a:spcAft>
                <a:spcPts val="1000"/>
              </a:spcAft>
            </a:pPr>
            <a:r>
              <a:rPr sz="2000">
                <a:solidFill>
                  <a:srgbClr val="222B33"/>
                </a:solidFill>
                <a:latin typeface="Microsoft YaHei"/>
              </a:rPr>
              <a:t>▪ 讲清自己该采取哪些防护</a:t>
            </a:r>
          </a:p>
          <a:p>
            <a:pPr>
              <a:spcAft>
                <a:spcPts val="1000"/>
              </a:spcAft>
            </a:pPr>
            <a:r>
              <a:rPr sz="2000">
                <a:solidFill>
                  <a:srgbClr val="222B33"/>
                </a:solidFill>
                <a:latin typeface="Microsoft YaHei"/>
              </a:rPr>
              <a:t>▪ 安装维修或在电气设备旁工作的人也要培训</a:t>
            </a:r>
          </a:p>
          <a:p>
            <a:pPr>
              <a:spcAft>
                <a:spcPts val="1000"/>
              </a:spcAft>
            </a:pPr>
            <a:r>
              <a:rPr sz="2000">
                <a:solidFill>
                  <a:srgbClr val="222B33"/>
                </a:solidFill>
                <a:latin typeface="Microsoft YaHei"/>
              </a:rPr>
              <a:t>▪ 危险废物和应急岗位有专门培训；没培训易出事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培训只讲通用知识，不讲本岗位的具体危害</a:t>
            </a:r>
          </a:p>
          <a:p>
            <a:pPr>
              <a:spcAft>
                <a:spcPts val="1000"/>
              </a:spcAft>
            </a:pPr>
            <a:r>
              <a:rPr sz="1500">
                <a:solidFill>
                  <a:srgbClr val="222B33"/>
                </a:solidFill>
                <a:latin typeface="Microsoft YaHei"/>
              </a:rPr>
              <a:t>▪ 认为维修、保洁等辅助人员不需要培训</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培训要动手、有实效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只在电脑上做题远远不够</a:t>
            </a:r>
          </a:p>
          <a:p>
            <a:pPr>
              <a:spcAft>
                <a:spcPts val="1000"/>
              </a:spcAft>
            </a:pPr>
            <a:r>
              <a:rPr sz="2000">
                <a:solidFill>
                  <a:srgbClr val="222B33"/>
                </a:solidFill>
                <a:latin typeface="Microsoft YaHei"/>
              </a:rPr>
              <a:t>▪ 考试是门槛，现场培训才是真本事</a:t>
            </a:r>
          </a:p>
          <a:p>
            <a:pPr>
              <a:spcAft>
                <a:spcPts val="1000"/>
              </a:spcAft>
            </a:pPr>
            <a:r>
              <a:rPr sz="2000">
                <a:solidFill>
                  <a:srgbClr val="222B33"/>
                </a:solidFill>
                <a:latin typeface="Microsoft YaHei"/>
              </a:rPr>
              <a:t>▪ 好的培训一定要动手练，不懂就问到会</a:t>
            </a:r>
          </a:p>
          <a:p>
            <a:pPr>
              <a:spcAft>
                <a:spcPts val="1000"/>
              </a:spcAft>
            </a:pPr>
            <a:r>
              <a:rPr sz="2000">
                <a:solidFill>
                  <a:srgbClr val="222B33"/>
                </a:solidFill>
                <a:latin typeface="Microsoft YaHei"/>
              </a:rPr>
              <a:t>▪ 按对象设计内容，培训后检验效果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以线上考试代替全部培训</a:t>
            </a:r>
          </a:p>
          <a:p>
            <a:pPr>
              <a:spcAft>
                <a:spcPts val="1000"/>
              </a:spcAft>
            </a:pPr>
            <a:r>
              <a:rPr sz="1500">
                <a:solidFill>
                  <a:srgbClr val="222B33"/>
                </a:solidFill>
                <a:latin typeface="Microsoft YaHei"/>
              </a:rPr>
              <a:t>▪ 培训完不检验效果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跟做、看护下做、考核后独立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新人先跟着老手做</a:t>
            </a:r>
          </a:p>
          <a:p>
            <a:pPr>
              <a:spcAft>
                <a:spcPts val="1000"/>
              </a:spcAft>
            </a:pPr>
            <a:r>
              <a:rPr sz="2000">
                <a:solidFill>
                  <a:srgbClr val="222B33"/>
                </a:solidFill>
                <a:latin typeface="Microsoft YaHei"/>
              </a:rPr>
              <a:t>▪ 再在老手看护下自己做，当场纠正</a:t>
            </a:r>
          </a:p>
          <a:p>
            <a:pPr>
              <a:spcAft>
                <a:spcPts val="1000"/>
              </a:spcAft>
            </a:pPr>
            <a:r>
              <a:rPr sz="2000">
                <a:solidFill>
                  <a:srgbClr val="222B33"/>
                </a:solidFill>
                <a:latin typeface="Microsoft YaHei"/>
              </a:rPr>
              <a:t>▪ 考核通过才能独立操作</a:t>
            </a:r>
          </a:p>
          <a:p>
            <a:pPr>
              <a:spcAft>
                <a:spcPts val="1000"/>
              </a:spcAft>
            </a:pPr>
            <a:r>
              <a:rPr sz="2000">
                <a:solidFill>
                  <a:srgbClr val="222B33"/>
                </a:solidFill>
                <a:latin typeface="Microsoft YaHei"/>
              </a:rPr>
              <a:t>▪ 不懂就问；危险操作不要一个人做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看过一遍就自己上手</a:t>
            </a:r>
          </a:p>
          <a:p>
            <a:pPr>
              <a:spcAft>
                <a:spcPts val="1000"/>
              </a:spcAft>
            </a:pPr>
            <a:r>
              <a:rPr sz="1500">
                <a:solidFill>
                  <a:srgbClr val="222B33"/>
                </a:solidFill>
                <a:latin typeface="Microsoft YaHei"/>
              </a:rPr>
              <a:t>▪ 不懂装懂，怕问被笑话</a:t>
            </a:r>
          </a:p>
          <a:p>
            <a:pPr>
              <a:spcAft>
                <a:spcPts val="1000"/>
              </a:spcAft>
            </a:pPr>
            <a:r>
              <a:rPr sz="1500">
                <a:solidFill>
                  <a:srgbClr val="222B33"/>
                </a:solidFill>
                <a:latin typeface="Microsoft YaHei"/>
              </a:rPr>
              <a:t>▪ 夜间独自进行危险操作</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进新实验室的第一天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第一天面对陌生环境，最重要的是学会安全工作</a:t>
            </a:r>
          </a:p>
          <a:p>
            <a:pPr>
              <a:spcAft>
                <a:spcPts val="1000"/>
              </a:spcAft>
            </a:pPr>
            <a:r>
              <a:rPr sz="2000">
                <a:solidFill>
                  <a:srgbClr val="222B33"/>
                </a:solidFill>
                <a:latin typeface="Microsoft YaHei"/>
              </a:rPr>
              <a:t>▪ 负责人带你转一圈，指出危险源</a:t>
            </a:r>
          </a:p>
          <a:p>
            <a:pPr>
              <a:spcAft>
                <a:spcPts val="1000"/>
              </a:spcAft>
            </a:pPr>
            <a:r>
              <a:rPr sz="2000">
                <a:solidFill>
                  <a:srgbClr val="222B33"/>
                </a:solidFill>
                <a:latin typeface="Microsoft YaHei"/>
              </a:rPr>
              <a:t>▪ 走一遍：洗眼器、喷淋、灭火器、安全出口</a:t>
            </a:r>
          </a:p>
          <a:p>
            <a:pPr>
              <a:spcAft>
                <a:spcPts val="1000"/>
              </a:spcAft>
            </a:pPr>
            <a:r>
              <a:rPr sz="2000">
                <a:solidFill>
                  <a:srgbClr val="222B33"/>
                </a:solidFill>
                <a:latin typeface="Microsoft YaHei"/>
              </a:rPr>
              <a:t>▪ 约定出事时怎么通知全实验室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进入新实验室，面对新同事、新材料、新流程，既兴奋又有压力。这时最重要的不是马上开始实验，而是学会在这里安全地工作。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第一天就急着开始实验，不熟悉环境</a:t>
            </a:r>
          </a:p>
          <a:p>
            <a:pPr>
              <a:spcAft>
                <a:spcPts val="1000"/>
              </a:spcAft>
            </a:pPr>
            <a:r>
              <a:rPr sz="1500">
                <a:solidFill>
                  <a:srgbClr val="222B33"/>
                </a:solidFill>
                <a:latin typeface="Microsoft YaHei"/>
              </a:rPr>
              <a:t>▪ 不知道洗眼器和灭火器的位置</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入门须知六件事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知道用什么，SDS 和手册在哪</a:t>
            </a:r>
          </a:p>
          <a:p>
            <a:pPr>
              <a:spcAft>
                <a:spcPts val="1000"/>
              </a:spcAft>
            </a:pPr>
            <a:r>
              <a:rPr sz="2000">
                <a:solidFill>
                  <a:srgbClr val="222B33"/>
                </a:solidFill>
                <a:latin typeface="Microsoft YaHei"/>
              </a:rPr>
              <a:t>▪ 知道要什么防护、怎么用</a:t>
            </a:r>
          </a:p>
          <a:p>
            <a:pPr>
              <a:spcAft>
                <a:spcPts val="1000"/>
              </a:spcAft>
            </a:pPr>
            <a:r>
              <a:rPr sz="2000">
                <a:solidFill>
                  <a:srgbClr val="222B33"/>
                </a:solidFill>
                <a:latin typeface="Microsoft YaHei"/>
              </a:rPr>
              <a:t>▪ 设备先检查，台面保持整洁</a:t>
            </a:r>
          </a:p>
          <a:p>
            <a:pPr>
              <a:spcAft>
                <a:spcPts val="1000"/>
              </a:spcAft>
            </a:pPr>
            <a:r>
              <a:rPr sz="2000">
                <a:solidFill>
                  <a:srgbClr val="222B33"/>
                </a:solidFill>
                <a:latin typeface="Microsoft YaHei"/>
              </a:rPr>
              <a:t>▪ 出了事知道怎么应急；听负责人的话，守规矩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 SDS 放在哪里</a:t>
            </a:r>
          </a:p>
          <a:p>
            <a:pPr>
              <a:spcAft>
                <a:spcPts val="1000"/>
              </a:spcAft>
            </a:pPr>
            <a:r>
              <a:rPr sz="1500">
                <a:solidFill>
                  <a:srgbClr val="222B33"/>
                </a:solidFill>
                <a:latin typeface="Microsoft YaHei"/>
              </a:rPr>
              <a:t>▪ 设备不检查就开机使用</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应急技能培训：灭火器与急救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参加灭火器使用培训，亲手练过</a:t>
            </a:r>
          </a:p>
          <a:p>
            <a:pPr>
              <a:spcAft>
                <a:spcPts val="1000"/>
              </a:spcAft>
            </a:pPr>
            <a:r>
              <a:rPr sz="2000">
                <a:solidFill>
                  <a:srgbClr val="222B33"/>
                </a:solidFill>
                <a:latin typeface="Microsoft YaHei"/>
              </a:rPr>
              <a:t>▪ 灭火器使用要领：提、拔、握、压</a:t>
            </a:r>
          </a:p>
          <a:p>
            <a:pPr>
              <a:spcAft>
                <a:spcPts val="1000"/>
              </a:spcAft>
            </a:pPr>
            <a:r>
              <a:rPr sz="2000">
                <a:solidFill>
                  <a:srgbClr val="222B33"/>
                </a:solidFill>
                <a:latin typeface="Microsoft YaHei"/>
              </a:rPr>
              <a:t>▪ 参加急救和心肺复苏培训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从未亲手操作过灭火器</a:t>
            </a:r>
          </a:p>
          <a:p>
            <a:pPr>
              <a:spcAft>
                <a:spcPts val="1000"/>
              </a:spcAft>
            </a:pPr>
            <a:r>
              <a:rPr sz="1500">
                <a:solidFill>
                  <a:srgbClr val="222B33"/>
                </a:solidFill>
                <a:latin typeface="Microsoft YaHei"/>
              </a:rPr>
              <a:t>▪ 认为急救是医生的事，自己不必学</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换实验、用新设备，先补专项培训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学过一次，不等于什么都会了</a:t>
            </a:r>
          </a:p>
          <a:p>
            <a:pPr>
              <a:spcAft>
                <a:spcPts val="1000"/>
              </a:spcAft>
            </a:pPr>
            <a:r>
              <a:rPr sz="2000">
                <a:solidFill>
                  <a:srgbClr val="222B33"/>
                </a:solidFill>
                <a:latin typeface="Microsoft YaHei"/>
              </a:rPr>
              <a:t>▪ 换课题、用新设备、规程改版</a:t>
            </a:r>
          </a:p>
          <a:p>
            <a:pPr>
              <a:spcAft>
                <a:spcPts val="1000"/>
              </a:spcAft>
            </a:pPr>
            <a:r>
              <a:rPr sz="2000">
                <a:solidFill>
                  <a:srgbClr val="222B33"/>
                </a:solidFill>
                <a:latin typeface="Microsoft YaHei"/>
              </a:rPr>
              <a:t>▪ 都要先补专项培训，再上手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凭原来的经验直接操作新设备</a:t>
            </a:r>
          </a:p>
          <a:p>
            <a:pPr>
              <a:spcAft>
                <a:spcPts val="1000"/>
              </a:spcAft>
            </a:pPr>
            <a:r>
              <a:rPr sz="1500">
                <a:solidFill>
                  <a:srgbClr val="222B33"/>
                </a:solidFill>
                <a:latin typeface="Microsoft YaHei"/>
              </a:rPr>
              <a:t>▪ 规程改版后仍按旧版操作</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久未操作先复训，定期复训演练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很久没操作，手生了，先复训再确认</a:t>
            </a:r>
          </a:p>
          <a:p>
            <a:pPr>
              <a:spcAft>
                <a:spcPts val="1000"/>
              </a:spcAft>
            </a:pPr>
            <a:r>
              <a:rPr sz="2000">
                <a:solidFill>
                  <a:srgbClr val="222B33"/>
                </a:solidFill>
                <a:latin typeface="Microsoft YaHei"/>
              </a:rPr>
              <a:t>▪ 定期复训，老手也不例外</a:t>
            </a:r>
          </a:p>
          <a:p>
            <a:pPr>
              <a:spcAft>
                <a:spcPts val="1000"/>
              </a:spcAft>
            </a:pPr>
            <a:r>
              <a:rPr sz="2000">
                <a:solidFill>
                  <a:srgbClr val="222B33"/>
                </a:solidFill>
                <a:latin typeface="Microsoft YaHei"/>
              </a:rPr>
              <a:t>▪ 规程更新后更要学</a:t>
            </a:r>
          </a:p>
          <a:p>
            <a:pPr>
              <a:spcAft>
                <a:spcPts val="1000"/>
              </a:spcAft>
            </a:pPr>
            <a:r>
              <a:rPr sz="2000">
                <a:solidFill>
                  <a:srgbClr val="222B33"/>
                </a:solidFill>
                <a:latin typeface="Microsoft YaHei"/>
              </a:rPr>
              <a:t>▪ 定期参加应急演练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长时间（如一个假期或更久）没有进行某项操作，熟练度会下降，容易出错。重新开始前，应先复习规程，在他人看护下操作一遍，确认没有问题后再独立进行。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认为老手不需要复训</a:t>
            </a:r>
          </a:p>
          <a:p>
            <a:pPr>
              <a:spcAft>
                <a:spcPts val="1000"/>
              </a:spcAft>
            </a:pPr>
            <a:r>
              <a:rPr sz="1500">
                <a:solidFill>
                  <a:srgbClr val="222B33"/>
                </a:solidFill>
                <a:latin typeface="Microsoft YaHei"/>
              </a:rPr>
              <a:t>▪ 隔了很久直接上手高风险操作</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培训要有记录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每次培训都要留下记录</a:t>
            </a:r>
          </a:p>
          <a:p>
            <a:pPr>
              <a:spcAft>
                <a:spcPts val="1000"/>
              </a:spcAft>
            </a:pPr>
            <a:r>
              <a:rPr sz="2000">
                <a:solidFill>
                  <a:srgbClr val="222B33"/>
                </a:solidFill>
                <a:latin typeface="Microsoft YaHei"/>
              </a:rPr>
              <a:t>▪ 写清学了什么、谁讲的、考得怎样、日期</a:t>
            </a:r>
          </a:p>
          <a:p>
            <a:pPr>
              <a:spcAft>
                <a:spcPts val="1000"/>
              </a:spcAft>
            </a:pPr>
            <a:r>
              <a:rPr sz="2000">
                <a:solidFill>
                  <a:srgbClr val="222B33"/>
                </a:solidFill>
                <a:latin typeface="Microsoft YaHei"/>
              </a:rPr>
              <a:t>▪ 到期提醒复训，记录归档可查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培训记录只有签名，没有内容和考核结果</a:t>
            </a:r>
          </a:p>
          <a:p>
            <a:pPr>
              <a:spcAft>
                <a:spcPts val="1000"/>
              </a:spcAft>
            </a:pPr>
            <a:r>
              <a:rPr sz="1500">
                <a:solidFill>
                  <a:srgbClr val="222B33"/>
                </a:solidFill>
                <a:latin typeface="Microsoft YaHei"/>
              </a:rPr>
              <a:t>▪ 复训过期无人提醒</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本课程只是基础</a:t>
            </a:r>
          </a:p>
          <a:p>
            <a:pPr>
              <a:spcAft>
                <a:spcPts val="1000"/>
              </a:spcAft>
            </a:pPr>
            <a:r>
              <a:rPr sz="2000">
                <a:solidFill>
                  <a:srgbClr val="222B33"/>
                </a:solidFill>
                <a:latin typeface="Microsoft YaHei"/>
              </a:rPr>
              <a:t>▪ 不能代替本实验室的操作规程</a:t>
            </a:r>
          </a:p>
          <a:p>
            <a:pPr>
              <a:spcAft>
                <a:spcPts val="1000"/>
              </a:spcAft>
            </a:pPr>
            <a:r>
              <a:rPr sz="2000">
                <a:solidFill>
                  <a:srgbClr val="222B33"/>
                </a:solidFill>
                <a:latin typeface="Microsoft YaHei"/>
              </a:rPr>
              <a:t>▪ 具体做法以本实验室规程为准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以课程内容为由不遵守本实验室规程</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离开课题组：清点交接、注销权限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毕业或离开课题组前办理交接</a:t>
            </a:r>
          </a:p>
          <a:p>
            <a:pPr>
              <a:spcAft>
                <a:spcPts val="1000"/>
              </a:spcAft>
            </a:pPr>
            <a:r>
              <a:rPr sz="2000">
                <a:solidFill>
                  <a:srgbClr val="222B33"/>
                </a:solidFill>
                <a:latin typeface="Microsoft YaHei"/>
              </a:rPr>
              <a:t>▪ 样本、试剂逐一清点交接</a:t>
            </a:r>
          </a:p>
          <a:p>
            <a:pPr>
              <a:spcAft>
                <a:spcPts val="1000"/>
              </a:spcAft>
            </a:pPr>
            <a:r>
              <a:rPr sz="2000">
                <a:solidFill>
                  <a:srgbClr val="222B33"/>
                </a:solidFill>
                <a:latin typeface="Microsoft YaHei"/>
              </a:rPr>
              <a:t>▪ 实验记录完整移交</a:t>
            </a:r>
          </a:p>
          <a:p>
            <a:pPr>
              <a:spcAft>
                <a:spcPts val="1000"/>
              </a:spcAft>
            </a:pPr>
            <a:r>
              <a:rPr sz="2000">
                <a:solidFill>
                  <a:srgbClr val="222B33"/>
                </a:solidFill>
                <a:latin typeface="Microsoft YaHei"/>
              </a:rPr>
              <a:t>▪ 门禁和仪器权限及时注销，不留无主样本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离开时把样本和试剂留在冰箱里不交代</a:t>
            </a:r>
          </a:p>
          <a:p>
            <a:pPr>
              <a:spcAft>
                <a:spcPts val="1000"/>
              </a:spcAft>
            </a:pPr>
            <a:r>
              <a:rPr sz="1500">
                <a:solidFill>
                  <a:srgbClr val="222B33"/>
                </a:solidFill>
                <a:latin typeface="Microsoft YaHei"/>
              </a:rPr>
              <a:t>▪ 毕业后门禁权限仍未注销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关于实验室准入，下列说法正确的是：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完成线上课程拿到证书即可进入任何实验室</a:t>
            </a:r>
          </a:p>
          <a:p>
            <a:pPr algn="l"/>
            <a:r>
              <a:rPr sz="1500" b="0">
                <a:solidFill>
                  <a:srgbClr val="222B33"/>
                </a:solidFill>
                <a:latin typeface="Microsoft YaHei"/>
              </a:rPr>
              <a:t>B. 跟着师兄进门就行</a:t>
            </a:r>
          </a:p>
          <a:p>
            <a:pPr algn="l"/>
            <a:r>
              <a:rPr sz="1500" b="0">
                <a:solidFill>
                  <a:srgbClr val="222B33"/>
                </a:solidFill>
                <a:latin typeface="Microsoft YaHei"/>
              </a:rPr>
              <a:t>C. 培训考核合格、签承诺书并经本室培训和批准后才能准入</a:t>
            </a:r>
          </a:p>
          <a:p>
            <a:pPr algn="l"/>
            <a:r>
              <a:rPr sz="1500" b="0">
                <a:solidFill>
                  <a:srgbClr val="222B33"/>
                </a:solidFill>
                <a:latin typeface="Microsoft YaHei"/>
              </a:rPr>
              <a:t>D. 签到即视为完成培训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新人学习一项实验操作，正确的顺序是：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看说明书后独立操作</a:t>
            </a:r>
          </a:p>
          <a:p>
            <a:pPr algn="l"/>
            <a:r>
              <a:rPr sz="1500" b="0">
                <a:solidFill>
                  <a:srgbClr val="222B33"/>
                </a:solidFill>
                <a:latin typeface="Microsoft YaHei"/>
              </a:rPr>
              <a:t>B. 跟着老手做—在看护下自己做—考核通过后独立操作</a:t>
            </a:r>
          </a:p>
          <a:p>
            <a:pPr algn="l"/>
            <a:r>
              <a:rPr sz="1500" b="0">
                <a:solidFill>
                  <a:srgbClr val="222B33"/>
                </a:solidFill>
                <a:latin typeface="Microsoft YaHei"/>
              </a:rPr>
              <a:t>C. 先自己试，出错再问</a:t>
            </a:r>
          </a:p>
          <a:p>
            <a:pPr algn="l"/>
            <a:r>
              <a:rPr sz="1500" b="0">
                <a:solidFill>
                  <a:srgbClr val="222B33"/>
                </a:solidFill>
                <a:latin typeface="Microsoft YaHei"/>
              </a:rPr>
              <a:t>D. 夜间人少时练习</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判断：已经在实验室工作三年的老手，规程改版后也需要参加培训。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毕业离开课题组前，下列哪项做法不正确？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清点并交接样本和试剂</a:t>
            </a:r>
          </a:p>
          <a:p>
            <a:pPr algn="l"/>
            <a:r>
              <a:rPr sz="1500" b="0">
                <a:solidFill>
                  <a:srgbClr val="222B33"/>
                </a:solidFill>
                <a:latin typeface="Microsoft YaHei"/>
              </a:rPr>
              <a:t>B. 移交实验记录</a:t>
            </a:r>
          </a:p>
          <a:p>
            <a:pPr algn="l"/>
            <a:r>
              <a:rPr sz="1500" b="0">
                <a:solidFill>
                  <a:srgbClr val="222B33"/>
                </a:solidFill>
                <a:latin typeface="Microsoft YaHei"/>
              </a:rPr>
              <a:t>C. 注销门禁和仪器权限</a:t>
            </a:r>
          </a:p>
          <a:p>
            <a:pPr algn="l"/>
            <a:r>
              <a:rPr sz="1500" b="0">
                <a:solidFill>
                  <a:srgbClr val="222B33"/>
                </a:solidFill>
                <a:latin typeface="Microsoft YaHei"/>
              </a:rPr>
              <a:t>D. 把不用的样品留在冰箱里，以后有人会处理</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进入新实验室第一天，最先应做的是：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马上开始实验</a:t>
            </a:r>
          </a:p>
          <a:p>
            <a:pPr algn="l"/>
            <a:r>
              <a:rPr sz="1500" b="0">
                <a:solidFill>
                  <a:srgbClr val="222B33"/>
                </a:solidFill>
                <a:latin typeface="Microsoft YaHei"/>
              </a:rPr>
              <a:t>B. 在负责人带领下认清危险源，实地走一遍洗眼器、喷淋、灭火器和安全出口</a:t>
            </a:r>
          </a:p>
          <a:p>
            <a:pPr algn="l"/>
            <a:r>
              <a:rPr sz="1500" b="0">
                <a:solidFill>
                  <a:srgbClr val="222B33"/>
                </a:solidFill>
                <a:latin typeface="Microsoft YaHei"/>
              </a:rPr>
              <a:t>C. 先整理自己的桌面</a:t>
            </a:r>
          </a:p>
          <a:p>
            <a:pPr algn="l"/>
            <a:r>
              <a:rPr sz="1500" b="0">
                <a:solidFill>
                  <a:srgbClr val="222B33"/>
                </a:solidFill>
                <a:latin typeface="Microsoft YaHei"/>
              </a:rPr>
              <a:t>D. 上网查实验方法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简答：一份完整的培训记录应包括哪些内容？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先培训考核，再准入</a:t>
            </a:r>
          </a:p>
          <a:p>
            <a:pPr>
              <a:spcAft>
                <a:spcPts val="800"/>
              </a:spcAft>
            </a:pPr>
            <a:r>
              <a:rPr sz="1500">
                <a:solidFill>
                  <a:srgbClr val="FFFFFF"/>
                </a:solidFill>
                <a:latin typeface="Microsoft YaHei"/>
              </a:rPr>
              <a:t>▪ K2  培训分三层：学校、学院、实验室</a:t>
            </a:r>
          </a:p>
          <a:p>
            <a:pPr>
              <a:spcAft>
                <a:spcPts val="800"/>
              </a:spcAft>
            </a:pPr>
            <a:r>
              <a:rPr sz="1500">
                <a:solidFill>
                  <a:srgbClr val="FFFFFF"/>
                </a:solidFill>
                <a:latin typeface="Microsoft YaHei"/>
              </a:rPr>
              <a:t>▪ K3  证书不等于准入，要结合本实验室</a:t>
            </a:r>
          </a:p>
          <a:p>
            <a:pPr>
              <a:spcAft>
                <a:spcPts val="800"/>
              </a:spcAft>
            </a:pPr>
            <a:r>
              <a:rPr sz="1500">
                <a:solidFill>
                  <a:srgbClr val="FFFFFF"/>
                </a:solidFill>
                <a:latin typeface="Microsoft YaHei"/>
              </a:rPr>
              <a:t>▪ K4  培训讲清本岗位的危害和防护</a:t>
            </a:r>
          </a:p>
          <a:p>
            <a:pPr>
              <a:spcAft>
                <a:spcPts val="800"/>
              </a:spcAft>
            </a:pPr>
            <a:r>
              <a:rPr sz="1500">
                <a:solidFill>
                  <a:srgbClr val="FFFFFF"/>
                </a:solidFill>
                <a:latin typeface="Microsoft YaHei"/>
              </a:rPr>
              <a:t>▪ K5  培训要动手、有实效</a:t>
            </a:r>
          </a:p>
          <a:p>
            <a:pPr>
              <a:spcAft>
                <a:spcPts val="800"/>
              </a:spcAft>
            </a:pPr>
            <a:r>
              <a:rPr sz="1500">
                <a:solidFill>
                  <a:srgbClr val="FFFFFF"/>
                </a:solidFill>
                <a:latin typeface="Microsoft YaHei"/>
              </a:rPr>
              <a:t>▪ K6  跟做、看护下做、考核后独立</a:t>
            </a:r>
          </a:p>
          <a:p>
            <a:pPr>
              <a:spcAft>
                <a:spcPts val="800"/>
              </a:spcAft>
            </a:pPr>
            <a:r>
              <a:rPr sz="1500">
                <a:solidFill>
                  <a:srgbClr val="FFFFFF"/>
                </a:solidFill>
                <a:latin typeface="Microsoft YaHei"/>
              </a:rPr>
              <a:t>▪ K7  进新实验室的第一天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入门须知六件事</a:t>
            </a:r>
          </a:p>
          <a:p>
            <a:pPr>
              <a:spcAft>
                <a:spcPts val="800"/>
              </a:spcAft>
            </a:pPr>
            <a:r>
              <a:rPr sz="1500">
                <a:solidFill>
                  <a:srgbClr val="FFFFFF"/>
                </a:solidFill>
                <a:latin typeface="Microsoft YaHei"/>
              </a:rPr>
              <a:t>▪ K9  应急技能培训：灭火器与急救</a:t>
            </a:r>
          </a:p>
          <a:p>
            <a:pPr>
              <a:spcAft>
                <a:spcPts val="800"/>
              </a:spcAft>
            </a:pPr>
            <a:r>
              <a:rPr sz="1500">
                <a:solidFill>
                  <a:srgbClr val="FFFFFF"/>
                </a:solidFill>
                <a:latin typeface="Microsoft YaHei"/>
              </a:rPr>
              <a:t>▪ K10  换实验、用新设备，先补专项培训</a:t>
            </a:r>
          </a:p>
          <a:p>
            <a:pPr>
              <a:spcAft>
                <a:spcPts val="800"/>
              </a:spcAft>
            </a:pPr>
            <a:r>
              <a:rPr sz="1500">
                <a:solidFill>
                  <a:srgbClr val="FFFFFF"/>
                </a:solidFill>
                <a:latin typeface="Microsoft YaHei"/>
              </a:rPr>
              <a:t>▪ K11  久未操作先复训，定期复训演练</a:t>
            </a:r>
          </a:p>
          <a:p>
            <a:pPr>
              <a:spcAft>
                <a:spcPts val="800"/>
              </a:spcAft>
            </a:pPr>
            <a:r>
              <a:rPr sz="1500">
                <a:solidFill>
                  <a:srgbClr val="FFFFFF"/>
                </a:solidFill>
                <a:latin typeface="Microsoft YaHei"/>
              </a:rPr>
              <a:t>▪ K12  培训要有记录</a:t>
            </a:r>
          </a:p>
          <a:p>
            <a:pPr>
              <a:spcAft>
                <a:spcPts val="800"/>
              </a:spcAft>
            </a:pPr>
            <a:r>
              <a:rPr sz="1500">
                <a:solidFill>
                  <a:srgbClr val="FFFFFF"/>
                </a:solidFill>
                <a:latin typeface="Microsoft YaHei"/>
              </a:rPr>
              <a:t>▪ K13  本课程不能代替本实验室规程</a:t>
            </a:r>
          </a:p>
          <a:p>
            <a:pPr>
              <a:spcAft>
                <a:spcPts val="800"/>
              </a:spcAft>
            </a:pPr>
            <a:r>
              <a:rPr sz="1500">
                <a:solidFill>
                  <a:srgbClr val="FFFFFF"/>
                </a:solidFill>
                <a:latin typeface="Microsoft YaHei"/>
              </a:rPr>
              <a:t>▪ K14  离开课题组：清点交接、注销权限</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访客与外来人员管理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64 镜）　适用对象：全体进入高校实验室的人员；实验室负责人、安全员、承担参观接待的师生、学生社团负责人和指导教师重点学习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能说出访客和外来人员进入实验室“登记、批准、交底、全程陪同”的要求。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能做到：带访客参观时选好安全区，提醒不越线、不靠不搭不爬，动作前先告知，紧急时带队撤离。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能做到：外来维修人员进实验室前双向告知危险，清场、去污、关闭气源并全程陪同。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能判断社团借用实验室或开展活动是否已审批、有安全负责人、参加者已培训准入。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《中华人民共和国安全生产法》（以现行文本为准）：生产经营单位对进入作业场所的人员告知危险因素和防范措施</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号，以现行文本为准）：外来人员进入实验室的管理和安全告知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教育部高校实验室安全检查项目表（以现行文本为准）：人员准入与外来人员管理类检查项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《中华人民共和国消防法》（以现行文本为准）：人员密集活动的安全疏散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《中华人民共和国特种设备安全法》（以现行文本为准）：起重机械作业安全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2894-2025（以现行文本为准）《安全色和安全标志》：警戒线、禁止和警告标志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7247.1-2024（以现行文本为准）《激光产品的安全 第1部分》：激光警告标志和受控区域</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本校实验室外来人员管理、参观接待和学生社团活动管理规定（以本校规定为准）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欢迎参观，保护访客是第一位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想看实验室很正常，也很欢迎</a:t>
            </a:r>
          </a:p>
          <a:p>
            <a:pPr>
              <a:spcAft>
                <a:spcPts val="1000"/>
              </a:spcAft>
            </a:pPr>
            <a:r>
              <a:rPr sz="2000">
                <a:solidFill>
                  <a:srgbClr val="222B33"/>
                </a:solidFill>
                <a:latin typeface="Microsoft YaHei"/>
              </a:rPr>
              <a:t>▪ 访客只熟悉家和办公室，不熟悉实验室</a:t>
            </a:r>
          </a:p>
          <a:p>
            <a:pPr>
              <a:spcAft>
                <a:spcPts val="1000"/>
              </a:spcAft>
            </a:pPr>
            <a:r>
              <a:rPr sz="2000">
                <a:solidFill>
                  <a:srgbClr val="222B33"/>
                </a:solidFill>
                <a:latin typeface="Microsoft YaHei"/>
              </a:rPr>
              <a:t>▪ 带人进来，要时刻照看好每一个</a:t>
            </a:r>
          </a:p>
          <a:p>
            <a:pPr>
              <a:spcAft>
                <a:spcPts val="1000"/>
              </a:spcAft>
            </a:pPr>
            <a:r>
              <a:rPr sz="2000">
                <a:solidFill>
                  <a:srgbClr val="222B33"/>
                </a:solidFill>
                <a:latin typeface="Microsoft YaHei"/>
              </a:rPr>
              <a:t>▪ 可以展示，保护访客永远第一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只顾讲解，不留意访客走到了哪里</a:t>
            </a:r>
          </a:p>
          <a:p>
            <a:pPr>
              <a:spcAft>
                <a:spcPts val="1000"/>
              </a:spcAft>
            </a:pPr>
            <a:r>
              <a:rPr sz="1500">
                <a:solidFill>
                  <a:srgbClr val="222B33"/>
                </a:solidFill>
                <a:latin typeface="Microsoft YaHei"/>
              </a:rPr>
              <a:t>▪ 一次带太多人参观，照看不过来</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登记、批准、交底、全程陪同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访客进门先登记</a:t>
            </a:r>
          </a:p>
          <a:p>
            <a:pPr>
              <a:spcAft>
                <a:spcPts val="1000"/>
              </a:spcAft>
            </a:pPr>
            <a:r>
              <a:rPr sz="2000">
                <a:solidFill>
                  <a:srgbClr val="222B33"/>
                </a:solidFill>
                <a:latin typeface="Microsoft YaHei"/>
              </a:rPr>
              <a:t>▪ 经实验室负责人批准</a:t>
            </a:r>
          </a:p>
          <a:p>
            <a:pPr>
              <a:spcAft>
                <a:spcPts val="1000"/>
              </a:spcAft>
            </a:pPr>
            <a:r>
              <a:rPr sz="2000">
                <a:solidFill>
                  <a:srgbClr val="222B33"/>
                </a:solidFill>
                <a:latin typeface="Microsoft YaHei"/>
              </a:rPr>
              <a:t>▪ 进门前讲清安全须知</a:t>
            </a:r>
          </a:p>
          <a:p>
            <a:pPr>
              <a:spcAft>
                <a:spcPts val="1000"/>
              </a:spcAft>
            </a:pPr>
            <a:r>
              <a:rPr sz="2000">
                <a:solidFill>
                  <a:srgbClr val="222B33"/>
                </a:solidFill>
                <a:latin typeface="Microsoft YaHei"/>
              </a:rPr>
              <a:t>▪ 佩戴访客牌，全程陪同，不单独走动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熟人来访不登记，直接带进实验室</a:t>
            </a:r>
          </a:p>
          <a:p>
            <a:pPr>
              <a:spcAft>
                <a:spcPts val="1000"/>
              </a:spcAft>
            </a:pPr>
            <a:r>
              <a:rPr sz="1500">
                <a:solidFill>
                  <a:srgbClr val="222B33"/>
                </a:solidFill>
                <a:latin typeface="Microsoft YaHei"/>
              </a:rPr>
              <a:t>▪ 把访客一个人留在实验室里</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参观前告知着装，进门配防护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参观前就告诉访客怎么穿</a:t>
            </a:r>
          </a:p>
          <a:p>
            <a:pPr>
              <a:spcAft>
                <a:spcPts val="1000"/>
              </a:spcAft>
            </a:pPr>
            <a:r>
              <a:rPr sz="2000">
                <a:solidFill>
                  <a:srgbClr val="222B33"/>
                </a:solidFill>
                <a:latin typeface="Microsoft YaHei"/>
              </a:rPr>
              <a:t>▪ 长裤、包脚鞋，长发束起</a:t>
            </a:r>
          </a:p>
          <a:p>
            <a:pPr>
              <a:spcAft>
                <a:spcPts val="1000"/>
              </a:spcAft>
            </a:pPr>
            <a:r>
              <a:rPr sz="2000">
                <a:solidFill>
                  <a:srgbClr val="222B33"/>
                </a:solidFill>
                <a:latin typeface="Microsoft YaHei"/>
              </a:rPr>
              <a:t>▪ 进门发护目镜，戴好再进</a:t>
            </a:r>
          </a:p>
          <a:p>
            <a:pPr>
              <a:spcAft>
                <a:spcPts val="1000"/>
              </a:spcAft>
            </a:pPr>
            <a:r>
              <a:rPr sz="2000">
                <a:solidFill>
                  <a:srgbClr val="222B33"/>
                </a:solidFill>
                <a:latin typeface="Microsoft YaHei"/>
              </a:rPr>
              <a:t>▪ 穿凉鞋、裙装的访客不进操作区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访客往往穿着便装甚至凉鞋、短裙前来，身上没有任何防护。接待方应在参观前通知访客着装要求：穿长裤和包住脚面的鞋，长发束起，不戴悬垂饰物。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访客穿凉鞋短裤进入操作区，接待人“通融”</a:t>
            </a:r>
          </a:p>
          <a:p>
            <a:pPr>
              <a:spcAft>
                <a:spcPts val="1000"/>
              </a:spcAft>
            </a:pPr>
            <a:r>
              <a:rPr sz="1500">
                <a:solidFill>
                  <a:srgbClr val="222B33"/>
                </a:solidFill>
                <a:latin typeface="Microsoft YaHei"/>
              </a:rPr>
              <a:t>▪ 只给访客发护目镜，自己却不戴</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访客在场：通道畅通，暂停吊运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访客在场，通道要清空，防止绊倒</a:t>
            </a:r>
          </a:p>
          <a:p>
            <a:pPr>
              <a:spcAft>
                <a:spcPts val="1000"/>
              </a:spcAft>
            </a:pPr>
            <a:r>
              <a:rPr sz="2000">
                <a:solidFill>
                  <a:srgbClr val="222B33"/>
                </a:solidFill>
                <a:latin typeface="Microsoft YaHei"/>
              </a:rPr>
              <a:t>▪ 暂停吊装、搬运重物等高风险作业</a:t>
            </a:r>
          </a:p>
          <a:p>
            <a:pPr>
              <a:spcAft>
                <a:spcPts val="1000"/>
              </a:spcAft>
            </a:pPr>
            <a:r>
              <a:rPr sz="2000">
                <a:solidFill>
                  <a:srgbClr val="222B33"/>
                </a:solidFill>
                <a:latin typeface="Microsoft YaHei"/>
              </a:rPr>
              <a:t>▪ 吊运区下方绝不能站人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访客不熟悉现场，容易被通道上的纸箱、线缆、软管绊倒。参观前要把参观路线清理干净，保持通道畅通。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参观时照常吊运，访客从吊物下方经过</a:t>
            </a:r>
          </a:p>
          <a:p>
            <a:pPr>
              <a:spcAft>
                <a:spcPts val="1000"/>
              </a:spcAft>
            </a:pPr>
            <a:r>
              <a:rPr sz="1500">
                <a:solidFill>
                  <a:srgbClr val="222B33"/>
                </a:solidFill>
                <a:latin typeface="Microsoft YaHei"/>
              </a:rPr>
              <a:t>▪ 参观路线上堆放杂物和线缆</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站在安全区：不越线，隔窗看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把访客带到划定的参观区</a:t>
            </a:r>
          </a:p>
          <a:p>
            <a:pPr>
              <a:spcAft>
                <a:spcPts val="1000"/>
              </a:spcAft>
            </a:pPr>
            <a:r>
              <a:rPr sz="2000">
                <a:solidFill>
                  <a:srgbClr val="222B33"/>
                </a:solidFill>
                <a:latin typeface="Microsoft YaHei"/>
              </a:rPr>
              <a:t>▪ 既看得清，又在安全范围里</a:t>
            </a:r>
          </a:p>
          <a:p>
            <a:pPr>
              <a:spcAft>
                <a:spcPts val="1000"/>
              </a:spcAft>
            </a:pPr>
            <a:r>
              <a:rPr sz="2000">
                <a:solidFill>
                  <a:srgbClr val="222B33"/>
                </a:solidFill>
                <a:latin typeface="Microsoft YaHei"/>
              </a:rPr>
              <a:t>▪ 人人都想凑近看，不能越线</a:t>
            </a:r>
          </a:p>
          <a:p>
            <a:pPr>
              <a:spcAft>
                <a:spcPts val="1000"/>
              </a:spcAft>
            </a:pPr>
            <a:r>
              <a:rPr sz="2000">
                <a:solidFill>
                  <a:srgbClr val="222B33"/>
                </a:solidFill>
                <a:latin typeface="Microsoft YaHei"/>
              </a:rPr>
              <a:t>▪ 激光区有警示，只隔着观察窗看，不靠近机门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参观区可以用地面黄色警戒线等方式划定，位置既要能看清设备和演示，又要在设备运动范围、飞溅范围和危险区之外。走到设备前，人人都想凑近看，向导要提前说明“只在线内看”，发现越线及时提醒退回。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为了看得清楚，让访客站到设备旁边</a:t>
            </a:r>
          </a:p>
          <a:p>
            <a:pPr>
              <a:spcAft>
                <a:spcPts val="1000"/>
              </a:spcAft>
            </a:pPr>
            <a:r>
              <a:rPr sz="1500">
                <a:solidFill>
                  <a:srgbClr val="222B33"/>
                </a:solidFill>
                <a:latin typeface="Microsoft YaHei"/>
              </a:rPr>
              <a:t>▪ 访客好奇推开设备防护门向里看</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不靠、不搭、不爬</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设备台面的格栅又尖又利</a:t>
            </a:r>
          </a:p>
          <a:p>
            <a:pPr>
              <a:spcAft>
                <a:spcPts val="1000"/>
              </a:spcAft>
            </a:pPr>
            <a:r>
              <a:rPr sz="2000">
                <a:solidFill>
                  <a:srgbClr val="222B33"/>
                </a:solidFill>
                <a:latin typeface="Microsoft YaHei"/>
              </a:rPr>
              <a:t>▪ 不靠机器，不搭格栅，不爬台面</a:t>
            </a:r>
          </a:p>
          <a:p>
            <a:pPr>
              <a:spcAft>
                <a:spcPts val="1000"/>
              </a:spcAft>
            </a:pPr>
            <a:r>
              <a:rPr sz="2000">
                <a:solidFill>
                  <a:srgbClr val="222B33"/>
                </a:solidFill>
                <a:latin typeface="Microsoft YaHei"/>
              </a:rPr>
              <a:t>▪ 摔在设备台面上，伤得会很重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很多设备的台面、格栅、导轨边缘锋利，部件可能是热的或会突然移动。访客和非操作人员不要倚靠在设备上，不要把手搭在格栅或台面上，更不能爬上台面。曾有人摔倒在设备台面上，受了很重的伤。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访客倚靠在设备上听讲解</a:t>
            </a:r>
          </a:p>
          <a:p>
            <a:pPr>
              <a:spcAft>
                <a:spcPts val="1000"/>
              </a:spcAft>
            </a:pPr>
            <a:r>
              <a:rPr sz="1500">
                <a:solidFill>
                  <a:srgbClr val="222B33"/>
                </a:solidFill>
                <a:latin typeface="Microsoft YaHei"/>
              </a:rPr>
              <a:t>▪ 为拍照爬上设备台面</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留意会突然启动的设备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有些设备会突然动起来、突然发出响声</a:t>
            </a:r>
          </a:p>
          <a:p>
            <a:pPr>
              <a:spcAft>
                <a:spcPts val="1000"/>
              </a:spcAft>
            </a:pPr>
            <a:r>
              <a:rPr sz="2000">
                <a:solidFill>
                  <a:srgbClr val="222B33"/>
                </a:solidFill>
                <a:latin typeface="Microsoft YaHei"/>
              </a:rPr>
              <a:t>▪ 气动台面一按按钮就“砰”地升起</a:t>
            </a:r>
          </a:p>
          <a:p>
            <a:pPr>
              <a:spcAft>
                <a:spcPts val="1000"/>
              </a:spcAft>
            </a:pPr>
            <a:r>
              <a:rPr sz="2000">
                <a:solidFill>
                  <a:srgbClr val="222B33"/>
                </a:solidFill>
                <a:latin typeface="Microsoft YaHei"/>
              </a:rPr>
              <a:t>▪ 受惊的人常往后乱退，碰撞、摔倒</a:t>
            </a:r>
          </a:p>
          <a:p>
            <a:pPr>
              <a:spcAft>
                <a:spcPts val="1000"/>
              </a:spcAft>
            </a:pPr>
            <a:r>
              <a:rPr sz="2000">
                <a:solidFill>
                  <a:srgbClr val="222B33"/>
                </a:solidFill>
                <a:latin typeface="Microsoft YaHei"/>
              </a:rPr>
              <a:t>▪ 向导替访客留意，背对设备的人最易受惊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实验室和车间里有不少会突然启动或发出巨响的设备：气动台面、储气罐排气、自动门、真空泵、离心机、空压机等。气动上料台的滚珠靠压缩空气顶起，一按按钮就会“砰”的一声升起。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有访客在场时，不打招呼就启动设备</a:t>
            </a:r>
          </a:p>
          <a:p>
            <a:pPr>
              <a:spcAft>
                <a:spcPts val="1000"/>
              </a:spcAft>
            </a:pPr>
            <a:r>
              <a:rPr sz="1500">
                <a:solidFill>
                  <a:srgbClr val="222B33"/>
                </a:solidFill>
                <a:latin typeface="Microsoft YaHei"/>
              </a:rPr>
              <a:t>▪ 让访客背对设备站立</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先说清楚，再动手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动作之前，先告诉访客要做什么</a:t>
            </a:r>
          </a:p>
          <a:p>
            <a:pPr>
              <a:spcAft>
                <a:spcPts val="1000"/>
              </a:spcAft>
            </a:pPr>
            <a:r>
              <a:rPr sz="2000">
                <a:solidFill>
                  <a:srgbClr val="222B33"/>
                </a:solidFill>
                <a:latin typeface="Microsoft YaHei"/>
              </a:rPr>
              <a:t>▪ 指给他们看：从这里响，会这样动</a:t>
            </a:r>
          </a:p>
          <a:p>
            <a:pPr>
              <a:spcAft>
                <a:spcPts val="1000"/>
              </a:spcAft>
            </a:pPr>
            <a:r>
              <a:rPr sz="2000">
                <a:solidFill>
                  <a:srgbClr val="222B33"/>
                </a:solidFill>
                <a:latin typeface="Microsoft YaHei"/>
              </a:rPr>
              <a:t>▪ 心里有数，就不会被吓到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操作人员和向导在设备动作前，先告诉访客接下来要做什么，指出声音从哪里发出、哪个部位会怎样运动，然后再操作。访客心里有准备，就不会突然受惊后退。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演示时突然开机，“给大家一个惊喜”</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拍照拍视频有边界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拍照拍视频只在参观区里拍</a:t>
            </a:r>
          </a:p>
          <a:p>
            <a:pPr>
              <a:spcAft>
                <a:spcPts val="1000"/>
              </a:spcAft>
            </a:pPr>
            <a:r>
              <a:rPr sz="2000">
                <a:solidFill>
                  <a:srgbClr val="222B33"/>
                </a:solidFill>
                <a:latin typeface="Microsoft YaHei"/>
              </a:rPr>
              <a:t>▪ 不挤到操作员身边，不打扰操作</a:t>
            </a:r>
          </a:p>
          <a:p>
            <a:pPr>
              <a:spcAft>
                <a:spcPts val="1000"/>
              </a:spcAft>
            </a:pPr>
            <a:r>
              <a:rPr sz="2000">
                <a:solidFill>
                  <a:srgbClr val="222B33"/>
                </a:solidFill>
                <a:latin typeface="Microsoft YaHei"/>
              </a:rPr>
              <a:t>▪ 标明禁止拍摄的地方不拍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访客喜欢拍照、拍视频留念，这可以在规定范围内进行：只在参观区内拍摄，不为了取景越线，不挤到操作人员身边，不使用闪光灯干扰操作。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为拍到好角度越过警戒线</a:t>
            </a:r>
          </a:p>
          <a:p>
            <a:pPr>
              <a:spcAft>
                <a:spcPts val="1000"/>
              </a:spcAft>
            </a:pPr>
            <a:r>
              <a:rPr sz="1500">
                <a:solidFill>
                  <a:srgbClr val="222B33"/>
                </a:solidFill>
                <a:latin typeface="Microsoft YaHei"/>
              </a:rPr>
              <a:t>▪ 拍摄并公开发布危化品库、门禁等安保信息</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高风险区域限制进入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生物安全实验室、辐射场所、危化品库不对访客开放</a:t>
            </a:r>
          </a:p>
          <a:p>
            <a:pPr>
              <a:spcAft>
                <a:spcPts val="1000"/>
              </a:spcAft>
            </a:pPr>
            <a:r>
              <a:rPr sz="2000">
                <a:solidFill>
                  <a:srgbClr val="222B33"/>
                </a:solidFill>
                <a:latin typeface="Microsoft YaHei"/>
              </a:rPr>
              <a:t>▪ 未经批准，外来人员不得进入</a:t>
            </a:r>
          </a:p>
          <a:p>
            <a:pPr>
              <a:spcAft>
                <a:spcPts val="1000"/>
              </a:spcAft>
            </a:pPr>
            <a:r>
              <a:rPr sz="2000">
                <a:solidFill>
                  <a:srgbClr val="222B33"/>
                </a:solidFill>
                <a:latin typeface="Microsoft YaHei"/>
              </a:rPr>
              <a:t>▪ 看到陌生人，主动询问并报告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把参观者带进生物安全实验室或辐射工作场所“看一眼”</a:t>
            </a:r>
          </a:p>
          <a:p>
            <a:pPr>
              <a:spcAft>
                <a:spcPts val="1000"/>
              </a:spcAft>
            </a:pPr>
            <a:r>
              <a:rPr sz="1500">
                <a:solidFill>
                  <a:srgbClr val="222B33"/>
                </a:solidFill>
                <a:latin typeface="Microsoft YaHei"/>
              </a:rPr>
              <a:t>▪ 看到陌生人在实验室里转悠不闻不问</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紧急时带访客撤离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访客不知道出口和集合点</a:t>
            </a:r>
          </a:p>
          <a:p>
            <a:pPr>
              <a:spcAft>
                <a:spcPts val="1000"/>
              </a:spcAft>
            </a:pPr>
            <a:r>
              <a:rPr sz="2000">
                <a:solidFill>
                  <a:srgbClr val="222B33"/>
                </a:solidFill>
                <a:latin typeface="Microsoft YaHei"/>
              </a:rPr>
              <a:t>▪ 向导带队沿疏散通道撤离</a:t>
            </a:r>
          </a:p>
          <a:p>
            <a:pPr>
              <a:spcAft>
                <a:spcPts val="1000"/>
              </a:spcAft>
            </a:pPr>
            <a:r>
              <a:rPr sz="2000">
                <a:solidFill>
                  <a:srgbClr val="222B33"/>
                </a:solidFill>
                <a:latin typeface="Microsoft YaHei"/>
              </a:rPr>
              <a:t>▪ 到集合点清点人数，一个不少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访客不熟悉实验室的布局、安全出口和应急集合点。参观前的安全交底就要说明：一旦听到警报或接到撤离指令，跟着向导走，不要自行乱跑，不要返回取物。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警报响起时只顾自己撤离，忘了访客</a:t>
            </a:r>
          </a:p>
          <a:p>
            <a:pPr>
              <a:spcAft>
                <a:spcPts val="1000"/>
              </a:spcAft>
            </a:pPr>
            <a:r>
              <a:rPr sz="1500">
                <a:solidFill>
                  <a:srgbClr val="222B33"/>
                </a:solidFill>
                <a:latin typeface="Microsoft YaHei"/>
              </a:rPr>
              <a:t>▪ 撤离后不清点人数</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外来维修人员：双向告知危险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维修、保洁人员进实验室，实验室主动讲清危险</a:t>
            </a:r>
          </a:p>
          <a:p>
            <a:pPr>
              <a:spcAft>
                <a:spcPts val="1000"/>
              </a:spcAft>
            </a:pPr>
            <a:r>
              <a:rPr sz="2000">
                <a:solidFill>
                  <a:srgbClr val="222B33"/>
                </a:solidFill>
                <a:latin typeface="Microsoft YaHei"/>
              </a:rPr>
              <a:t>▪ 维修人员也要主动问清楚</a:t>
            </a:r>
          </a:p>
          <a:p>
            <a:pPr>
              <a:spcAft>
                <a:spcPts val="1000"/>
              </a:spcAft>
            </a:pPr>
            <a:r>
              <a:rPr sz="2000">
                <a:solidFill>
                  <a:srgbClr val="222B33"/>
                </a:solidFill>
                <a:latin typeface="Microsoft YaHei"/>
              </a:rPr>
              <a:t>▪ 信息双向流动，才安全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后勤维修、设备厂家工程师、保洁人员等进入实验室区域作业时，往往并不了解实验室里有哪些危险。实验室要主动告知：作业点附近有哪些化学品、气体、生物材料、带电设备，哪些东西不能碰，出了意外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维修人员进来后，实验室没人告知任何危险</a:t>
            </a:r>
          </a:p>
          <a:p>
            <a:pPr>
              <a:spcAft>
                <a:spcPts val="1000"/>
              </a:spcAft>
            </a:pPr>
            <a:r>
              <a:rPr sz="1500">
                <a:solidFill>
                  <a:srgbClr val="222B33"/>
                </a:solidFill>
                <a:latin typeface="Microsoft YaHei"/>
              </a:rPr>
              <a:t>▪ 维修人员不问情况就拆开通风管道、下水管</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外来人员作业前：清场、去污、陪同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作业前负责人当面交底</a:t>
            </a:r>
          </a:p>
          <a:p>
            <a:pPr>
              <a:spcAft>
                <a:spcPts val="1000"/>
              </a:spcAft>
            </a:pPr>
            <a:r>
              <a:rPr sz="2000">
                <a:solidFill>
                  <a:srgbClr val="222B33"/>
                </a:solidFill>
                <a:latin typeface="Microsoft YaHei"/>
              </a:rPr>
              <a:t>▪ 清走作业点附近的化学品，关闭相关气源</a:t>
            </a:r>
          </a:p>
          <a:p>
            <a:pPr>
              <a:spcAft>
                <a:spcPts val="1000"/>
              </a:spcAft>
            </a:pPr>
            <a:r>
              <a:rPr sz="2000">
                <a:solidFill>
                  <a:srgbClr val="222B33"/>
                </a:solidFill>
                <a:latin typeface="Microsoft YaHei"/>
              </a:rPr>
              <a:t>▪ 要碰的设备台面先去污，标明危险部位</a:t>
            </a:r>
          </a:p>
          <a:p>
            <a:pPr>
              <a:spcAft>
                <a:spcPts val="1000"/>
              </a:spcAft>
            </a:pPr>
            <a:r>
              <a:rPr sz="2000">
                <a:solidFill>
                  <a:srgbClr val="222B33"/>
                </a:solidFill>
                <a:latin typeface="Microsoft YaHei"/>
              </a:rPr>
              <a:t>▪ 作业期间有人陪同，做完登记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维修人员到场时，台面上的化学品和样品没有清走</a:t>
            </a:r>
          </a:p>
          <a:p>
            <a:pPr>
              <a:spcAft>
                <a:spcPts val="1000"/>
              </a:spcAft>
            </a:pPr>
            <a:r>
              <a:rPr sz="1500">
                <a:solidFill>
                  <a:srgbClr val="222B33"/>
                </a:solidFill>
                <a:latin typeface="Microsoft YaHei"/>
              </a:rPr>
              <a:t>▪ 交了钥匙就走，让维修人员独自在实验室作业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社团活动：先审批，定安全负责人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社团办活动，安全第一位</a:t>
            </a:r>
          </a:p>
          <a:p>
            <a:pPr>
              <a:spcAft>
                <a:spcPts val="1000"/>
              </a:spcAft>
            </a:pPr>
            <a:r>
              <a:rPr sz="2000">
                <a:solidFill>
                  <a:srgbClr val="222B33"/>
                </a:solidFill>
                <a:latin typeface="Microsoft YaHei"/>
              </a:rPr>
              <a:t>▪ 活动方案先报指导老师和学校审批</a:t>
            </a:r>
          </a:p>
          <a:p>
            <a:pPr>
              <a:spcAft>
                <a:spcPts val="1000"/>
              </a:spcAft>
            </a:pPr>
            <a:r>
              <a:rPr sz="2000">
                <a:solidFill>
                  <a:srgbClr val="222B33"/>
                </a:solidFill>
                <a:latin typeface="Microsoft YaHei"/>
              </a:rPr>
              <a:t>▪ 每场活动都要明确安全负责人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学生社团开展科普展示、竞赛、实践等活动，活动方案（时间、地点、内容、人数、风险和防范措施、应急预案）要先报指导教师和学校有关部门审批，批准后才能举办。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先办活动，再补审批</a:t>
            </a:r>
          </a:p>
          <a:p>
            <a:pPr>
              <a:spcAft>
                <a:spcPts val="1000"/>
              </a:spcAft>
            </a:pPr>
            <a:r>
              <a:rPr sz="1500">
                <a:solidFill>
                  <a:srgbClr val="222B33"/>
                </a:solidFill>
                <a:latin typeface="Microsoft YaHei"/>
              </a:rPr>
              <a:t>▪ 活动没有指定安全负责人，出了事没人管</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社团借用实验室：先培训准入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借用实验室，先完成安全培训和准入</a:t>
            </a:r>
          </a:p>
          <a:p>
            <a:pPr>
              <a:spcAft>
                <a:spcPts val="1000"/>
              </a:spcAft>
            </a:pPr>
            <a:r>
              <a:rPr sz="2000">
                <a:solidFill>
                  <a:srgbClr val="222B33"/>
                </a:solidFill>
                <a:latin typeface="Microsoft YaHei"/>
              </a:rPr>
              <a:t>▪ 要有老师在场，遵守实验室规定</a:t>
            </a:r>
          </a:p>
          <a:p>
            <a:pPr>
              <a:spcAft>
                <a:spcPts val="1000"/>
              </a:spcAft>
            </a:pPr>
            <a:r>
              <a:rPr sz="2000">
                <a:solidFill>
                  <a:srgbClr val="222B33"/>
                </a:solidFill>
                <a:latin typeface="Microsoft YaHei"/>
              </a:rPr>
              <a:t>▪ 活动不玩火，不私带化学品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社团成员未经培训就在实验室里做“演示实验”</a:t>
            </a:r>
          </a:p>
          <a:p>
            <a:pPr>
              <a:spcAft>
                <a:spcPts val="1000"/>
              </a:spcAft>
            </a:pPr>
            <a:r>
              <a:rPr sz="1500">
                <a:solidFill>
                  <a:srgbClr val="222B33"/>
                </a:solidFill>
                <a:latin typeface="Microsoft YaHei"/>
              </a:rPr>
              <a:t>▪ 自带化学品到实验室搞展示</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校外访客到实验室参观，下列做法正确的是：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熟人来访可以不登记</a:t>
            </a:r>
          </a:p>
          <a:p>
            <a:pPr algn="l"/>
            <a:r>
              <a:rPr sz="1500" b="0">
                <a:solidFill>
                  <a:srgbClr val="222B33"/>
                </a:solidFill>
                <a:latin typeface="Microsoft YaHei"/>
              </a:rPr>
              <a:t>B. 登记并经负责人批准，进门前安全交底，全程陪同</a:t>
            </a:r>
          </a:p>
          <a:p>
            <a:pPr algn="l"/>
            <a:r>
              <a:rPr sz="1500" b="0">
                <a:solidFill>
                  <a:srgbClr val="222B33"/>
                </a:solidFill>
                <a:latin typeface="Microsoft YaHei"/>
              </a:rPr>
              <a:t>C. 讲解完让访客自己随便看</a:t>
            </a:r>
          </a:p>
          <a:p>
            <a:pPr algn="l"/>
            <a:r>
              <a:rPr sz="1500" b="0">
                <a:solidFill>
                  <a:srgbClr val="222B33"/>
                </a:solidFill>
                <a:latin typeface="Microsoft YaHei"/>
              </a:rPr>
              <a:t>D. 访客可以试操作仪器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判断：参观激光加工设备时，访客可以打开设备防护门凑近观看。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设备即将启动并会发出较大声响，向导应当：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直接启动，给访客惊喜</a:t>
            </a:r>
          </a:p>
          <a:p>
            <a:pPr algn="l"/>
            <a:r>
              <a:rPr sz="1500" b="0">
                <a:solidFill>
                  <a:srgbClr val="222B33"/>
                </a:solidFill>
                <a:latin typeface="Microsoft YaHei"/>
              </a:rPr>
              <a:t>B. 先告诉访客要做什么、哪里会响、会怎样动，再操作</a:t>
            </a:r>
          </a:p>
          <a:p>
            <a:pPr algn="l"/>
            <a:r>
              <a:rPr sz="1500" b="0">
                <a:solidFill>
                  <a:srgbClr val="222B33"/>
                </a:solidFill>
                <a:latin typeface="Microsoft YaHei"/>
              </a:rPr>
              <a:t>C. 让访客背对设备</a:t>
            </a:r>
          </a:p>
          <a:p>
            <a:pPr algn="l"/>
            <a:r>
              <a:rPr sz="1500" b="0">
                <a:solidFill>
                  <a:srgbClr val="222B33"/>
                </a:solidFill>
                <a:latin typeface="Microsoft YaHei"/>
              </a:rPr>
              <a:t>D. 让访客离开实验室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后勤维修人员要进实验室检修通风管道，下列哪项做法不正确？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当面交底，讲清危险</a:t>
            </a:r>
          </a:p>
          <a:p>
            <a:pPr algn="l"/>
            <a:r>
              <a:rPr sz="1500" b="0">
                <a:solidFill>
                  <a:srgbClr val="222B33"/>
                </a:solidFill>
                <a:latin typeface="Microsoft YaHei"/>
              </a:rPr>
              <a:t>B. 清走作业点附近化学品、关闭相关气源</a:t>
            </a:r>
          </a:p>
          <a:p>
            <a:pPr algn="l"/>
            <a:r>
              <a:rPr sz="1500" b="0">
                <a:solidFill>
                  <a:srgbClr val="222B33"/>
                </a:solidFill>
                <a:latin typeface="Microsoft YaHei"/>
              </a:rPr>
              <a:t>C. 对要触碰的部位先去污</a:t>
            </a:r>
          </a:p>
          <a:p>
            <a:pPr algn="l"/>
            <a:r>
              <a:rPr sz="1500" b="0">
                <a:solidFill>
                  <a:srgbClr val="222B33"/>
                </a:solidFill>
                <a:latin typeface="Microsoft YaHei"/>
              </a:rPr>
              <a:t>D. 把钥匙交给维修人员，自己先下班</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学生社团想借用实验室开展科普活动，应当：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跟实验室同学打个招呼就行</a:t>
            </a:r>
          </a:p>
          <a:p>
            <a:pPr algn="l"/>
            <a:r>
              <a:rPr sz="1500" b="0">
                <a:solidFill>
                  <a:srgbClr val="222B33"/>
                </a:solidFill>
                <a:latin typeface="Microsoft YaHei"/>
              </a:rPr>
              <a:t>B. 活动方案报指导老师和学校审批，明确安全负责人，参加者先培训准入，活动时老师在场</a:t>
            </a:r>
          </a:p>
          <a:p>
            <a:pPr algn="l"/>
            <a:r>
              <a:rPr sz="1500" b="0">
                <a:solidFill>
                  <a:srgbClr val="222B33"/>
                </a:solidFill>
                <a:latin typeface="Microsoft YaHei"/>
              </a:rPr>
              <a:t>C. 自带化学品做演示</a:t>
            </a:r>
          </a:p>
          <a:p>
            <a:pPr algn="l"/>
            <a:r>
              <a:rPr sz="1500" b="0">
                <a:solidFill>
                  <a:srgbClr val="222B33"/>
                </a:solidFill>
                <a:latin typeface="Microsoft YaHei"/>
              </a:rPr>
              <a:t>D. 活动后再补审批</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简答：带访客参观时，“不靠、不搭、不爬”指什么？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欢迎参观，保护访客是第一位</a:t>
            </a:r>
          </a:p>
          <a:p>
            <a:pPr>
              <a:spcAft>
                <a:spcPts val="800"/>
              </a:spcAft>
            </a:pPr>
            <a:r>
              <a:rPr sz="1500">
                <a:solidFill>
                  <a:srgbClr val="FFFFFF"/>
                </a:solidFill>
                <a:latin typeface="Microsoft YaHei"/>
              </a:rPr>
              <a:t>▪ K2  登记、批准、交底、全程陪同</a:t>
            </a:r>
          </a:p>
          <a:p>
            <a:pPr>
              <a:spcAft>
                <a:spcPts val="800"/>
              </a:spcAft>
            </a:pPr>
            <a:r>
              <a:rPr sz="1500">
                <a:solidFill>
                  <a:srgbClr val="FFFFFF"/>
                </a:solidFill>
                <a:latin typeface="Microsoft YaHei"/>
              </a:rPr>
              <a:t>▪ K3  参观前告知着装，进门配防护</a:t>
            </a:r>
          </a:p>
          <a:p>
            <a:pPr>
              <a:spcAft>
                <a:spcPts val="800"/>
              </a:spcAft>
            </a:pPr>
            <a:r>
              <a:rPr sz="1500">
                <a:solidFill>
                  <a:srgbClr val="FFFFFF"/>
                </a:solidFill>
                <a:latin typeface="Microsoft YaHei"/>
              </a:rPr>
              <a:t>▪ K4  访客在场：通道畅通，暂停吊运</a:t>
            </a:r>
          </a:p>
          <a:p>
            <a:pPr>
              <a:spcAft>
                <a:spcPts val="800"/>
              </a:spcAft>
            </a:pPr>
            <a:r>
              <a:rPr sz="1500">
                <a:solidFill>
                  <a:srgbClr val="FFFFFF"/>
                </a:solidFill>
                <a:latin typeface="Microsoft YaHei"/>
              </a:rPr>
              <a:t>▪ K5  站在安全区：不越线，隔窗看</a:t>
            </a:r>
          </a:p>
          <a:p>
            <a:pPr>
              <a:spcAft>
                <a:spcPts val="800"/>
              </a:spcAft>
            </a:pPr>
            <a:r>
              <a:rPr sz="1500">
                <a:solidFill>
                  <a:srgbClr val="FFFFFF"/>
                </a:solidFill>
                <a:latin typeface="Microsoft YaHei"/>
              </a:rPr>
              <a:t>▪ K6  不靠、不搭、不爬</a:t>
            </a:r>
          </a:p>
          <a:p>
            <a:pPr>
              <a:spcAft>
                <a:spcPts val="800"/>
              </a:spcAft>
            </a:pPr>
            <a:r>
              <a:rPr sz="1500">
                <a:solidFill>
                  <a:srgbClr val="FFFFFF"/>
                </a:solidFill>
                <a:latin typeface="Microsoft YaHei"/>
              </a:rPr>
              <a:t>▪ K7  留意会突然启动的设备</a:t>
            </a:r>
          </a:p>
          <a:p>
            <a:pPr>
              <a:spcAft>
                <a:spcPts val="800"/>
              </a:spcAft>
            </a:pPr>
            <a:r>
              <a:rPr sz="1500">
                <a:solidFill>
                  <a:srgbClr val="FFFFFF"/>
                </a:solidFill>
                <a:latin typeface="Microsoft YaHei"/>
              </a:rPr>
              <a:t>▪ K8  先说清楚，再动手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拍照拍视频有边界</a:t>
            </a:r>
          </a:p>
          <a:p>
            <a:pPr>
              <a:spcAft>
                <a:spcPts val="800"/>
              </a:spcAft>
            </a:pPr>
            <a:r>
              <a:rPr sz="1500">
                <a:solidFill>
                  <a:srgbClr val="FFFFFF"/>
                </a:solidFill>
                <a:latin typeface="Microsoft YaHei"/>
              </a:rPr>
              <a:t>▪ S1  高风险区域限制进入</a:t>
            </a:r>
          </a:p>
          <a:p>
            <a:pPr>
              <a:spcAft>
                <a:spcPts val="800"/>
              </a:spcAft>
            </a:pPr>
            <a:r>
              <a:rPr sz="1500">
                <a:solidFill>
                  <a:srgbClr val="FFFFFF"/>
                </a:solidFill>
                <a:latin typeface="Microsoft YaHei"/>
              </a:rPr>
              <a:t>▪ S2  紧急时带访客撤离</a:t>
            </a:r>
          </a:p>
          <a:p>
            <a:pPr>
              <a:spcAft>
                <a:spcPts val="800"/>
              </a:spcAft>
            </a:pPr>
            <a:r>
              <a:rPr sz="1500">
                <a:solidFill>
                  <a:srgbClr val="FFFFFF"/>
                </a:solidFill>
                <a:latin typeface="Microsoft YaHei"/>
              </a:rPr>
              <a:t>▪ K10  外来维修人员：双向告知危险</a:t>
            </a:r>
          </a:p>
          <a:p>
            <a:pPr>
              <a:spcAft>
                <a:spcPts val="800"/>
              </a:spcAft>
            </a:pPr>
            <a:r>
              <a:rPr sz="1500">
                <a:solidFill>
                  <a:srgbClr val="FFFFFF"/>
                </a:solidFill>
                <a:latin typeface="Microsoft YaHei"/>
              </a:rPr>
              <a:t>▪ K11  外来人员作业前：清场、去污、陪同</a:t>
            </a:r>
          </a:p>
          <a:p>
            <a:pPr>
              <a:spcAft>
                <a:spcPts val="800"/>
              </a:spcAft>
            </a:pPr>
            <a:r>
              <a:rPr sz="1500">
                <a:solidFill>
                  <a:srgbClr val="FFFFFF"/>
                </a:solidFill>
                <a:latin typeface="Microsoft YaHei"/>
              </a:rPr>
              <a:t>▪ K12  社团活动：先审批，定安全负责人</a:t>
            </a:r>
          </a:p>
          <a:p>
            <a:pPr>
              <a:spcAft>
                <a:spcPts val="800"/>
              </a:spcAft>
            </a:pPr>
            <a:r>
              <a:rPr sz="1500">
                <a:solidFill>
                  <a:srgbClr val="FFFFFF"/>
                </a:solidFill>
                <a:latin typeface="Microsoft YaHei"/>
              </a:rPr>
              <a:t>▪ K13  社团借用实验室：先培训准入</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实验室行为守则</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能说出实验室基本行为守则：听从负责人、课前预习、按规程操作、拿不准就问。</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能判断哪些行为违反守则：饮食吸烟化妆、实验冰箱放食品、用手碰和闻尝化学品、嬉闹、擅动他人样品、私自改装仪器。</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能做到：危险实验不独自做，夜间节假日实验先报备，无人值守设备经同意并挂牌，离开前检查水电气门窗。</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号，以现行文本为准）：实验室人员行为规范、禁止饮食吸烟和过夜、危险实验与无人值守管理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教育部高校实验室安全检查项目表（以现行文本为准）：实验室场所与行为规范类检查项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《中华人民共和国安全生产法》（以现行文本为准）：从业人员遵守安全规章制度和操作规程、服从管理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生物安全通用要求》：实验室工作区禁止饮食、吸烟和化妆等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日起施行）及《危险化学品安全管理条例》（以现行文本为准）：危险化学品使用单位的操作规程和安全管理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4793.1-2007（以现行文本为准）《测量、控制和实验室用电气设备的安全要求 第1部分》：设备防护和联锁</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本校实验室安全管理制度、夜间和节假日实验审批及设备运行管理规定（以本校规定为准）</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尊重实验室，从自己的行为做起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尊重实验室，也尊重身边的同伴</a:t>
            </a:r>
          </a:p>
          <a:p>
            <a:pPr>
              <a:spcAft>
                <a:spcPts val="1000"/>
              </a:spcAft>
            </a:pPr>
            <a:r>
              <a:rPr sz="2000">
                <a:solidFill>
                  <a:srgbClr val="222B33"/>
                </a:solidFill>
                <a:latin typeface="Microsoft YaHei"/>
              </a:rPr>
              <a:t>▪ 每个人的行为决定大家是否安全</a:t>
            </a:r>
          </a:p>
          <a:p>
            <a:pPr>
              <a:spcAft>
                <a:spcPts val="1000"/>
              </a:spcAft>
            </a:pPr>
            <a:r>
              <a:rPr sz="2000">
                <a:solidFill>
                  <a:srgbClr val="222B33"/>
                </a:solidFill>
                <a:latin typeface="Microsoft YaHei"/>
              </a:rPr>
              <a:t>▪ 体谅前一个人，照顾下一个人</a:t>
            </a:r>
          </a:p>
          <a:p>
            <a:pPr>
              <a:spcAft>
                <a:spcPts val="1000"/>
              </a:spcAft>
            </a:pPr>
            <a:r>
              <a:rPr sz="2000">
                <a:solidFill>
                  <a:srgbClr val="222B33"/>
                </a:solidFill>
                <a:latin typeface="Microsoft YaHei"/>
              </a:rPr>
              <a:t>▪ 懂规则、守规则，还要会发现隐患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实验室是多人共用的危险场所，一个人的随意行为可能伤到整个实验室的人。了解规则、遵守规则，是每个人的责任；同时还要学会发现身边的安全隐患，及时提醒或报告。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认为“只要我自己小心就行”，不在意对别人的影响</a:t>
            </a:r>
          </a:p>
          <a:p>
            <a:pPr>
              <a:spcAft>
                <a:spcPts val="1000"/>
              </a:spcAft>
            </a:pPr>
            <a:r>
              <a:rPr sz="1500">
                <a:solidFill>
                  <a:srgbClr val="222B33"/>
                </a:solidFill>
                <a:latin typeface="Microsoft YaHei"/>
              </a:rPr>
              <a:t>▪ 用完台面和设备不清理，留给下一个人</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听从实验室负责人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实验课上负责人或指导教师始终在场</a:t>
            </a:r>
          </a:p>
          <a:p>
            <a:pPr>
              <a:spcAft>
                <a:spcPts val="1000"/>
              </a:spcAft>
            </a:pPr>
            <a:r>
              <a:rPr sz="2000">
                <a:solidFill>
                  <a:srgbClr val="222B33"/>
                </a:solidFill>
                <a:latin typeface="Microsoft YaHei"/>
              </a:rPr>
              <a:t>▪ 开工前讲清技术、设备和防护</a:t>
            </a:r>
          </a:p>
          <a:p>
            <a:pPr>
              <a:spcAft>
                <a:spcPts val="1000"/>
              </a:spcAft>
            </a:pPr>
            <a:r>
              <a:rPr sz="2000">
                <a:solidFill>
                  <a:srgbClr val="222B33"/>
                </a:solidFill>
                <a:latin typeface="Microsoft YaHei"/>
              </a:rPr>
              <a:t>▪ 有问题先找他</a:t>
            </a:r>
          </a:p>
          <a:p>
            <a:pPr>
              <a:spcAft>
                <a:spcPts val="1000"/>
              </a:spcAft>
            </a:pPr>
            <a:r>
              <a:rPr sz="2000">
                <a:solidFill>
                  <a:srgbClr val="222B33"/>
                </a:solidFill>
                <a:latin typeface="Microsoft YaHei"/>
              </a:rPr>
              <a:t>▪ 他的安全指令必须照办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教学实验课上，指导教师或实验室负责人应始终在场；科研实验中，实验室负责人和导师对本实验室的安全负责（见第 004 课）。开始操作前，他们会讲清实验技术、设备使用方法、需要的防护和注意事项。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老师不在时擅自开始实验</a:t>
            </a:r>
          </a:p>
          <a:p>
            <a:pPr>
              <a:spcAft>
                <a:spcPts val="1000"/>
              </a:spcAft>
            </a:pPr>
            <a:r>
              <a:rPr sz="1500">
                <a:solidFill>
                  <a:srgbClr val="222B33"/>
                </a:solidFill>
                <a:latin typeface="Microsoft YaHei"/>
              </a:rPr>
              <a:t>▪ 对“停止操作”的指令置之不理，坚持做完</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课前预习：看演示不能代替读讲义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实验课前先读讲义预习</a:t>
            </a:r>
          </a:p>
          <a:p>
            <a:pPr>
              <a:spcAft>
                <a:spcPts val="1000"/>
              </a:spcAft>
            </a:pPr>
            <a:r>
              <a:rPr sz="2000">
                <a:solidFill>
                  <a:srgbClr val="222B33"/>
                </a:solidFill>
                <a:latin typeface="Microsoft YaHei"/>
              </a:rPr>
              <a:t>▪ 别指望到了现场才有人告诉你</a:t>
            </a:r>
          </a:p>
          <a:p>
            <a:pPr>
              <a:spcAft>
                <a:spcPts val="1000"/>
              </a:spcAft>
            </a:pPr>
            <a:r>
              <a:rPr sz="2000">
                <a:solidFill>
                  <a:srgbClr val="222B33"/>
                </a:solidFill>
                <a:latin typeface="Microsoft YaHei"/>
              </a:rPr>
              <a:t>▪ 看演示视频只是预习，代替不了讲义</a:t>
            </a:r>
          </a:p>
          <a:p>
            <a:pPr>
              <a:spcAft>
                <a:spcPts val="1000"/>
              </a:spcAft>
            </a:pPr>
            <a:r>
              <a:rPr sz="2000">
                <a:solidFill>
                  <a:srgbClr val="222B33"/>
                </a:solidFill>
                <a:latin typeface="Microsoft YaHei"/>
              </a:rPr>
              <a:t>▪ 原理和操作，两样都要弄明白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实验前要认真预习实验讲义或实验方案：明确实验目的、原理、步骤，使用的化学品和设备有哪些危害，需要哪些防护，出现意外如何处置。不能到了实验室才临时翻讲义、等别人告诉你怎么做。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不预习，到实验室才看讲义</a:t>
            </a:r>
          </a:p>
          <a:p>
            <a:pPr>
              <a:spcAft>
                <a:spcPts val="1000"/>
              </a:spcAft>
            </a:pPr>
            <a:r>
              <a:rPr sz="1500">
                <a:solidFill>
                  <a:srgbClr val="222B33"/>
                </a:solidFill>
                <a:latin typeface="Microsoft YaHei"/>
              </a:rPr>
              <a:t>▪ 只看演示视频，不读讲义中的安全注意事项</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按书面规程做，只做培训过的工作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严格按书面规程，一步一步做</a:t>
            </a:r>
          </a:p>
          <a:p>
            <a:pPr>
              <a:spcAft>
                <a:spcPts val="1000"/>
              </a:spcAft>
            </a:pPr>
            <a:r>
              <a:rPr sz="2000">
                <a:solidFill>
                  <a:srgbClr val="222B33"/>
                </a:solidFill>
                <a:latin typeface="Microsoft YaHei"/>
              </a:rPr>
              <a:t>▪ 不跳步，不凭感觉改步骤</a:t>
            </a:r>
          </a:p>
          <a:p>
            <a:pPr>
              <a:spcAft>
                <a:spcPts val="1000"/>
              </a:spcAft>
            </a:pPr>
            <a:r>
              <a:rPr sz="2000">
                <a:solidFill>
                  <a:srgbClr val="222B33"/>
                </a:solidFill>
                <a:latin typeface="Microsoft YaHei"/>
              </a:rPr>
              <a:t>▪ 只做自己受过培训的工作</a:t>
            </a:r>
          </a:p>
          <a:p>
            <a:pPr>
              <a:spcAft>
                <a:spcPts val="1000"/>
              </a:spcAft>
            </a:pPr>
            <a:r>
              <a:rPr sz="2000">
                <a:solidFill>
                  <a:srgbClr val="222B33"/>
                </a:solidFill>
                <a:latin typeface="Microsoft YaHei"/>
              </a:rPr>
              <a:t>▪ 别人的活，没学过别乱接手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实验操作要严格按照书面的操作规程（SOP）或经批准的实验方案进行，一步一步做，不跳步、不随意调换顺序、不凭感觉增减用量和条件。规程的编写见第 019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凭经验省略规程中的步骤</a:t>
            </a:r>
          </a:p>
          <a:p>
            <a:pPr>
              <a:spcAft>
                <a:spcPts val="1000"/>
              </a:spcAft>
            </a:pPr>
            <a:r>
              <a:rPr sz="1500">
                <a:solidFill>
                  <a:srgbClr val="222B33"/>
                </a:solidFill>
                <a:latin typeface="Microsoft YaHei"/>
              </a:rPr>
              <a:t>▪ 帮同学操作自己没培训过的仪器</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拿不准就问，不擅改方案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拿不准，先问导师或负责人</a:t>
            </a:r>
          </a:p>
          <a:p>
            <a:pPr>
              <a:spcAft>
                <a:spcPts val="1000"/>
              </a:spcAft>
            </a:pPr>
            <a:r>
              <a:rPr sz="2000">
                <a:solidFill>
                  <a:srgbClr val="222B33"/>
                </a:solidFill>
                <a:latin typeface="Microsoft YaHei"/>
              </a:rPr>
              <a:t>▪ 不自己乱试，也不是慢慢做就行</a:t>
            </a:r>
          </a:p>
          <a:p>
            <a:pPr>
              <a:spcAft>
                <a:spcPts val="1000"/>
              </a:spcAft>
            </a:pPr>
            <a:r>
              <a:rPr sz="2000">
                <a:solidFill>
                  <a:srgbClr val="222B33"/>
                </a:solidFill>
                <a:latin typeface="Microsoft YaHei"/>
              </a:rPr>
              <a:t>▪ 改变方案或装置布置，先经同意</a:t>
            </a:r>
          </a:p>
          <a:p>
            <a:pPr>
              <a:spcAft>
                <a:spcPts val="1000"/>
              </a:spcAft>
            </a:pPr>
            <a:r>
              <a:rPr sz="2000">
                <a:solidFill>
                  <a:srgbClr val="222B33"/>
                </a:solidFill>
                <a:latin typeface="Microsoft YaHei"/>
              </a:rPr>
              <a:t>▪ 仪器旁加热、加设备，先问再做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实验中遇到拿不准的情况——仪器怎么用、条件能不能改、出现了没见过的现象——先停下来问导师、负责人或带教人。自己乱试可能酿成事故；“慢慢做、小心点”也不能代替弄清楚。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怕被批评，不懂也不问</a:t>
            </a:r>
          </a:p>
          <a:p>
            <a:pPr>
              <a:spcAft>
                <a:spcPts val="1000"/>
              </a:spcAft>
            </a:pPr>
            <a:r>
              <a:rPr sz="1500">
                <a:solidFill>
                  <a:srgbClr val="222B33"/>
                </a:solidFill>
                <a:latin typeface="Microsoft YaHei"/>
              </a:rPr>
              <a:t>▪ 为了加快进度，擅自放大反应规模或提高温度</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守则堵住的是暴露途径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有害物进入人体主要有四条路</a:t>
            </a:r>
          </a:p>
          <a:p>
            <a:pPr>
              <a:spcAft>
                <a:spcPts val="1000"/>
              </a:spcAft>
            </a:pPr>
            <a:r>
              <a:rPr sz="2000">
                <a:solidFill>
                  <a:srgbClr val="222B33"/>
                </a:solidFill>
                <a:latin typeface="Microsoft YaHei"/>
              </a:rPr>
              <a:t>▪ 食入、吸入、皮肤接触、刺伤</a:t>
            </a:r>
          </a:p>
          <a:p>
            <a:pPr>
              <a:spcAft>
                <a:spcPts val="1000"/>
              </a:spcAft>
            </a:pPr>
            <a:r>
              <a:rPr sz="2000">
                <a:solidFill>
                  <a:srgbClr val="222B33"/>
                </a:solidFill>
                <a:latin typeface="Microsoft YaHei"/>
              </a:rPr>
              <a:t>▪ 行为守则就是把这些路堵上</a:t>
            </a:r>
          </a:p>
          <a:p>
            <a:pPr>
              <a:spcAft>
                <a:spcPts val="1000"/>
              </a:spcAft>
            </a:pPr>
            <a:r>
              <a:rPr sz="2000">
                <a:solidFill>
                  <a:srgbClr val="222B33"/>
                </a:solidFill>
                <a:latin typeface="Microsoft YaHei"/>
              </a:rPr>
              <a:t>▪ 手上和台面的污染会跟着进嘴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化学品和病原微生物等有害物质进入人体，主要有四条途径：经口食入、经呼吸道吸入、经皮肤和黏膜接触吸收、经锐器刺伤或割伤进入。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认为守则只是形式，不理解背后的暴露途径</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实验室里不吃不喝，严禁吸烟</a:t>
            </a:r>
          </a:p>
          <a:p>
            <a:pPr>
              <a:spcAft>
                <a:spcPts val="1000"/>
              </a:spcAft>
            </a:pPr>
            <a:r>
              <a:rPr sz="1700">
                <a:solidFill>
                  <a:srgbClr val="222B33"/>
                </a:solidFill>
                <a:latin typeface="Microsoft YaHei"/>
              </a:rPr>
              <a:t>▪ 嚼口香糖、咬笔头、化妆也不行</a:t>
            </a:r>
          </a:p>
          <a:p>
            <a:pPr>
              <a:spcAft>
                <a:spcPts val="1000"/>
              </a:spcAft>
            </a:pPr>
            <a:r>
              <a:rPr sz="1700">
                <a:solidFill>
                  <a:srgbClr val="222B33"/>
                </a:solidFill>
                <a:latin typeface="Microsoft YaHei"/>
              </a:rPr>
              <a:t>▪ 水杯零食书包放在门外</a:t>
            </a:r>
          </a:p>
          <a:p>
            <a:pPr>
              <a:spcAft>
                <a:spcPts val="1000"/>
              </a:spcAft>
            </a:pPr>
            <a:r>
              <a:rPr sz="1700">
                <a:solidFill>
                  <a:srgbClr val="222B33"/>
                </a:solidFill>
                <a:latin typeface="Microsoft YaHei"/>
              </a:rPr>
              <a:t>▪ 吃喝去休息区，先洗手</a:t>
            </a:r>
          </a:p>
          <a:p>
            <a:pPr>
              <a:spcAft>
                <a:spcPts val="1000"/>
              </a:spcAft>
            </a:pPr>
            <a:r>
              <a:rPr sz="1700">
                <a:solidFill>
                  <a:srgbClr val="222B33"/>
                </a:solidFill>
                <a:latin typeface="Microsoft YaHei"/>
              </a:rPr>
              <a:t>▪ 不在实验室休息过夜，通道保持畅通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手上、台面上、空气中的污染物会通过饮食进入人体，因此实验室工作区内禁止饮食、饮水、嚼口香糖，禁止吸烟（含电子烟），不化妆，不咬笔头、不用手摸脸。水杯、零食和书包放在实验室外或指定的存放区，吃喝到休息区进行，离开实验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在实验台上放水杯，边做实验边喝水</a:t>
            </a:r>
          </a:p>
          <a:p>
            <a:pPr>
              <a:spcAft>
                <a:spcPts val="1000"/>
              </a:spcAft>
            </a:pPr>
            <a:r>
              <a:rPr sz="1500">
                <a:solidFill>
                  <a:srgbClr val="222B33"/>
                </a:solidFill>
                <a:latin typeface="Microsoft YaHei"/>
              </a:rPr>
              <a:t>▪ 在实验室搭折叠床过夜</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实验冰箱和微波炉不碰食品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试剂冰箱、培养箱不放食物饮料</a:t>
            </a:r>
          </a:p>
          <a:p>
            <a:pPr>
              <a:spcAft>
                <a:spcPts val="1000"/>
              </a:spcAft>
            </a:pPr>
            <a:r>
              <a:rPr sz="2000">
                <a:solidFill>
                  <a:srgbClr val="222B33"/>
                </a:solidFill>
                <a:latin typeface="Microsoft YaHei"/>
              </a:rPr>
              <a:t>▪ 实验室的微波炉不热饭</a:t>
            </a:r>
          </a:p>
          <a:p>
            <a:pPr>
              <a:spcAft>
                <a:spcPts val="1000"/>
              </a:spcAft>
            </a:pPr>
            <a:r>
              <a:rPr sz="2000">
                <a:solidFill>
                  <a:srgbClr val="222B33"/>
                </a:solidFill>
                <a:latin typeface="Microsoft YaHei"/>
              </a:rPr>
              <a:t>▪ 实验用的冰箱只放实验材料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存放试剂、样品、培养物的冰箱和培养箱，以及实验用的微波炉、烘箱，都可能被化学品或微生物污染，不得存放或加热食品、饮料。同样，食品冰箱不能存放试剂和样品。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把午饭放进试剂冰箱</a:t>
            </a:r>
          </a:p>
          <a:p>
            <a:pPr>
              <a:spcAft>
                <a:spcPts val="1000"/>
              </a:spcAft>
            </a:pPr>
            <a:r>
              <a:rPr sz="1500">
                <a:solidFill>
                  <a:srgbClr val="222B33"/>
                </a:solidFill>
                <a:latin typeface="Microsoft YaHei"/>
              </a:rPr>
              <a:t>▪ 用实验室微波炉热饭</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不用手碰，不闻不尝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化学品和产物不用手直接碰</a:t>
            </a:r>
          </a:p>
          <a:p>
            <a:pPr>
              <a:spcAft>
                <a:spcPts val="1000"/>
              </a:spcAft>
            </a:pPr>
            <a:r>
              <a:rPr sz="2000">
                <a:solidFill>
                  <a:srgbClr val="222B33"/>
                </a:solidFill>
                <a:latin typeface="Microsoft YaHei"/>
              </a:rPr>
              <a:t>▪ 不凑近闻，不尝味道</a:t>
            </a:r>
          </a:p>
          <a:p>
            <a:pPr>
              <a:spcAft>
                <a:spcPts val="1000"/>
              </a:spcAft>
            </a:pPr>
            <a:r>
              <a:rPr sz="2000">
                <a:solidFill>
                  <a:srgbClr val="222B33"/>
                </a:solidFill>
                <a:latin typeface="Microsoft YaHei"/>
              </a:rPr>
              <a:t>▪ 取样用刮刀、镊子等工具</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任何化学品、反应产物和样品，都不能用手直接接触，更不能尝味道或凑近容器口闻气味。取用固体用刮刀、药匙或镊子，取用液体用移液器或滴管，并佩戴合适的手套。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用手指捏取结晶产物</a:t>
            </a:r>
          </a:p>
          <a:p>
            <a:pPr>
              <a:spcAft>
                <a:spcPts val="1000"/>
              </a:spcAft>
            </a:pPr>
            <a:r>
              <a:rPr sz="1500">
                <a:solidFill>
                  <a:srgbClr val="222B33"/>
                </a:solidFill>
                <a:latin typeface="Microsoft YaHei"/>
              </a:rPr>
              <a:t>▪ 凑到瓶口闻未知液体</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专心操作，不嬉闹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专心操作，做实验时不玩手机</a:t>
            </a:r>
          </a:p>
          <a:p>
            <a:pPr>
              <a:spcAft>
                <a:spcPts val="1000"/>
              </a:spcAft>
            </a:pPr>
            <a:r>
              <a:rPr sz="2000">
                <a:solidFill>
                  <a:srgbClr val="222B33"/>
                </a:solidFill>
                <a:latin typeface="Microsoft YaHei"/>
              </a:rPr>
              <a:t>▪ 不奔跑、不打闹、不搞恶作剧</a:t>
            </a:r>
          </a:p>
          <a:p>
            <a:pPr>
              <a:spcAft>
                <a:spcPts val="1000"/>
              </a:spcAft>
            </a:pPr>
            <a:r>
              <a:rPr sz="2000">
                <a:solidFill>
                  <a:srgbClr val="222B33"/>
                </a:solidFill>
                <a:latin typeface="Microsoft YaHei"/>
              </a:rPr>
              <a:t>▪ 留意周围，发现隐患马上说</a:t>
            </a:r>
          </a:p>
          <a:p>
            <a:pPr>
              <a:spcAft>
                <a:spcPts val="1000"/>
              </a:spcAft>
            </a:pPr>
            <a:r>
              <a:rPr sz="2000">
                <a:solidFill>
                  <a:srgbClr val="222B33"/>
                </a:solidFill>
                <a:latin typeface="Microsoft YaHei"/>
              </a:rPr>
              <a:t>▪ 守规范，数据如实记录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实验时要专心，不玩手机、不戴耳机听音乐、不闲聊分心。实验室里不奔跑、不打闹、不搞恶作剧——一次推搡就可能打翻试剂瓶、撞倒装置。加热和反应进行中不离开岗位。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一边操作一边刷手机</a:t>
            </a:r>
          </a:p>
          <a:p>
            <a:pPr>
              <a:spcAft>
                <a:spcPts val="1000"/>
              </a:spcAft>
            </a:pPr>
            <a:r>
              <a:rPr sz="1500">
                <a:solidFill>
                  <a:srgbClr val="222B33"/>
                </a:solidFill>
                <a:latin typeface="Microsoft YaHei"/>
              </a:rPr>
              <a:t>▪ 和同学开玩笑推搡</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别人的样品先问再动，公用器具用完归位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不认识的瓶子，不要去洗、不要倒</a:t>
            </a:r>
          </a:p>
          <a:p>
            <a:pPr>
              <a:spcAft>
                <a:spcPts val="1000"/>
              </a:spcAft>
            </a:pPr>
            <a:r>
              <a:rPr sz="2000">
                <a:solidFill>
                  <a:srgbClr val="222B33"/>
                </a:solidFill>
                <a:latin typeface="Microsoft YaHei"/>
              </a:rPr>
              <a:t>▪ 自己的样品贴好名字和日期</a:t>
            </a:r>
          </a:p>
          <a:p>
            <a:pPr>
              <a:spcAft>
                <a:spcPts val="1000"/>
              </a:spcAft>
            </a:pPr>
            <a:r>
              <a:rPr sz="2000">
                <a:solidFill>
                  <a:srgbClr val="222B33"/>
                </a:solidFill>
                <a:latin typeface="Microsoft YaHei"/>
              </a:rPr>
              <a:t>▪ 不认识的瓶子先问清楚再动</a:t>
            </a:r>
          </a:p>
          <a:p>
            <a:pPr>
              <a:spcAft>
                <a:spcPts val="1000"/>
              </a:spcAft>
            </a:pPr>
            <a:r>
              <a:rPr sz="2000">
                <a:solidFill>
                  <a:srgbClr val="222B33"/>
                </a:solidFill>
                <a:latin typeface="Microsoft YaHei"/>
              </a:rPr>
              <a:t>▪ 公用器具用了登记，用完归位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真实常见的场景：有人辛苦一周准备好一排样品，离开去休息，回来发现被别人当成废瓶洗掉了。这既毁了别人的工作，也可能因为倒掉未知物质而引发危险。两条教训：不认识的瓶子，不要随便洗或倒；再生气，也不要拿东西撒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把别人没贴标签的样品当废液倒掉</a:t>
            </a:r>
          </a:p>
          <a:p>
            <a:pPr>
              <a:spcAft>
                <a:spcPts val="1000"/>
              </a:spcAft>
            </a:pPr>
            <a:r>
              <a:rPr sz="1500">
                <a:solidFill>
                  <a:srgbClr val="222B33"/>
                </a:solidFill>
                <a:latin typeface="Microsoft YaHei"/>
              </a:rPr>
              <a:t>▪ 借用公用器具不登记、不归还</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不私自改装仪器设备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不拆外壳和防护罩</a:t>
            </a:r>
          </a:p>
          <a:p>
            <a:pPr>
              <a:spcAft>
                <a:spcPts val="1000"/>
              </a:spcAft>
            </a:pPr>
            <a:r>
              <a:rPr sz="2000">
                <a:solidFill>
                  <a:srgbClr val="222B33"/>
                </a:solidFill>
                <a:latin typeface="Microsoft YaHei"/>
              </a:rPr>
              <a:t>▪ 不短接、不屏蔽安全联锁</a:t>
            </a:r>
          </a:p>
          <a:p>
            <a:pPr>
              <a:spcAft>
                <a:spcPts val="1000"/>
              </a:spcAft>
            </a:pPr>
            <a:r>
              <a:rPr sz="2000">
                <a:solidFill>
                  <a:srgbClr val="222B33"/>
                </a:solidFill>
                <a:latin typeface="Microsoft YaHei"/>
              </a:rPr>
              <a:t>▪ 改装维修报负责人，由专业人员做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仪器设备的外壳、防护罩、安全联锁和报警装置是保护使用者的关键措施。不得私自拆卸外壳和防护罩，不得短接、屏蔽联锁或报警，不得私自改动电路、气路，不得私拉乱接电线、串联插线板。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嫌联锁麻烦，用胶带把门开关粘住</a:t>
            </a:r>
          </a:p>
          <a:p>
            <a:pPr>
              <a:spcAft>
                <a:spcPts val="1000"/>
              </a:spcAft>
            </a:pPr>
            <a:r>
              <a:rPr sz="1500">
                <a:solidFill>
                  <a:srgbClr val="222B33"/>
                </a:solidFill>
                <a:latin typeface="Microsoft YaHei"/>
              </a:rPr>
              <a:t>▪ 自己拆开仪器“修一修”</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危险实验不独自做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危险实验不能一个人做</a:t>
            </a:r>
          </a:p>
          <a:p>
            <a:pPr>
              <a:spcAft>
                <a:spcPts val="1000"/>
              </a:spcAft>
            </a:pPr>
            <a:r>
              <a:rPr sz="2000">
                <a:solidFill>
                  <a:srgbClr val="222B33"/>
                </a:solidFill>
                <a:latin typeface="Microsoft YaHei"/>
              </a:rPr>
              <a:t>▪ 身边有人，出事能互相帮忙、及时报警</a:t>
            </a:r>
          </a:p>
          <a:p>
            <a:pPr>
              <a:spcAft>
                <a:spcPts val="1000"/>
              </a:spcAft>
            </a:pPr>
            <a:r>
              <a:rPr sz="2000">
                <a:solidFill>
                  <a:srgbClr val="222B33"/>
                </a:solidFill>
                <a:latin typeface="Microsoft YaHei"/>
              </a:rPr>
              <a:t>▪ 高风险实验按规定至少两人在场</a:t>
            </a:r>
          </a:p>
          <a:p>
            <a:pPr>
              <a:spcAft>
                <a:spcPts val="1000"/>
              </a:spcAft>
            </a:pPr>
            <a:r>
              <a:rPr sz="2000">
                <a:solidFill>
                  <a:srgbClr val="222B33"/>
                </a:solidFill>
                <a:latin typeface="Microsoft YaHei"/>
              </a:rPr>
              <a:t>▪ 至少让人知道你在哪、在做什么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人在实验室做危险实验，一旦受伤、中毒或晕倒，就没有人能及时施救和报警。因此危险性较高的实验（如使用剧毒品、易燃易爆品、高温高压、高能量设备等）不得一个人进行，按本校规定至少两人在场，互相照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夜里一个人做高温高压实验</a:t>
            </a:r>
          </a:p>
          <a:p>
            <a:pPr>
              <a:spcAft>
                <a:spcPts val="1000"/>
              </a:spcAft>
            </a:pPr>
            <a:r>
              <a:rPr sz="1500">
                <a:solidFill>
                  <a:srgbClr val="222B33"/>
                </a:solidFill>
                <a:latin typeface="Microsoft YaHei"/>
              </a:rPr>
              <a:t>▪ 单独工作不告诉任何人</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夜间节假日实验先报备，不疲劳作业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夜间节假日人少，风险更高</a:t>
            </a:r>
          </a:p>
          <a:p>
            <a:pPr>
              <a:spcAft>
                <a:spcPts val="1000"/>
              </a:spcAft>
            </a:pPr>
            <a:r>
              <a:rPr sz="2000">
                <a:solidFill>
                  <a:srgbClr val="222B33"/>
                </a:solidFill>
                <a:latin typeface="Microsoft YaHei"/>
              </a:rPr>
              <a:t>▪ 先向负责人报备，经同意再做</a:t>
            </a:r>
          </a:p>
          <a:p>
            <a:pPr>
              <a:spcAft>
                <a:spcPts val="1000"/>
              </a:spcAft>
            </a:pPr>
            <a:r>
              <a:rPr sz="2000">
                <a:solidFill>
                  <a:srgbClr val="222B33"/>
                </a:solidFill>
                <a:latin typeface="Microsoft YaHei"/>
              </a:rPr>
              <a:t>▪ 累了就停，不疲劳做实验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夜间、周末和节假日实验室人少，出了事难以及时发现和救援，风险更高。确需在这些时间做实验的，应按本校规定提前向实验室负责人报备或申请，经同意后进行；高风险操作一般不安排在此时，确需进行的必须两人以上在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节假日偷偷进实验室，不报备</a:t>
            </a:r>
          </a:p>
          <a:p>
            <a:pPr>
              <a:spcAft>
                <a:spcPts val="1000"/>
              </a:spcAft>
            </a:pPr>
            <a:r>
              <a:rPr sz="1500">
                <a:solidFill>
                  <a:srgbClr val="222B33"/>
                </a:solidFill>
                <a:latin typeface="Microsoft YaHei"/>
              </a:rPr>
              <a:t>▪ 连续熬夜做实验</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无人值守实验：经同意，挂牌留联系方式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加热、反应进行中，人不能走开</a:t>
            </a:r>
          </a:p>
          <a:p>
            <a:pPr>
              <a:spcAft>
                <a:spcPts val="1000"/>
              </a:spcAft>
            </a:pPr>
            <a:r>
              <a:rPr sz="2000">
                <a:solidFill>
                  <a:srgbClr val="222B33"/>
                </a:solidFill>
                <a:latin typeface="Microsoft YaHei"/>
              </a:rPr>
              <a:t>▪ 确需过夜运行，要经负责人同意</a:t>
            </a:r>
          </a:p>
          <a:p>
            <a:pPr>
              <a:spcAft>
                <a:spcPts val="1000"/>
              </a:spcAft>
            </a:pPr>
            <a:r>
              <a:rPr sz="2000">
                <a:solidFill>
                  <a:srgbClr val="222B33"/>
                </a:solidFill>
                <a:latin typeface="Microsoft YaHei"/>
              </a:rPr>
              <a:t>▪ 挂牌写明在做什么、到几点、怎么联系</a:t>
            </a:r>
          </a:p>
          <a:p>
            <a:pPr>
              <a:spcAft>
                <a:spcPts val="1000"/>
              </a:spcAft>
            </a:pPr>
            <a:r>
              <a:rPr sz="2000">
                <a:solidFill>
                  <a:srgbClr val="222B33"/>
                </a:solidFill>
                <a:latin typeface="Microsoft YaHei"/>
              </a:rPr>
              <a:t>▪ 其他设备离开前关闭断电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加热、回流、蒸馏等反应进行中，操作人不得离开。确需长时间或过夜运行的设备（如培养箱、某些长时间反应），要经实验室负责人同意，确认设备和防护措施可靠（如温控、过热保护、冷却水断流保护），并在设备上挂牌，写明实验内容、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开着电炉加热就去吃饭</a:t>
            </a:r>
          </a:p>
          <a:p>
            <a:pPr>
              <a:spcAft>
                <a:spcPts val="1000"/>
              </a:spcAft>
            </a:pPr>
            <a:r>
              <a:rPr sz="1500">
                <a:solidFill>
                  <a:srgbClr val="222B33"/>
                </a:solidFill>
                <a:latin typeface="Microsoft YaHei"/>
              </a:rPr>
              <a:t>▪ 过夜实验不挂牌、不留联系方式</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离开前检查水电气门窗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做完实验，关水、断电、关气</a:t>
            </a:r>
          </a:p>
          <a:p>
            <a:pPr>
              <a:spcAft>
                <a:spcPts val="1000"/>
              </a:spcAft>
            </a:pPr>
            <a:r>
              <a:rPr sz="2000">
                <a:solidFill>
                  <a:srgbClr val="222B33"/>
                </a:solidFill>
                <a:latin typeface="Microsoft YaHei"/>
              </a:rPr>
              <a:t>▪ 水电气门窗逐项检查一遍</a:t>
            </a:r>
          </a:p>
          <a:p>
            <a:pPr>
              <a:spcAft>
                <a:spcPts val="1000"/>
              </a:spcAft>
            </a:pPr>
            <a:r>
              <a:rPr sz="2000">
                <a:solidFill>
                  <a:srgbClr val="222B33"/>
                </a:solidFill>
                <a:latin typeface="Microsoft YaHei"/>
              </a:rPr>
              <a:t>▪ 确认无误再锁门离开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结束或最后一个离开实验室时，要逐项检查：水龙头和冷却水是否关闭，不用的设备是否断电，气瓶总阀和燃气阀是否关闭，化学品是否归位，门窗是否关好，然后再锁门离开。很多实验室在门口设有离开前检查表，照表逐项确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最后离开的人没检查就锁门</a:t>
            </a:r>
          </a:p>
          <a:p>
            <a:pPr>
              <a:spcAft>
                <a:spcPts val="1000"/>
              </a:spcAft>
            </a:pPr>
            <a:r>
              <a:rPr sz="1500">
                <a:solidFill>
                  <a:srgbClr val="222B33"/>
                </a:solidFill>
                <a:latin typeface="Microsoft YaHei"/>
              </a:rPr>
              <a:t>▪ 只关灯，不关水和气</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下列做法符合实验室行为守则的是：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实验台上放水杯，口渴时喝一口</a:t>
            </a:r>
          </a:p>
          <a:p>
            <a:pPr algn="l"/>
            <a:r>
              <a:rPr sz="1500" b="0">
                <a:solidFill>
                  <a:srgbClr val="222B33"/>
                </a:solidFill>
                <a:latin typeface="Microsoft YaHei"/>
              </a:rPr>
              <a:t>B. 把午饭放进试剂冰箱</a:t>
            </a:r>
          </a:p>
          <a:p>
            <a:pPr algn="l"/>
            <a:r>
              <a:rPr sz="1500" b="0">
                <a:solidFill>
                  <a:srgbClr val="222B33"/>
                </a:solidFill>
                <a:latin typeface="Microsoft YaHei"/>
              </a:rPr>
              <a:t>C. 水杯零食放在门外，吃喝到休息区并先洗手</a:t>
            </a:r>
          </a:p>
          <a:p>
            <a:pPr algn="l"/>
            <a:r>
              <a:rPr sz="1500" b="0">
                <a:solidFill>
                  <a:srgbClr val="222B33"/>
                </a:solidFill>
                <a:latin typeface="Microsoft YaHei"/>
              </a:rPr>
              <a:t>D. 用实验室微波炉热饭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判断：只要自己足够小心，危险实验可以一个人在夜里做。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实验台上有一排没贴标签的瓶子，你不知道是谁的，应当：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直接洗掉</a:t>
            </a:r>
          </a:p>
          <a:p>
            <a:pPr algn="l"/>
            <a:r>
              <a:rPr sz="1500" b="0">
                <a:solidFill>
                  <a:srgbClr val="222B33"/>
                </a:solidFill>
                <a:latin typeface="Microsoft YaHei"/>
              </a:rPr>
              <a:t>B. 倒进水池</a:t>
            </a:r>
          </a:p>
          <a:p>
            <a:pPr algn="l"/>
            <a:r>
              <a:rPr sz="1500" b="0">
                <a:solidFill>
                  <a:srgbClr val="222B33"/>
                </a:solidFill>
                <a:latin typeface="Microsoft YaHei"/>
              </a:rPr>
              <a:t>C. 先问清楚是谁的，无人认领报告负责人</a:t>
            </a:r>
          </a:p>
          <a:p>
            <a:pPr algn="l"/>
            <a:r>
              <a:rPr sz="1500" b="0">
                <a:solidFill>
                  <a:srgbClr val="222B33"/>
                </a:solidFill>
                <a:latin typeface="Microsoft YaHei"/>
              </a:rPr>
              <a:t>D. 拿来自己用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一台培养箱需要过夜运行，正确的做法是：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开着就走，第二天再看</a:t>
            </a:r>
          </a:p>
          <a:p>
            <a:pPr algn="l"/>
            <a:r>
              <a:rPr sz="1500" b="0">
                <a:solidFill>
                  <a:srgbClr val="222B33"/>
                </a:solidFill>
                <a:latin typeface="Microsoft YaHei"/>
              </a:rPr>
              <a:t>B. 经负责人同意，挂牌写明实验内容、运行时间和联系电话</a:t>
            </a:r>
          </a:p>
          <a:p>
            <a:pPr algn="l"/>
            <a:r>
              <a:rPr sz="1500" b="0">
                <a:solidFill>
                  <a:srgbClr val="222B33"/>
                </a:solidFill>
                <a:latin typeface="Microsoft YaHei"/>
              </a:rPr>
              <a:t>C. 把门锁好就行</a:t>
            </a:r>
          </a:p>
          <a:p>
            <a:pPr algn="l"/>
            <a:r>
              <a:rPr sz="1500" b="0">
                <a:solidFill>
                  <a:srgbClr val="222B33"/>
                </a:solidFill>
                <a:latin typeface="Microsoft YaHei"/>
              </a:rPr>
              <a:t>D. 请保洁人员帮忙看着</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嫌仪器的安全联锁“太麻烦”，下列哪种做法正确？</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用胶带把联锁开关粘住</a:t>
            </a:r>
          </a:p>
          <a:p>
            <a:pPr algn="l"/>
            <a:r>
              <a:rPr sz="1500" b="0">
                <a:solidFill>
                  <a:srgbClr val="222B33"/>
                </a:solidFill>
                <a:latin typeface="Microsoft YaHei"/>
              </a:rPr>
              <a:t>B. 拆掉防护罩</a:t>
            </a:r>
          </a:p>
          <a:p>
            <a:pPr algn="l"/>
            <a:r>
              <a:rPr sz="1500" b="0">
                <a:solidFill>
                  <a:srgbClr val="222B33"/>
                </a:solidFill>
                <a:latin typeface="Microsoft YaHei"/>
              </a:rPr>
              <a:t>C. 报告负责人，确需改动由专业人员处理</a:t>
            </a:r>
          </a:p>
          <a:p>
            <a:pPr algn="l"/>
            <a:r>
              <a:rPr sz="1500" b="0">
                <a:solidFill>
                  <a:srgbClr val="222B33"/>
                </a:solidFill>
                <a:latin typeface="Microsoft YaHei"/>
              </a:rPr>
              <a:t>D. 自己改接线路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简答：有害物质进入人体的四条主要途径是什么？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尊重实验室，从自己的行为做起</a:t>
            </a:r>
          </a:p>
          <a:p>
            <a:pPr>
              <a:spcAft>
                <a:spcPts val="800"/>
              </a:spcAft>
            </a:pPr>
            <a:r>
              <a:rPr sz="1500">
                <a:solidFill>
                  <a:srgbClr val="FFFFFF"/>
                </a:solidFill>
                <a:latin typeface="Microsoft YaHei"/>
              </a:rPr>
              <a:t>▪ K2  听从实验室负责人</a:t>
            </a:r>
          </a:p>
          <a:p>
            <a:pPr>
              <a:spcAft>
                <a:spcPts val="800"/>
              </a:spcAft>
            </a:pPr>
            <a:r>
              <a:rPr sz="1500">
                <a:solidFill>
                  <a:srgbClr val="FFFFFF"/>
                </a:solidFill>
                <a:latin typeface="Microsoft YaHei"/>
              </a:rPr>
              <a:t>▪ K3  课前预习：看演示不能代替读讲义</a:t>
            </a:r>
          </a:p>
          <a:p>
            <a:pPr>
              <a:spcAft>
                <a:spcPts val="800"/>
              </a:spcAft>
            </a:pPr>
            <a:r>
              <a:rPr sz="1500">
                <a:solidFill>
                  <a:srgbClr val="FFFFFF"/>
                </a:solidFill>
                <a:latin typeface="Microsoft YaHei"/>
              </a:rPr>
              <a:t>▪ K4  按书面规程做，只做培训过的工作</a:t>
            </a:r>
          </a:p>
          <a:p>
            <a:pPr>
              <a:spcAft>
                <a:spcPts val="800"/>
              </a:spcAft>
            </a:pPr>
            <a:r>
              <a:rPr sz="1500">
                <a:solidFill>
                  <a:srgbClr val="FFFFFF"/>
                </a:solidFill>
                <a:latin typeface="Microsoft YaHei"/>
              </a:rPr>
              <a:t>▪ K5  拿不准就问，不擅改方案</a:t>
            </a:r>
          </a:p>
          <a:p>
            <a:pPr>
              <a:spcAft>
                <a:spcPts val="800"/>
              </a:spcAft>
            </a:pPr>
            <a:r>
              <a:rPr sz="1500">
                <a:solidFill>
                  <a:srgbClr val="FFFFFF"/>
                </a:solidFill>
                <a:latin typeface="Microsoft YaHei"/>
              </a:rPr>
              <a:t>▪ K6  守则堵住的是暴露途径</a:t>
            </a:r>
          </a:p>
          <a:p>
            <a:pPr>
              <a:spcAft>
                <a:spcPts val="800"/>
              </a:spcAft>
            </a:pPr>
            <a:r>
              <a:rPr sz="1500">
                <a:solidFill>
                  <a:srgbClr val="FFFFFF"/>
                </a:solidFill>
                <a:latin typeface="Microsoft YaHei"/>
              </a:rPr>
              <a:t>▪ K7  不吃、不喝、不吸烟、不化妆</a:t>
            </a:r>
          </a:p>
          <a:p>
            <a:pPr>
              <a:spcAft>
                <a:spcPts val="800"/>
              </a:spcAft>
            </a:pPr>
            <a:r>
              <a:rPr sz="1500">
                <a:solidFill>
                  <a:srgbClr val="FFFFFF"/>
                </a:solidFill>
                <a:latin typeface="Microsoft YaHei"/>
              </a:rPr>
              <a:t>▪ K8  实验冰箱和微波炉不碰食品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不用手碰，不闻不尝</a:t>
            </a:r>
          </a:p>
          <a:p>
            <a:pPr>
              <a:spcAft>
                <a:spcPts val="800"/>
              </a:spcAft>
            </a:pPr>
            <a:r>
              <a:rPr sz="1500">
                <a:solidFill>
                  <a:srgbClr val="FFFFFF"/>
                </a:solidFill>
                <a:latin typeface="Microsoft YaHei"/>
              </a:rPr>
              <a:t>▪ K10  专心操作，不嬉闹</a:t>
            </a:r>
          </a:p>
          <a:p>
            <a:pPr>
              <a:spcAft>
                <a:spcPts val="800"/>
              </a:spcAft>
            </a:pPr>
            <a:r>
              <a:rPr sz="1500">
                <a:solidFill>
                  <a:srgbClr val="FFFFFF"/>
                </a:solidFill>
                <a:latin typeface="Microsoft YaHei"/>
              </a:rPr>
              <a:t>▪ K11  别人的样品先问再动，公用器具用完归位</a:t>
            </a:r>
          </a:p>
          <a:p>
            <a:pPr>
              <a:spcAft>
                <a:spcPts val="800"/>
              </a:spcAft>
            </a:pPr>
            <a:r>
              <a:rPr sz="1500">
                <a:solidFill>
                  <a:srgbClr val="FFFFFF"/>
                </a:solidFill>
                <a:latin typeface="Microsoft YaHei"/>
              </a:rPr>
              <a:t>▪ S1  不私自改装仪器设备</a:t>
            </a:r>
          </a:p>
          <a:p>
            <a:pPr>
              <a:spcAft>
                <a:spcPts val="800"/>
              </a:spcAft>
            </a:pPr>
            <a:r>
              <a:rPr sz="1500">
                <a:solidFill>
                  <a:srgbClr val="FFFFFF"/>
                </a:solidFill>
                <a:latin typeface="Microsoft YaHei"/>
              </a:rPr>
              <a:t>▪ K12  危险实验不独自做</a:t>
            </a:r>
          </a:p>
          <a:p>
            <a:pPr>
              <a:spcAft>
                <a:spcPts val="800"/>
              </a:spcAft>
            </a:pPr>
            <a:r>
              <a:rPr sz="1500">
                <a:solidFill>
                  <a:srgbClr val="FFFFFF"/>
                </a:solidFill>
                <a:latin typeface="Microsoft YaHei"/>
              </a:rPr>
              <a:t>▪ K13  夜间节假日实验先报备，不疲劳作业</a:t>
            </a:r>
          </a:p>
          <a:p>
            <a:pPr>
              <a:spcAft>
                <a:spcPts val="800"/>
              </a:spcAft>
            </a:pPr>
            <a:r>
              <a:rPr sz="1500">
                <a:solidFill>
                  <a:srgbClr val="FFFFFF"/>
                </a:solidFill>
                <a:latin typeface="Microsoft YaHei"/>
              </a:rPr>
              <a:t>▪ K14  无人值守实验：经同意，挂牌留联系方式</a:t>
            </a:r>
          </a:p>
          <a:p>
            <a:pPr>
              <a:spcAft>
                <a:spcPts val="800"/>
              </a:spcAft>
            </a:pPr>
            <a:r>
              <a:rPr sz="1500">
                <a:solidFill>
                  <a:srgbClr val="FFFFFF"/>
                </a:solidFill>
                <a:latin typeface="Microsoft YaHei"/>
              </a:rPr>
              <a:t>▪ K15  离开前检查水电气门窗</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010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安全文化</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适用对象：全体进入高校实验室的师生（必修）；学院领导、实验室负责人、导师和实验室安全员重点学习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能说出安全文化的含义、“合规是底线、文化定高度”的道理和安全文化的五个阶段。</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能做到：对自己的安全负责，发现危险敢于叫停，友善提醒同伴、虚心接受提醒，有疑问就问。</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能说出负责人在示范、安全语言、走到现场和事故后处理中的做法。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能组织或参与实验前五分钟安全提醒、组会安全分享和安全月等宣传活动。</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《中华人民共和国安全生产法》（以现行文本为准）：全员安全生产责任制；从业人员有权拒绝违章指挥和强令冒险作业，发现直接危及人身安全的紧急情况有权停止作业或撤离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号，以现行文本为准）：安全宣传教育与安全文化建设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《教育部关于加强高校实验室安全工作的意见》（教技函〔2019〕36 号，以现行文本为准）：营造实验室安全文化</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教育部高校实验室安全检查项目表（以现行文本为准）：安全教育与宣传活动类检查项</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要求及使用指南》：领导作用和工作人员的协商与参与</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全国“安全生产月”、消防宣传日、防灾减灾日等宣传活动（以当年官方通知为准）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本校实验室安全文化建设与安全教育活动安排（以本校规定为准）</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安全文化：不假思索的共同习惯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安全文化是一群人共同的习惯</a:t>
            </a:r>
          </a:p>
          <a:p>
            <a:pPr>
              <a:spcAft>
                <a:spcPts val="1000"/>
              </a:spcAft>
            </a:pPr>
            <a:r>
              <a:rPr sz="2000">
                <a:solidFill>
                  <a:srgbClr val="222B33"/>
                </a:solidFill>
                <a:latin typeface="Microsoft YaHei"/>
              </a:rPr>
              <a:t>▪ 由行为、信念、价值和符号组成</a:t>
            </a:r>
          </a:p>
          <a:p>
            <a:pPr>
              <a:spcAft>
                <a:spcPts val="1000"/>
              </a:spcAft>
            </a:pPr>
            <a:r>
              <a:rPr sz="2000">
                <a:solidFill>
                  <a:srgbClr val="222B33"/>
                </a:solidFill>
                <a:latin typeface="Microsoft YaHei"/>
              </a:rPr>
              <a:t>▪ 好习惯做到不用想</a:t>
            </a:r>
          </a:p>
          <a:p>
            <a:pPr>
              <a:spcAft>
                <a:spcPts val="1000"/>
              </a:spcAft>
            </a:pPr>
            <a:r>
              <a:rPr sz="2000">
                <a:solidFill>
                  <a:srgbClr val="222B33"/>
                </a:solidFill>
                <a:latin typeface="Microsoft YaHei"/>
              </a:rPr>
              <a:t>▪ 不是一夜养成，要人人亲自参与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安全文化是一个集体共同拥有的行为方式、信念、价值观和标志符号。在安全文化好的实验室里，进门戴护目镜、用完清理台面、发现问题马上说，已经成为大家不假思索的习惯，而不是需要别人提醒的规定。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认为安全文化就是贴标语、喊口号</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没人看着时，你怎么做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手册写得再好，也可能只在架上</a:t>
            </a:r>
          </a:p>
          <a:p>
            <a:pPr>
              <a:spcAft>
                <a:spcPts val="1000"/>
              </a:spcAft>
            </a:pPr>
            <a:r>
              <a:rPr sz="2000">
                <a:solidFill>
                  <a:srgbClr val="222B33"/>
                </a:solidFill>
                <a:latin typeface="Microsoft YaHei"/>
              </a:rPr>
              <a:t>▪ 没人看着时怎么做，由文化决定</a:t>
            </a:r>
          </a:p>
          <a:p>
            <a:pPr>
              <a:spcAft>
                <a:spcPts val="1000"/>
              </a:spcAft>
            </a:pPr>
            <a:r>
              <a:rPr sz="2000">
                <a:solidFill>
                  <a:srgbClr val="222B33"/>
                </a:solidFill>
                <a:latin typeface="Microsoft YaHei"/>
              </a:rPr>
              <a:t>▪ 安全不在文件夹里，在实验台上</a:t>
            </a:r>
          </a:p>
          <a:p>
            <a:pPr>
              <a:spcAft>
                <a:spcPts val="1000"/>
              </a:spcAft>
            </a:pPr>
            <a:r>
              <a:rPr sz="2000">
                <a:solidFill>
                  <a:srgbClr val="222B33"/>
                </a:solidFill>
                <a:latin typeface="Microsoft YaHei"/>
              </a:rPr>
              <a:t>▪ 只靠检查撑着，一松就垮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检查那天一切都好，不代表真正安全。周五深夜、节假日、一个人又累又赶的时候，是否还戴好防护、按规程操作，才真正反映一个实验室的安全水平。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迎检时整理一番，平时照旧</a:t>
            </a:r>
          </a:p>
          <a:p>
            <a:pPr>
              <a:spcAft>
                <a:spcPts val="1000"/>
              </a:spcAft>
            </a:pPr>
            <a:r>
              <a:rPr sz="1500">
                <a:solidFill>
                  <a:srgbClr val="222B33"/>
                </a:solidFill>
                <a:latin typeface="Microsoft YaHei"/>
              </a:rPr>
              <a:t>▪ 没人在时省略防护和步骤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合规是底线，文化定高度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合规是底线，告诉你最低要求</a:t>
            </a:r>
          </a:p>
          <a:p>
            <a:pPr>
              <a:spcAft>
                <a:spcPts val="1000"/>
              </a:spcAft>
            </a:pPr>
            <a:r>
              <a:rPr sz="2000">
                <a:solidFill>
                  <a:srgbClr val="222B33"/>
                </a:solidFill>
                <a:latin typeface="Microsoft YaHei"/>
              </a:rPr>
              <a:t>▪ 设备一流，人还是会为赶快跳步骤</a:t>
            </a:r>
          </a:p>
          <a:p>
            <a:pPr>
              <a:spcAft>
                <a:spcPts val="1000"/>
              </a:spcAft>
            </a:pPr>
            <a:r>
              <a:rPr sz="2000">
                <a:solidFill>
                  <a:srgbClr val="222B33"/>
                </a:solidFill>
                <a:latin typeface="Microsoft YaHei"/>
              </a:rPr>
              <a:t>▪ 要让稳妥比快更受认可</a:t>
            </a:r>
          </a:p>
          <a:p>
            <a:pPr>
              <a:spcAft>
                <a:spcPts val="1000"/>
              </a:spcAft>
            </a:pPr>
            <a:r>
              <a:rPr sz="2000">
                <a:solidFill>
                  <a:srgbClr val="222B33"/>
                </a:solidFill>
                <a:latin typeface="Microsoft YaHei"/>
              </a:rPr>
              <a:t>▪ 是打勾应付，还是建设文化</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遵守法律法规和学校制度（合规）是必须做到的底线，但它只告诉你最低要求。即使设备一流、制度齐全，人仍然会为了赶进度跳过步骤——因为环境在暗中奖励“快”，而不是“稳”。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认为检查合格就万事大吉</a:t>
            </a:r>
          </a:p>
          <a:p>
            <a:pPr>
              <a:spcAft>
                <a:spcPts val="1000"/>
              </a:spcAft>
            </a:pPr>
            <a:r>
              <a:rPr sz="1500">
                <a:solidFill>
                  <a:srgbClr val="222B33"/>
                </a:solidFill>
                <a:latin typeface="Microsoft YaHei"/>
              </a:rPr>
              <a:t>▪ 表扬“又快又多”，忽视是否按规程</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安全文化的五个阶段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最低一级：不被发现就行，掩盖问题</a:t>
            </a:r>
          </a:p>
          <a:p>
            <a:pPr>
              <a:spcAft>
                <a:spcPts val="1000"/>
              </a:spcAft>
            </a:pPr>
            <a:r>
              <a:rPr sz="1700">
                <a:solidFill>
                  <a:srgbClr val="222B33"/>
                </a:solidFill>
                <a:latin typeface="Microsoft YaHei"/>
              </a:rPr>
              <a:t>▪ 第二级：出了事才去整改</a:t>
            </a:r>
          </a:p>
          <a:p>
            <a:pPr>
              <a:spcAft>
                <a:spcPts val="1000"/>
              </a:spcAft>
            </a:pPr>
            <a:r>
              <a:rPr sz="1700">
                <a:solidFill>
                  <a:srgbClr val="222B33"/>
                </a:solidFill>
                <a:latin typeface="Microsoft YaHei"/>
              </a:rPr>
              <a:t>▪ 第三级：靠检查和制度推着走</a:t>
            </a:r>
          </a:p>
          <a:p>
            <a:pPr>
              <a:spcAft>
                <a:spcPts val="1000"/>
              </a:spcAft>
            </a:pPr>
            <a:r>
              <a:rPr sz="1700">
                <a:solidFill>
                  <a:srgbClr val="222B33"/>
                </a:solidFill>
                <a:latin typeface="Microsoft YaHei"/>
              </a:rPr>
              <a:t>▪ 第四、五级：主动预判，安全融入每个决定</a:t>
            </a:r>
          </a:p>
          <a:p>
            <a:pPr>
              <a:spcAft>
                <a:spcPts val="1000"/>
              </a:spcAft>
            </a:pPr>
            <a:r>
              <a:rPr sz="1700">
                <a:solidFill>
                  <a:srgbClr val="222B33"/>
                </a:solidFill>
                <a:latin typeface="Microsoft YaHei"/>
              </a:rPr>
              <a:t>▪ 提升一级要好几年，贵在坚持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一种划分把安全文化分为五个阶段：第一级，只要不被发现就行，掩盖问题；第二级，出了事故才去整改；第三级，依靠检查和制度推动；第四级，主动预判危险、提前防范；第五级，安全融入每一个决定，成为大家的自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发现问题先想着瞒，而不是报告和整改</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人人有责：安全是大家的事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安全不是一个人的事，是大家的事</a:t>
            </a:r>
          </a:p>
          <a:p>
            <a:pPr>
              <a:spcAft>
                <a:spcPts val="1000"/>
              </a:spcAft>
            </a:pPr>
            <a:r>
              <a:rPr sz="2000">
                <a:solidFill>
                  <a:srgbClr val="222B33"/>
                </a:solidFill>
                <a:latin typeface="Microsoft YaHei"/>
              </a:rPr>
              <a:t>▪ 风险大小取决于你和身边的人</a:t>
            </a:r>
          </a:p>
          <a:p>
            <a:pPr>
              <a:spcAft>
                <a:spcPts val="1000"/>
              </a:spcAft>
            </a:pPr>
            <a:r>
              <a:rPr sz="2000">
                <a:solidFill>
                  <a:srgbClr val="222B33"/>
                </a:solidFill>
                <a:latin typeface="Microsoft YaHei"/>
              </a:rPr>
              <a:t>▪ 护好自己，也护好同伴、公众和环境</a:t>
            </a:r>
          </a:p>
          <a:p>
            <a:pPr>
              <a:spcAft>
                <a:spcPts val="1000"/>
              </a:spcAft>
            </a:pPr>
            <a:r>
              <a:rPr sz="2000">
                <a:solidFill>
                  <a:srgbClr val="222B33"/>
                </a:solidFill>
                <a:latin typeface="Microsoft YaHei"/>
              </a:rPr>
              <a:t>▪ 有规程、有培训，人人讲安全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实验室本身就有危险，风险有多大，取决于你和身边每个人的行为。安全是双向的：学校和实验室要提供安全条件、规程和培训，每个人也要了解规则、遵守规则、发现隐患。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认为安全是安全员和老师的事</a:t>
            </a:r>
          </a:p>
          <a:p>
            <a:pPr>
              <a:spcAft>
                <a:spcPts val="1000"/>
              </a:spcAft>
            </a:pPr>
            <a:r>
              <a:rPr sz="1500">
                <a:solidFill>
                  <a:srgbClr val="222B33"/>
                </a:solidFill>
                <a:latin typeface="Microsoft YaHei"/>
              </a:rPr>
              <a:t>▪ 只管自己，不在意给别人留下的隐患</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知识、技能，更要态度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安全需要知识、技能，更需要态度</a:t>
            </a:r>
          </a:p>
          <a:p>
            <a:pPr>
              <a:spcAft>
                <a:spcPts val="1000"/>
              </a:spcAft>
            </a:pPr>
            <a:r>
              <a:rPr sz="2000">
                <a:solidFill>
                  <a:srgbClr val="222B33"/>
                </a:solidFill>
                <a:latin typeface="Microsoft YaHei"/>
              </a:rPr>
              <a:t>▪ 装备再全，一分心也会出事</a:t>
            </a:r>
          </a:p>
          <a:p>
            <a:pPr>
              <a:spcAft>
                <a:spcPts val="1000"/>
              </a:spcAft>
            </a:pPr>
            <a:r>
              <a:rPr sz="2000">
                <a:solidFill>
                  <a:srgbClr val="222B33"/>
                </a:solidFill>
                <a:latin typeface="Microsoft YaHei"/>
              </a:rPr>
              <a:t>▪ 重视安全，不冒险，主动承担责任</a:t>
            </a:r>
          </a:p>
          <a:p>
            <a:pPr>
              <a:spcAft>
                <a:spcPts val="1000"/>
              </a:spcAft>
            </a:pPr>
            <a:r>
              <a:rPr sz="2000">
                <a:solidFill>
                  <a:srgbClr val="222B33"/>
                </a:solidFill>
                <a:latin typeface="Microsoft YaHei"/>
              </a:rPr>
              <a:t>▪ 好的科学从安全开始；守规就能减少事故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化学品和设备的人，需要三样东西：知识（知道有什么危险）、技能（会正确操作）、态度（愿意把安全放在首位）。其中态度最关键：防护装备再齐全，一分心、一侥幸也会出事。实验室有危险但不必害怕，要专心致志、心存敬畏，开工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认为安全会耽误科研进度</a:t>
            </a:r>
          </a:p>
          <a:p>
            <a:pPr>
              <a:spcAft>
                <a:spcPts val="1000"/>
              </a:spcAft>
            </a:pPr>
            <a:r>
              <a:rPr sz="1500">
                <a:solidFill>
                  <a:srgbClr val="222B33"/>
                </a:solidFill>
                <a:latin typeface="Microsoft YaHei"/>
              </a:rPr>
              <a:t>▪ 抱着“这次应该没事”的侥幸心理</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最终责任在自己，改变从我做起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课程和手册只是信息，用起来靠自己</a:t>
            </a:r>
          </a:p>
          <a:p>
            <a:pPr>
              <a:spcAft>
                <a:spcPts val="1000"/>
              </a:spcAft>
            </a:pPr>
            <a:r>
              <a:rPr sz="2000">
                <a:solidFill>
                  <a:srgbClr val="222B33"/>
                </a:solidFill>
                <a:latin typeface="Microsoft YaHei"/>
              </a:rPr>
              <a:t>▪ 对你安全负最大责任的，是你自己</a:t>
            </a:r>
          </a:p>
          <a:p>
            <a:pPr>
              <a:spcAft>
                <a:spcPts val="1000"/>
              </a:spcAft>
            </a:pPr>
            <a:r>
              <a:rPr sz="2000">
                <a:solidFill>
                  <a:srgbClr val="222B33"/>
                </a:solidFill>
                <a:latin typeface="Microsoft YaHei"/>
              </a:rPr>
              <a:t>▪ 改变先从自己做起，不等别人先动</a:t>
            </a:r>
          </a:p>
          <a:p>
            <a:pPr>
              <a:spcAft>
                <a:spcPts val="1000"/>
              </a:spcAft>
            </a:pPr>
            <a:r>
              <a:rPr sz="2000">
                <a:solidFill>
                  <a:srgbClr val="222B33"/>
                </a:solidFill>
                <a:latin typeface="Microsoft YaHei"/>
              </a:rPr>
              <a:t>▪ 安全不是一次任务，要天天坚持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培训课程、安全手册提供的只是信息，能不能把知识用到每一次操作中，要靠自己。认真读规程、每一步照着做、积极学习新方法但不自作主张、用完按要求清理，对自己的安全负起首要责任。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把安全全部寄托在老师和制度上</a:t>
            </a:r>
          </a:p>
          <a:p>
            <a:pPr>
              <a:spcAft>
                <a:spcPts val="1000"/>
              </a:spcAft>
            </a:pPr>
            <a:r>
              <a:rPr sz="1500">
                <a:solidFill>
                  <a:srgbClr val="222B33"/>
                </a:solidFill>
                <a:latin typeface="Microsoft YaHei"/>
              </a:rPr>
              <a:t>▪ 觉得“大家都不戴，我戴显得另类”</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专业、审慎、时刻警觉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安全文化差，常因为不专业</a:t>
            </a:r>
          </a:p>
          <a:p>
            <a:pPr>
              <a:spcAft>
                <a:spcPts val="1000"/>
              </a:spcAft>
            </a:pPr>
            <a:r>
              <a:rPr sz="2000">
                <a:solidFill>
                  <a:srgbClr val="222B33"/>
                </a:solidFill>
                <a:latin typeface="Microsoft YaHei"/>
              </a:rPr>
              <a:t>▪ 人人负责，凡事审慎</a:t>
            </a:r>
          </a:p>
          <a:p>
            <a:pPr>
              <a:spcAft>
                <a:spcPts val="1000"/>
              </a:spcAft>
            </a:pPr>
            <a:r>
              <a:rPr sz="2000">
                <a:solidFill>
                  <a:srgbClr val="222B33"/>
                </a:solidFill>
                <a:latin typeface="Microsoft YaHei"/>
              </a:rPr>
              <a:t>▪ 采购到处置全流程，靠素养、条理和沟通</a:t>
            </a:r>
          </a:p>
          <a:p>
            <a:pPr>
              <a:spcAft>
                <a:spcPts val="1000"/>
              </a:spcAft>
            </a:pPr>
            <a:r>
              <a:rPr sz="2000">
                <a:solidFill>
                  <a:srgbClr val="222B33"/>
                </a:solidFill>
                <a:latin typeface="Microsoft YaHei"/>
              </a:rPr>
              <a:t>▪ 时刻警觉，周围情况心中有数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安全文化差的实验室，常见的问题是不专业：台面杂乱、标签不清、随意操作、信息不沟通。从采购、使用到处置、消毒，每个环节都要靠专业素养、做事有条理和充分沟通。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台面杂乱、试剂不贴标签</a:t>
            </a:r>
          </a:p>
          <a:p>
            <a:pPr>
              <a:spcAft>
                <a:spcPts val="1000"/>
              </a:spcAft>
            </a:pPr>
            <a:r>
              <a:rPr sz="1500">
                <a:solidFill>
                  <a:srgbClr val="222B33"/>
                </a:solidFill>
                <a:latin typeface="Microsoft YaHei"/>
              </a:rPr>
              <a:t>▪ 只顾埋头做自己的，对周围情况一无所知</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说到做到，投入什么就是重视什么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要求别人做的，自己先做到</a:t>
            </a:r>
          </a:p>
          <a:p>
            <a:pPr>
              <a:spcAft>
                <a:spcPts val="1000"/>
              </a:spcAft>
            </a:pPr>
            <a:r>
              <a:rPr sz="2000">
                <a:solidFill>
                  <a:srgbClr val="222B33"/>
                </a:solidFill>
                <a:latin typeface="Microsoft YaHei"/>
              </a:rPr>
              <a:t>▪ 嘴上一套手上一套，没人信</a:t>
            </a:r>
          </a:p>
          <a:p>
            <a:pPr>
              <a:spcAft>
                <a:spcPts val="1000"/>
              </a:spcAft>
            </a:pPr>
            <a:r>
              <a:rPr sz="2000">
                <a:solidFill>
                  <a:srgbClr val="222B33"/>
                </a:solidFill>
                <a:latin typeface="Microsoft YaHei"/>
              </a:rPr>
              <a:t>▪ 老人怎么做，新人就跟着学</a:t>
            </a:r>
          </a:p>
          <a:p>
            <a:pPr>
              <a:spcAft>
                <a:spcPts val="1000"/>
              </a:spcAft>
            </a:pPr>
            <a:r>
              <a:rPr sz="2000">
                <a:solidFill>
                  <a:srgbClr val="222B33"/>
                </a:solidFill>
                <a:latin typeface="Microsoft YaHei"/>
              </a:rPr>
              <a:t>▪ 看得见的投入，比空讲更有说服力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安全文化主要靠沟通和模仿传承：新人看老人怎么做，就跟着怎么做。因此负责人、导师和高年级同学要以身作则——要求学生戴护目镜，自己进实验室也要戴；嘴上一套、手上一套，规定就没人信。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导师要求学生防护，自己却不戴</a:t>
            </a:r>
          </a:p>
          <a:p>
            <a:pPr>
              <a:spcAft>
                <a:spcPts val="1000"/>
              </a:spcAft>
            </a:pPr>
            <a:r>
              <a:rPr sz="1500">
                <a:solidFill>
                  <a:srgbClr val="222B33"/>
                </a:solidFill>
                <a:latin typeface="Microsoft YaHei"/>
              </a:rPr>
              <a:t>▪ 安全经费总是“以后再说”</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负责人的安全语言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负责人关注什么，大家就重视什么</a:t>
            </a:r>
          </a:p>
          <a:p>
            <a:pPr>
              <a:spcAft>
                <a:spcPts val="1000"/>
              </a:spcAft>
            </a:pPr>
            <a:r>
              <a:rPr sz="2000">
                <a:solidFill>
                  <a:srgbClr val="222B33"/>
                </a:solidFill>
                <a:latin typeface="Microsoft YaHei"/>
              </a:rPr>
              <a:t>▪ 多说“我们”和系统，少说某人失误</a:t>
            </a:r>
          </a:p>
          <a:p>
            <a:pPr>
              <a:spcAft>
                <a:spcPts val="1000"/>
              </a:spcAft>
            </a:pPr>
            <a:r>
              <a:rPr sz="2000">
                <a:solidFill>
                  <a:srgbClr val="222B33"/>
                </a:solidFill>
                <a:latin typeface="Microsoft YaHei"/>
              </a:rPr>
              <a:t>▪ 险情是学习的机会；有人喊停要表扬</a:t>
            </a:r>
          </a:p>
          <a:p>
            <a:pPr>
              <a:spcAft>
                <a:spcPts val="1000"/>
              </a:spcAft>
            </a:pPr>
            <a:r>
              <a:rPr sz="2000">
                <a:solidFill>
                  <a:srgbClr val="222B33"/>
                </a:solidFill>
                <a:latin typeface="Microsoft YaHei"/>
              </a:rPr>
              <a:t>▪ 别说“赶紧弄完”，那会催出捷径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责人的言语会传递真实的优先级。讲安全时多说“我们”，少说“你”；分析问题时多看系统原因（流程、设备、安排），少归咎于个人失误；把险情看作大家学到东西的机会，而不是追责的由头；有人因安全原因喊停，要公开表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出了险情先批评当事人</a:t>
            </a:r>
          </a:p>
          <a:p>
            <a:pPr>
              <a:spcAft>
                <a:spcPts val="1000"/>
              </a:spcAft>
            </a:pPr>
            <a:r>
              <a:rPr sz="1500">
                <a:solidFill>
                  <a:srgbClr val="222B33"/>
                </a:solidFill>
                <a:latin typeface="Microsoft YaHei"/>
              </a:rPr>
              <a:t>▪ 催进度时忽略安全条件</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走到现场，多看多听</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负责人走到现场，比开会更管用</a:t>
            </a:r>
          </a:p>
          <a:p>
            <a:pPr>
              <a:spcAft>
                <a:spcPts val="1000"/>
              </a:spcAft>
            </a:pPr>
            <a:r>
              <a:rPr sz="2000">
                <a:solidFill>
                  <a:srgbClr val="222B33"/>
                </a:solidFill>
                <a:latin typeface="Microsoft YaHei"/>
              </a:rPr>
              <a:t>▪ 多问开放问题，多看，多听</a:t>
            </a:r>
          </a:p>
          <a:p>
            <a:pPr>
              <a:spcAft>
                <a:spcPts val="1000"/>
              </a:spcAft>
            </a:pPr>
            <a:r>
              <a:rPr sz="2000">
                <a:solidFill>
                  <a:srgbClr val="222B33"/>
                </a:solidFill>
                <a:latin typeface="Microsoft YaHei"/>
              </a:rPr>
              <a:t>▪ 鼓励报告，险情报告多了事故往往少了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学院领导、实验室负责人和导师定期走进实验室，比在会议室里强调更管用。到现场多看操作，多问开放性问题（如“这一步你觉得哪里最容易出问题？”），多听一线师生的意见，能发现文件里看不到的隐患。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负责人只开会、发文件，从不进实验室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出了事，负责人怎么做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负责人要尽快到场</a:t>
            </a:r>
          </a:p>
          <a:p>
            <a:pPr>
              <a:spcAft>
                <a:spcPts val="1000"/>
              </a:spcAft>
            </a:pPr>
            <a:r>
              <a:rPr sz="2000">
                <a:solidFill>
                  <a:srgbClr val="222B33"/>
                </a:solidFill>
                <a:latin typeface="Microsoft YaHei"/>
              </a:rPr>
              <a:t>▪ 先关心受影响的人</a:t>
            </a:r>
          </a:p>
          <a:p>
            <a:pPr>
              <a:spcAft>
                <a:spcPts val="1000"/>
              </a:spcAft>
            </a:pPr>
            <a:r>
              <a:rPr sz="2000">
                <a:solidFill>
                  <a:srgbClr val="222B33"/>
                </a:solidFill>
                <a:latin typeface="Microsoft YaHei"/>
              </a:rPr>
              <a:t>▪ 如实通报，找原因，不找替罪羊</a:t>
            </a:r>
          </a:p>
          <a:p>
            <a:pPr>
              <a:spcAft>
                <a:spcPts val="1000"/>
              </a:spcAft>
            </a:pPr>
            <a:r>
              <a:rPr sz="2000">
                <a:solidFill>
                  <a:srgbClr val="222B33"/>
                </a:solidFill>
                <a:latin typeface="Microsoft YaHei"/>
              </a:rPr>
              <a:t>▪ 推卸躲闪，文化就会垮掉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事故或险情后，负责人的做法最能检验安全文化：尽快赶到现场，组织处置并按规定报告（实验室负责人→学院→保卫处/实验室管理处）；首先关心受伤和受影响的人；如实通报情况，调查原因，着眼改进系统，而不是找一个替罪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出事后隐瞒不报</a:t>
            </a:r>
          </a:p>
          <a:p>
            <a:pPr>
              <a:spcAft>
                <a:spcPts val="1000"/>
              </a:spcAft>
            </a:pPr>
            <a:r>
              <a:rPr sz="1500">
                <a:solidFill>
                  <a:srgbClr val="222B33"/>
                </a:solidFill>
                <a:latin typeface="Microsoft YaHei"/>
              </a:rPr>
              <a:t>▪ 只处分当事人，不查系统原因</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发现危险，敢于叫停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发现危险或违规，人人都可以喊停</a:t>
            </a:r>
          </a:p>
          <a:p>
            <a:pPr>
              <a:spcAft>
                <a:spcPts val="1000"/>
              </a:spcAft>
            </a:pPr>
            <a:r>
              <a:rPr sz="2000">
                <a:solidFill>
                  <a:srgbClr val="222B33"/>
                </a:solidFill>
                <a:latin typeface="Microsoft YaHei"/>
              </a:rPr>
              <a:t>▪ 停下来、撤离，再报告负责人</a:t>
            </a:r>
          </a:p>
          <a:p>
            <a:pPr>
              <a:spcAft>
                <a:spcPts val="1000"/>
              </a:spcAft>
            </a:pPr>
            <a:r>
              <a:rPr sz="2000">
                <a:solidFill>
                  <a:srgbClr val="222B33"/>
                </a:solidFill>
                <a:latin typeface="Microsoft YaHei"/>
              </a:rPr>
              <a:t>▪ 违章指挥、强令冒险，可以拒绝</a:t>
            </a:r>
          </a:p>
          <a:p>
            <a:pPr>
              <a:spcAft>
                <a:spcPts val="1000"/>
              </a:spcAft>
            </a:pPr>
            <a:r>
              <a:rPr sz="2000">
                <a:solidFill>
                  <a:srgbClr val="222B33"/>
                </a:solidFill>
                <a:latin typeface="Microsoft YaHei"/>
              </a:rPr>
              <a:t>▪ 报告安全问题不会受责怪；敢叫停的人值得肯定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叫停不是安全员的专利。任何人发现违规操作、设备异常或直接危及人身安全的情况，都可以喊停：先停止操作，必要时撤离到安全地点，再报告实验室负责人。停下来问清楚，比硬着头皮做更安全。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看到危险不好意思开口</a:t>
            </a:r>
          </a:p>
          <a:p>
            <a:pPr>
              <a:spcAft>
                <a:spcPts val="1000"/>
              </a:spcAft>
            </a:pPr>
            <a:r>
              <a:rPr sz="1500">
                <a:solidFill>
                  <a:srgbClr val="222B33"/>
                </a:solidFill>
                <a:latin typeface="Microsoft YaHei"/>
              </a:rPr>
              <a:t>▪ 被要求冒险操作时不敢拒绝</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同伴友善提醒，虚心接受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看到问题，先友善地当面提醒</a:t>
            </a:r>
          </a:p>
          <a:p>
            <a:pPr>
              <a:spcAft>
                <a:spcPts val="1000"/>
              </a:spcAft>
            </a:pPr>
            <a:r>
              <a:rPr sz="2000">
                <a:solidFill>
                  <a:srgbClr val="222B33"/>
                </a:solidFill>
                <a:latin typeface="Microsoft YaHei"/>
              </a:rPr>
              <a:t>▪ 被提醒时说谢谢，马上纠正</a:t>
            </a:r>
          </a:p>
          <a:p>
            <a:pPr>
              <a:spcAft>
                <a:spcPts val="1000"/>
              </a:spcAft>
            </a:pPr>
            <a:r>
              <a:rPr sz="2000">
                <a:solidFill>
                  <a:srgbClr val="222B33"/>
                </a:solidFill>
                <a:latin typeface="Microsoft YaHei"/>
              </a:rPr>
              <a:t>▪ 提醒的是问题，不是针对人</a:t>
            </a:r>
          </a:p>
          <a:p>
            <a:pPr>
              <a:spcAft>
                <a:spcPts val="1000"/>
              </a:spcAft>
            </a:pPr>
            <a:r>
              <a:rPr sz="2000">
                <a:solidFill>
                  <a:srgbClr val="222B33"/>
                </a:solidFill>
                <a:latin typeface="Microsoft YaHei"/>
              </a:rPr>
              <a:t>▪ 反复出现的问题，向安全员反映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时刻留意自己在做什么，也看看别人。看到同伴有不安全的行为（如穿着实验服走出实验室、戴着手套摸门把手），先友善地当面提醒，发现问题立即处理。提醒时对事不对人，语气友好。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看到同学违规，碍于面子不说</a:t>
            </a:r>
          </a:p>
          <a:p>
            <a:pPr>
              <a:spcAft>
                <a:spcPts val="1000"/>
              </a:spcAft>
            </a:pPr>
            <a:r>
              <a:rPr sz="1500">
                <a:solidFill>
                  <a:srgbClr val="222B33"/>
                </a:solidFill>
                <a:latin typeface="Microsoft YaHei"/>
              </a:rPr>
              <a:t>▪ 被提醒后不服气、争辩</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有疑问就问，有建议就提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哪一步没把握，先停下来问</a:t>
            </a:r>
          </a:p>
          <a:p>
            <a:pPr>
              <a:spcAft>
                <a:spcPts val="1000"/>
              </a:spcAft>
            </a:pPr>
            <a:r>
              <a:rPr sz="2000">
                <a:solidFill>
                  <a:srgbClr val="222B33"/>
                </a:solidFill>
                <a:latin typeface="Microsoft YaHei"/>
              </a:rPr>
              <a:t>▪ 不懂别硬做，问清楚再动手</a:t>
            </a:r>
          </a:p>
          <a:p>
            <a:pPr>
              <a:spcAft>
                <a:spcPts val="1000"/>
              </a:spcAft>
            </a:pPr>
            <a:r>
              <a:rPr sz="2000">
                <a:solidFill>
                  <a:srgbClr val="222B33"/>
                </a:solidFill>
                <a:latin typeface="Microsoft YaHei"/>
              </a:rPr>
              <a:t>▪ 规程哪里不好用，学生也能提建议</a:t>
            </a:r>
          </a:p>
          <a:p>
            <a:pPr>
              <a:spcAft>
                <a:spcPts val="1000"/>
              </a:spcAft>
            </a:pPr>
            <a:r>
              <a:rPr sz="2000">
                <a:solidFill>
                  <a:srgbClr val="222B33"/>
                </a:solidFill>
                <a:latin typeface="Microsoft YaHei"/>
              </a:rPr>
              <a:t>▪ 好建议采纳了，规程就更新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遇到没弄懂、没把握的步骤，先停下来问老师或实验室负责人，问清楚再动手，不要硬做。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怕被笑话，不懂也不问</a:t>
            </a:r>
          </a:p>
          <a:p>
            <a:pPr>
              <a:spcAft>
                <a:spcPts val="1000"/>
              </a:spcAft>
            </a:pPr>
            <a:r>
              <a:rPr sz="1500">
                <a:solidFill>
                  <a:srgbClr val="222B33"/>
                </a:solidFill>
                <a:latin typeface="Microsoft YaHei"/>
              </a:rPr>
              <a:t>▪ 觉得规程不合理，就自行其是而不提建议</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实验前五分钟，组会讲安全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工地有班前会，实验室也可以有</a:t>
            </a:r>
          </a:p>
          <a:p>
            <a:pPr>
              <a:spcAft>
                <a:spcPts val="1000"/>
              </a:spcAft>
            </a:pPr>
            <a:r>
              <a:rPr sz="2000">
                <a:solidFill>
                  <a:srgbClr val="222B33"/>
                </a:solidFill>
                <a:latin typeface="Microsoft YaHei"/>
              </a:rPr>
              <a:t>▪ 讲清做什么、危险在哪、出事怎么办</a:t>
            </a:r>
          </a:p>
          <a:p>
            <a:pPr>
              <a:spcAft>
                <a:spcPts val="1000"/>
              </a:spcAft>
            </a:pPr>
            <a:r>
              <a:rPr sz="2000">
                <a:solidFill>
                  <a:srgbClr val="222B33"/>
                </a:solidFill>
                <a:latin typeface="Microsoft YaHei"/>
              </a:rPr>
              <a:t>▪ 每次开工前都讲，有疑问当场问</a:t>
            </a:r>
          </a:p>
          <a:p>
            <a:pPr>
              <a:spcAft>
                <a:spcPts val="1000"/>
              </a:spcAft>
            </a:pPr>
            <a:r>
              <a:rPr sz="2000">
                <a:solidFill>
                  <a:srgbClr val="222B33"/>
                </a:solidFill>
                <a:latin typeface="Microsoft YaHei"/>
              </a:rPr>
              <a:t>▪ 组会开头讲五分钟安全，分享教训，好经验写进规程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厂和工地每个班次开工前都开班前会，实验室也可以借鉴：每次开始实验前用五分钟，参与者一起说清今天做什么、危险在哪里、出了事怎么办，有疑问当场提出。它不同于新人入职培训，而是每次开工前的例行提醒，形式轻松，贵在坚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认为班前提醒只是走过场</a:t>
            </a:r>
          </a:p>
          <a:p>
            <a:pPr>
              <a:spcAft>
                <a:spcPts val="1000"/>
              </a:spcAft>
            </a:pPr>
            <a:r>
              <a:rPr sz="1500">
                <a:solidFill>
                  <a:srgbClr val="222B33"/>
                </a:solidFill>
                <a:latin typeface="Microsoft YaHei"/>
              </a:rPr>
              <a:t>▪ 出了险情悄悄处理，不在组内分享</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安全日、安全月和宣传活动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我国有一串安全宣传节点</a:t>
            </a:r>
          </a:p>
          <a:p>
            <a:pPr>
              <a:spcAft>
                <a:spcPts val="1000"/>
              </a:spcAft>
            </a:pPr>
            <a:r>
              <a:rPr sz="2000">
                <a:solidFill>
                  <a:srgbClr val="222B33"/>
                </a:solidFill>
                <a:latin typeface="Microsoft YaHei"/>
              </a:rPr>
              <a:t>▪ 六月安全生产月，11 月 9 日消防宣传日</a:t>
            </a:r>
          </a:p>
          <a:p>
            <a:pPr>
              <a:spcAft>
                <a:spcPts val="1000"/>
              </a:spcAft>
            </a:pPr>
            <a:r>
              <a:rPr sz="2000">
                <a:solidFill>
                  <a:srgbClr val="222B33"/>
                </a:solidFill>
                <a:latin typeface="Microsoft YaHei"/>
              </a:rPr>
              <a:t>▪ 5 月 12 日防灾减灾日，四月职业病防治法宣传周</a:t>
            </a:r>
          </a:p>
          <a:p>
            <a:pPr>
              <a:spcAft>
                <a:spcPts val="1000"/>
              </a:spcAft>
            </a:pPr>
            <a:r>
              <a:rPr sz="2000">
                <a:solidFill>
                  <a:srgbClr val="222B33"/>
                </a:solidFill>
                <a:latin typeface="Microsoft YaHei"/>
              </a:rPr>
              <a:t>▪ 安全月：组织演练、隐患自查、知识竞赛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设立安全日、安全月等宣传活动，是为了提醒单位和个人履行安全责任，提高安全意识，认识危害、预防事故，让安全文化深入各行各业。我国常见的宣传节点有：每年六月全国“安全生产月”，11 月 9 日全国消防宣传日，5 月 12……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宣传活动搞成形式，与实验室实际脱节</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关于安全文化，下列说法正确的是：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检查合格就说明安全文化好</a:t>
            </a:r>
          </a:p>
          <a:p>
            <a:pPr algn="l"/>
            <a:r>
              <a:rPr sz="1500" b="0">
                <a:solidFill>
                  <a:srgbClr val="222B33"/>
                </a:solidFill>
                <a:latin typeface="Microsoft YaHei"/>
              </a:rPr>
              <a:t>B. 安全文化决定没人看着时怎么做</a:t>
            </a:r>
          </a:p>
          <a:p>
            <a:pPr algn="l"/>
            <a:r>
              <a:rPr sz="1500" b="0">
                <a:solidFill>
                  <a:srgbClr val="222B33"/>
                </a:solidFill>
                <a:latin typeface="Microsoft YaHei"/>
              </a:rPr>
              <a:t>C. 安全文化就是贴标语</a:t>
            </a:r>
          </a:p>
          <a:p>
            <a:pPr algn="l"/>
            <a:r>
              <a:rPr sz="1500" b="0">
                <a:solidFill>
                  <a:srgbClr val="222B33"/>
                </a:solidFill>
                <a:latin typeface="Microsoft YaHei"/>
              </a:rPr>
              <a:t>D. 有了完善制度就不需要文化</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判断：发现同学操作中有直接危及安全的情况，只有安全员才有权叫停。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实验室发生险情后，负责人下列哪种做法有利于安全文化？</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隐瞒不报</a:t>
            </a:r>
          </a:p>
          <a:p>
            <a:pPr algn="l"/>
            <a:r>
              <a:rPr sz="1500" b="0">
                <a:solidFill>
                  <a:srgbClr val="222B33"/>
                </a:solidFill>
                <a:latin typeface="Microsoft YaHei"/>
              </a:rPr>
              <a:t>B. 只处分当事人</a:t>
            </a:r>
          </a:p>
          <a:p>
            <a:pPr algn="l"/>
            <a:r>
              <a:rPr sz="1500" b="0">
                <a:solidFill>
                  <a:srgbClr val="222B33"/>
                </a:solidFill>
                <a:latin typeface="Microsoft YaHei"/>
              </a:rPr>
              <a:t>C. 尽快到场，先关心受影响的人，如实通报、查找系统原因</a:t>
            </a:r>
          </a:p>
          <a:p>
            <a:pPr algn="l"/>
            <a:r>
              <a:rPr sz="1500" b="0">
                <a:solidFill>
                  <a:srgbClr val="222B33"/>
                </a:solidFill>
                <a:latin typeface="Microsoft YaHei"/>
              </a:rPr>
              <a:t>D. 要求大家不要外传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看到同学穿着实验服去食堂，最好的做法是：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装作没看见</a:t>
            </a:r>
          </a:p>
          <a:p>
            <a:pPr algn="l"/>
            <a:r>
              <a:rPr sz="1500" b="0">
                <a:solidFill>
                  <a:srgbClr val="222B33"/>
                </a:solidFill>
                <a:latin typeface="Microsoft YaHei"/>
              </a:rPr>
              <a:t>B. 当众批评</a:t>
            </a:r>
          </a:p>
          <a:p>
            <a:pPr algn="l"/>
            <a:r>
              <a:rPr sz="1500" b="0">
                <a:solidFill>
                  <a:srgbClr val="222B33"/>
                </a:solidFill>
                <a:latin typeface="Microsoft YaHei"/>
              </a:rPr>
              <a:t>C. 友善地当面提醒，对事不对人</a:t>
            </a:r>
          </a:p>
          <a:p>
            <a:pPr algn="l"/>
            <a:r>
              <a:rPr sz="1500" b="0">
                <a:solidFill>
                  <a:srgbClr val="222B33"/>
                </a:solidFill>
                <a:latin typeface="Microsoft YaHei"/>
              </a:rPr>
              <a:t>D. 拍照发群里</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下列哪一项不是我国常见的安全宣传节点？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六月全国安全生产月</a:t>
            </a:r>
          </a:p>
          <a:p>
            <a:pPr algn="l"/>
            <a:r>
              <a:rPr sz="1500" b="0">
                <a:solidFill>
                  <a:srgbClr val="222B33"/>
                </a:solidFill>
                <a:latin typeface="Microsoft YaHei"/>
              </a:rPr>
              <a:t>B. 11 月 9 日消防宣传日</a:t>
            </a:r>
          </a:p>
          <a:p>
            <a:pPr algn="l"/>
            <a:r>
              <a:rPr sz="1500" b="0">
                <a:solidFill>
                  <a:srgbClr val="222B33"/>
                </a:solidFill>
                <a:latin typeface="Microsoft YaHei"/>
              </a:rPr>
              <a:t>C. 5 月 12 日防灾减灾日</a:t>
            </a:r>
          </a:p>
          <a:p>
            <a:pPr algn="l"/>
            <a:r>
              <a:rPr sz="1500" b="0">
                <a:solidFill>
                  <a:srgbClr val="222B33"/>
                </a:solidFill>
                <a:latin typeface="Microsoft YaHei"/>
              </a:rPr>
              <a:t>D. 每年只在发生事故后才开展宣传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简答：实验前五分钟安全提醒应讲哪三件事？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安全文化：不假思索的共同习惯</a:t>
            </a:r>
          </a:p>
          <a:p>
            <a:pPr>
              <a:spcAft>
                <a:spcPts val="800"/>
              </a:spcAft>
            </a:pPr>
            <a:r>
              <a:rPr sz="1500">
                <a:solidFill>
                  <a:srgbClr val="FFFFFF"/>
                </a:solidFill>
                <a:latin typeface="Microsoft YaHei"/>
              </a:rPr>
              <a:t>▪ K2  没人看着时，你怎么做</a:t>
            </a:r>
          </a:p>
          <a:p>
            <a:pPr>
              <a:spcAft>
                <a:spcPts val="800"/>
              </a:spcAft>
            </a:pPr>
            <a:r>
              <a:rPr sz="1500">
                <a:solidFill>
                  <a:srgbClr val="FFFFFF"/>
                </a:solidFill>
                <a:latin typeface="Microsoft YaHei"/>
              </a:rPr>
              <a:t>▪ K3  合规是底线，文化定高度</a:t>
            </a:r>
          </a:p>
          <a:p>
            <a:pPr>
              <a:spcAft>
                <a:spcPts val="800"/>
              </a:spcAft>
            </a:pPr>
            <a:r>
              <a:rPr sz="1500">
                <a:solidFill>
                  <a:srgbClr val="FFFFFF"/>
                </a:solidFill>
                <a:latin typeface="Microsoft YaHei"/>
              </a:rPr>
              <a:t>▪ K4  安全文化的五个阶段</a:t>
            </a:r>
          </a:p>
          <a:p>
            <a:pPr>
              <a:spcAft>
                <a:spcPts val="800"/>
              </a:spcAft>
            </a:pPr>
            <a:r>
              <a:rPr sz="1500">
                <a:solidFill>
                  <a:srgbClr val="FFFFFF"/>
                </a:solidFill>
                <a:latin typeface="Microsoft YaHei"/>
              </a:rPr>
              <a:t>▪ K5  人人有责：安全是大家的事</a:t>
            </a:r>
          </a:p>
          <a:p>
            <a:pPr>
              <a:spcAft>
                <a:spcPts val="800"/>
              </a:spcAft>
            </a:pPr>
            <a:r>
              <a:rPr sz="1500">
                <a:solidFill>
                  <a:srgbClr val="FFFFFF"/>
                </a:solidFill>
                <a:latin typeface="Microsoft YaHei"/>
              </a:rPr>
              <a:t>▪ K6  知识、技能，更要态度</a:t>
            </a:r>
          </a:p>
          <a:p>
            <a:pPr>
              <a:spcAft>
                <a:spcPts val="800"/>
              </a:spcAft>
            </a:pPr>
            <a:r>
              <a:rPr sz="1500">
                <a:solidFill>
                  <a:srgbClr val="FFFFFF"/>
                </a:solidFill>
                <a:latin typeface="Microsoft YaHei"/>
              </a:rPr>
              <a:t>▪ K7  最终责任在自己，改变从我做起</a:t>
            </a:r>
          </a:p>
          <a:p>
            <a:pPr>
              <a:spcAft>
                <a:spcPts val="800"/>
              </a:spcAft>
            </a:pPr>
            <a:r>
              <a:rPr sz="1500">
                <a:solidFill>
                  <a:srgbClr val="FFFFFF"/>
                </a:solidFill>
                <a:latin typeface="Microsoft YaHei"/>
              </a:rPr>
              <a:t>▪ K8  专业、审慎、时刻警觉</a:t>
            </a:r>
          </a:p>
          <a:p>
            <a:pPr>
              <a:spcAft>
                <a:spcPts val="800"/>
              </a:spcAft>
            </a:pPr>
            <a:r>
              <a:rPr sz="1500">
                <a:solidFill>
                  <a:srgbClr val="FFFFFF"/>
                </a:solidFill>
                <a:latin typeface="Microsoft YaHei"/>
              </a:rPr>
              <a:t>▪ K9  说到做到，投入什么就是重视什么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负责人的安全语言</a:t>
            </a:r>
          </a:p>
          <a:p>
            <a:pPr>
              <a:spcAft>
                <a:spcPts val="800"/>
              </a:spcAft>
            </a:pPr>
            <a:r>
              <a:rPr sz="1500">
                <a:solidFill>
                  <a:srgbClr val="FFFFFF"/>
                </a:solidFill>
                <a:latin typeface="Microsoft YaHei"/>
              </a:rPr>
              <a:t>▪ K11  走到现场，多看多听</a:t>
            </a:r>
          </a:p>
          <a:p>
            <a:pPr>
              <a:spcAft>
                <a:spcPts val="800"/>
              </a:spcAft>
            </a:pPr>
            <a:r>
              <a:rPr sz="1500">
                <a:solidFill>
                  <a:srgbClr val="FFFFFF"/>
                </a:solidFill>
                <a:latin typeface="Microsoft YaHei"/>
              </a:rPr>
              <a:t>▪ K12  出了事，负责人怎么做</a:t>
            </a:r>
          </a:p>
          <a:p>
            <a:pPr>
              <a:spcAft>
                <a:spcPts val="800"/>
              </a:spcAft>
            </a:pPr>
            <a:r>
              <a:rPr sz="1500">
                <a:solidFill>
                  <a:srgbClr val="FFFFFF"/>
                </a:solidFill>
                <a:latin typeface="Microsoft YaHei"/>
              </a:rPr>
              <a:t>▪ K13  发现危险，敢于叫停</a:t>
            </a:r>
          </a:p>
          <a:p>
            <a:pPr>
              <a:spcAft>
                <a:spcPts val="800"/>
              </a:spcAft>
            </a:pPr>
            <a:r>
              <a:rPr sz="1500">
                <a:solidFill>
                  <a:srgbClr val="FFFFFF"/>
                </a:solidFill>
                <a:latin typeface="Microsoft YaHei"/>
              </a:rPr>
              <a:t>▪ K14  同伴友善提醒，虚心接受</a:t>
            </a:r>
          </a:p>
          <a:p>
            <a:pPr>
              <a:spcAft>
                <a:spcPts val="800"/>
              </a:spcAft>
            </a:pPr>
            <a:r>
              <a:rPr sz="1500">
                <a:solidFill>
                  <a:srgbClr val="FFFFFF"/>
                </a:solidFill>
                <a:latin typeface="Microsoft YaHei"/>
              </a:rPr>
              <a:t>▪ K15  有疑问就问，有建议就提</a:t>
            </a:r>
          </a:p>
          <a:p>
            <a:pPr>
              <a:spcAft>
                <a:spcPts val="800"/>
              </a:spcAft>
            </a:pPr>
            <a:r>
              <a:rPr sz="1500">
                <a:solidFill>
                  <a:srgbClr val="FFFFFF"/>
                </a:solidFill>
                <a:latin typeface="Microsoft YaHei"/>
              </a:rPr>
              <a:t>▪ K16  实验前五分钟，组会讲安全</a:t>
            </a:r>
          </a:p>
          <a:p>
            <a:pPr>
              <a:spcAft>
                <a:spcPts val="800"/>
              </a:spcAft>
            </a:pPr>
            <a:r>
              <a:rPr sz="1500">
                <a:solidFill>
                  <a:srgbClr val="FFFFFF"/>
                </a:solidFill>
                <a:latin typeface="Microsoft YaHei"/>
              </a:rPr>
              <a:t>▪ K17  安全日、安全月和宣传活动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