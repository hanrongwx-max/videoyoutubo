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高校实验室集中了化学品、病原微生物、放射源和射线装置、高压气瓶、高温高压设备、激光和电气设备等多种危险源，人员流动大、新手多、实验内容经常变化，事故风险客观存在。国内外高校每年都有实验室事故的报道，它们并不遥远，也不只发生在“危险专业”。</a:t>
            </a:r>
          </a:p>
          <a:p>
            <a:r>
              <a:t>常见的事故类型包括：化学品溢洒和喷溅、针头和锐器刺伤、实验室获得性感染、火灾和爆炸，以及触电、烫伤、冻伤、机械伤害等。后果轻则皮肤灼伤、眼部损伤，重则致残甚至造成人员死亡。</a:t>
            </a:r>
          </a:p>
          <a:p>
            <a:r>
              <a:t>学习本课程的目的，是在动手之前就知道“哪里可能出事、怎样防止出事、出了事怎么办”。第一次进入实验室时就要建立这种意识，而不是等到发生险情之后才补课。</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有的同学把安全当成“检查前突击整理、检查表上打勾”的任务。实际上安全是科研活动的前提和基础：没有安全，实验无法持续进行，已经取得的成果也可能因为一次事故毁于一旦。</a:t>
            </a:r>
          </a:p>
          <a:p>
            <a:r>
              <a:t>安全与实验质量、数据可靠性是相互关联的。规范操作、整洁有序的实验环境、准确的记录，既减少事故，也减少污染、差错和数据失真。一个在安全上马虎的实验，往往在质量上同样靠不住。</a:t>
            </a:r>
          </a:p>
          <a:p>
            <a:r>
              <a:t>因此，要把安全要求当作实验方案的一部分来设计和执行，而不是额外的负担。</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每一次实验，都同时关系到四样东西：自己和他人的生命健康；价值较高、来之不易的仪器设备和设施；长期积累的样品、试剂和实验数据；以及学校、学院和实验室继续开展相关科研活动的资格。发生严重事故后，实验室可能被要求停业整改，相关资质、项目也可能受到影响。</a:t>
            </a:r>
          </a:p>
          <a:p>
            <a:r>
              <a:t>实验室是共享空间。一个人的不规范操作，可能伤及隔壁实验台的同学、楼内其他人员乃至周边环境；反过来，别人的疏忽也可能波及你。所以安全不只是“管好自己”，还包括提醒他人、及时报告隐患。</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事故的成本可以分为两部分。直接成本是看得见、能直接计算的支出，例如医疗费用、赔偿金、设备维修和更换费用。间接成本则像冰山的水下部分：受伤人员和相关人员的误工、实验室停用整改、事故调查和处理占用的时间、管理成本、声誉损失等。</a:t>
            </a:r>
          </a:p>
          <a:p>
            <a:r>
              <a:t>在高校，事故还会带来特有的损失：实验停摆导致课题进度延误，长期培养的细胞、菌种、样品和数据报废，学生的学业和毕业时间受到影响，甚至整个课题组、学院的实验室都要停工检查。</a:t>
            </a:r>
          </a:p>
          <a:p>
            <a:r>
              <a:t>认识到事故的全部代价，就会明白：在预防上花的时间和经费，是最划算的投入。</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学阶段的实验安全教育以“规则”为主：必须戴护目镜、禁止饮食、不准嬉闹等。这些规则在大学依然有效，而且会被反复强调。但大学和研究生阶段的实验内容更新快、使用的物质和设备更多样，任何规则清单都不可能把所有情况写全。</a:t>
            </a:r>
          </a:p>
          <a:p>
            <a:r>
              <a:t>因此，本课程要在规则之上更进一步：理解规则背后的原则。遇到新物质、新仪器、新方法时，先识别有哪些危害，再评估风险有多大（与严重程度、可能性、用量和场所有关），然后确定降低风险的措施，并提前做好应急准备。具体的风险评估方法在第 2 章讲解。</a:t>
            </a:r>
          </a:p>
          <a:p>
            <a:r>
              <a:t>懂原则的人，在规则没有写到的地方也能做出正确判断；但懂原则不等于可以不守规则——学校和实验室的规定是底线，必须遵守。</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本课程讲的是高校实验室安全的通用知识和原则。不同实验室的危险源、设备和管理规定差别很大，课程内容不能代替学校、学院组织的安全培训和考核，也不能代替本实验室的安全操作规程和岗前指导。</a:t>
            </a:r>
          </a:p>
          <a:p>
            <a:r>
              <a:t>进入一间实验室前，要按本校规定完成相应的培训和考核，阅读实验室门口的安全信息牌（危险类别、安全责任人、应急联系方式等），熟悉本室的操作规程，并实地确认洗眼器、紧急喷淋、灭火器、急救箱和安全出口的位置。</a:t>
            </a:r>
          </a:p>
          <a:p>
            <a:r>
              <a:t>对于设备用法、化学品性质、操作步骤等任何拿不准的问题，先问实验室负责人、导师或实验室安全员，弄清楚再做。</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华人民共和国安全生产法》规定，安全生产工作坚持安全第一、预防为主、综合治理的方针。“安全第一”指在安全与进度、效率、成本发生冲突时，安全优先；“预防为主”指把工作重点放在事前的风险辨识、隐患排查和教育培训上；“综合治理”指综合运用制度、技术、教育、检查等多种手段，由各方共同承担责任。</a:t>
            </a:r>
          </a:p>
          <a:p>
            <a:r>
              <a:t>高校实验室安全工作同样遵循这一方针（具体表述以《高等学校实验室安全规范》和本校制度的现行文本为准）。落到每个人身上，就是：实验前做好准备和评估，实验中规范操作，发现隐患及时报告，而不是等出了事再补救。</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本课程共 15 章：第 1 章法规、管理与安全文化，第 2 章危险源辨识与风险评估，第 3 章通用安全与个人防护，第 4 章消防安全，为全体必修；第 5–13 章分别讲化学品、生物、辐射、电气、激光与光学、机械与设备、气瓶低温与气体、特种作业与工程施工、人机工效与职业健康，按所在实验室的危险类别选修；第 14 章应急处置与事故调查为全体必修；第 15 章实验基本技能按专业选学。</a:t>
            </a:r>
          </a:p>
          <a:p>
            <a:r>
              <a:t>每节课包括一段卡通视频、一份知识点详细内容说明书、一份学习课件和课后练习。建议先看视频建立整体印象，再读说明书掌握细节，最后完成练习检验理解。</a:t>
            </a:r>
          </a:p>
          <a:p>
            <a:r>
              <a:t>学习时要带着问题：我的实验用了哪些物质和设备？可能出什么事？应该怎样防护和应急？把课程内容和自己的实际工作对照起来，才能真正用得上。</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答案：C。解析：医疗费、赔偿金属于直接成本；停工、调查、误工和进度延误属于间接成本。</a:t>
            </a:r>
          </a:p>
          <a:p>
            <a:r>
              <a:t>第 2 题 答案：A。解析：《中华人民共和国安全生产法》规定安全生产工作坚持安全第一、预防为主、综合治理的方针，高校实验室同样遵循。</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答案：B。解析：本课程只讲通用要点，不能代替学校、学院和本实验室的培训考核与操作规程。</a:t>
            </a:r>
          </a:p>
          <a:p>
            <a:r>
              <a:t>第 4 题 答案：B。解析：本课程强调“懂原则、会评估”，新情况先评估风险，并向实验室负责人或老师确认后再操作。</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答案：人员的生命健康、仪器设备、样品和数据、单位继续开展科研的资格。解析：见 K3。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安全不是凭个人经验的“自由发挥”。从实验室的设计建设、设施配备，到化学品、病原微生物、放射源的采购储存使用和废物处置，再到人员培训、检查和事故报告，都有相应的法律法规、标准和学校制度作出规定。它们共同描绘出“一个安全的实验室应当是什么样”。</a:t>
            </a:r>
          </a:p>
          <a:p>
            <a:r>
              <a:t>其他国家和地区也有各自的实验室安全法规和标准，例如针对实验室化学品暴露的专门标准。学习时可以把它们作为了解国际通行做法的背景，但其中的数值、豁免条件和机构要求不能直接搬用。在我国高校做实验，必须遵守我国法律法规、国家标准和本校规定。</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国与实验室安全有关的规范按效力从高到低大致分为：法律（由全国人民代表大会及其常务委员会制定，如安全生产法、消防法、生物安全法）；行政法规（由国务院制定，多以“条例”命名，如病原微生物实验室生物安全管理条例、放射性同位素与射线装置安全和防护条例）；部门规章和规范性文件（由国务院各部门制定，多称“办法”“规定”“规范”，如易制爆危险化学品治安管理办法，以及教育部发布的高等学校实验室安全规范）；此外还有地方性法规和地方政府规章。</a:t>
            </a:r>
          </a:p>
          <a:p>
            <a:r>
              <a:t>标准是技术层面的依据，分为国家标准、行业标准、地方标准、团体标准和企业标准。国家标准中，代号 GB 的是强制性标准，必须执行；GB/T 是推荐性标准，但被法规或合同引用时同样要遵守。</a:t>
            </a:r>
          </a:p>
          <a:p>
            <a:r>
              <a:t>学校、学院和实验室依据上述法规制定本单位的管理办法和操作规程，内容最具体，是每个人日常必须遵守的规定。下位规定不得与上位法冲突；遇到不一致时，按上位法和更严格的要求执行。</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位在法律上的核心义务，是为所有人员提供安全的工作条件，保障他们的安全和健康。这不在于实验室装修多漂亮、发了多少新装备，而在于危险源是否得到有效控制、人员是否得到培训和防护、隐患是否及时整改。</a:t>
            </a:r>
          </a:p>
          <a:p>
            <a:r>
              <a:t>《中华人民共和国安全生产法》规定了单位的安全生产主体责任，主要负责人对本单位安全工作全面负责；《中华人民共和国职业病防治法》规定了用人单位防治职业病危害的责任。缺氧和有限空间作业等高风险作业还有专门的标准和规定（第 12 章讲解）。</a:t>
            </a:r>
          </a:p>
          <a:p>
            <a:r>
              <a:t>在高校，这些责任通过学校—学院—实验室三级管理逐级落实，实验室负责人是本实验室安全的第一责任人（第 4 课详讲）。具体条款以现行文本和本校规定为准。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华人民共和国安全生产法》要求构建安全风险分级管控和隐患排查治理双重预防机制：一是事前辨识危险源、评估风险，按风险高低分级落实管控措施；二是定期排查隐患，发现后及时治理并复查，形成闭环。第 2 章的风险评估和第 5 课的隐患整改就是这一要求在实验室的落实。</a:t>
            </a:r>
          </a:p>
          <a:p>
            <a:r>
              <a:t>《中华人民共和国职业病防治法》要求用人单位辨识工作场所的职业病危害因素，如实告知劳动者，进行职业卫生培训，提供合格的个人防护用品，并按规定组织职业健康检查。在高校，接触化学毒物、放射性、噪声、粉尘等危害的人员同样适用相关要求。</a:t>
            </a:r>
          </a:p>
          <a:p>
            <a:r>
              <a:t>具体条款和限值以现行文本和本校规定为准。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《中华人民共和国消防法》规定，任何单位和个人都有维护消防安全、保护消防设施、预防火灾、报告火警的义务；任何人发现火灾都应当立即报警，任何单位和个人都应当无偿为报警提供便利。</a:t>
            </a:r>
          </a:p>
          <a:p>
            <a:r>
              <a:t>在实验室里，这意味着：不得损坏、挪用或者擅自拆除、停用消防设施和器材，不得占用、堵塞、封闭疏散通道和安全出口，不得遮挡消防设施；发现火灾立即拨打 119，同时按本校程序报告实验室负责人、学院和保卫处。</a:t>
            </a:r>
          </a:p>
          <a:p>
            <a:r>
              <a:t>火灾自动报警系统、自动喷水灭火系统、灭火器、消防安全标志等都有相应的国家标准（如 GB 4351-2023、GB 13495.1-2015，以现行文本为准）。消防安全的具体知识在第 4 章讲解。</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《中华人民共和国危险化学品安全法》于 2025 年 12 月 27 日通过，2026 年 5 月 1 日起施行，对危险化学品的生产、储存、使用、经营、运输等环节作出规定，并设专章规定“使用安全”。学校、科研机构使用危险化学品的，属于该法规定的责任主体；该法要求危险化学品附有中文的化学品安全技术说明书和安全标签。《危险化学品安全管理条例》目前仍同时适用，具体以现行文本为准。</a:t>
            </a:r>
          </a:p>
          <a:p>
            <a:r>
              <a:t>此外，易制毒化学品按《易制毒化学品管理条例》管理，易制爆危险化学品按《易制爆危险化学品治安管理办法》管理，购买、储存、使用、处置都有登记和报告要求；剧毒化学品实行双人收发、双人保管、双人领取、双把锁、双本账的“五双”管理（以本校规定为准）。</a:t>
            </a:r>
          </a:p>
          <a:p>
            <a:r>
              <a:t>废弃危险化学品的处置依照生态环境保护法律法规执行。化学品安全的具体要求在第 5 章讲解。</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华人民共和国生物安全法》是我国生物安全领域的基础性法律，对病原微生物实验室生物安全、生物技术研究开发与应用安全等作出规定。《病原微生物实验室生物安全管理条例》将病原微生物按危害程度分为四类，将实验室按生物安全防护水平分为一级、二级、三级、四级，规定了不同级别实验室可从事的实验活动、备案和审批要求。</a:t>
            </a:r>
          </a:p>
          <a:p>
            <a:r>
              <a:t>病原微生物的分类以国家卫生健康委发布的《人间传染的病原微生物目录》（2023 年版，以现行版本为准）等为依据；实验室的技术要求见 GB 19489-2008（以现行文本为准）《实验室 生物安全通用要求》和 WS 233（以现行文本为准）。</a:t>
            </a:r>
          </a:p>
          <a:p>
            <a:r>
              <a:t>涉及转基因的研究，依据生物安全法、《农业转基因生物安全管理条例》（涉及农业转基因生物时）和单位生物安全委员会的审查要求开展。生物安全的具体要求在第 6 章讲解。</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辐射安全的主要依据是《中华人民共和国放射性污染防治法》和《放射性同位素与射线装置安全和防护条例》：生产、销售、使用放射性同位素和射线装置的单位须依法取得辐射安全许可证，工作人员须接受辐射安全培训并进行个人剂量监测；技术要求见 GB 18871-2002（以现行文本为准）。具体内容在第 7 章讲解。</a:t>
            </a:r>
          </a:p>
          <a:p>
            <a:r>
              <a:t>气瓶、压力容器（如部分高压灭菌器、反应釜）、电梯、起重机械等属于特种设备，适用《中华人民共和国特种设备安全法》，须定期检验，作业人员按规定持证上岗；气瓶还要遵守 TSG 23《气瓶安全技术规程》（以现行文本为准）。具体内容在第 10、11 章讲解。</a:t>
            </a:r>
          </a:p>
          <a:p>
            <a:r>
              <a:t>实验室产生的废液、废弃化学品、沾染危险物质的包装物等属于危险废物的，依照《中华人民共和国固体废物污染环境防治法》和《国家危险废物名录》（以现行版本为准）管理，分类收集、规范贮存、交有资质的单位处置，严禁倒入下水道或混入生活垃圾。</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法律法规规定原则和责任，标准则给出可操作的技术要求。与实验室相关的标准一方面规定设施和设备本身，例如通风、消防、电气设备、洗眼和喷淋设备、安全标志的设计、安装和性能；另一方面规定人员的作业方法和防护，例如个体防护装备的选择使用、特殊作业的安全措施。因此，进入实验室装修、维修的外来人员同样要遵守相关标准和学校规定。</a:t>
            </a:r>
          </a:p>
          <a:p>
            <a:r>
              <a:t>行业实践和技术进步往往走在前面，推动标准不断修订完善。很多标准近年已更新（如 GB 2894-2025《安全色和安全标志》、GB 14866-2023《眼面防护具通用技术规范》，以现行文本为准），引用和执行时要确认使用的是现行版本，已废止的标准不再作为依据。</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国实验室安全涉及多个主管部门，按领域分工监管：应急管理部门负责安全生产综合监督管理，以及危险化学品安全的相关监管；卫生健康部门负责职业健康和人间传染的病原微生物实验室的生物安全监管（动物病原微生物实验室由农业农村部门监管）；消防救援机构负责消防监督检查；公安机关负责剧毒化学品、易制爆和易制毒化学品等的治安管理；生态环境部门负责辐射安全许可和危险废物等环境监管；市场监督管理部门负责特种设备安全监察。</a:t>
            </a:r>
          </a:p>
          <a:p>
            <a:r>
              <a:t>教育部门对高校实验室安全工作进行指导和督查，学校内部则通过三级管理落实责任。各部门的具体职责以现行法律法规和机构职能规定为准。了解监管分工，有助于明白各项手续（如采购备案、许可、检验）为什么必须办、找谁办。</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在上述法律法规和标准之外，教育部针对高校实验室发布了《高等学校实验室安全规范》（教科信厅函〔2023〕5 号），对责任体系、分级分类、教育培训与准入、风险评估、安全设施、各类危险源管理、检查与应急等提出要求；教育部还组织制定高校实验室安全检查项目表，作为学校自查和上级检查的依据（均以现行文本为准）。</a:t>
            </a:r>
          </a:p>
          <a:p>
            <a:r>
              <a:t>各高校据此制定本校的实验室安全管理办法、准入制度和各类专项规定，学院和实验室再制定具体的操作规程。对学生来说，本校和本实验室的制度是最具体、最直接要遵守的规定。第 3 课将详细介绍《高等学校实验室安全规范》和检查项目表。</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答案：B。解析：行政法规由国务院制定，多以“条例”命名；A 是法律，C 是部门规章，D 是国家标准。</a:t>
            </a:r>
          </a:p>
          <a:p>
            <a:r>
              <a:t>第 2 题 答案：C。解析：该法于 2025 年 12 月 27 日通过，2026 年 5 月 1 日起施行。</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答案：B。解析：推荐性标准被法规、合同或本校制度引用时同样要遵守；GB 强制性标准必须执行。</a:t>
            </a:r>
          </a:p>
          <a:p>
            <a:r>
              <a:t>第 4 题 答案：C。解析：危险废物依照固体废物污染环境防治法和国家危险废物名录管理，严禁倒入下水道。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答案：A。解析：气瓶、压力容器属于特种设备，适用特种设备安全法，并须定期检验。</a:t>
            </a:r>
          </a:p>
          <a:p>
            <a:r>
              <a:t>第 6 题 答案：安全风险分级管控和隐患排查治理。解析：事前辨识危险源、评估并分级管控风险；定期排查隐患并及时治理、复查，形成闭环。</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《高等学校实验室安全规范》由教育部办公厅于 2023 年印发（教科信厅函〔2023〕5 号），是针对高校实验室安全工作的专门规范性文件。它以安全生产、消防、危险化学品、生物安全、辐射安全等法律法规为基础，结合高校实验室人员流动大、学科门类多、危险源分散等特点，对高校实验室安全管理提出系统要求。</a:t>
            </a:r>
          </a:p>
          <a:p>
            <a:r>
              <a:t>规范适用于高校开展教学、科研活动的各类实验室（含实验场所）。各高校依据规范制定或修订本校的实验室安全管理办法、准入、检查、应急等制度，学院和实验室再细化为具体规程。学生日常遵守的本校制度，背后就是规范和上位法的要求。</a:t>
            </a:r>
          </a:p>
          <a:p>
            <a:r>
              <a:t>规范的具体条文以现行文本为准；本课介绍其主要内容，各项要求在后续各章中展开。</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规范的要求可以概括为几个方面（具体章节和表述以现行文本为准）：一是责任体系，学校、学院（二级单位）、实验室逐级明确安全责任；二是制度建设，建立健全实验室安全管理制度和安全操作规程；三是教育培训与准入，进入实验室的人员须接受安全教育培训并考核合格；四是风险管控与隐患排查，对实验项目和危险源进行风险评估、分级管控，开展安全检查并对隐患闭环整改；五是应急管理，制定应急预案、配备应急设施并开展演练；六是条件保障，学校在经费、人员、设施等方面予以保障。</a:t>
            </a:r>
          </a:p>
          <a:p>
            <a:r>
              <a:t>此外，规范对危险化学品、病原微生物、放射性物质和射线装置、机电设备、特种设备、激光、废弃物等各类危险源的管理分别提出要求。这些要求就是本课程第 3 章至第 14 章的主要内容。</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高校实验室数量多、差别大，不能“一刀切”管理。规范要求对实验室实行分类分级管理：按主要危险源的种类分类，例如化学类、生物类、辐射类、机电类、特种设备类等（一间实验室可能同时属于几类）；再按危险源的性质、数量和风险程度分级。</a:t>
            </a:r>
          </a:p>
          <a:p>
            <a:r>
              <a:t>很多高校将实验室按风险由高到低分为若干级，并用红、橙、黄、蓝等颜色在信息牌上标识。级别越高，管控要求越严：准入培训更严格、进出需授权登记、检查频次更高、对危险源的数量和存放条件要求更严。低风险实验室也要管理，只是要求相对简单。</a:t>
            </a:r>
          </a:p>
          <a:p>
            <a:r>
              <a:t>分级的具体标准、级数和颜色以本校规定为准。实验内容、危险源发生变化时，实验室的级别和信息牌也要相应调整。</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两间相邻的实验室，可能用着同一种化学品，但一间只是取几滴做显色，另一间要大量加热、回流或放大反应。前者暴露少、后果有限，后者可能产生大量蒸气、存在火灾或喷溅风险。两者的防护措施、设施要求和管理要求自然不同。</a:t>
            </a:r>
          </a:p>
          <a:p>
            <a:r>
              <a:t>因此，判断管理要求不能只看“清单上有什么物质”，而要看实际在做什么：用量多少、是否加热加压、是否产生气溶胶或蒸气、在什么场所、由谁操作。这也是第 2 章风险评估要解决的问题。</a:t>
            </a:r>
          </a:p>
          <a:p>
            <a:r>
              <a:t>当用量增加、操作条件改变或换到新场所时，要重新评估风险并相应调整措施。</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应在门口等显著位置张贴安全信息牌，内容一般包括：实验室名称和安全分级，涉及的主要危险类别和相应的安全警示标志，安全责任人和联系方式，必要的防护要求，以及有效的应急联系电话（具体格式以本校规定为准）。室内还应张贴主要的安全操作规程和应急处置流程。</a:t>
            </a:r>
          </a:p>
          <a:p>
            <a:r>
              <a:t>信息牌的作用之一，是让不熟悉实验室的人——新同学、访客、维修人员，尤其是火灾或事故时赶来的救援人员——在进门之前就知道里面有什么危险、该采取什么防护、该联系谁。</a:t>
            </a:r>
          </a:p>
          <a:p>
            <a:r>
              <a:t>信息牌必须准确、及时：新进了危险化学品或开展新的危险性实验，要对照化学品安全技术说明书（SDS）更新危险类别和防护要求；责任人、电话变更要立即更换。信息过期或不全的信息牌，等于没有挂。</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很多高校要求进入实验室的人员签订安全承诺书（或安全责任书），承诺遵守学校和实验室的安全制度、规范操作、及时报告隐患。签字是一种郑重的承诺，也意味着本人知晓并愿意承担相应责任。</a:t>
            </a:r>
          </a:p>
          <a:p>
            <a:r>
              <a:t>但承诺的意义在于落实到每天的行动：进门时按要求穿好实验服、戴好防护用品，查看仪器使用记录和交接信息；实验中遵守规程；离开前检查并关闭水、电、气，关好门窗，按本实验室的离室检查清单逐项确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教育部组织制定的高校实验室安全检查项目表，把规范和相关法规的要求细化为一条条可检查的条目，是学校、学院、实验室自查和上级部门检查的依据。</a:t>
            </a:r>
          </a:p>
          <a:p>
            <a:r>
              <a:t>项目表大体可分为两部分（具体类别和条目以教育部发布的现行版本为准）：管理类，包括责任体系、规章制度、安全宣传教育与培训、安全检查等；现场类，包括实验场所、安全设施、基础安全，以及化学、生物、辐射、机电、特种设备和常规冷热设备等专项安全。</a:t>
            </a:r>
          </a:p>
          <a:p>
            <a:r>
              <a:t>检查中问题较集中的往往是：危险化学品的存放和台账、气瓶的固定和管理、消防器材和疏散通道、用电线路和插座、废弃物的收集存放、个人防护等。平时对照项目表逐项自查，是发现问题、避免“临检突击”的最有效办法。</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高校实验室安全检查分层开展：学校层面组织定期和专项检查，学院（二级单位）开展定期巡查，实验室负责人和安全员组织日常自查。教育部等上级部门也会按检查项目表对高校进行检查或抽查。</a:t>
            </a:r>
          </a:p>
          <a:p>
            <a:r>
              <a:t>检查的目的是发现和消除隐患，而不是“过关”。把杂物塞进柜子、临时补记录的突击做法，既掩盖了问题，也可能制造新的隐患（如堵塞柜内通风、混放不相容物质）。真正有效的迎检准备就是平时按规范做到位。</a:t>
            </a:r>
          </a:p>
          <a:p>
            <a:r>
              <a:t>检查发现的问题要登记、整改并复查；存在重大隐患的，要立即停止相关实验或停用相关设备，整改合格后才能恢复。日常自查、隐患分级和整改闭环的具体方法在第 5 课讲解。</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答案：A。解析：规范由教育部办公厅于 2023 年印发，文号为教科信厅函〔2023〕5 号。</a:t>
            </a:r>
          </a:p>
          <a:p>
            <a:r>
              <a:t>第 2 题 答案：B。解析：风险取决于用量、操作方式和场所，管理要求按实际在做的工作来定。</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答案：D。解析：信息牌写明危险类别、安全责任人、防护要求和应急电话等，供进入人员和救援人员识别。</a:t>
            </a:r>
          </a:p>
          <a:p>
            <a:r>
              <a:t>第 4 题 答案：B。解析：突击藏匿会掩盖问题并可能造成混放等新隐患，迎检应靠平时做到位。</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答案：关水、关电、关气，关好门窗，按本实验室离室检查清单逐项确认。解析：安全承诺要落实到每天的行动。</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高校实验室安全实行学校、学院（二级单位）、实验室三级管理，逐级明确责任，形成一条完整的责任链。学校层面负责统筹规划、制定制度、保障条件和监督检查，学校主要负责人对全校实验室安全工作负总责；学院层面负责本单位实验室安全的组织落实、培训和检查；实验室层面负责本室的日常安全管理，实验室负责人是本实验室安全的第一责任人（各级责任人的具体称谓和分工以《高等学校实验室安全规范》和本校规定为准）。</a:t>
            </a:r>
          </a:p>
          <a:p>
            <a:r>
              <a:t>责任链条的意义在于“事事有人管、人人有专责”。但这并不意味着安全只是负责人的事：按照安全生产法确立的全员安全生产责任制精神，从校领导到每一名进入实验室的学生，都在自己的岗位上承担相应责任，首先要对自己的安全负责，也要关心他人的安全。</a:t>
            </a:r>
          </a:p>
          <a:p>
            <a:r>
              <a:t>进入一个实验室，首先要知道这条链条上的人分别是谁、怎么联系。</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法律要求单位为人员提供安全的工作条件。对高校而言，学校和学院要为实验室提供符合要求的场所、通风、消防、应急等安全设施，配备合格的仪器设备和个人防护用品，保证设备得到维护保养和定期检修，并组织安全教育培训、保障必要的安全经费。</a:t>
            </a:r>
          </a:p>
          <a:p>
            <a:r>
              <a:t>实验室负责人在本室范围内落实这些要求：申请和维护安全设施，淘汰老化、不合格的设备，确保防护用品数量和型号满足实验需要。学生发现设施设备缺失、损坏或防护用品不足时，应及时向负责人反映，而不是将就使用。</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负责人（通常是实验室主任、课题组长或导师）对本实验室的安全工作全面负责，是第一责任人。其主要职责包括：贯彻学校和学院的安全制度，结合本室危险源制定安全操作规程和应急措施；组织实验项目的风险评估，审核实验方案特别是新实验和高风险实验；保障安全设施和个人防护用品配备到位；组织进入本室人员的安全培训和准入；组织日常安全检查，督促隐患整改；发生事故时组织处置并按规定报告。</a:t>
            </a:r>
          </a:p>
          <a:p>
            <a:r>
              <a:t>负责人可以指定实验室安全员协助日常管理，但第一责任不因此转移。生物安全负责人、辐射安全负责人等专项职责分别在第 6 章、第 7 章讲解。</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负责人出差、休假或长时间不在岗时，实验室的安全责任不能出现空档。负责人应指定有能力的代理人（如有经验的教师或资深研究生，按本校规定），交代清楚在研实验、重点危险源、钥匙和权限，以及应急处置的要求。</a:t>
            </a:r>
          </a:p>
          <a:p>
            <a:r>
              <a:t>代理人的姓名和联系方式应在门口信息牌或实验室显著位置写明，确保出现紧急情况时，实验室成员和救援人员能找到拿主意的人。负责人返回后，代理人应交接期间发生的情况。</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校设有实验室安全管理部门（名称因校而异，如实验室与设备管理处、实验室安全管理办公室等），负责全校实验室安全的制度建设、培训考核、检查督查和专项管理；学院（二级单位）设实验室安全管理员（专职或兼职），负责本单位的培训组织、巡查检查、隐患督办和信息上报；保卫部门负责消防、治安和突发事件的应急联动。</a:t>
            </a:r>
          </a:p>
          <a:p>
            <a:r>
              <a:t>这些人员是实验室安全的重要资源：安全培训的报名、准入考核、危险化学品和废弃物的管理流程、安全设施的报修，以及对某项操作是否安全拿不准时的咨询，都可以找他们。</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一般设一名或几名安全员（通常由教师或资深研究生兼任），在负责人领导下开展日常安全管理：日常巡查，检查大家是否按规程操作和穿戴防护；实验前对新同学或新实验做简短的安全交底；协助识别危害、提出控制建议；协助组织培训、检查和应急演练，参与编写操作规程和应急预案；参与事故和未遂事件的调查。</a:t>
            </a:r>
          </a:p>
          <a:p>
            <a:r>
              <a:t>安全员看到危险操作时，有责任当场提醒和叫停；发现隐患要及时报告实验室负责人，必要时报学院。安全员的职责是管安全，而不是盯实验进度、催产出——风险评估、合规检查、事故调查才是其主要工作。</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导师是学生安全意识的第一示范者。导师自己严格遵守规定、规范穿戴防护，在组会上经常讲安全、分享险情和教训，看到问题当场指出，学生才会真正重视安全。</a:t>
            </a:r>
          </a:p>
          <a:p>
            <a:r>
              <a:t>研究生带本科生、老同学带新同学，同样承担带教责任。带教要遵循“先示范、再看着做、确认会了再放手”的顺序：先完整演示正确操作并讲清危险点，再让新人在旁监督下操作，确认其能独立、正确完成后，才允许单独操作。没有学会的操作、没有通过考核的设备，不能让新人单独上手。</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无论是教师、学生，还是外来的维修、施工人员，只要进入实验室，就对安全负有责任。按照“谁使用、谁负责”的原则，每个人对自己的操作和所用的设备、试剂负责：参加培训，熟悉规程，严格按规程操作，不图省事、不走捷径。</a:t>
            </a:r>
          </a:p>
          <a:p>
            <a:r>
              <a:t>发现电线破损、设备异常、试剂泄漏等问题时，要及时报告，并在设备上挂“停用”标识，不要擅自拆修（电气维修须由持证电工进行）。实验中出现异常情况，先停下来、确保安全，再报告负责人。报告了，问题才能被及时处理。</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人人有责，也人人有权。《中华人民共和国安全生产法》规定了从业人员的知情权（了解作业场所和岗位存在的危险因素、防范措施和事故应急措施）、建议权、批评检举控告权、拒绝违章指挥和强令冒险作业的权利，以及发现直接危及人身安全的紧急情况时停止作业或者在采取可能的应急措施后撤离作业场所的权利。高校实验室中，学生和教职工同样应当享有相应的安全保障（具体以本校规定为准）。</a:t>
            </a:r>
          </a:p>
          <a:p>
            <a:r>
              <a:t>具体来说：你有权在实验前了解所用物质和设备的危险以及防护措施；遇到违反规定的要求或明显冒险的作业，有权拒绝，并可向学院或学校实验室安全管理部门报告；情况危急时，可以先停下、先撤离；如实报告隐患和未遂事件，学校鼓励并保护报告人，不应因此受到打击报复。</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每间实验室门口的安全信息牌上都写有安全责任人和应急联系电话。进入实验室前，要先把这些联系方式记下来（存入手机），同时记住学院安全管理员、学校保卫处和实验室安全管理部门的电话。</a:t>
            </a:r>
          </a:p>
          <a:p>
            <a:r>
              <a:t>出现问题时，按本校程序逐级报告：先报告实验室负责人（或其代理人），再报学院，由学院报保卫处或实验室安全管理部门；情况紧急时可同时报告。发生火灾立即拨打 119，有人受伤需要急救时拨打 120，并在报警后向负责人和学校报告。</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为把责任落实到人，学校与学院、学院与实验室之间通常逐级签订安全责任书，进入实验室的个人签订安全承诺书，明确各自的责任和义务。</a:t>
            </a:r>
          </a:p>
          <a:p>
            <a:r>
              <a:t>签字不是形式。学校会通过检查和考核了解各级责任是否落实，把实验室安全工作纳入单位和个人的考核：做得好的给予表彰，失职、渎职造成隐患或事故的，依照有关规定追究责任（具体以本校规定为准）。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答案：B。解析：实验室负责人是本实验室安全的第一责任人；安全员协助日常管理，第一责任不因此转移。</a:t>
            </a:r>
          </a:p>
          <a:p>
            <a:r>
              <a:t>第 2 题 答案：C。解析：安全员管安全，不负责盯实验进度。</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答案：A。解析：对违章指挥和冒险作业，有权拒绝并报告。</a:t>
            </a:r>
          </a:p>
          <a:p>
            <a:r>
              <a:t>第 4 题 答案：B。解析：带教要先示范、再监督操作，确认能独立正确完成后才放手。</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答案：实验室负责人→学院→保卫处或实验室安全管理部门；着火打 119，有人受伤打 120。解析：见 K10，紧急时可同时报告。</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安全检查的本质，是在事故发生之前主动发现隐患——不安全的状态（如设备故障、通道堵塞、气瓶未固定）、不安全的行为（如不戴防护、违规操作）和管理上的缺陷（如制度缺失、培训不到位）。找到问题后，还要分析原因、确定整改办法。</a:t>
            </a:r>
          </a:p>
          <a:p>
            <a:r>
              <a:t>除了人员行为和环境，设备设施本身也要定期检查和维护：通风柜、生物安全柜、洗眼器和喷淋、灭火器、电气线路、压力容器等，按规定周期检查维护并做好记录，发现问题及时整改。各类设备设施的具体检查要求在对应专题课中讲解（如电气检查见第 104 课，消防器材检查见第 33 课）。</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与三级管理相对应，高校实验室安全检查也分三级：实验室层面由负责人和安全员组织日常自查；学院（二级单位）定期巡查本单位实验室；学校实验室安全管理部门组织全校定期检查和专项检查（如危险化学品、气瓶、消防、用电、生物安全等专项），必要时组织校内互查或请校外专家检查。上级教育主管部门也会按检查项目表进行检查。</a:t>
            </a:r>
          </a:p>
          <a:p>
            <a:r>
              <a:t>检查频次以本校规定为准。各级检查发现的问题都应登记，并进入隐患整改闭环。</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日常自查是发现隐患最及时、成本最低的方式。每天开工时，看一眼自查表和交接记录，确认设备状态、通风和防护用品；每天收工前，按本实验室的清单查一遍：通道是否畅通，线缆是否收好、插线板是否过载，废液和废料是否按规定存放，灭火器等消防器材是否在位，水、电、气是否按要求关闭。</a:t>
            </a:r>
          </a:p>
          <a:p>
            <a:r>
              <a:t>实验室的状况一直在变化：新试剂到货、实验装置搭建、人员进出。因此安全员和负责人一天中要多次巡视。自查中发现的小问题，能当场处理的就当场处理（如收好线缆、盖好试剂瓶）；处理不了的及时报告。</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良好的检查节奏是逐级累积的：每天开工收工的快速自查；每周由安全员带着检查表巡查一遍；每季度（或每学期）对照检查项目表的全部要求做一次全面自查；定期邀请其他实验室或学院的人员来互查，借助“外部视角”发现自己看不到的问题；每年组织一次全面的模拟检查。具体周期以本校规定为准。</a:t>
            </a:r>
          </a:p>
          <a:p>
            <a:r>
              <a:t>模拟检查查出的问题，要像正式检查一样登记和整改。它能暴露记录缺失、人员回答不上来、隐患长期存在等问题，帮助在正式检查和事故之前把漏洞补上。</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寒暑假、长假前和台风、暴雨、寒潮等恶劣天气来临前，实验室往往长时间无人或面临特殊风险，应专门组织一次检查：关好门窗，检查排水和地漏，防止雨水倒灌；关闭气瓶总阀，切断不必要的电源和水源；清理易燃杂物，危险化学品和废弃物入柜上锁；检查冰箱、培养箱等必须持续运行的设备状态。</a:t>
            </a:r>
          </a:p>
          <a:p>
            <a:r>
              <a:t>必须持续运行的设备应在显著位置注明值守人和联系方式，并按本校规定报备，安排假期巡查。</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检查要依据清单逐项进行，避免遗漏。清单一般按类别分栏，例如：场所与通道、消防与应急设施、用电与设备、化学品与废弃物、个人防护等。常见的检查项举例：插线板是否串接或超负荷，气瓶是否固定、是否有检验标识；化学品是否按性质分类存放、不相容物质是否分开，废液是否分类收集、贴好标签、没有倒入下水道；管控化学品台账是否账物相符；安全信息牌、消防器材和应急设施是否在位有效。各检查项的具体要求在对应专题课中讲解。</a:t>
            </a:r>
          </a:p>
          <a:p>
            <a:r>
              <a:t>隐患常常藏在不显眼的地方：柜子后面、实验台下、通风柜内角、天花板上方、长期不用的储物间。检查时要仔细，必要时借助手电。清单只是起点，平时多看多想，才能发现清单没写到的问题。</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式检查和安全审核不仅看现场状况，还会核对文件和记录：安全制度和操作规程是否现行有效，培训和准入记录是否齐全，设备检测、维护记录是否完整，化学品台账、废弃物交接记录是否真实。检查人员还常常单独询问实验室成员，了解其是否知道本岗位的危险、防护和应急措施。</a:t>
            </a:r>
          </a:p>
          <a:p>
            <a:r>
              <a:t>安全审核的目的，是找出与法规、标准和制度不符合或没有执行的地方。发现的问题要记录在案，并限期整改。</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发现隐患、违规操作或不安全情况时，要立即报告导师或实验室负责人（或安全员），而不是视而不见、想着“等出了事再说”。能够安全制止的违规操作，应当场提醒或叫停。</a:t>
            </a:r>
          </a:p>
          <a:p>
            <a:r>
              <a:t>险情（未遂事件）同样要报告：虽然没有造成伤害，但说明防线存在漏洞。报告后要登记、整改、复查，形成闭环；在组会等场合分享出来，其他人就不会再犯同样的错误。报告隐患和险情是每个人的权利和义务，学校鼓励并保护报告人。</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隐患按危害程度和整改难度一般分为一般隐患和重大隐患（具体分级标准以本校规定为准）。一般隐患可由实验室限期整改；重大隐患是可能导致严重后果、需要立即处置的隐患，例如管控化学品失控、气瓶严重泄漏风险、电气线路严重老化发热、关键安全设施失效等。</a:t>
            </a:r>
          </a:p>
          <a:p>
            <a:r>
              <a:t>重大隐患不能“记下来等例会再说”：要立即报告实验室负责人和学院，必要时报学校；同时立即停止相关实验、停用相关设备或场所，采取临时防护措施。整改完成后，经复查合格才能恢复使用，并记录跟踪。</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隐患整改要形成闭环：登记隐患，开具整改单，明确整改责任人、整改期限和整改措施；分析根本原因（为什么会出现这个问题——是设施缺陷、制度缺失、培训不到位还是人员习惯）；针对原因采取纠正措施，而不只是处理表面现象；整改完成后由检查方或负责人复查验证，确认问题已解决且不会再次发生，才能销号。</a:t>
            </a:r>
          </a:p>
          <a:p>
            <a:r>
              <a:t>漏掉“找根因”和“验证”两步，问题就会反复出现；小问题如果不从根上改，会越积越多，最终酿成事故或受到严重处理。收到学校或上级的检查意见后，要按时回复，逐项写明整改措施和完成日期；拖延、敷衍只会让后果更严重。</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自查和互查中发现问题，说明检查起了作用，是改进的机会，不必把它当作“丢面子”的事而隐瞒。</a:t>
            </a:r>
          </a:p>
          <a:p>
            <a:r>
              <a:t>要定期把检查发现的问题汇总起来，看看有没有重复出现的趋势。例如多个实验室都缺培训记录，说明问题不在个人，而在培训和记录系统本身，应从制度和流程上改进。这样，检查就成为持续改进的帮手，而不是负担。</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每次检查都要留下记录：检查时间、检查人、检查项目、发现的问题和处理情况，由检查人签名后留存。设备设施检查后，合格的贴上检查合格标识并注明下次检查日期，按期复查；不合格的挂“禁用”或“停用”标识，隔离并送修，修好复查合格后才能重新使用。</a:t>
            </a:r>
          </a:p>
          <a:p>
            <a:r>
              <a:t>危险化学品领用登记、仪器使用记录、安全检查记录等台账，与实验记录本一样，要如实、及时填写，不事后补记。</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安全记录不只是应付眼前的检查。有些记录多年后还可能被调阅，例如有毒有害物质和辐射的接触记录、个人剂量记录、职业健康检查记录，可能用于判断多年后出现的健康问题与工作的关系。《中华人民共和国职业病防治法》要求用人单位建立职业健康监护档案并按规定期限妥善保存。</a:t>
            </a:r>
          </a:p>
          <a:p>
            <a:r>
              <a:t>不同记录的保存期限各不相同（培训记录、检查记录、化学品台账、废弃物转移联单、个人剂量档案等），具体期限按国家规定和本校档案管理规定执行。乱塞的文件柜无法满足这些要求，建议建立分类清晰、备份可靠的电子档案，做到随时调出、查找方便。</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如果一听说要检查就手忙脚乱，说明平时没有做到位。应当把检查看成一次“彩排”——检验日常工作是否扎实的机会，而不是需要临时排练的“正式演出”。</a:t>
            </a:r>
          </a:p>
          <a:p>
            <a:r>
              <a:t>一个安全管理成熟的实验室，日常就是这样的：安全制度和规程现行有效、审批签字齐全、随时能调出；培训记录能证明人员确实会做，而不只是签到；设备状态有效、标识清楚；连险情也进入整改闭环。做到这些，即使是不打招呼的突击检查，实验室也能一切照常。检查还可以成为大家一起学习的机会。</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迎接检查必须实事求是：不藏匿超量或违规存放的物品，不临时转移问题，不补签、伪造记录。藏匿和造假不但掩盖了隐患，还可能造成新的危险（如把化学品塞进不合适的柜子），一旦发现，后果比问题本身严重得多。</a:t>
            </a:r>
          </a:p>
          <a:p>
            <a:r>
              <a:t>检查人员提问时如实回答；不知道的就说不知道，并当场查阅手册或请教负责人，而不是随口编造。平时什么样，检查时就什么样。</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答案：B。解析：重大隐患不能等，先停用、立即报告，整改并复查合格后才能恢复使用；电气维修须由持证电工进行。</a:t>
            </a:r>
          </a:p>
          <a:p>
            <a:r>
              <a:t>第 2 题 答案：C。解析：只处理表面、不找根因、不复查验证，问题就会反复出现。</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答案：B。解析：记录要如实、及时，不补签、不造假；如实迎检，平时什么样检查就什么样。</a:t>
            </a:r>
          </a:p>
          <a:p>
            <a:r>
              <a:t>第 4 题 答案：D。解析：废液必须分类收集、贴签，交有资质单位处置，任何时候都不得倒入下水道。</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答案：定人（整改责任人）、定时（整改期限）、定措施（整改措施）。解析：整改完成后还要复查合格才能销号。</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安全方针是单位或实验室负责人对安全工作的书面承诺，表明管理者把人员的安全和健康放在首位。一份有效的安全方针通常包含三部分：安全目标（如杜绝事故、持续改进）、各类人员的职责（负责人、安全员、导师、学生各管什么），以及落实的方式（制度、培训、检查、资源保障）。</a:t>
            </a:r>
          </a:p>
          <a:p>
            <a:r>
              <a:t>方针要简短明确、让所有成员知晓，并由负责人带头践行。在高校，学校层面的实验室安全管理办法、学院和实验室的安全责任书，都体现了这种承诺。</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安全计划是把方针落地的方案：针对本单位、本实验室的工作，逐项识别危害、评估风险，并为每项风险配上相应的控制措施，明确由谁在什么时候完成。国外有些实验室称之为“化学品安全（卫生）计划”；在国内高校，通常体现为实验室安全手册、化学品安全管理制度和各项操作规程。</a:t>
            </a:r>
          </a:p>
          <a:p>
            <a:r>
              <a:t>计划的落实需要负责人的管理：向成员讲清本室的特殊危险，监督防护措施的落实；应急预案和安全信息张贴在显眼处；需要定期检测的设备（如通风柜、压力容器、气瓶）按时检测；实验室保存化学品清单，化学品安全技术说明书（SDS）随时可查；风险评估、采取的措施和效果都要记录下来。</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校和实验室都有安全管理制度和安全手册，告诉每个成员怎样安全地使用化学品、感染性材料和各类设备。一本好的实验室安全手册通常包括：本室主要危害和标准操作规程；通风柜等工程控制措施及其检查要求；个人防护要求；人员培训和准入要求；需要事先审批的危险实验；健康监护和受伤后的就医流程；实验室安全员及其职责；对剧毒、易制爆、自燃、高致病性等高危物质的特别管理措施；废物处置和应急处置。</a:t>
            </a:r>
          </a:p>
          <a:p>
            <a:r>
              <a:t>手册是本实验室安全工作的总纲，进入实验室的每个人都要学习并遵守。具体内容以本实验室现行手册为准。</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除综合性的手册外，一些特殊风险需要单独的专项制度，例如：危险废物管理制度（分类收集、标签、贮存、交接和处置，第 5 章讲解）；危险能量控制即上锁挂牌制度，检修、清理设备前切断能源并上锁挂牌，防止他人误启动造成伤害（依据 GB/T 33579-2017，以现行文本为准，第 10 章讲解）；呼吸防护制度，按 GB 18664-2025（以现行文本为准）进行危害评估、选型、培训、适合性检验和维护（第 3 章讲解）。</a:t>
            </a:r>
          </a:p>
          <a:p>
            <a:r>
              <a:t>其他常见的专项制度还有危险化学品采购与储存、气瓶管理、生物安全、辐射安全、仪器设备使用等。</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校和学院的制度通常规定“要达到什么安全要求”，例如“使用挥发性有毒物质必须在有效的局部排风设施内进行”。至于在本实验室具体用哪台通风柜、怎么操作、谁负责检查，需要各实验室结合自身情况写进本室的操作规程。</a:t>
            </a:r>
          </a:p>
          <a:p>
            <a:r>
              <a:t>本室规程应由熟悉工作的人员编写，经实验室负责人审核批准后执行，并对成员进行培训。SOP 的编写方法在第 19 课讲解。</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华人民共和国安全生产法》要求单位制定事故应急救援预案，《高等学校实验室安全规范》也要求学校、学院和实验室建立应急预案并组织演练（以现行文本为准）。实验室层面的应急预案（或现场处置方案）应针对本室可能发生的事故（火灾、化学品泄漏、人员暴露、触电、病原微生物溢洒等），写清处置步骤、分工、报告程序和应急资源的位置。</a:t>
            </a:r>
          </a:p>
          <a:p>
            <a:r>
              <a:t>应急处置流程和应急电话（119、120、实验室负责人、学院、保卫处）应张贴在实验室显眼处。预案要定期组织演练，演练后总结问题、修订预案。各类事故的具体处置方法在第 14 章讲解。</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制度和手册不能写完就束之高阁。实验室的人员、设备、试剂和实验方法一直在变化：写着已拆除的设备、早已不用的试剂，而新引进的高危试剂、新仪器却没有规程，这样的手册已经失效。</a:t>
            </a:r>
          </a:p>
          <a:p>
            <a:r>
              <a:t>因此，制度要定期修订（以本校规定周期为准），在引入新试剂、新设备、新方法或发生事故、险情后及时更新；新技术可能带来新的危害，要在使用前就考虑到。修订后还要对成员重新培训。可以经常问自己：手册和现实一致吗？新试剂写进去了吗？培训跟上了吗？</a:t>
            </a:r>
          </a:p>
          <a:p>
            <a:r>
              <a:t>手册是实验室与每位成员之间的约定，既要制定，更要执行。</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国外曾发生这样的事故：一名研究人员在放大使用遇空气自燃的试剂时，试剂起火，她没有穿阻燃实验服，最终不幸身亡。这间实验室有书面的安全计划，却没有落实到实处——没有确认操作人员的能力，没有要求必要的防护，也没有安排结伴操作。</a:t>
            </a:r>
          </a:p>
          <a:p>
            <a:r>
              <a:t>还有实验室因制度与现实严重脱节受到重罚：安全手册多年未修订，手册中的负责人早已离任，培训内容过时，新使用的高危试剂没有规程和专门区域。</a:t>
            </a:r>
          </a:p>
          <a:p>
            <a:r>
              <a:t>这些教训说明：制度的价值在于执行。高危操作前必须确认防护到位（如阻燃服、面屏）、确认操作者经过培训且具备能力、安排他人在场；放大实验必须重新评估（第 19 课讲解）。</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制度管理中常见四个陷阱：一是手册只为应付检查而写，平时没人看、没人用；二是安全员随便指派、没有时间和权力，看到问题也管不了；三是安全管理和实验质量管理各管各的，实际上两者的记录、培训、设备管理高度重合，应当统一考虑；四是没出事就不报告险情——每一起事故背后，往往有许多次被忽视的险情和隐患。</a:t>
            </a:r>
          </a:p>
          <a:p>
            <a:r>
              <a:t>避开这些陷阱，制度才能真正起作用：手册日常使用，安全员真在岗、真管事、有实权，安全与质量一体管理，险情如实报告并整改。</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操作规程、检查单、应急预案等是受控文件：每份文件有编号和版本号，修改任何内容都要升级版本，注明修订日期和修改人，并经审批后发布；旧版本收回或标注作废，防止误用。文件的查阅和复制权限有规定，涉及安保敏感信息（如管控物质存放位置）的不能随意复印外传。</a:t>
            </a:r>
          </a:p>
          <a:p>
            <a:r>
              <a:t>培训、检查、事故和险情、设备使用、样本和试剂领用等都要登记，形成安全档案，归档保存。留痕可查，出了问题才能追溯原因、改进管理。档案保存期限见第 5 课。</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安全委员会（或安全工作领导小组）由管理者和一线人员代表共同组成，定期开会，专门讨论安全问题：分析检查和事故中发现的问题、审议制度修订、协调资源、听取一线人员的意见。一线人员最了解现场的风险，让他们发声，能让决策更贴近实际。</a:t>
            </a:r>
          </a:p>
          <a:p>
            <a:r>
              <a:t>高校通常在学校层面设有实验室安全工作领导机构，学院设有相应的安全工作小组，部分领域还有专门的委员会（如生物安全委员会，第 6 章讲解）。具体设置以本校规定为准。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衡量安全工作有两类指标。滞后指标反映已经发生的结果，例如事故次数、受伤人数、伤病缺勤天数，只能在事后知道，而且数字低不一定代表安全（可能只是运气好或瞒报）。领先指标反映预防工作的开展情况，例如培训完成率、巡查次数、隐患整改率、险情报告数量。</a:t>
            </a:r>
          </a:p>
          <a:p>
            <a:r>
              <a:t>只看滞后指标，往往要等出了事才发现问题；多关注领先指标，可以在事故之前发现薄弱环节。注意，险情报告数增加通常是好现象，说明大家愿意报告。</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职业健康安全管理体系是系统管理安全与健康风险的方法，其核心是 PDCA 循环：计划（识别危害、评估风险、确定目标和措施）、实施（按计划落实措施、培训和运行控制）、检查（监测、检查、审核、事故调查）、改进（纠正问题、修订制度），然后进入下一轮循环，螺旋上升。我国现行标准为 GB/T 45001-2020（以现行文本为准），等同采用相应国际标准，早期使用的旧版体系标准已被取代。</a:t>
            </a:r>
          </a:p>
          <a:p>
            <a:r>
              <a:t>落到实验室，这一思想可以概括为三点：以可靠的风险评估为基础；采用安全的方法和合适的设备；不断寻找更安全的做法，持续改进。高校实验室不一定都进行体系认证，但这种管理思路同样适用。</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环境管理体系是单位系统识别和控制自身活动对环境影响的管理方法，我国现行标准为 GB/T 24001-2016（以现行文本为准）。它同样采用 PDCA 循环：识别环境因素和合规义务，制定目标和措施，运行控制，监测检查，持续改进。</a:t>
            </a:r>
          </a:p>
          <a:p>
            <a:r>
              <a:t>实验室的环境因素包括危险废物和废液、废气排放、废水、能源和水的消耗等。用环境管理的思路管理实验室，有助于依法处置危险废物、减少排放和能耗。绿色实验室与节能环保在第 55 课讲解。</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仪器设备的安全管理应覆盖其全生命周期：采购前论证安全条件（场地、通风、供电、防护、是否属于特种设备或射线装置需办理手续）；到货后验收、建立设备档案；使用前对使用人员进行培训和授权，制定操作规程；使用中按期维护保养，属于强制检定或定期检验的按规定送检；停用、报废前进行清洁、去污（化学、生物、放射性），按学校资产和危险废物管理规定处置，不得随意丢弃或转让。</a:t>
            </a:r>
          </a:p>
          <a:p>
            <a:r>
              <a:t>《高等学校实验室安全规范》对仪器设备安全管理有相应要求（以现行文本为准）；特种设备还须遵守《中华人民共和国特种设备安全法》。</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答案：C。解析：领先指标反映预防工作的开展情况，事故次数、缺勤和赔偿属于滞后指标。</a:t>
            </a:r>
          </a:p>
          <a:p>
            <a:r>
              <a:t>第 2 题 答案：B。解析：规程是受控文件，修改须升版本、审批、发布并防止旧版误用。</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答案：B。解析：纸上的计划救不了人，关键在落实——防护、能力确认、结伴等都要做到。</a:t>
            </a:r>
          </a:p>
          <a:p>
            <a:r>
              <a:t>第 4 题 答案：A。解析：PDCA 循环，我国现行标准为 GB/T 45001-2020。</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答案：手册只为应付检查；安全员随便指派、没有实权；安全和质量各管各的；没出事就不报告险情。解析：见 K8。</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高校实行实验室安全准入制度：任何人员进入实验室开展实验前，必须接受安全教育培训并考核合格，签订安全承诺书，经批准后才能取得准入资格（具体流程以本校规定为准）。《中华人民共和国安全生产法》规定未经安全教育培训合格的人员不得上岗作业，高校实验室同样遵循这一原则。</a:t>
            </a:r>
          </a:p>
          <a:p>
            <a:r>
              <a:t>培训的关键是“学会”，而不是“到场”：签到不等于受了培训，培训后必须通过考核证明掌握了要求的内容。培训内容既包括操作规程，也包括应急预案和应急处置方法。</a:t>
            </a:r>
          </a:p>
          <a:p>
            <a:r>
              <a:t>取得准入后，进出实验室要按规定登记，听从实验室负责人和指导教师的安排。新实验开展前还要先做风险评估、确定防护措施（第 2 章讲解）。</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与三级管理相对应，安全培训一般分三层：学校层面组织通识安全教育和准入考试，内容覆盖法规制度、通用安全、消防、应急等；学院层面结合本学科的危险类别开设专项培训，例如化学品安全、生物安全、辐射安全、机电安全；实验室层面由负责人、安全员或带教人讲授本岗位、本课题使用的物质、设备、操作规程、应急设施和应急程序。</a:t>
            </a:r>
          </a:p>
          <a:p>
            <a:r>
              <a:t>三层培训缺一不可：学校和学院的培训打基础，实验室的培训解决“在这间屋子里、做这个实验具体怎么做”。生物安全、辐射、激光等专项培训分别见第 61、93、116 课。</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完成线上课程、拿到结业证书，只说明掌握了通用知识，并不等于可以进入某个实验室工作。每个实验室的危险源、布局、设备和规程都不同，还必须接受本实验室的现场培训，通过实操考核，经实验室负责人批准后才能准入。</a:t>
            </a:r>
          </a:p>
          <a:p>
            <a:r>
              <a:t>同样，实验室准备引入一种新的危险化学品或开展新的危险性工作时，如果相应的操作规程还没有制定、人员培训还没有完成，就不能使用，也不能先储存这种化学品。</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使用单位有责任组织培训，教会人员正确操作。培训要具体到岗位：这个岗位接触哪些危害（化学、生物、物理、电气等），如何识别，自己应采取哪些防护措施和安全操作方法，出现异常和事故怎么办。培训的目标是让人既会识别危害，也会控制危害。</a:t>
            </a:r>
          </a:p>
          <a:p>
            <a:r>
              <a:t>需要培训的不只是做实验的人：安装、维修、维护电气设备的人员，以及在电气设备旁边工作的人员，都要接受相应的培训（电工作业须持证）。负责危险废物管理、承担应急职责的人员还有专门的培训要求，需要什么培训、到哪里参加，要事先向学院或学校问清楚。</a:t>
            </a:r>
          </a:p>
          <a:p>
            <a:r>
              <a:t>没有经过培训就上手操作，是事故和伤害的常见原因。</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线上学习和考试是准入的门槛，但仅靠在电脑上刷题，无法掌握实际操作。有效的培训必须包括现场讲解和动手练习：亲手穿脱防护装备、操作通风柜和设备、使用洗眼器和灭火器，在练习中发现问题、当场纠正。培训中有疑问随时提出，问到真正会为止。</a:t>
            </a:r>
          </a:p>
          <a:p>
            <a:r>
              <a:t>培训应当按需设计：先分析不同人员需要什么（新生、老生、教师、维修人员需求不同），据此确定内容和方式；培训后通过考核、实操和日常观察检验效果，并定期再培训。对带教人来说，教别人的过程也是巩固自己的过程。</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新人掌握一项操作，一般要经过三个阶段：先观察老手完整、规范地操作，听清每一步的要点和危险点；再在老手看护下亲自操作，哪一步不到位当场纠正、重新练习；最后通过实操考核（做一遍给带教人看），由负责人确认后才能独立操作。第一次做某个实验，一定要在老师或带教人指导下进行。</a:t>
            </a:r>
          </a:p>
          <a:p>
            <a:r>
              <a:t>过程中有任何疑问随时提出，不要硬着头皮上。危险性较高的操作（如使用剧毒品、高压、自燃试剂等）不得一个人在实验室进行，要有人在场或按本校规定执行。</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进入新实验室，面对新同事、新材料、新流程，既兴奋又有压力。这时最重要的不是马上开始实验，而是学会在这里安全地工作。</a:t>
            </a:r>
          </a:p>
          <a:p>
            <a:r>
              <a:t>第一天应由实验室负责人或安全员带领巡视一圈，逐一指出危险的地方：气瓶在哪里、化学品柜和危险废物暂存点在哪里、哪些设备有特殊危险。然后实地走一遍应急设施：洗眼器、紧急喷淋、灭火器、急救箱、紧急切断开关和安全出口在哪里，怎么最快到达。还要约定出事时如何通知全实验室的人（喊话、警报方式等），以及本室所用物料各自的应急处置方法。</a:t>
            </a:r>
          </a:p>
          <a:p>
            <a:r>
              <a:t>就像熟悉灯开关在哪里一样，第一天就要学会这里的安全规则。看不懂的随时问负责人和安全员。</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新人入门可以记住六件事：一是知道自己要用哪些物质和设备；二是知道化学品安全技术说明书（SDS）和实验室安全手册放在哪里，随时可查；三是知道需要什么防护、怎样正确使用；四是使用设备前先检查状态是否正常；五是保持台面整洁有序；六是知道出了事怎么应急。最后，听从实验室负责人的安排，遵守规矩，才能天天安全。</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除准入培训外，建议参加学校或学院组织的应急技能培训：灭火器使用培训（在培训场地用训练灭火器或模拟器亲手练习提、拔、握、压的动作，第 4 章讲解），以及急救和心肺复苏培训（在训练模型上练习）。这些技能平时用不上，关键时刻却可能挽救生命。</a:t>
            </a:r>
          </a:p>
          <a:p>
            <a:r>
              <a:t>应急技能要定期复习；没有经过培训的人员，在火情面前首先要确保自身安全、及时报警（119）和撤离。</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准入培训不是一劳永逸的。出现下列情况时，要先补专项培训再操作：更换课题或开展新的实验，使用此前没有用过的设备或危险物质，操作规程修订改版，从低风险实验转入高风险实验。必要时还要重新进行风险评估和实操考核。</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长时间（如一个假期或更久）没有进行某项操作，熟练度会下降，容易出错。重新开始前，应先复习规程，在他人看护下操作一遍，确认没有问题后再独立进行。</a:t>
            </a:r>
          </a:p>
          <a:p>
            <a:r>
              <a:t>所有人员都要定期复训，有经验的老手也不例外，规程更新时更要及时学习；同时定期参加应急演练，保持应急处置能力。复训周期以本校和本实验室规定为准。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每次培训都要留下记录，内容包括：培训主题和内容、培训人、受训人、日期、考核方式和结果。《中华人民共和国安全生产法》要求单位建立安全教育培训档案，如实记录培训情况（以现行文本为准）；高校实验室安全检查也会核对培训和准入记录。</a:t>
            </a:r>
          </a:p>
          <a:p>
            <a:r>
              <a:t>培训记录要归档保存，并跟踪复训到期时间，及时提醒。好的培训记录能证明人员真正掌握了内容，而不只是签过到。</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课程各节讲的是通用的安全知识和原则，是打基础的。每个实验室的设施、设备、物质和管理要求不同，具体的操作方法和要求一律以本实验室的安全操作规程、安全手册和负责人的指导为准。课程内容与本实验室规程不一致时，以本实验室规程和本校规定为准，并可向负责人反映。</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毕业、出站、调离或离开课题组前，要按本校和本实验室规定办理离岗交接：自己名下的样本、试剂、危险化学品逐一清点，与接收人或负责人当面交接，并更新台账；不需要保留的按规定处置（危险废物交有资质单位处置，感染性材料灭活处理），不留下无人认领、无标签的样本和试剂；实验记录、数据和相关资料完整移交；归还钥匙、门禁卡，注销门禁和仪器使用权限。</a:t>
            </a:r>
          </a:p>
          <a:p>
            <a:r>
              <a:t>无主样本和试剂是实验室常见的隐患来源：标签模糊、性质不明，处置困难，甚至可能变质产生危险。离开时办好交接，是对实验室和后来者负责。</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答案：C。解析：通用证书只是第一步，还要本室培训、实操考核和批准；签到不等于培训。</a:t>
            </a:r>
          </a:p>
          <a:p>
            <a:r>
              <a:t>第 2 题 答案：B。解析：先跟做，再在看护下做并当场纠正，考核通过才能独立。</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答案：A。解析：规程改版、换课题、用新设备都要补专项培训，定期复训老手也不例外。</a:t>
            </a:r>
          </a:p>
          <a:p>
            <a:r>
              <a:t>第 4 题 答案：D。解析：不能留下无人认领的样本和试剂，不需要的要按规定处置。</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答案：B。解析：第一天最重要的是学会在这里安全地工作。</a:t>
            </a:r>
          </a:p>
          <a:p>
            <a:r>
              <a:t>第 6 题 答案：培训内容、培训人、受训人、日期、考核方式和结果。解析：记录要能证明真正掌握，并跟踪复训到期时间。</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开放日、参观考察、招生宣传、科普活动时，常有校外人员或其他专业的师生进入实验室。他们对实验设备感兴趣，这很正常，也值得欢迎。但访客习惯的是家和办公室，不知道实验室里哪些东西危险、哪些地方不能去，也没有接受过本实验室的安全培训。</a:t>
            </a:r>
          </a:p>
          <a:p>
            <a:r>
              <a:t>因此接待参观的人（向导）最重要的职责不是讲解得多精彩，而是保护访客的安全：可以展示，但眼睛一直要留意每一位访客的位置和动作。一次参观的人数应与向导能照看的范围相适应，必要时分组进行。</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外来人员进入实验室，应按本校规定办理：一是登记，写明姓名、单位、事由、进出时间和接待人；二是经实验室负责人（必要时经学院）批准；三是进门前进行安全交底，讲清实验室的主要危险、不能触碰的物品和设备、需要佩戴的防护用品、应急出口和集合点；四是佩戴访客标识，由本实验室人员全程陪同。</a:t>
            </a:r>
          </a:p>
          <a:p>
            <a:r>
              <a:t>访客不得单独在实验室内走动，不得操作仪器设备，不得触碰化学品、样品和废弃物。参观结束后核对人数并登记离开时间。</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访客往往穿着便装甚至凉鞋、短裙前来，身上没有任何防护。接待方应在参观前通知访客着装要求：穿长裤和包住脚面的鞋，长发束起，不戴悬垂饰物。</a:t>
            </a:r>
          </a:p>
          <a:p>
            <a:r>
              <a:t>进门时按实验室风险发放防护用品，至少佩戴护目镜，必要时穿实验服。着装不符合要求的访客，不进入操作区，只在走廊或观察区参观。个人防护的具体要求见第 3 章。</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访客不熟悉现场，容易被通道上的纸箱、线缆、软管绊倒。参观前要把参观路线清理干净，保持通道畅通。</a:t>
            </a:r>
          </a:p>
          <a:p>
            <a:r>
              <a:t>在工程训练中心、大型设备实验室等场所，访客在场时应暂停吊装、搬运重物、装卸板材等作业；起重机械作业要遵守特种设备的有关规定，吊运区下方任何人不得站立和通过（以本校规定为准）。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参观区可以用地面黄色警戒线等方式划定，位置既要能看清设备和演示，又要在设备运动范围、飞溅范围和危险区之外。走到设备前，人人都想凑近看，向导要提前说明“只在线内看”，发现越线及时提醒退回。</a:t>
            </a:r>
          </a:p>
          <a:p>
            <a:r>
              <a:t>激光加工设备、激光实验室等区域设有激光警告标志和隔离措施，访客不得越线进入，只能隔着设备的观察窗或防护屏观看，不靠近机门，不打开防护门。激光的危害和防护见第 9 章。</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很多设备的台面、格栅、导轨边缘锋利，部件可能是热的或会突然移动。访客和非操作人员不要倚靠在设备上，不要把手搭在格栅或台面上，更不能爬上台面。曾有人摔倒在设备台面上，受了很重的伤。</a:t>
            </a:r>
          </a:p>
          <a:p>
            <a:r>
              <a:t>向导在讲解前就要提醒“不靠、不搭、不爬”，并注意儿童和青少年访客的好奇举动。</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实验室和车间里有不少会突然启动或发出巨响的设备：气动台面、储气罐排气、自动门、真空泵、离心机、空压机等。气动上料台的滚珠靠压缩空气顶起，一按按钮就会“砰”的一声升起。</a:t>
            </a:r>
          </a:p>
          <a:p>
            <a:r>
              <a:t>受惊本身也会造成伤害：人被吓到后会本能地后退，撞上货架、设备或其他人，甚至摔倒。背对设备站立、第一次来的人最容易受惊。向导要事先了解现场哪些设备会突然动作，站位时让访客面向设备，替他们留意。</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操作人员和向导在设备动作前，先告诉访客接下来要做什么，指出声音从哪里发出、哪个部位会怎样运动，然后再操作。访客心里有准备，就不会突然受惊后退。</a:t>
            </a:r>
          </a:p>
          <a:p>
            <a:r>
              <a:t>这一做法同样适用于实验室内部：在他人身边开启设备、移动物品、开关柜门前，先说一声。</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访客喜欢拍照、拍视频留念，这可以在规定范围内进行：只在参观区内拍摄，不为了取景越线，不挤到操作人员身边，不使用闪光灯干扰操作。</a:t>
            </a:r>
          </a:p>
          <a:p>
            <a:r>
              <a:t>涉及危险化学品储存、病原微生物、放射源、重要科研数据和未公开成果的区域，以及标明禁止拍摄的地方，一律不拍；拍摄的内容不得暴露安保设施的位置和薄弱环节（以本校规定为准）。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病原微生物实验室（尤其是二级及以上生物安全实验室）、放射性同位素和射线装置工作场所、剧毒和易制爆等危险化学品储存场所，有专门的准入和安保要求，一般不安排参观；确需进入的，要按相关法规和本校规定另行审批，并由具备资质的人员陪同。</a:t>
            </a:r>
          </a:p>
          <a:p>
            <a:r>
              <a:t>实验室成员发现走廊或实验室内有身份不明的陌生人，应礼貌询问来意；无法确认时不要放行，及时报告实验室负责人或学校保卫处。</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访客不熟悉实验室的布局、安全出口和应急集合点。参观前的安全交底就要说明：一旦听到警报或接到撤离指令，跟着向导走，不要自行乱跑，不要返回取物。</a:t>
            </a:r>
          </a:p>
          <a:p>
            <a:r>
              <a:t>发生紧急情况时，向导立即组织访客沿疏散通道撤离到集合点，清点人数，确认无人遗漏，并向现场负责人报告；如有人员不明下落，告知消防救援人员，不要自行返回寻找。报火警拨打 119，急救拨打 120。</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后勤维修、设备厂家工程师、保洁人员等进入实验室区域作业时，往往并不了解实验室里有哪些危险。实验室要主动告知：作业点附近有哪些化学品、气体、生物材料、带电设备，哪些东西不能碰，出了意外怎么办。</a:t>
            </a:r>
          </a:p>
          <a:p>
            <a:r>
              <a:t>同时，外来作业人员也应主动询问作业部位（如通风管道、排水管、配电箱）可能残留的危险物质。双方都把信息讲清楚，才能避免伤害。</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外来人员在实验室内维修、安装或施工前，实验室负责人或安全员应当面交底，必要时填写作业审批单。随后做好现场准备：把作业点附近的化学品移走或妥善存放，关闭相关气源、水源、电源并挂牌提示，对要触碰的设备、管道和台面先进行去污（涉及生物材料的先消毒），标明仍有危险的部位。</a:t>
            </a:r>
          </a:p>
          <a:p>
            <a:r>
              <a:t>作业期间实验室要有人陪同，随时提醒；作业完成后检查现场、恢复设施并登记离开，不让外来人员独自进出实验室。动火、高处、带电等特殊作业要按学校规定另行审批，校园施工承包商管理见第 146 课。</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学生社团开展科普展示、竞赛、实践等活动，活动方案（时间、地点、内容、人数、风险和防范措施、应急预案）要先报指导教师和学校有关部门审批，批准后才能举办。</a:t>
            </a:r>
          </a:p>
          <a:p>
            <a:r>
              <a:t>每场活动都要指定安全负责人，负责活动前检查场地、活动中维持秩序、发生意外时组织处置和报告。活动内容有安全风险的，要相应调整或取消。</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社团借用实验室开展活动，与正式进入实验室工作一样，参加者要先完成实验室安全培训和准入考核（见第 007 课），并经实验室负责人同意。活动时要有指导教师或实验室人员在场，所有人遵守该实验室的规章制度和着装要求。</a:t>
            </a:r>
          </a:p>
          <a:p>
            <a:r>
              <a:t>活动中不进行明火表演和未经评估的“趣味实验”，不私自携带化学品、气体和生物材料进入实验室；所需材料由实验室按规定提供和管理，活动结束后清理现场、交还实验室。</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答案：B。解析：外来人员要登记、批准、交底、全程陪同，不得单独走动和操作设备。</a:t>
            </a:r>
          </a:p>
          <a:p>
            <a:r>
              <a:t>第 2 题 答案：B。解析：激光区不越线，只能隔着观察窗看，不靠近机门、不打开防护门。</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答案：B。解析：先说清楚再动手，访客心里有数就不会受惊后退、碰撞摔倒。</a:t>
            </a:r>
          </a:p>
          <a:p>
            <a:r>
              <a:t>第 4 题 答案：D。解析：作业期间实验室要有人陪同，不让外来人员独自进出。</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答案：B。解析：社团活动先审批、定安全负责人；借用实验室须培训准入、老师在场，不私带化学品。</a:t>
            </a:r>
          </a:p>
          <a:p>
            <a:r>
              <a:t>第 6 题 答案：不倚靠设备，不把手搭在格栅或台面上，不爬上设备台面。解析：设备格栅锋利、部件可能突然移动，摔在台面上会严重受伤。</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实验室是多人共用的危险场所，一个人的随意行为可能伤到整个实验室的人。了解规则、遵守规则，是每个人的责任；同时还要学会发现身边的安全隐患，及时提醒或报告。</a:t>
            </a:r>
          </a:p>
          <a:p>
            <a:r>
              <a:t>“体谅前一个人，照顾下一个人”：用前检查，不抱怨前人留下的问题而是按规定处理；用后清理台面、设备归位、废物处置好，把干净安全的环境交给下一位使用者。安全从规范自己的行为做起。</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教学实验课上，指导教师或实验室负责人应始终在场；科研实验中，实验室负责人和导师对本实验室的安全负责（见第 004 课）。开始操作前，他们会讲清实验技术、设备使用方法、需要的防护和注意事项。</a:t>
            </a:r>
          </a:p>
          <a:p>
            <a:r>
              <a:t>遇到问题先找负责人或指导教师。负责人、安全员发出的安全指令（如停止操作、撤离、佩戴防护用品）必须立即执行，有不同意见事后再沟通。</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实验前要认真预习实验讲义或实验方案：明确实验目的、原理、步骤，使用的化学品和设备有哪些危害，需要哪些防护，出现意外如何处置。不能到了实验室才临时翻讲义、等别人告诉你怎么做。</a:t>
            </a:r>
          </a:p>
          <a:p>
            <a:r>
              <a:t>演示视频和老师的示范可以帮助理解操作，但只是预习的一部分，代替不了阅读讲义。原理不懂，就无法判断操作中的异常；只懂原理不会操作，也做不好实验。两样都要掌握。</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实验操作要严格按照书面的操作规程（SOP）或经批准的实验方案进行，一步一步做，不跳步、不随意调换顺序、不凭感觉增减用量和条件。规程的编写见第 019 课。</a:t>
            </a:r>
          </a:p>
          <a:p>
            <a:r>
              <a:t>只做自己受过培训、经考核允许独立操作的工作。别人交给你的陌生任务、没培训过的仪器，要先接受培训，不能“边看边学”直接上手（见第 007 课）。</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实验中遇到拿不准的情况——仪器怎么用、条件能不能改、出现了没见过的现象——先停下来问导师、负责人或带教人。自己乱试可能酿成事故；“慢慢做、小心点”也不能代替弄清楚。</a:t>
            </a:r>
          </a:p>
          <a:p>
            <a:r>
              <a:t>不擅自改变实验方案：改变试剂、用量、温度、压力、规模，或者改变装置的摆放（例如要在另一台仪器旁边放一台加热板），都可能带来新的风险，须先经负责人同意，必要时重新进行风险评估（第 2 章讲解）。</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化学品和病原微生物等有害物质进入人体，主要有四条途径：经口食入、经呼吸道吸入、经皮肤和黏膜接触吸收、经锐器刺伤或割伤进入。</a:t>
            </a:r>
          </a:p>
          <a:p>
            <a:r>
              <a:t>实验室行为守则的很多条目，正是为了堵住这些途径：不吃不喝、不用手碰嘴，堵住食入；在通风柜内操作、不闻试剂，减少吸入；戴手套、不用手直接接触，防止皮肤吸收；规范使用锐器，防止刺伤。理解了“为什么”，就更容易做到“怎么做”。</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手上、台面上、空气中的污染物会通过饮食进入人体，因此实验室工作区内禁止饮食、饮水、嚼口香糖，禁止吸烟（含电子烟），不化妆，不咬笔头、不用手摸脸。水杯、零食和书包放在实验室外或指定的存放区，吃喝到休息区进行，离开实验室前先洗手。</a:t>
            </a:r>
          </a:p>
          <a:p>
            <a:r>
              <a:t>实验室不是宿舍，不得在实验室内留宿、休息过夜。保持通道畅通、台面整洁。着装（长发束起、长裤、不穿短裙和露脚鞋）和个人卫生的详细要求见第 3 章。</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存放试剂、样品、培养物的冰箱和培养箱，以及实验用的微波炉、烘箱，都可能被化学品或微生物污染，不得存放或加热食品、饮料。同样，食品冰箱不能存放试剂和样品。</a:t>
            </a:r>
          </a:p>
          <a:p>
            <a:r>
              <a:t>实验用冰箱要有明显标识（如“禁止存放食品”）；存放易燃溶剂的冰箱还须符合防爆要求（第 5 章讲解）。</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任何化学品、反应产物和样品，都不能用手直接接触，更不能尝味道或凑近容器口闻气味。取用固体用刮刀、药匙或镊子，取用液体用移液器或滴管，并佩戴合适的手套。</a:t>
            </a:r>
          </a:p>
          <a:p>
            <a:r>
              <a:t>确需辨别气味时（教学中极少需要），只能按老师指导用手轻轻扇动、远距离闻，且仅限明确低毒的物质。</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实验时要专心，不玩手机、不戴耳机听音乐、不闲聊分心。实验室里不奔跑、不打闹、不搞恶作剧——一次推搡就可能打翻试剂瓶、撞倒装置。加热和反应进行中不离开岗位。</a:t>
            </a:r>
          </a:p>
          <a:p>
            <a:r>
              <a:t>专心不等于只盯着自己：要留意周围有谁、在做什么，看到地上的水、没盖好的试剂、异常的气味和声音，马上说出来。实验数据如实记录，这是科研诚信，也是事故追溯的依据。</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个真实常见的场景：有人辛苦一周准备好一排样品，离开去休息，回来发现被别人当成废瓶洗掉了。这既毁了别人的工作，也可能因为倒掉未知物质而引发危险。两条教训：不认识的瓶子，不要随便洗或倒；再生气，也不要拿东西撒气。</a:t>
            </a:r>
          </a:p>
          <a:p>
            <a:r>
              <a:t>自己的样品和试剂要贴好标签，写明名称、所有人、日期；看到不认识的瓶子、不属于自己的样品，先问清楚再动，无人认领的报告负责人处理。公用的仪器、器具用前登记、用后清洁归位，不据为己有，不擅自挪用。</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仪器设备的外壳、防护罩、安全联锁和报警装置是保护使用者的关键措施。不得私自拆卸外壳和防护罩，不得短接、屏蔽联锁或报警，不得私自改动电路、气路，不得私拉乱接电线、串联插线板。</a:t>
            </a:r>
          </a:p>
          <a:p>
            <a:r>
              <a:t>设备确需改装、维修或改变用途的，报实验室负责人同意，由专业人员按规定实施，改装后经检查确认安全再使用。电气安全见第 8 章。</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个人在实验室做危险实验，一旦受伤、中毒或晕倒，就没有人能及时施救和报警。因此危险性较高的实验（如使用剧毒品、易燃易爆品、高温高压、高能量设备等）不得一个人进行，按本校规定至少两人在场，互相照应。</a:t>
            </a:r>
          </a:p>
          <a:p>
            <a:r>
              <a:t>即使是一般实验，也尽量不要在实验室独处；确需单独工作时，要登记去向，让同伴或负责人知道你在哪里、在做什么、预计何时结束，并按约定保持联系。</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夜间、周末和节假日实验室人少，出了事难以及时发现和救援，风险更高。确需在这些时间做实验的，应按本校规定提前向实验室负责人报备或申请，经同意后进行；高风险操作一般不安排在此时，确需进行的必须两人以上在场。</a:t>
            </a:r>
          </a:p>
          <a:p>
            <a:r>
              <a:t>疲劳会让注意力和判断力明显下降，是差错的重要原因（见第 011 课）。累了就停下来休息，不熬夜赶实验。</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加热、回流、蒸馏等反应进行中，操作人不得离开。确需长时间或过夜运行的设备（如培养箱、某些长时间反应），要经实验室负责人同意，确认设备和防护措施可靠（如温控、过热保护、冷却水断流保护），并在设备上挂牌，写明实验内容、负责人、运行起止时间和联系电话，出现状况时别人能马上找到你。</a:t>
            </a:r>
          </a:p>
          <a:p>
            <a:r>
              <a:t>不需要继续运行的设备，离开前一律关闭、断电。明火和电炉等加热设备不得无人看管。</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结束或最后一个离开实验室时，要逐项检查：水龙头和冷却水是否关闭，不用的设备是否断电，气瓶总阀和燃气阀是否关闭，化学品是否归位，门窗是否关好，然后再锁门离开。很多实验室在门口设有离开前检查表，照表逐项确认。</a:t>
            </a:r>
          </a:p>
          <a:p>
            <a:r>
              <a:t>漏关的冷却水可能水淹楼下，忘断的电源可能引起火灾，没关的气阀可能导致泄漏，离开前的一分钟检查非常值得。</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答案：C。解析：实验室工作区禁止饮食，实验用冰箱和微波炉不得存放或加热食品。</a:t>
            </a:r>
          </a:p>
          <a:p>
            <a:r>
              <a:t>第 2 题 答案：B。解析：危险实验不得独自做，按规定至少两人在场；夜间节假日实验要先报备。</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答案：C。解析：不认识的瓶子先问再动，自己的样品要贴好名字和日期。</a:t>
            </a:r>
          </a:p>
          <a:p>
            <a:r>
              <a:t>第 4 题 答案：B。解析：无人值守运行须经同意并挂牌留联系方式，其他设备离开前断电。</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答案：C。解析：不得私自改装设备、短接联锁，改装维修由专业人员按规定实施。</a:t>
            </a:r>
          </a:p>
          <a:p>
            <a:r>
              <a:t>第 6 题 答案：食入、吸入、皮肤和黏膜接触、锐器刺伤。解析：不吃不喝、不闻、戴手套、规范用锐器等守则就是堵住这些途径。</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9.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001</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课程导学：从规则到风险管理</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第1章 法规、管理与安全文化</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4 分钟（卡通视频 48 镜）　适用对象：全体进入高校实验室的本科生、研究生、新进教职工和博士后（必修，建议入学或进入实验室前学习）</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001 · 课程导学：从规则到风险管理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001 课程导学：从规则到风险管理</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能说出实验室常见事故类型，以及一次实验同时关系到的人员、设备、样品数据和单位科研资格。</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能区分事故的直接成本与间接成本，说出高校事故特有的损失。</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能说明“安全第一、预防为主、综合治理”方针和“从背规则到懂原则、会评估”的学习思路。</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能做到：明白本课程不能代替学校、学院和本实验室的培训与操作规程，遇到不确定的情况先问再做。</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001 · 课程导学：从规则到风险管理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001 课程导学：从规则到风险管理</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《中华人民共和国安全生产法》（以现行文本为准）：安全生产工作坚持安全第一、预防为主、综合治理的方针</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号）：实验室安全工作的总体要求、安全教育培训与准入（以现行文本为准）</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教育部高校实验室安全检查项目表（以现行文本为准）：安全教育与培训类检查项</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本校实验室安全管理办法、准入制度和本实验室安全操作规程（以本校规定为准）</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001 · 课程导学：从规则到风险管理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实验室事故离我们不远</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001 课程导学：从规则到风险管理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实验室事故每年都在发生，不是偶然个例</a:t>
            </a:r>
          </a:p>
          <a:p>
            <a:pPr>
              <a:spcAft>
                <a:spcPts val="1000"/>
              </a:spcAft>
            </a:pPr>
            <a:r>
              <a:rPr sz="2000">
                <a:solidFill>
                  <a:srgbClr val="222B33"/>
                </a:solidFill>
                <a:latin typeface="Microsoft YaHei"/>
              </a:rPr>
              <a:t>▪ 常见类型：溢洒、针刺、感染、火灾和爆炸</a:t>
            </a:r>
          </a:p>
          <a:p>
            <a:pPr>
              <a:spcAft>
                <a:spcPts val="1000"/>
              </a:spcAft>
            </a:pPr>
            <a:r>
              <a:rPr sz="2000">
                <a:solidFill>
                  <a:srgbClr val="222B33"/>
                </a:solidFill>
                <a:latin typeface="Microsoft YaHei"/>
              </a:rPr>
              <a:t>▪ 严重时可致伤、致残甚至死亡</a:t>
            </a:r>
          </a:p>
          <a:p>
            <a:pPr>
              <a:spcAft>
                <a:spcPts val="1000"/>
              </a:spcAft>
            </a:pPr>
            <a:r>
              <a:rPr sz="2000">
                <a:solidFill>
                  <a:srgbClr val="222B33"/>
                </a:solidFill>
                <a:latin typeface="Microsoft YaHei"/>
              </a:rPr>
              <a:t>▪ 安全意识要从第一次进实验室开始</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高校实验室集中了化学品、病原微生物、放射源和射线装置、高压气瓶、高温高压设备、激光和电气设备等多种危险源，人员流动大、新手多、实验内容经常变化，事故风险客观存在。国内外高校每年都有实验室事故的报道，它们并不遥远，也不……</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认为事故只发生在别人身上或“危险专业”</a:t>
            </a:r>
          </a:p>
          <a:p>
            <a:pPr>
              <a:spcAft>
                <a:spcPts val="1000"/>
              </a:spcAft>
            </a:pPr>
            <a:r>
              <a:rPr sz="1500">
                <a:solidFill>
                  <a:srgbClr val="222B33"/>
                </a:solidFill>
                <a:latin typeface="Microsoft YaHei"/>
              </a:rPr>
              <a:t>▪ 觉得自己只做简单实验，不需要学安全知识</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001 · 课程导学：从规则到风险管理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安全是科研的地基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001 课程导学：从规则到风险管理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安全不是为了应付检查打勾</a:t>
            </a:r>
          </a:p>
          <a:p>
            <a:pPr>
              <a:spcAft>
                <a:spcPts val="1000"/>
              </a:spcAft>
            </a:pPr>
            <a:r>
              <a:rPr sz="2000">
                <a:solidFill>
                  <a:srgbClr val="222B33"/>
                </a:solidFill>
                <a:latin typeface="Microsoft YaHei"/>
              </a:rPr>
              <a:t>▪ 安全像地基，托起所有科研活动</a:t>
            </a:r>
          </a:p>
          <a:p>
            <a:pPr>
              <a:spcAft>
                <a:spcPts val="1000"/>
              </a:spcAft>
            </a:pPr>
            <a:r>
              <a:rPr sz="2000">
                <a:solidFill>
                  <a:srgbClr val="222B33"/>
                </a:solidFill>
                <a:latin typeface="Microsoft YaHei"/>
              </a:rPr>
              <a:t>▪ 安全、质量、数据三者密不可分</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有的同学把安全当成“检查前突击整理、检查表上打勾”的任务。实际上安全是科研活动的前提和基础：没有安全，实验无法持续进行，已经取得的成果也可能因为一次事故毁于一旦。</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平时不管，检查前突击整改、补记录</a:t>
            </a:r>
          </a:p>
          <a:p>
            <a:pPr>
              <a:spcAft>
                <a:spcPts val="1000"/>
              </a:spcAft>
            </a:pPr>
            <a:r>
              <a:rPr sz="1500">
                <a:solidFill>
                  <a:srgbClr val="222B33"/>
                </a:solidFill>
                <a:latin typeface="Microsoft YaHei"/>
              </a:rPr>
              <a:t>▪ 把安全和科研效率对立起来，觉得“讲安全耽误进度”</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001 · 课程导学：从规则到风险管理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每次实验押上的四样东西</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001 课程导学：从规则到风险管理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第一是人员的生命和健康</a:t>
            </a:r>
          </a:p>
          <a:p>
            <a:pPr>
              <a:spcAft>
                <a:spcPts val="1000"/>
              </a:spcAft>
            </a:pPr>
            <a:r>
              <a:rPr sz="2000">
                <a:solidFill>
                  <a:srgbClr val="222B33"/>
                </a:solidFill>
                <a:latin typeface="Microsoft YaHei"/>
              </a:rPr>
              <a:t>▪ 还有仪器设备和样品数据</a:t>
            </a:r>
          </a:p>
          <a:p>
            <a:pPr>
              <a:spcAft>
                <a:spcPts val="1000"/>
              </a:spcAft>
            </a:pPr>
            <a:r>
              <a:rPr sz="2000">
                <a:solidFill>
                  <a:srgbClr val="222B33"/>
                </a:solidFill>
                <a:latin typeface="Microsoft YaHei"/>
              </a:rPr>
              <a:t>▪ 以及单位继续开展科研的资格</a:t>
            </a:r>
          </a:p>
          <a:p>
            <a:pPr>
              <a:spcAft>
                <a:spcPts val="1000"/>
              </a:spcAft>
            </a:pPr>
            <a:r>
              <a:rPr sz="2000">
                <a:solidFill>
                  <a:srgbClr val="222B33"/>
                </a:solidFill>
                <a:latin typeface="Microsoft YaHei"/>
              </a:rPr>
              <a:t>▪ 同一实验室里每个人的安全都和你相关</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每一次实验，都同时关系到四样东西：自己和他人的生命健康；价值较高、来之不易的仪器设备和设施；长期积累的样品、试剂和实验数据；以及学校、学院和实验室继续开展相关科研活动的资格。发生严重事故后，实验室可能被要求停业整改，……</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只考虑自己有没有防护，不顾及周围同学</a:t>
            </a:r>
          </a:p>
          <a:p>
            <a:pPr>
              <a:spcAft>
                <a:spcPts val="1000"/>
              </a:spcAft>
            </a:pPr>
            <a:r>
              <a:rPr sz="1500">
                <a:solidFill>
                  <a:srgbClr val="222B33"/>
                </a:solidFill>
                <a:latin typeface="Microsoft YaHei"/>
              </a:rPr>
              <a:t>▪ 发现别人违规操作或存在隐患时不提醒、不报告</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001 · 课程导学：从规则到风险管理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事故的代价远不止医药费</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001 课程导学：从规则到风险管理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直接成本：医疗费、赔偿金等看得见的支出</a:t>
            </a:r>
          </a:p>
          <a:p>
            <a:pPr>
              <a:spcAft>
                <a:spcPts val="1000"/>
              </a:spcAft>
            </a:pPr>
            <a:r>
              <a:rPr sz="2000">
                <a:solidFill>
                  <a:srgbClr val="222B33"/>
                </a:solidFill>
                <a:latin typeface="Microsoft YaHei"/>
              </a:rPr>
              <a:t>▪ 间接成本：停工、事故调查、误工等</a:t>
            </a:r>
          </a:p>
          <a:p>
            <a:pPr>
              <a:spcAft>
                <a:spcPts val="1000"/>
              </a:spcAft>
            </a:pPr>
            <a:r>
              <a:rPr sz="2000">
                <a:solidFill>
                  <a:srgbClr val="222B33"/>
                </a:solidFill>
                <a:latin typeface="Microsoft YaHei"/>
              </a:rPr>
              <a:t>▪ 高校还有实验停摆、样品报废、学业延误</a:t>
            </a:r>
          </a:p>
          <a:p>
            <a:pPr>
              <a:spcAft>
                <a:spcPts val="1000"/>
              </a:spcAft>
            </a:pPr>
            <a:r>
              <a:rPr sz="2000">
                <a:solidFill>
                  <a:srgbClr val="222B33"/>
                </a:solidFill>
                <a:latin typeface="Microsoft YaHei"/>
              </a:rPr>
              <a:t>▪ 间接损失往往远大于直接损失</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事故的成本可以分为两部分。直接成本是看得见、能直接计算的支出，例如医疗费用、赔偿金、设备维修和更换费用。间接成本则像冰山的水下部分：受伤人员和相关人员的误工、实验室停用整改、事故调查和处理占用的时间、管理成本、声誉损……</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只算医药费，忽视停工、调查和学业延误等间接损失</a:t>
            </a:r>
          </a:p>
          <a:p>
            <a:pPr>
              <a:spcAft>
                <a:spcPts val="1000"/>
              </a:spcAft>
            </a:pPr>
            <a:r>
              <a:rPr sz="1500">
                <a:solidFill>
                  <a:srgbClr val="222B33"/>
                </a:solidFill>
                <a:latin typeface="Microsoft YaHei"/>
              </a:rPr>
              <a:t>▪ 认为“没伤到人就不算事故”，不报告未遂事件</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001 · 课程导学：从规则到风险管理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从背规则到懂原则、会评估</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001 课程导学：从规则到风险管理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高中学过的规则，大学还会再强调</a:t>
            </a:r>
          </a:p>
          <a:p>
            <a:pPr>
              <a:spcAft>
                <a:spcPts val="1000"/>
              </a:spcAft>
            </a:pPr>
            <a:r>
              <a:rPr sz="2000">
                <a:solidFill>
                  <a:srgbClr val="222B33"/>
                </a:solidFill>
                <a:latin typeface="Microsoft YaHei"/>
              </a:rPr>
              <a:t>▪ 规则清单不可能覆盖所有新情况</a:t>
            </a:r>
          </a:p>
          <a:p>
            <a:pPr>
              <a:spcAft>
                <a:spcPts val="1000"/>
              </a:spcAft>
            </a:pPr>
            <a:r>
              <a:rPr sz="2000">
                <a:solidFill>
                  <a:srgbClr val="222B33"/>
                </a:solidFill>
                <a:latin typeface="Microsoft YaHei"/>
              </a:rPr>
              <a:t>▪ 懂原则：认危害、估风险、定措施、备应急</a:t>
            </a:r>
          </a:p>
          <a:p>
            <a:pPr>
              <a:spcAft>
                <a:spcPts val="1000"/>
              </a:spcAft>
            </a:pPr>
            <a:r>
              <a:rPr sz="2000">
                <a:solidFill>
                  <a:srgbClr val="222B33"/>
                </a:solidFill>
                <a:latin typeface="Microsoft YaHei"/>
              </a:rPr>
              <a:t>▪ 安全远不只是遵守规则</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中学阶段的实验安全教育以“规则”为主：必须戴护目镜、禁止饮食、不准嬉闹等。这些规则在大学依然有效，而且会被反复强调。但大学和研究生阶段的实验内容更新快、使用的物质和设备更多样，任何规则清单都不可能把所有情况写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认为“规则高中就背过了”，不再认真学习</a:t>
            </a:r>
          </a:p>
          <a:p>
            <a:pPr>
              <a:spcAft>
                <a:spcPts val="1000"/>
              </a:spcAft>
            </a:pPr>
            <a:r>
              <a:rPr sz="1500">
                <a:solidFill>
                  <a:srgbClr val="222B33"/>
                </a:solidFill>
                <a:latin typeface="Microsoft YaHei"/>
              </a:rPr>
              <a:t>▪ 遇到规则没写到的新情况就凭感觉操作</a:t>
            </a:r>
          </a:p>
          <a:p>
            <a:pPr>
              <a:spcAft>
                <a:spcPts val="1000"/>
              </a:spcAft>
            </a:pPr>
            <a:r>
              <a:rPr sz="1500">
                <a:solidFill>
                  <a:srgbClr val="222B33"/>
                </a:solidFill>
                <a:latin typeface="Microsoft YaHei"/>
              </a:rPr>
              <a:t>▪ 以“懂原则”为由自行变通、不遵守本实验室规定</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001 · 课程导学：从规则到风险管理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本课程不能代替本实验室培训</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001 课程导学：从规则到风险管理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本课程讲通用要点，帮助打基础</a:t>
            </a:r>
          </a:p>
          <a:p>
            <a:pPr>
              <a:spcAft>
                <a:spcPts val="1000"/>
              </a:spcAft>
            </a:pPr>
            <a:r>
              <a:rPr sz="2000">
                <a:solidFill>
                  <a:srgbClr val="222B33"/>
                </a:solidFill>
                <a:latin typeface="Microsoft YaHei"/>
              </a:rPr>
              <a:t>▪ 还须参加学校、学院和实验室的安全培训</a:t>
            </a:r>
          </a:p>
          <a:p>
            <a:pPr>
              <a:spcAft>
                <a:spcPts val="1000"/>
              </a:spcAft>
            </a:pPr>
            <a:r>
              <a:rPr sz="2000">
                <a:solidFill>
                  <a:srgbClr val="222B33"/>
                </a:solidFill>
                <a:latin typeface="Microsoft YaHei"/>
              </a:rPr>
              <a:t>▪ 进入实验室要学习本室规程、认清应急设施</a:t>
            </a:r>
          </a:p>
          <a:p>
            <a:pPr>
              <a:spcAft>
                <a:spcPts val="1000"/>
              </a:spcAft>
            </a:pPr>
            <a:r>
              <a:rPr sz="2000">
                <a:solidFill>
                  <a:srgbClr val="222B33"/>
                </a:solidFill>
                <a:latin typeface="Microsoft YaHei"/>
              </a:rPr>
              <a:t>▪ 拿不准就问实验室负责人和老师</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本课程讲的是高校实验室安全的通用知识和原则。不同实验室的危险源、设备和管理规定差别很大，课程内容不能代替学校、学院组织的安全培训和考核，也不能代替本实验室的安全操作规程和岗前指导。</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看完线上课程就以为可以独立做所有实验</a:t>
            </a:r>
          </a:p>
          <a:p>
            <a:pPr>
              <a:spcAft>
                <a:spcPts val="1000"/>
              </a:spcAft>
            </a:pPr>
            <a:r>
              <a:rPr sz="1500">
                <a:solidFill>
                  <a:srgbClr val="222B33"/>
                </a:solidFill>
                <a:latin typeface="Microsoft YaHei"/>
              </a:rPr>
              <a:t>▪ 进实验室不看安全信息牌，不知道应急设施在哪里</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001 · 课程导学：从规则到风险管理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安全第一、预防为主、综合治理</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001 课程导学：从规则到风险管理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安全生产法确立的基本方针</a:t>
            </a:r>
          </a:p>
          <a:p>
            <a:pPr>
              <a:spcAft>
                <a:spcPts val="1000"/>
              </a:spcAft>
            </a:pPr>
            <a:r>
              <a:rPr sz="2000">
                <a:solidFill>
                  <a:srgbClr val="222B33"/>
                </a:solidFill>
                <a:latin typeface="Microsoft YaHei"/>
              </a:rPr>
              <a:t>▪ 安全第一：安全优先于进度和效率</a:t>
            </a:r>
          </a:p>
          <a:p>
            <a:pPr>
              <a:spcAft>
                <a:spcPts val="1000"/>
              </a:spcAft>
            </a:pPr>
            <a:r>
              <a:rPr sz="2000">
                <a:solidFill>
                  <a:srgbClr val="222B33"/>
                </a:solidFill>
                <a:latin typeface="Microsoft YaHei"/>
              </a:rPr>
              <a:t>▪ 预防为主：功夫下在事前，不靠事后补救</a:t>
            </a:r>
          </a:p>
          <a:p>
            <a:pPr>
              <a:spcAft>
                <a:spcPts val="1000"/>
              </a:spcAft>
            </a:pPr>
            <a:r>
              <a:rPr sz="2000">
                <a:solidFill>
                  <a:srgbClr val="222B33"/>
                </a:solidFill>
                <a:latin typeface="Microsoft YaHei"/>
              </a:rPr>
              <a:t>▪ 高校实验室安全工作同样坚持这一方针</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中华人民共和国安全生产法》规定，安全生产工作坚持安全第一、预防为主、综合治理的方针。“安全第一”指在安全与进度、效率、成本发生冲突时，安全优先；“预防为主”指把工作重点放在事前的风险辨识、隐患排查和教育培训上；“综……</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为赶进度省略安全步骤</a:t>
            </a:r>
          </a:p>
          <a:p>
            <a:pPr>
              <a:spcAft>
                <a:spcPts val="1000"/>
              </a:spcAft>
            </a:pPr>
            <a:r>
              <a:rPr sz="1500">
                <a:solidFill>
                  <a:srgbClr val="222B33"/>
                </a:solidFill>
                <a:latin typeface="Microsoft YaHei"/>
              </a:rPr>
              <a:t>▪ 只在出事后才重视安全，平时不排查隐患</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001 · 课程导学：从规则到风险管理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课程地图与学习方法</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001 课程导学：从规则到风险管理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全课程 15 章，先管理通识后专项危害</a:t>
            </a:r>
          </a:p>
          <a:p>
            <a:pPr>
              <a:spcAft>
                <a:spcPts val="1000"/>
              </a:spcAft>
            </a:pPr>
            <a:r>
              <a:rPr sz="2000">
                <a:solidFill>
                  <a:srgbClr val="222B33"/>
                </a:solidFill>
                <a:latin typeface="Microsoft YaHei"/>
              </a:rPr>
              <a:t>▪ 第1–4、14章人人必修，专项章按实验选学</a:t>
            </a:r>
          </a:p>
          <a:p>
            <a:pPr>
              <a:spcAft>
                <a:spcPts val="1000"/>
              </a:spcAft>
            </a:pPr>
            <a:r>
              <a:rPr sz="2000">
                <a:solidFill>
                  <a:srgbClr val="222B33"/>
                </a:solidFill>
                <a:latin typeface="Microsoft YaHei"/>
              </a:rPr>
              <a:t>▪ 学习方法：看视频、读说明书、做练习</a:t>
            </a:r>
          </a:p>
          <a:p>
            <a:pPr>
              <a:spcAft>
                <a:spcPts val="1000"/>
              </a:spcAft>
            </a:pPr>
            <a:r>
              <a:rPr sz="2000">
                <a:solidFill>
                  <a:srgbClr val="222B33"/>
                </a:solidFill>
                <a:latin typeface="Microsoft YaHei"/>
              </a:rPr>
              <a:t>▪ 边学边对照自己的实验找危害</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本课程共 15 章：第 1 章法规、管理与安全文化，第 2 章危险源辨识与风险评估，第 3 章通用安全与个人防护，第 4 章消防安全，为全体必修；第 5–13 章分别讲化学品、生物、辐射、电气、激光与光学、机械与设备……</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只学和自己专业“相关”的章节，跳过必修的通用内容</a:t>
            </a:r>
          </a:p>
          <a:p>
            <a:pPr>
              <a:spcAft>
                <a:spcPts val="1000"/>
              </a:spcAft>
            </a:pPr>
            <a:r>
              <a:rPr sz="1500">
                <a:solidFill>
                  <a:srgbClr val="222B33"/>
                </a:solidFill>
                <a:latin typeface="Microsoft YaHei"/>
              </a:rPr>
              <a:t>▪ 只看视频不做练习，学完无法应用到自己的实验</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001 · 课程导学：从规则到风险管理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001 课程导学：从规则到风险管理</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下列哪一项不属于事故的间接成本？</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实验室停用整改</a:t>
            </a:r>
          </a:p>
          <a:p>
            <a:pPr algn="l"/>
            <a:r>
              <a:rPr sz="1500" b="0">
                <a:solidFill>
                  <a:srgbClr val="222B33"/>
                </a:solidFill>
                <a:latin typeface="Microsoft YaHei"/>
              </a:rPr>
              <a:t>B. 事故调查占用的时间</a:t>
            </a:r>
          </a:p>
          <a:p>
            <a:pPr algn="l"/>
            <a:r>
              <a:rPr sz="1500" b="0">
                <a:solidFill>
                  <a:srgbClr val="222B33"/>
                </a:solidFill>
                <a:latin typeface="Microsoft YaHei"/>
              </a:rPr>
              <a:t>C. 受伤人员的医疗费</a:t>
            </a:r>
          </a:p>
          <a:p>
            <a:pPr algn="l"/>
            <a:r>
              <a:rPr sz="1500" b="0">
                <a:solidFill>
                  <a:srgbClr val="222B33"/>
                </a:solidFill>
                <a:latin typeface="Microsoft YaHei"/>
              </a:rPr>
              <a:t>D. 课题进度延误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我国安全生产工作的方针是：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安全第一、预防为主、综合治理</a:t>
            </a:r>
          </a:p>
          <a:p>
            <a:pPr algn="l"/>
            <a:r>
              <a:rPr sz="1500" b="0">
                <a:solidFill>
                  <a:srgbClr val="222B33"/>
                </a:solidFill>
                <a:latin typeface="Microsoft YaHei"/>
              </a:rPr>
              <a:t>B. 效率优先、兼顾安全</a:t>
            </a:r>
          </a:p>
          <a:p>
            <a:pPr algn="l"/>
            <a:r>
              <a:rPr sz="1500" b="0">
                <a:solidFill>
                  <a:srgbClr val="222B33"/>
                </a:solidFill>
                <a:latin typeface="Microsoft YaHei"/>
              </a:rPr>
              <a:t>C. 谁出事谁负责</a:t>
            </a:r>
          </a:p>
          <a:p>
            <a:pPr algn="l"/>
            <a:r>
              <a:rPr sz="1500" b="0">
                <a:solidFill>
                  <a:srgbClr val="222B33"/>
                </a:solidFill>
                <a:latin typeface="Microsoft YaHei"/>
              </a:rPr>
              <a:t>D. 先实验后整改</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001 · 课程导学：从规则到风险管理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001 课程导学：从规则到风险管理</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判断：已经学完本课程的线上视频，就可以不参加本实验室的岗前培训。</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在实验室遇到规则清单没有写到的新仪器、新物质时，正确的做法是：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凭经验先试一试</a:t>
            </a:r>
          </a:p>
          <a:p>
            <a:pPr algn="l"/>
            <a:r>
              <a:rPr sz="1500" b="0">
                <a:solidFill>
                  <a:srgbClr val="222B33"/>
                </a:solidFill>
                <a:latin typeface="Microsoft YaHei"/>
              </a:rPr>
              <a:t>B. 识别危害、评估风险、确定措施并做好应急准备，拿不准先请教负责人</a:t>
            </a:r>
          </a:p>
          <a:p>
            <a:pPr algn="l"/>
            <a:r>
              <a:rPr sz="1500" b="0">
                <a:solidFill>
                  <a:srgbClr val="222B33"/>
                </a:solidFill>
                <a:latin typeface="Microsoft YaHei"/>
              </a:rPr>
              <a:t>C. 等出了问题再问</a:t>
            </a:r>
          </a:p>
          <a:p>
            <a:pPr algn="l"/>
            <a:r>
              <a:rPr sz="1500" b="0">
                <a:solidFill>
                  <a:srgbClr val="222B33"/>
                </a:solidFill>
                <a:latin typeface="Microsoft YaHei"/>
              </a:rPr>
              <a:t>D. 照搬别的实验室的做法</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001 · 课程导学：从规则到风险管理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001 课程导学：从规则到风险管理</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简答：一次实验同时关系到哪四样东西？</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800">
                <a:solidFill>
                  <a:srgbClr val="FFFFFF"/>
                </a:solidFill>
                <a:latin typeface="Microsoft YaHei"/>
              </a:rPr>
              <a:t>▪ K1  实验室事故离我们不远</a:t>
            </a:r>
          </a:p>
          <a:p>
            <a:pPr>
              <a:spcAft>
                <a:spcPts val="800"/>
              </a:spcAft>
            </a:pPr>
            <a:r>
              <a:rPr sz="1800">
                <a:solidFill>
                  <a:srgbClr val="FFFFFF"/>
                </a:solidFill>
                <a:latin typeface="Microsoft YaHei"/>
              </a:rPr>
              <a:t>▪ K2  安全是科研的地基</a:t>
            </a:r>
          </a:p>
          <a:p>
            <a:pPr>
              <a:spcAft>
                <a:spcPts val="800"/>
              </a:spcAft>
            </a:pPr>
            <a:r>
              <a:rPr sz="1800">
                <a:solidFill>
                  <a:srgbClr val="FFFFFF"/>
                </a:solidFill>
                <a:latin typeface="Microsoft YaHei"/>
              </a:rPr>
              <a:t>▪ K3  每次实验押上的四样东西</a:t>
            </a:r>
          </a:p>
          <a:p>
            <a:pPr>
              <a:spcAft>
                <a:spcPts val="800"/>
              </a:spcAft>
            </a:pPr>
            <a:r>
              <a:rPr sz="1800">
                <a:solidFill>
                  <a:srgbClr val="FFFFFF"/>
                </a:solidFill>
                <a:latin typeface="Microsoft YaHei"/>
              </a:rPr>
              <a:t>▪ K4  事故的代价远不止医药费</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800">
                <a:solidFill>
                  <a:srgbClr val="FFFFFF"/>
                </a:solidFill>
                <a:latin typeface="Microsoft YaHei"/>
              </a:rPr>
              <a:t>▪ K5  从背规则到懂原则、会评估</a:t>
            </a:r>
          </a:p>
          <a:p>
            <a:pPr>
              <a:spcAft>
                <a:spcPts val="800"/>
              </a:spcAft>
            </a:pPr>
            <a:r>
              <a:rPr sz="1800">
                <a:solidFill>
                  <a:srgbClr val="FFFFFF"/>
                </a:solidFill>
                <a:latin typeface="Microsoft YaHei"/>
              </a:rPr>
              <a:t>▪ K6  本课程不能代替本实验室培训</a:t>
            </a:r>
          </a:p>
          <a:p>
            <a:pPr>
              <a:spcAft>
                <a:spcPts val="800"/>
              </a:spcAft>
            </a:pPr>
            <a:r>
              <a:rPr sz="1800">
                <a:solidFill>
                  <a:srgbClr val="FFFFFF"/>
                </a:solidFill>
                <a:latin typeface="Microsoft YaHei"/>
              </a:rPr>
              <a:t>▪ S1  安全第一、预防为主、综合治理</a:t>
            </a:r>
          </a:p>
          <a:p>
            <a:pPr>
              <a:spcAft>
                <a:spcPts val="800"/>
              </a:spcAft>
            </a:pPr>
            <a:r>
              <a:rPr sz="1800">
                <a:solidFill>
                  <a:srgbClr val="FFFFFF"/>
                </a:solidFill>
                <a:latin typeface="Microsoft YaHei"/>
              </a:rPr>
              <a:t>▪ S2  课程地图与学习方法</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002</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实验室安全法律法规体系</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第1章 法规、管理与安全文化</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5 分钟（卡通视频 61 镜）　适用对象：全体进入高校实验室的本科生、研究生、新进教职工和博士后（必修）</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002 · 实验室安全法律法规体系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002 实验室安全法律法规体系</a:t>
            </a:r>
          </a:p>
        </p:txBody>
      </p:sp>
      <p:sp>
        <p:nvSpPr>
          <p:cNvPr id="5" name="Rounded Rectangle 4"/>
          <p:cNvSpPr/>
          <p:nvPr/>
        </p:nvSpPr>
        <p:spPr>
          <a:xfrm>
            <a:off x="548640" y="1828800"/>
            <a:ext cx="3454298"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2814218" cy="2468880"/>
          </a:xfrm>
          <a:prstGeom prst="rect">
            <a:avLst/>
          </a:prstGeom>
          <a:noFill/>
        </p:spPr>
        <p:txBody>
          <a:bodyPr wrap="square" anchor="t" lIns="0" rIns="0" tIns="0" bIns="0">
            <a:spAutoFit/>
          </a:bodyPr>
          <a:lstStyle/>
          <a:p>
            <a:pPr algn="l"/>
            <a:r>
              <a:rPr sz="1800" b="0">
                <a:solidFill>
                  <a:srgbClr val="222B33"/>
                </a:solidFill>
                <a:latin typeface="Microsoft YaHei"/>
              </a:rPr>
              <a:t>能说出我国法律、行政法规、部门规章、标准和学校制度的层级关系。</a:t>
            </a:r>
          </a:p>
        </p:txBody>
      </p:sp>
      <p:sp>
        <p:nvSpPr>
          <p:cNvPr id="8" name="Rounded Rectangle 7"/>
          <p:cNvSpPr/>
          <p:nvPr/>
        </p:nvSpPr>
        <p:spPr>
          <a:xfrm>
            <a:off x="4368698" y="1828800"/>
            <a:ext cx="3454298"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688738"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4688738" y="3108960"/>
            <a:ext cx="2814218" cy="2468880"/>
          </a:xfrm>
          <a:prstGeom prst="rect">
            <a:avLst/>
          </a:prstGeom>
          <a:noFill/>
        </p:spPr>
        <p:txBody>
          <a:bodyPr wrap="square" anchor="t" lIns="0" rIns="0" tIns="0" bIns="0">
            <a:spAutoFit/>
          </a:bodyPr>
          <a:lstStyle/>
          <a:p>
            <a:pPr algn="l"/>
            <a:r>
              <a:rPr sz="1800" b="0">
                <a:solidFill>
                  <a:srgbClr val="222B33"/>
                </a:solidFill>
                <a:latin typeface="Microsoft YaHei"/>
              </a:rPr>
              <a:t>能说出安全生产、消防、危险化学品、生物、辐射、特种设备和环境保护各领域的主要法律法规。</a:t>
            </a:r>
          </a:p>
        </p:txBody>
      </p:sp>
      <p:sp>
        <p:nvSpPr>
          <p:cNvPr id="11" name="Rounded Rectangle 10"/>
          <p:cNvSpPr/>
          <p:nvPr/>
        </p:nvSpPr>
        <p:spPr>
          <a:xfrm>
            <a:off x="8188756" y="1828800"/>
            <a:ext cx="3454298"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508796"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8508796" y="3108960"/>
            <a:ext cx="2814218" cy="2468880"/>
          </a:xfrm>
          <a:prstGeom prst="rect">
            <a:avLst/>
          </a:prstGeom>
          <a:noFill/>
        </p:spPr>
        <p:txBody>
          <a:bodyPr wrap="square" anchor="t" lIns="0" rIns="0" tIns="0" bIns="0">
            <a:spAutoFit/>
          </a:bodyPr>
          <a:lstStyle/>
          <a:p>
            <a:pPr algn="l"/>
            <a:r>
              <a:rPr sz="1800" b="0">
                <a:solidFill>
                  <a:srgbClr val="222B33"/>
                </a:solidFill>
                <a:latin typeface="Microsoft YaHei"/>
              </a:rPr>
              <a:t>能判断各领域由哪类主管部门监管，并明白单位和个人在法律上的基本责任和义务。</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002 · 实验室安全法律法规体系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002 实验室安全法律法规体系</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《中华人民共和国安全生产法》《中华人民共和国消防法》《中华人民共和国职业病防治法》（以现行文本为准）</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《中华人民共和国危险化学品安全法》（2026 年 5 月 1 日起施行）及《危险化学品安全管理条例》（以现行文本为准）；《易制毒化学品管理条例》《易制爆危险化学品治安管理办法》</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《中华人民共和国生物安全法》《病原微生物实验室生物安全管理条例》《农业转基因生物安全管理条例》（以现行文本为准）</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《中华人民共和国放射性污染防治法》《放射性同位素与射线装置安全和防护条例》（以现行文本为准）</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《中华人民共和国特种设备安全法》、TSG 23《气瓶安全技术规程》（以现行文本为准）</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《中华人民共和国固体废物污染环境防治法》《国家危险废物名录》（以现行版本为准）</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《中华人民共和国标准化法》（强制性标准必须执行，以现行文本为准）</a:t>
            </a:r>
          </a:p>
        </p:txBody>
      </p:sp>
      <p:sp>
        <p:nvSpPr>
          <p:cNvPr id="26" name="Rounded Rectangle 25"/>
          <p:cNvSpPr/>
          <p:nvPr/>
        </p:nvSpPr>
        <p:spPr>
          <a:xfrm>
            <a:off x="6278727"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61607"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8" name="TextBox 27"/>
          <p:cNvSpPr txBox="1"/>
          <p:nvPr/>
        </p:nvSpPr>
        <p:spPr>
          <a:xfrm>
            <a:off x="7101687"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号）、教育部高校实验室安全检查项目表（以现行文本为准）</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002 · 实验室安全法律法规体系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实验室安全有章可循</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002 实验室安全法律法规体系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实验室安全有一整套法律、标准和制度</a:t>
            </a:r>
          </a:p>
          <a:p>
            <a:pPr>
              <a:spcAft>
                <a:spcPts val="1000"/>
              </a:spcAft>
            </a:pPr>
            <a:r>
              <a:rPr sz="2000">
                <a:solidFill>
                  <a:srgbClr val="222B33"/>
                </a:solidFill>
                <a:latin typeface="Microsoft YaHei"/>
              </a:rPr>
              <a:t>▪ 制度规定了安全的实验室应该是什么样</a:t>
            </a:r>
          </a:p>
          <a:p>
            <a:pPr>
              <a:spcAft>
                <a:spcPts val="1000"/>
              </a:spcAft>
            </a:pPr>
            <a:r>
              <a:rPr sz="2000">
                <a:solidFill>
                  <a:srgbClr val="222B33"/>
                </a:solidFill>
                <a:latin typeface="Microsoft YaHei"/>
              </a:rPr>
              <a:t>▪ 国外有类似制度，只作背景了解</a:t>
            </a:r>
          </a:p>
          <a:p>
            <a:pPr>
              <a:spcAft>
                <a:spcPts val="1000"/>
              </a:spcAft>
            </a:pPr>
            <a:r>
              <a:rPr sz="2000">
                <a:solidFill>
                  <a:srgbClr val="222B33"/>
                </a:solidFill>
                <a:latin typeface="Microsoft YaHei"/>
              </a:rPr>
              <a:t>▪ 在国内做实验，按国内法规和本校制度执行</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室安全不是凭个人经验的“自由发挥”。从实验室的设计建设、设施配备，到化学品、病原微生物、放射源的采购储存使用和废物处置，再到人员培训、检查和事故报告，都有相应的法律法规、标准和学校制度作出规定。它们共同描绘出“一……</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照搬国外资料中的限值、做法和机构要求</a:t>
            </a:r>
          </a:p>
          <a:p>
            <a:pPr>
              <a:spcAft>
                <a:spcPts val="1000"/>
              </a:spcAft>
            </a:pPr>
            <a:r>
              <a:rPr sz="1500">
                <a:solidFill>
                  <a:srgbClr val="222B33"/>
                </a:solidFill>
                <a:latin typeface="Microsoft YaHei"/>
              </a:rPr>
              <a:t>▪ 以为安全只靠个人经验，不需要了解制度</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002 · 实验室安全法律法规体系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法律法规的层级</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002 实验室安全法律法规体系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法律：全国人大及其常委会制定，效力最高</a:t>
            </a:r>
          </a:p>
          <a:p>
            <a:pPr>
              <a:spcAft>
                <a:spcPts val="1000"/>
              </a:spcAft>
            </a:pPr>
            <a:r>
              <a:rPr sz="2000">
                <a:solidFill>
                  <a:srgbClr val="222B33"/>
                </a:solidFill>
                <a:latin typeface="Microsoft YaHei"/>
              </a:rPr>
              <a:t>▪ 行政法规：国务院制定，多称“条例”</a:t>
            </a:r>
          </a:p>
          <a:p>
            <a:pPr>
              <a:spcAft>
                <a:spcPts val="1000"/>
              </a:spcAft>
            </a:pPr>
            <a:r>
              <a:rPr sz="2000">
                <a:solidFill>
                  <a:srgbClr val="222B33"/>
                </a:solidFill>
                <a:latin typeface="Microsoft YaHei"/>
              </a:rPr>
              <a:t>▪ 部门规章：国务院各部门制定，多称“办法”“规定”</a:t>
            </a:r>
          </a:p>
          <a:p>
            <a:pPr>
              <a:spcAft>
                <a:spcPts val="1000"/>
              </a:spcAft>
            </a:pPr>
            <a:r>
              <a:rPr sz="2000">
                <a:solidFill>
                  <a:srgbClr val="222B33"/>
                </a:solidFill>
                <a:latin typeface="Microsoft YaHei"/>
              </a:rPr>
              <a:t>▪ 国家和行业标准给出技术要求，学校制度最具体</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我国与实验室安全有关的规范按效力从高到低大致分为：法律（由全国人民代表大会及其常务委员会制定，如安全生产法、消防法、生物安全法）；行政法规（由国务院制定，多以“条例”命名，如病原微生物实验室生物安全管理条例、放射性同……</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认为学校制度“不是法律”，可以不遵守</a:t>
            </a:r>
          </a:p>
          <a:p>
            <a:pPr>
              <a:spcAft>
                <a:spcPts val="1000"/>
              </a:spcAft>
            </a:pPr>
            <a:r>
              <a:rPr sz="1500">
                <a:solidFill>
                  <a:srgbClr val="222B33"/>
                </a:solidFill>
                <a:latin typeface="Microsoft YaHei"/>
              </a:rPr>
              <a:t>▪ 把推荐性标准一律当成“可以不管”</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002 · 实验室安全法律法规体系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单位要保障人人安全健康</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002 实验室安全法律法规体系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单位的法定义务是保障所有人员安全与健康</a:t>
            </a:r>
          </a:p>
          <a:p>
            <a:pPr>
              <a:spcAft>
                <a:spcPts val="1000"/>
              </a:spcAft>
            </a:pPr>
            <a:r>
              <a:rPr sz="2000">
                <a:solidFill>
                  <a:srgbClr val="222B33"/>
                </a:solidFill>
                <a:latin typeface="Microsoft YaHei"/>
              </a:rPr>
              <a:t>▪ 不是装修漂亮，也不是发彩色安全帽</a:t>
            </a:r>
          </a:p>
          <a:p>
            <a:pPr>
              <a:spcAft>
                <a:spcPts val="1000"/>
              </a:spcAft>
            </a:pPr>
            <a:r>
              <a:rPr sz="2000">
                <a:solidFill>
                  <a:srgbClr val="222B33"/>
                </a:solidFill>
                <a:latin typeface="Microsoft YaHei"/>
              </a:rPr>
              <a:t>▪ 依据安全生产法和职业病防治法</a:t>
            </a:r>
          </a:p>
          <a:p>
            <a:pPr>
              <a:spcAft>
                <a:spcPts val="1000"/>
              </a:spcAft>
            </a:pPr>
            <a:r>
              <a:rPr sz="2000">
                <a:solidFill>
                  <a:srgbClr val="222B33"/>
                </a:solidFill>
                <a:latin typeface="Microsoft YaHei"/>
              </a:rPr>
              <a:t>▪ 高校通过学校—学院—实验室三级管理落实</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单位在法律上的核心义务，是为所有人员提供安全的工作条件，保障他们的安全和健康。这不在于实验室装修多漂亮、发了多少新装备，而在于危险源是否得到有效控制、人员是否得到培训和防护、隐患是否及时整改。</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把“添置新设备”等同于“做好了安全”</a:t>
            </a:r>
          </a:p>
          <a:p>
            <a:pPr>
              <a:spcAft>
                <a:spcPts val="1000"/>
              </a:spcAft>
            </a:pPr>
            <a:r>
              <a:rPr sz="1500">
                <a:solidFill>
                  <a:srgbClr val="222B33"/>
                </a:solidFill>
                <a:latin typeface="Microsoft YaHei"/>
              </a:rPr>
              <a:t>▪ 认为安全只是学校管理部门的事，与实验室和个人无关</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002 · 实验室安全法律法规体系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双重预防与危害告知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002 实验室安全法律法规体系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安全生产法：风险分级管控、隐患排查治理</a:t>
            </a:r>
          </a:p>
          <a:p>
            <a:pPr>
              <a:spcAft>
                <a:spcPts val="1000"/>
              </a:spcAft>
            </a:pPr>
            <a:r>
              <a:rPr sz="2000">
                <a:solidFill>
                  <a:srgbClr val="222B33"/>
                </a:solidFill>
                <a:latin typeface="Microsoft YaHei"/>
              </a:rPr>
              <a:t>▪ 先辨识危害、评估风险，再分级落实措施</a:t>
            </a:r>
          </a:p>
          <a:p>
            <a:pPr>
              <a:spcAft>
                <a:spcPts val="1000"/>
              </a:spcAft>
            </a:pPr>
            <a:r>
              <a:rPr sz="2000">
                <a:solidFill>
                  <a:srgbClr val="222B33"/>
                </a:solidFill>
                <a:latin typeface="Microsoft YaHei"/>
              </a:rPr>
              <a:t>▪ 职业病防治法：辨识危害因素并如实告知</a:t>
            </a:r>
          </a:p>
          <a:p>
            <a:pPr>
              <a:spcAft>
                <a:spcPts val="1000"/>
              </a:spcAft>
            </a:pPr>
            <a:r>
              <a:rPr sz="2000">
                <a:solidFill>
                  <a:srgbClr val="222B33"/>
                </a:solidFill>
                <a:latin typeface="Microsoft YaHei"/>
              </a:rPr>
              <a:t>▪ 培训、防护用品和健康检查要落实到人</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中华人民共和国安全生产法》要求构建安全风险分级管控和隐患排查治理双重预防机制：一是事前辨识危险源、评估风险，按风险高低分级落实管控措施；二是定期排查隐患，发现后及时治理并复查，形成闭环。第 2 章的风险评估和第 5……</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只在出事后整改，平时不做风险辨识和隐患排查</a:t>
            </a:r>
          </a:p>
          <a:p>
            <a:pPr>
              <a:spcAft>
                <a:spcPts val="1000"/>
              </a:spcAft>
            </a:pPr>
            <a:r>
              <a:rPr sz="1500">
                <a:solidFill>
                  <a:srgbClr val="222B33"/>
                </a:solidFill>
                <a:latin typeface="Microsoft YaHei"/>
              </a:rPr>
              <a:t>▪ 隐患“发现了不报、报了不改、改了不查”</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002 · 实验室安全法律法规体系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消防法：人人有消防义务</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002 实验室安全法律法规体系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任何单位和个人都有维护消防安全的义务</a:t>
            </a:r>
          </a:p>
          <a:p>
            <a:pPr>
              <a:spcAft>
                <a:spcPts val="1000"/>
              </a:spcAft>
            </a:pPr>
            <a:r>
              <a:rPr sz="2000">
                <a:solidFill>
                  <a:srgbClr val="222B33"/>
                </a:solidFill>
                <a:latin typeface="Microsoft YaHei"/>
              </a:rPr>
              <a:t>▪ 发现火灾必须立即报警（火警 119）</a:t>
            </a:r>
          </a:p>
          <a:p>
            <a:pPr>
              <a:spcAft>
                <a:spcPts val="1000"/>
              </a:spcAft>
            </a:pPr>
            <a:r>
              <a:rPr sz="2000">
                <a:solidFill>
                  <a:srgbClr val="222B33"/>
                </a:solidFill>
                <a:latin typeface="Microsoft YaHei"/>
              </a:rPr>
              <a:t>▪ 不得损坏、挪用消防设施，不得堵塞通道</a:t>
            </a:r>
          </a:p>
          <a:p>
            <a:pPr>
              <a:spcAft>
                <a:spcPts val="1000"/>
              </a:spcAft>
            </a:pPr>
            <a:r>
              <a:rPr sz="2000">
                <a:solidFill>
                  <a:srgbClr val="222B33"/>
                </a:solidFill>
                <a:latin typeface="Microsoft YaHei"/>
              </a:rPr>
              <a:t>▪ 报警、喷淋、灭火器等都有国家标准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《中华人民共和国消防法》规定，任何单位和个人都有维护消防安全、保护消防设施、预防火灾、报告火警的义务；任何人发现火灾都应当立即报警，任何单位和个人都应当无偿为报警提供便利。</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发现小火先自己扑救，不报警</a:t>
            </a:r>
          </a:p>
          <a:p>
            <a:pPr>
              <a:spcAft>
                <a:spcPts val="1000"/>
              </a:spcAft>
            </a:pPr>
            <a:r>
              <a:rPr sz="1500">
                <a:solidFill>
                  <a:srgbClr val="222B33"/>
                </a:solidFill>
                <a:latin typeface="Microsoft YaHei"/>
              </a:rPr>
              <a:t>▪ 在安全出口、灭火器前堆放杂物</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002 · 实验室安全法律法规体系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危险化学品：安全法与条例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002 实验室安全法律法规体系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危化品安全法 2026 年 5 月 1 日起施行</a:t>
            </a:r>
          </a:p>
          <a:p>
            <a:pPr>
              <a:spcAft>
                <a:spcPts val="1000"/>
              </a:spcAft>
            </a:pPr>
            <a:r>
              <a:rPr sz="2000">
                <a:solidFill>
                  <a:srgbClr val="222B33"/>
                </a:solidFill>
                <a:latin typeface="Microsoft YaHei"/>
              </a:rPr>
              <a:t>▪ 学校、科研机构是危化品安全责任主体</a:t>
            </a:r>
          </a:p>
          <a:p>
            <a:pPr>
              <a:spcAft>
                <a:spcPts val="1000"/>
              </a:spcAft>
            </a:pPr>
            <a:r>
              <a:rPr sz="2000">
                <a:solidFill>
                  <a:srgbClr val="222B33"/>
                </a:solidFill>
                <a:latin typeface="Microsoft YaHei"/>
              </a:rPr>
              <a:t>▪ 同时适用危化品条例、易制毒和易制爆规定</a:t>
            </a:r>
          </a:p>
          <a:p>
            <a:pPr>
              <a:spcAft>
                <a:spcPts val="1000"/>
              </a:spcAft>
            </a:pPr>
            <a:r>
              <a:rPr sz="2000">
                <a:solidFill>
                  <a:srgbClr val="222B33"/>
                </a:solidFill>
                <a:latin typeface="Microsoft YaHei"/>
              </a:rPr>
              <a:t>▪ 剧毒化学品实行“五双”管理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《中华人民共和国危险化学品安全法》于 2025 年 12 月 27 日通过，2026 年 5 月 1 日起施行，对危险化学品的生产、储存、使用、经营、运输等环节作出规定，并设专章规定“使用安全”。学校、科研机构使用危……</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认为少量试剂“不算危化品”，可以随意购买和存放</a:t>
            </a:r>
          </a:p>
          <a:p>
            <a:pPr>
              <a:spcAft>
                <a:spcPts val="1000"/>
              </a:spcAft>
            </a:pPr>
            <a:r>
              <a:rPr sz="1500">
                <a:solidFill>
                  <a:srgbClr val="222B33"/>
                </a:solidFill>
                <a:latin typeface="Microsoft YaHei"/>
              </a:rPr>
              <a:t>▪ 私自从网上或校外渠道购买管制化学品</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002 · 实验室安全法律法规体系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生物安全：生物安全法与条例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002 实验室安全法律法规体系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生物安全法是生物安全领域的基本法律</a:t>
            </a:r>
          </a:p>
          <a:p>
            <a:pPr>
              <a:spcAft>
                <a:spcPts val="1000"/>
              </a:spcAft>
            </a:pPr>
            <a:r>
              <a:rPr sz="2000">
                <a:solidFill>
                  <a:srgbClr val="222B33"/>
                </a:solidFill>
                <a:latin typeface="Microsoft YaHei"/>
              </a:rPr>
              <a:t>▪ 病原微生物实验室按防护水平分为四级</a:t>
            </a:r>
          </a:p>
          <a:p>
            <a:pPr>
              <a:spcAft>
                <a:spcPts val="1000"/>
              </a:spcAft>
            </a:pPr>
            <a:r>
              <a:rPr sz="2000">
                <a:solidFill>
                  <a:srgbClr val="222B33"/>
                </a:solidFill>
                <a:latin typeface="Microsoft YaHei"/>
              </a:rPr>
              <a:t>▪ 病原微生物按目录分类，实验活动对应级别</a:t>
            </a:r>
          </a:p>
          <a:p>
            <a:pPr>
              <a:spcAft>
                <a:spcPts val="1000"/>
              </a:spcAft>
            </a:pPr>
            <a:r>
              <a:rPr sz="2000">
                <a:solidFill>
                  <a:srgbClr val="222B33"/>
                </a:solidFill>
                <a:latin typeface="Microsoft YaHei"/>
              </a:rPr>
              <a:t>▪ 转基因实验须经单位生物安全委员会审查</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中华人民共和国生物安全法》是我国生物安全领域的基础性法律，对病原微生物实验室生物安全、生物技术研究开发与应用安全等作出规定。《病原微生物实验室生物安全管理条例》将病原微生物按危害程度分为四类，将实验室按生物安全防护……</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在级别不够的实验室开展病原微生物实验</a:t>
            </a:r>
          </a:p>
          <a:p>
            <a:pPr>
              <a:spcAft>
                <a:spcPts val="1000"/>
              </a:spcAft>
            </a:pPr>
            <a:r>
              <a:rPr sz="1500">
                <a:solidFill>
                  <a:srgbClr val="222B33"/>
                </a:solidFill>
                <a:latin typeface="Microsoft YaHei"/>
              </a:rPr>
              <a:t>▪ 转基因实验未经审查就开始</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002 · 实验室安全法律法规体系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辐射、特种设备与环境保护</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002 实验室安全法律法规体系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辐射：放射性污染防治法和放射性同位素条例</a:t>
            </a:r>
          </a:p>
          <a:p>
            <a:pPr>
              <a:spcAft>
                <a:spcPts val="1000"/>
              </a:spcAft>
            </a:pPr>
            <a:r>
              <a:rPr sz="2000">
                <a:solidFill>
                  <a:srgbClr val="222B33"/>
                </a:solidFill>
                <a:latin typeface="Microsoft YaHei"/>
              </a:rPr>
              <a:t>▪ 使用放射源、射线装置须取得辐射安全许可</a:t>
            </a:r>
          </a:p>
          <a:p>
            <a:pPr>
              <a:spcAft>
                <a:spcPts val="1000"/>
              </a:spcAft>
            </a:pPr>
            <a:r>
              <a:rPr sz="2000">
                <a:solidFill>
                  <a:srgbClr val="222B33"/>
                </a:solidFill>
                <a:latin typeface="Microsoft YaHei"/>
              </a:rPr>
              <a:t>▪ 气瓶、压力容器等归特种设备安全法管理</a:t>
            </a:r>
          </a:p>
          <a:p>
            <a:pPr>
              <a:spcAft>
                <a:spcPts val="1000"/>
              </a:spcAft>
            </a:pPr>
            <a:r>
              <a:rPr sz="2000">
                <a:solidFill>
                  <a:srgbClr val="222B33"/>
                </a:solidFill>
                <a:latin typeface="Microsoft YaHei"/>
              </a:rPr>
              <a:t>▪ 危险废物按名录管理，严禁倒入下水道</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辐射安全的主要依据是《中华人民共和国放射性污染防治法》和《放射性同位素与射线装置安全和防护条例》：生产、销售、使用放射性同位素和射线装置的单位须依法取得辐射安全许可证，工作人员须接受辐射安全培训并进行个人剂量监测；技……</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把废液、废试剂倒进水槽或生活垃圾</a:t>
            </a:r>
          </a:p>
          <a:p>
            <a:pPr>
              <a:spcAft>
                <a:spcPts val="1000"/>
              </a:spcAft>
            </a:pPr>
            <a:r>
              <a:rPr sz="1500">
                <a:solidFill>
                  <a:srgbClr val="222B33"/>
                </a:solidFill>
                <a:latin typeface="Microsoft YaHei"/>
              </a:rPr>
              <a:t>▪ 使用超过检验期的气瓶或压力容器</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002 · 实验室安全法律法规体系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标准：管设施，也管人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002 实验室安全法律法规体系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法律定原则，标准给出具体技术要求</a:t>
            </a:r>
          </a:p>
          <a:p>
            <a:pPr>
              <a:spcAft>
                <a:spcPts val="1000"/>
              </a:spcAft>
            </a:pPr>
            <a:r>
              <a:rPr sz="2000">
                <a:solidFill>
                  <a:srgbClr val="222B33"/>
                </a:solidFill>
                <a:latin typeface="Microsoft YaHei"/>
              </a:rPr>
              <a:t>▪ 标准既管设施的设计安装，也管作业人员</a:t>
            </a:r>
          </a:p>
          <a:p>
            <a:pPr>
              <a:spcAft>
                <a:spcPts val="1000"/>
              </a:spcAft>
            </a:pPr>
            <a:r>
              <a:rPr sz="2000">
                <a:solidFill>
                  <a:srgbClr val="222B33"/>
                </a:solidFill>
                <a:latin typeface="Microsoft YaHei"/>
              </a:rPr>
              <a:t>▪ GB 为强制性标准，GB/T 为推荐性标准</a:t>
            </a:r>
          </a:p>
          <a:p>
            <a:pPr>
              <a:spcAft>
                <a:spcPts val="1000"/>
              </a:spcAft>
            </a:pPr>
            <a:r>
              <a:rPr sz="2000">
                <a:solidFill>
                  <a:srgbClr val="222B33"/>
                </a:solidFill>
                <a:latin typeface="Microsoft YaHei"/>
              </a:rPr>
              <a:t>▪ 标准会更新，要使用现行版本</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法律法规规定原则和责任，标准则给出可操作的技术要求。与实验室相关的标准一方面规定设施和设备本身，例如通风、消防、电气设备、洗眼和喷淋设备、安全标志的设计、安装和性能；另一方面规定人员的作业方法和防护，例如个体防护装备……</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引用已经废止或被替代的旧标准</a:t>
            </a:r>
          </a:p>
          <a:p>
            <a:pPr>
              <a:spcAft>
                <a:spcPts val="1000"/>
              </a:spcAft>
            </a:pPr>
            <a:r>
              <a:rPr sz="1500">
                <a:solidFill>
                  <a:srgbClr val="222B33"/>
                </a:solidFill>
                <a:latin typeface="Microsoft YaHei"/>
              </a:rPr>
              <a:t>▪ 认为标准只管设备厂家，与使用者无关</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002 · 实验室安全法律法规体系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谁来监管：各领域主管部门</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002 实验室安全法律法规体系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安全生产：应急管理部门综合监管</a:t>
            </a:r>
          </a:p>
          <a:p>
            <a:pPr>
              <a:spcAft>
                <a:spcPts val="1000"/>
              </a:spcAft>
            </a:pPr>
            <a:r>
              <a:rPr sz="2000">
                <a:solidFill>
                  <a:srgbClr val="222B33"/>
                </a:solidFill>
                <a:latin typeface="Microsoft YaHei"/>
              </a:rPr>
              <a:t>▪ 职业健康：卫生健康部门</a:t>
            </a:r>
          </a:p>
          <a:p>
            <a:pPr>
              <a:spcAft>
                <a:spcPts val="1000"/>
              </a:spcAft>
            </a:pPr>
            <a:r>
              <a:rPr sz="2000">
                <a:solidFill>
                  <a:srgbClr val="222B33"/>
                </a:solidFill>
                <a:latin typeface="Microsoft YaHei"/>
              </a:rPr>
              <a:t>▪ 消防救援机构、公安、生态环境等分领域监管</a:t>
            </a:r>
          </a:p>
          <a:p>
            <a:pPr>
              <a:spcAft>
                <a:spcPts val="1000"/>
              </a:spcAft>
            </a:pPr>
            <a:r>
              <a:rPr sz="2000">
                <a:solidFill>
                  <a:srgbClr val="222B33"/>
                </a:solidFill>
                <a:latin typeface="Microsoft YaHei"/>
              </a:rPr>
              <a:t>▪ 特种设备归市场监管，高校还受教育部门督查</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我国实验室安全涉及多个主管部门，按领域分工监管：应急管理部门负责安全生产综合监督管理，以及危险化学品安全的相关监管；卫生健康部门负责职业健康和人间传染的病原微生物实验室的生物安全监管（动物病原微生物实验室由农业农村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以为高校实验室“只归学校管”，外部法规不适用</a:t>
            </a:r>
          </a:p>
          <a:p>
            <a:pPr>
              <a:spcAft>
                <a:spcPts val="1000"/>
              </a:spcAft>
            </a:pPr>
            <a:r>
              <a:rPr sz="1500">
                <a:solidFill>
                  <a:srgbClr val="222B33"/>
                </a:solidFill>
                <a:latin typeface="Microsoft YaHei"/>
              </a:rPr>
              <a:t>▪ 管制化学品、放射源等手续不办或补办</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002 · 实验室安全法律法规体系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高校实验室的专门要求</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002 实验室安全法律法规体系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教育部发布《高等学校实验室安全规范》</a:t>
            </a:r>
          </a:p>
          <a:p>
            <a:pPr>
              <a:spcAft>
                <a:spcPts val="1000"/>
              </a:spcAft>
            </a:pPr>
            <a:r>
              <a:rPr sz="2000">
                <a:solidFill>
                  <a:srgbClr val="222B33"/>
                </a:solidFill>
                <a:latin typeface="Microsoft YaHei"/>
              </a:rPr>
              <a:t>▪ 高校实验室安全检查项目表是检查依据</a:t>
            </a:r>
          </a:p>
          <a:p>
            <a:pPr>
              <a:spcAft>
                <a:spcPts val="1000"/>
              </a:spcAft>
            </a:pPr>
            <a:r>
              <a:rPr sz="2000">
                <a:solidFill>
                  <a:srgbClr val="222B33"/>
                </a:solidFill>
                <a:latin typeface="Microsoft YaHei"/>
              </a:rPr>
              <a:t>▪ 本校制度是最具体、最直接的规定</a:t>
            </a:r>
          </a:p>
          <a:p>
            <a:pPr>
              <a:spcAft>
                <a:spcPts val="1000"/>
              </a:spcAft>
            </a:pPr>
            <a:r>
              <a:rPr sz="2000">
                <a:solidFill>
                  <a:srgbClr val="222B33"/>
                </a:solidFill>
                <a:latin typeface="Microsoft YaHei"/>
              </a:rPr>
              <a:t>▪ 具体要求在第 3 课详讲</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在上述法律法规和标准之外，教育部针对高校实验室发布了《高等学校实验室安全规范》（教科信厅函〔2023〕5 号），对责任体系、分级分类、教育培训与准入、风险评估、安全设施、各类危险源管理、检查与应急等提出要求；教育部还……</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只知道国家法律，不了解本校和本实验室的具体规定</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002 · 实验室安全法律法规体系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002 实验室安全法律法规体系</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下列属于行政法规的是：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《中华人民共和国消防法》</a:t>
            </a:r>
          </a:p>
          <a:p>
            <a:pPr algn="l"/>
            <a:r>
              <a:rPr sz="1500" b="0">
                <a:solidFill>
                  <a:srgbClr val="222B33"/>
                </a:solidFill>
                <a:latin typeface="Microsoft YaHei"/>
              </a:rPr>
              <a:t>B. 《病原微生物实验室生物安全管理条例》</a:t>
            </a:r>
          </a:p>
          <a:p>
            <a:pPr algn="l"/>
            <a:r>
              <a:rPr sz="1500" b="0">
                <a:solidFill>
                  <a:srgbClr val="222B33"/>
                </a:solidFill>
                <a:latin typeface="Microsoft YaHei"/>
              </a:rPr>
              <a:t>C. 《易制爆危险化学品治安管理办法》</a:t>
            </a:r>
          </a:p>
          <a:p>
            <a:pPr algn="l"/>
            <a:r>
              <a:rPr sz="1500" b="0">
                <a:solidFill>
                  <a:srgbClr val="222B33"/>
                </a:solidFill>
                <a:latin typeface="Microsoft YaHei"/>
              </a:rPr>
              <a:t>D. GB 2894-2025</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《中华人民共和国危险化学品安全法》的施行日期是：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2025 年 12 月 27 日</a:t>
            </a:r>
          </a:p>
          <a:p>
            <a:pPr algn="l"/>
            <a:r>
              <a:rPr sz="1500" b="0">
                <a:solidFill>
                  <a:srgbClr val="222B33"/>
                </a:solidFill>
                <a:latin typeface="Microsoft YaHei"/>
              </a:rPr>
              <a:t>B. 2026 年 1 月 1 日</a:t>
            </a:r>
          </a:p>
          <a:p>
            <a:pPr algn="l"/>
            <a:r>
              <a:rPr sz="1500" b="0">
                <a:solidFill>
                  <a:srgbClr val="222B33"/>
                </a:solidFill>
                <a:latin typeface="Microsoft YaHei"/>
              </a:rPr>
              <a:t>C. 2026 年 5 月 1 日</a:t>
            </a:r>
          </a:p>
          <a:p>
            <a:pPr algn="l"/>
            <a:r>
              <a:rPr sz="1500" b="0">
                <a:solidFill>
                  <a:srgbClr val="222B33"/>
                </a:solidFill>
                <a:latin typeface="Microsoft YaHei"/>
              </a:rPr>
              <a:t>D. 2027 年 1 月 1 日</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002 · 实验室安全法律法规体系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002 实验室安全法律法规体系</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判断：标准代号为 GB/T 的推荐性标准，在任何情况下都可以不执行。</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实验室产生的有机废液，正确的处理方式是：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大量清水稀释后倒入下水道</a:t>
            </a:r>
          </a:p>
          <a:p>
            <a:pPr algn="l"/>
            <a:r>
              <a:rPr sz="1500" b="0">
                <a:solidFill>
                  <a:srgbClr val="222B33"/>
                </a:solidFill>
                <a:latin typeface="Microsoft YaHei"/>
              </a:rPr>
              <a:t>B. 混入生活垃圾</a:t>
            </a:r>
          </a:p>
          <a:p>
            <a:pPr algn="l"/>
            <a:r>
              <a:rPr sz="1500" b="0">
                <a:solidFill>
                  <a:srgbClr val="222B33"/>
                </a:solidFill>
                <a:latin typeface="Microsoft YaHei"/>
              </a:rPr>
              <a:t>C. 分类收集、规范贮存，交有资质的单位处置</a:t>
            </a:r>
          </a:p>
          <a:p>
            <a:pPr algn="l"/>
            <a:r>
              <a:rPr sz="1500" b="0">
                <a:solidFill>
                  <a:srgbClr val="222B33"/>
                </a:solidFill>
                <a:latin typeface="Microsoft YaHei"/>
              </a:rPr>
              <a:t>D. 自然挥发</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002 · 实验室安全法律法规体系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002 实验室安全法律法规体系</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使用气瓶和压力容器主要适用下列哪部法律？</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《中华人民共和国特种设备安全法》</a:t>
            </a:r>
          </a:p>
          <a:p>
            <a:pPr algn="l"/>
            <a:r>
              <a:rPr sz="1500" b="0">
                <a:solidFill>
                  <a:srgbClr val="222B33"/>
                </a:solidFill>
                <a:latin typeface="Microsoft YaHei"/>
              </a:rPr>
              <a:t>B. 《中华人民共和国生物安全法》</a:t>
            </a:r>
          </a:p>
          <a:p>
            <a:pPr algn="l"/>
            <a:r>
              <a:rPr sz="1500" b="0">
                <a:solidFill>
                  <a:srgbClr val="222B33"/>
                </a:solidFill>
                <a:latin typeface="Microsoft YaHei"/>
              </a:rPr>
              <a:t>C. 《中华人民共和国放射性污染防治法》</a:t>
            </a:r>
          </a:p>
          <a:p>
            <a:pPr algn="l"/>
            <a:r>
              <a:rPr sz="1500" b="0">
                <a:solidFill>
                  <a:srgbClr val="222B33"/>
                </a:solidFill>
                <a:latin typeface="Microsoft YaHei"/>
              </a:rPr>
              <a:t>D. 《中华人民共和国职业病防治法》</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简答：安全生产法要求构建的“双重预防机制”指什么？</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实验室安全有章可循</a:t>
            </a:r>
          </a:p>
          <a:p>
            <a:pPr>
              <a:spcAft>
                <a:spcPts val="800"/>
              </a:spcAft>
            </a:pPr>
            <a:r>
              <a:rPr sz="1500">
                <a:solidFill>
                  <a:srgbClr val="FFFFFF"/>
                </a:solidFill>
                <a:latin typeface="Microsoft YaHei"/>
              </a:rPr>
              <a:t>▪ S1  法律法规的层级</a:t>
            </a:r>
          </a:p>
          <a:p>
            <a:pPr>
              <a:spcAft>
                <a:spcPts val="800"/>
              </a:spcAft>
            </a:pPr>
            <a:r>
              <a:rPr sz="1500">
                <a:solidFill>
                  <a:srgbClr val="FFFFFF"/>
                </a:solidFill>
                <a:latin typeface="Microsoft YaHei"/>
              </a:rPr>
              <a:t>▪ K2  单位要保障人人安全健康</a:t>
            </a:r>
          </a:p>
          <a:p>
            <a:pPr>
              <a:spcAft>
                <a:spcPts val="800"/>
              </a:spcAft>
            </a:pPr>
            <a:r>
              <a:rPr sz="1500">
                <a:solidFill>
                  <a:srgbClr val="FFFFFF"/>
                </a:solidFill>
                <a:latin typeface="Microsoft YaHei"/>
              </a:rPr>
              <a:t>▪ K3  双重预防与危害告知</a:t>
            </a:r>
          </a:p>
          <a:p>
            <a:pPr>
              <a:spcAft>
                <a:spcPts val="800"/>
              </a:spcAft>
            </a:pPr>
            <a:r>
              <a:rPr sz="1500">
                <a:solidFill>
                  <a:srgbClr val="FFFFFF"/>
                </a:solidFill>
                <a:latin typeface="Microsoft YaHei"/>
              </a:rPr>
              <a:t>▪ K4  消防法：人人有消防义务</a:t>
            </a:r>
          </a:p>
          <a:p>
            <a:pPr>
              <a:spcAft>
                <a:spcPts val="800"/>
              </a:spcAft>
            </a:pPr>
            <a:r>
              <a:rPr sz="1500">
                <a:solidFill>
                  <a:srgbClr val="FFFFFF"/>
                </a:solidFill>
                <a:latin typeface="Microsoft YaHei"/>
              </a:rPr>
              <a:t>▪ S2  危险化学品：安全法与条例</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S3  生物安全：生物安全法与条例</a:t>
            </a:r>
          </a:p>
          <a:p>
            <a:pPr>
              <a:spcAft>
                <a:spcPts val="800"/>
              </a:spcAft>
            </a:pPr>
            <a:r>
              <a:rPr sz="1500">
                <a:solidFill>
                  <a:srgbClr val="FFFFFF"/>
                </a:solidFill>
                <a:latin typeface="Microsoft YaHei"/>
              </a:rPr>
              <a:t>▪ S4  辐射、特种设备与环境保护</a:t>
            </a:r>
          </a:p>
          <a:p>
            <a:pPr>
              <a:spcAft>
                <a:spcPts val="800"/>
              </a:spcAft>
            </a:pPr>
            <a:r>
              <a:rPr sz="1500">
                <a:solidFill>
                  <a:srgbClr val="FFFFFF"/>
                </a:solidFill>
                <a:latin typeface="Microsoft YaHei"/>
              </a:rPr>
              <a:t>▪ K5  标准：管设施，也管人</a:t>
            </a:r>
          </a:p>
          <a:p>
            <a:pPr>
              <a:spcAft>
                <a:spcPts val="800"/>
              </a:spcAft>
            </a:pPr>
            <a:r>
              <a:rPr sz="1500">
                <a:solidFill>
                  <a:srgbClr val="FFFFFF"/>
                </a:solidFill>
                <a:latin typeface="Microsoft YaHei"/>
              </a:rPr>
              <a:t>▪ K6  谁来监管：各领域主管部门</a:t>
            </a:r>
          </a:p>
          <a:p>
            <a:pPr>
              <a:spcAft>
                <a:spcPts val="800"/>
              </a:spcAft>
            </a:pPr>
            <a:r>
              <a:rPr sz="1500">
                <a:solidFill>
                  <a:srgbClr val="FFFFFF"/>
                </a:solidFill>
                <a:latin typeface="Microsoft YaHei"/>
              </a:rPr>
              <a:t>▪ S5  高校实验室的专门要求</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003</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高校实验室安全规范与检查</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第1章 法规、管理与安全文化</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5 分钟（卡通视频 56 镜）　适用对象：全体进入高校实验室的本科生、研究生、新进教职工和博士后（必修）；实验室负责人、安全员可作为迎检准备参考</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003 · 高校实验室安全规范与检查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003 高校实验室安全规范与检查</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能说出《高等学校实验室安全规范》的发布单位、适用范围和主要要求。</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能说出高校实验室安全检查项目表的大体结构和检查重点。</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能理解实验室分类分级管理的含义，判断“同样的物质、不同的操作”为什么管理要求不同。</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能做到：看懂并协助更新门口安全信息牌，把安全承诺落实到每天的进出实验室行为中。</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003 · 高校实验室安全规范与检查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003 高校实验室安全规范与检查</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教育部高校实验室安全检查项目表（以教育部当年发布的现行版本为准）</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《中华人民共和国安全生产法》（风险分级管控和隐患排查治理，以现行文本为准）</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《中华人民共和国危险化学品安全法》（2026 年 5 月 1 日起施行）及《危险化学品安全管理条例》（以现行文本为准）：化学品安全技术说明书和安全标签</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2894-2025（以现行文本为准）《安全色和安全标志》：信息牌上的安全标志</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本校实验室安全管理办法、分级分类管理规定（以本校规定为准）</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003 · 高校实验室安全规范与检查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《高等学校实验室安全规范》是什么</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003 高校实验室安全规范与检查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教育部办公厅 2023 年印发（教科信厅函〔2023〕5 号）</a:t>
            </a:r>
          </a:p>
          <a:p>
            <a:pPr>
              <a:spcAft>
                <a:spcPts val="1000"/>
              </a:spcAft>
            </a:pPr>
            <a:r>
              <a:rPr sz="2000">
                <a:solidFill>
                  <a:srgbClr val="222B33"/>
                </a:solidFill>
                <a:latin typeface="Microsoft YaHei"/>
              </a:rPr>
              <a:t>▪ 适用于高校各类教学、科研实验室</a:t>
            </a:r>
          </a:p>
          <a:p>
            <a:pPr>
              <a:spcAft>
                <a:spcPts val="1000"/>
              </a:spcAft>
            </a:pPr>
            <a:r>
              <a:rPr sz="2000">
                <a:solidFill>
                  <a:srgbClr val="222B33"/>
                </a:solidFill>
                <a:latin typeface="Microsoft YaHei"/>
              </a:rPr>
              <a:t>▪ 把法律法规要求落到高校日常管理</a:t>
            </a:r>
          </a:p>
          <a:p>
            <a:pPr>
              <a:spcAft>
                <a:spcPts val="1000"/>
              </a:spcAft>
            </a:pPr>
            <a:r>
              <a:rPr sz="2000">
                <a:solidFill>
                  <a:srgbClr val="222B33"/>
                </a:solidFill>
                <a:latin typeface="Microsoft YaHei"/>
              </a:rPr>
              <a:t>▪ 学校据此制定本校制度，以现行文本为准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《高等学校实验室安全规范》由教育部办公厅于 2023 年印发（教科信厅函〔2023〕5 号），是针对高校实验室安全工作的专门规范性文件。它以安全生产、消防、危险化学品、生物安全、辐射安全等法律法规为基础，结合高校实验……</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认为规范只是管理部门的文件，与学生无关</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003 · 高校实验室安全规范与检查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规范的主要要求</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003 高校实验室安全规范与检查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建立责任体系，制定管理制度和操作规程</a:t>
            </a:r>
          </a:p>
          <a:p>
            <a:pPr>
              <a:spcAft>
                <a:spcPts val="1000"/>
              </a:spcAft>
            </a:pPr>
            <a:r>
              <a:rPr sz="1700">
                <a:solidFill>
                  <a:srgbClr val="222B33"/>
                </a:solidFill>
                <a:latin typeface="Microsoft YaHei"/>
              </a:rPr>
              <a:t>▪ 开展安全教育培训，考核合格才准入</a:t>
            </a:r>
          </a:p>
          <a:p>
            <a:pPr>
              <a:spcAft>
                <a:spcPts val="1000"/>
              </a:spcAft>
            </a:pPr>
            <a:r>
              <a:rPr sz="1700">
                <a:solidFill>
                  <a:srgbClr val="222B33"/>
                </a:solidFill>
                <a:latin typeface="Microsoft YaHei"/>
              </a:rPr>
              <a:t>▪ 风险评估、分级管控，排查治理隐患</a:t>
            </a:r>
          </a:p>
          <a:p>
            <a:pPr>
              <a:spcAft>
                <a:spcPts val="1000"/>
              </a:spcAft>
            </a:pPr>
            <a:r>
              <a:rPr sz="1700">
                <a:solidFill>
                  <a:srgbClr val="222B33"/>
                </a:solidFill>
                <a:latin typeface="Microsoft YaHei"/>
              </a:rPr>
              <a:t>▪ 应急管理、安全设施和条件保障</a:t>
            </a:r>
          </a:p>
          <a:p>
            <a:pPr>
              <a:spcAft>
                <a:spcPts val="1000"/>
              </a:spcAft>
            </a:pPr>
            <a:r>
              <a:rPr sz="1700">
                <a:solidFill>
                  <a:srgbClr val="222B33"/>
                </a:solidFill>
                <a:latin typeface="Microsoft YaHei"/>
              </a:rPr>
              <a:t>▪ 对化学、生物、辐射、机电等危险源分类管理</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规范的要求可以概括为几个方面（具体章节和表述以现行文本为准）：一是责任体系，学校、学院（二级单位）、实验室逐级明确安全责任；二是制度建设，建立健全实验室安全管理制度和安全操作规程；三是教育培训与准入，进入实验室的人员……</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把规范理解为“只管化学实验室”</a:t>
            </a:r>
          </a:p>
          <a:p>
            <a:pPr>
              <a:spcAft>
                <a:spcPts val="1000"/>
              </a:spcAft>
            </a:pPr>
            <a:r>
              <a:rPr sz="1500">
                <a:solidFill>
                  <a:srgbClr val="222B33"/>
                </a:solidFill>
                <a:latin typeface="Microsoft YaHei"/>
              </a:rPr>
              <a:t>▪ 只关注设施配备，忽视制度、培训和应急</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003 · 高校实验室安全规范与检查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按危险源分类分级管理</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003 高校实验室安全规范与检查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先按危险源分类：化学、生物、辐射、机电等</a:t>
            </a:r>
          </a:p>
          <a:p>
            <a:pPr>
              <a:spcAft>
                <a:spcPts val="1000"/>
              </a:spcAft>
            </a:pPr>
            <a:r>
              <a:rPr sz="2000">
                <a:solidFill>
                  <a:srgbClr val="222B33"/>
                </a:solidFill>
                <a:latin typeface="Microsoft YaHei"/>
              </a:rPr>
              <a:t>▪ 再按风险高低分级，危险越高管控越严</a:t>
            </a:r>
          </a:p>
          <a:p>
            <a:pPr>
              <a:spcAft>
                <a:spcPts val="1000"/>
              </a:spcAft>
            </a:pPr>
            <a:r>
              <a:rPr sz="2000">
                <a:solidFill>
                  <a:srgbClr val="222B33"/>
                </a:solidFill>
                <a:latin typeface="Microsoft YaHei"/>
              </a:rPr>
              <a:t>▪ 高风险实验室准入更严、检查更勤</a:t>
            </a:r>
          </a:p>
          <a:p>
            <a:pPr>
              <a:spcAft>
                <a:spcPts val="1000"/>
              </a:spcAft>
            </a:pPr>
            <a:r>
              <a:rPr sz="2000">
                <a:solidFill>
                  <a:srgbClr val="222B33"/>
                </a:solidFill>
                <a:latin typeface="Microsoft YaHei"/>
              </a:rPr>
              <a:t>▪ 分级标准和标识颜色以本校规定为准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高校实验室数量多、差别大，不能“一刀切”管理。规范要求对实验室实行分类分级管理：按主要危险源的种类分类，例如化学类、生物类、辐射类、机电类、特种设备类等（一间实验室可能同时属于几类）；再按危险源的性质、数量和风险程度……</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认为低级别实验室“不用管”</a:t>
            </a:r>
          </a:p>
          <a:p>
            <a:pPr>
              <a:spcAft>
                <a:spcPts val="1000"/>
              </a:spcAft>
            </a:pPr>
            <a:r>
              <a:rPr sz="1500">
                <a:solidFill>
                  <a:srgbClr val="222B33"/>
                </a:solidFill>
                <a:latin typeface="Microsoft YaHei"/>
              </a:rPr>
              <a:t>▪ 实验内容已变化，实验室分级和信息牌仍不更新</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003 · 高校实验室安全规范与检查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同样的化学品，不同的管法</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003 高校实验室安全规范与检查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风险不只取决于用什么，还取决于怎么用</a:t>
            </a:r>
          </a:p>
          <a:p>
            <a:pPr>
              <a:spcAft>
                <a:spcPts val="1000"/>
              </a:spcAft>
            </a:pPr>
            <a:r>
              <a:rPr sz="2000">
                <a:solidFill>
                  <a:srgbClr val="222B33"/>
                </a:solidFill>
                <a:latin typeface="Microsoft YaHei"/>
              </a:rPr>
              <a:t>▪ 用量、操作方式、场所不同，风险不同</a:t>
            </a:r>
          </a:p>
          <a:p>
            <a:pPr>
              <a:spcAft>
                <a:spcPts val="1000"/>
              </a:spcAft>
            </a:pPr>
            <a:r>
              <a:rPr sz="2000">
                <a:solidFill>
                  <a:srgbClr val="222B33"/>
                </a:solidFill>
                <a:latin typeface="Microsoft YaHei"/>
              </a:rPr>
              <a:t>▪ 管理要求按实际在做的工作来定</a:t>
            </a:r>
          </a:p>
          <a:p>
            <a:pPr>
              <a:spcAft>
                <a:spcPts val="1000"/>
              </a:spcAft>
            </a:pPr>
            <a:r>
              <a:rPr sz="2000">
                <a:solidFill>
                  <a:srgbClr val="222B33"/>
                </a:solidFill>
                <a:latin typeface="Microsoft YaHei"/>
              </a:rPr>
              <a:t>▪ 改变操作方式时要重新评估</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两间相邻的实验室，可能用着同一种化学品，但一间只是取几滴做显色，另一间要大量加热、回流或放大反应。前者暴露少、后果有限，后者可能产生大量蒸气、存在火灾或喷溅风险。两者的防护措施、设施要求和管理要求自然不同。</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照搬别的实验室的防护要求，不看自己的实际操作</a:t>
            </a:r>
          </a:p>
          <a:p>
            <a:pPr>
              <a:spcAft>
                <a:spcPts val="1000"/>
              </a:spcAft>
            </a:pPr>
            <a:r>
              <a:rPr sz="1500">
                <a:solidFill>
                  <a:srgbClr val="222B33"/>
                </a:solidFill>
                <a:latin typeface="Microsoft YaHei"/>
              </a:rPr>
              <a:t>▪ 实验放大后仍沿用小量实验的防护措施</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003 · 高校实验室安全规范与检查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门口信息牌写明主要危险</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003 高校实验室安全规范与检查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实验室门口要张贴安全信息牌</a:t>
            </a:r>
          </a:p>
          <a:p>
            <a:pPr>
              <a:spcAft>
                <a:spcPts val="1000"/>
              </a:spcAft>
            </a:pPr>
            <a:r>
              <a:rPr sz="2000">
                <a:solidFill>
                  <a:srgbClr val="222B33"/>
                </a:solidFill>
                <a:latin typeface="Microsoft YaHei"/>
              </a:rPr>
              <a:t>▪ 写明危险类别、安全责任人、防护要求、应急电话</a:t>
            </a:r>
          </a:p>
          <a:p>
            <a:pPr>
              <a:spcAft>
                <a:spcPts val="1000"/>
              </a:spcAft>
            </a:pPr>
            <a:r>
              <a:rPr sz="2000">
                <a:solidFill>
                  <a:srgbClr val="222B33"/>
                </a:solidFill>
                <a:latin typeface="Microsoft YaHei"/>
              </a:rPr>
              <a:t>▪ 新进危化品要对照 SDS 及时更新</a:t>
            </a:r>
          </a:p>
          <a:p>
            <a:pPr>
              <a:spcAft>
                <a:spcPts val="1000"/>
              </a:spcAft>
            </a:pPr>
            <a:r>
              <a:rPr sz="2000">
                <a:solidFill>
                  <a:srgbClr val="222B33"/>
                </a:solidFill>
                <a:latin typeface="Microsoft YaHei"/>
              </a:rPr>
              <a:t>▪ 让救援人员进门前一看就懂</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室应在门口等显著位置张贴安全信息牌，内容一般包括：实验室名称和安全分级，涉及的主要危险类别和相应的安全警示标志，安全责任人和联系方式，必要的防护要求，以及有效的应急联系电话（具体格式以本校规定为准）。室内还应张贴……</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信息牌多年不更新，责任人、电话已失效</a:t>
            </a:r>
          </a:p>
          <a:p>
            <a:pPr>
              <a:spcAft>
                <a:spcPts val="1000"/>
              </a:spcAft>
            </a:pPr>
            <a:r>
              <a:rPr sz="1500">
                <a:solidFill>
                  <a:srgbClr val="222B33"/>
                </a:solidFill>
                <a:latin typeface="Microsoft YaHei"/>
              </a:rPr>
              <a:t>▪ 新增危化品或危险实验后不更新危险类别</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003 · 高校实验室安全规范与检查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安全承诺要落到行动</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003 高校实验室安全规范与检查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进入实验室前签订安全承诺书</a:t>
            </a:r>
          </a:p>
          <a:p>
            <a:pPr>
              <a:spcAft>
                <a:spcPts val="1000"/>
              </a:spcAft>
            </a:pPr>
            <a:r>
              <a:rPr sz="2000">
                <a:solidFill>
                  <a:srgbClr val="222B33"/>
                </a:solidFill>
                <a:latin typeface="Microsoft YaHei"/>
              </a:rPr>
              <a:t>▪ 签了不等于做了，不能签完就算</a:t>
            </a:r>
          </a:p>
          <a:p>
            <a:pPr>
              <a:spcAft>
                <a:spcPts val="1000"/>
              </a:spcAft>
            </a:pPr>
            <a:r>
              <a:rPr sz="2000">
                <a:solidFill>
                  <a:srgbClr val="222B33"/>
                </a:solidFill>
                <a:latin typeface="Microsoft YaHei"/>
              </a:rPr>
              <a:t>▪ 每天进门穿好防护、查看记录</a:t>
            </a:r>
          </a:p>
          <a:p>
            <a:pPr>
              <a:spcAft>
                <a:spcPts val="1000"/>
              </a:spcAft>
            </a:pPr>
            <a:r>
              <a:rPr sz="2000">
                <a:solidFill>
                  <a:srgbClr val="222B33"/>
                </a:solidFill>
                <a:latin typeface="Microsoft YaHei"/>
              </a:rPr>
              <a:t>▪ 离开前关水、关电、关气、关门窗</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很多高校要求进入实验室的人员签订安全承诺书（或安全责任书），承诺遵守学校和实验室的安全制度、规范操作、及时报告隐患。签字是一种郑重的承诺，也意味着本人知晓并愿意承担相应责任。</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签完承诺书就忘，实际行为不变</a:t>
            </a:r>
          </a:p>
          <a:p>
            <a:pPr>
              <a:spcAft>
                <a:spcPts val="1000"/>
              </a:spcAft>
            </a:pPr>
            <a:r>
              <a:rPr sz="1500">
                <a:solidFill>
                  <a:srgbClr val="222B33"/>
                </a:solidFill>
                <a:latin typeface="Microsoft YaHei"/>
              </a:rPr>
              <a:t>▪ 最后离开的人不做关水关电检查</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003 · 高校实验室安全规范与检查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检查项目表的结构与重点</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003 高校实验室安全规范与检查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检查项目表是校内自查和上级检查的依据</a:t>
            </a:r>
          </a:p>
          <a:p>
            <a:pPr>
              <a:spcAft>
                <a:spcPts val="1000"/>
              </a:spcAft>
            </a:pPr>
            <a:r>
              <a:rPr sz="2000">
                <a:solidFill>
                  <a:srgbClr val="222B33"/>
                </a:solidFill>
                <a:latin typeface="Microsoft YaHei"/>
              </a:rPr>
              <a:t>▪ 大体分为管理类和现场类两部分</a:t>
            </a:r>
          </a:p>
          <a:p>
            <a:pPr>
              <a:spcAft>
                <a:spcPts val="1000"/>
              </a:spcAft>
            </a:pPr>
            <a:r>
              <a:rPr sz="2000">
                <a:solidFill>
                  <a:srgbClr val="222B33"/>
                </a:solidFill>
                <a:latin typeface="Microsoft YaHei"/>
              </a:rPr>
              <a:t>▪ 现场重点：危化品、气瓶、消防、用电等</a:t>
            </a:r>
          </a:p>
          <a:p>
            <a:pPr>
              <a:spcAft>
                <a:spcPts val="1000"/>
              </a:spcAft>
            </a:pPr>
            <a:r>
              <a:rPr sz="2000">
                <a:solidFill>
                  <a:srgbClr val="222B33"/>
                </a:solidFill>
                <a:latin typeface="Microsoft YaHei"/>
              </a:rPr>
              <a:t>▪ 项目表会更新，以现行版本为准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教育部组织制定的高校实验室安全检查项目表，把规范和相关法规的要求细化为一条条可检查的条目，是学校、学院、实验室自查和上级部门检查的依据。</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只在检查前才翻看项目表</a:t>
            </a:r>
          </a:p>
          <a:p>
            <a:pPr>
              <a:spcAft>
                <a:spcPts val="1000"/>
              </a:spcAft>
            </a:pPr>
            <a:r>
              <a:rPr sz="1500">
                <a:solidFill>
                  <a:srgbClr val="222B33"/>
                </a:solidFill>
                <a:latin typeface="Microsoft YaHei"/>
              </a:rPr>
              <a:t>▪ 使用过时版本的检查表自查</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003 · 高校实验室安全规范与检查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校院室定期检查与上级检查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003 高校实验室安全规范与检查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学校、学院、实验室分层开展定期检查</a:t>
            </a:r>
          </a:p>
          <a:p>
            <a:pPr>
              <a:spcAft>
                <a:spcPts val="1000"/>
              </a:spcAft>
            </a:pPr>
            <a:r>
              <a:rPr sz="2000">
                <a:solidFill>
                  <a:srgbClr val="222B33"/>
                </a:solidFill>
                <a:latin typeface="Microsoft YaHei"/>
              </a:rPr>
              <a:t>▪ 上级部门按检查项目表开展检查</a:t>
            </a:r>
          </a:p>
          <a:p>
            <a:pPr>
              <a:spcAft>
                <a:spcPts val="1000"/>
              </a:spcAft>
            </a:pPr>
            <a:r>
              <a:rPr sz="2000">
                <a:solidFill>
                  <a:srgbClr val="222B33"/>
                </a:solidFill>
                <a:latin typeface="Microsoft YaHei"/>
              </a:rPr>
              <a:t>▪ 迎检不靠突击，靠平时做到位</a:t>
            </a:r>
          </a:p>
          <a:p>
            <a:pPr>
              <a:spcAft>
                <a:spcPts val="1000"/>
              </a:spcAft>
            </a:pPr>
            <a:r>
              <a:rPr sz="2000">
                <a:solidFill>
                  <a:srgbClr val="222B33"/>
                </a:solidFill>
                <a:latin typeface="Microsoft YaHei"/>
              </a:rPr>
              <a:t>▪ 查出问题要整改、复查；重大隐患立即停用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高校实验室安全检查分层开展：学校层面组织定期和专项检查，学院（二级单位）开展定期巡查，实验室负责人和安全员组织日常自查。教育部等上级部门也会按检查项目表对高校进行检查或抽查。</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检查前突击藏匿杂物、补记录</a:t>
            </a:r>
          </a:p>
          <a:p>
            <a:pPr>
              <a:spcAft>
                <a:spcPts val="1000"/>
              </a:spcAft>
            </a:pPr>
            <a:r>
              <a:rPr sz="1500">
                <a:solidFill>
                  <a:srgbClr val="222B33"/>
                </a:solidFill>
                <a:latin typeface="Microsoft YaHei"/>
              </a:rPr>
              <a:t>▪ 查出问题后只做表面整改，不复查</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003 · 高校实验室安全规范与检查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003 高校实验室安全规范与检查</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《高等学校实验室安全规范》的文号是：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教科信厅函〔2023〕5 号</a:t>
            </a:r>
          </a:p>
          <a:p>
            <a:pPr algn="l"/>
            <a:r>
              <a:rPr sz="1500" b="0">
                <a:solidFill>
                  <a:srgbClr val="222B33"/>
                </a:solidFill>
                <a:latin typeface="Microsoft YaHei"/>
              </a:rPr>
              <a:t>B. 国务院令第 591 号</a:t>
            </a:r>
          </a:p>
          <a:p>
            <a:pPr algn="l"/>
            <a:r>
              <a:rPr sz="1500" b="0">
                <a:solidFill>
                  <a:srgbClr val="222B33"/>
                </a:solidFill>
                <a:latin typeface="Microsoft YaHei"/>
              </a:rPr>
              <a:t>C. GB 19489-2008</a:t>
            </a:r>
          </a:p>
          <a:p>
            <a:pPr algn="l"/>
            <a:r>
              <a:rPr sz="1500" b="0">
                <a:solidFill>
                  <a:srgbClr val="222B33"/>
                </a:solidFill>
                <a:latin typeface="Microsoft YaHei"/>
              </a:rPr>
              <a:t>D. 主席令第六十四号</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隔壁两间实验室用同一种化学品，一间只取几滴，一间大量加热回流。关于管理要求，正确的是：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两间完全一样</a:t>
            </a:r>
          </a:p>
          <a:p>
            <a:pPr algn="l"/>
            <a:r>
              <a:rPr sz="1500" b="0">
                <a:solidFill>
                  <a:srgbClr val="222B33"/>
                </a:solidFill>
                <a:latin typeface="Microsoft YaHei"/>
              </a:rPr>
              <a:t>B. 按实际操作的风险分别确定，加热回流的一间要求更严</a:t>
            </a:r>
          </a:p>
          <a:p>
            <a:pPr algn="l"/>
            <a:r>
              <a:rPr sz="1500" b="0">
                <a:solidFill>
                  <a:srgbClr val="222B33"/>
                </a:solidFill>
                <a:latin typeface="Microsoft YaHei"/>
              </a:rPr>
              <a:t>C. 只看化学品清单</a:t>
            </a:r>
          </a:p>
          <a:p>
            <a:pPr algn="l"/>
            <a:r>
              <a:rPr sz="1500" b="0">
                <a:solidFill>
                  <a:srgbClr val="222B33"/>
                </a:solidFill>
                <a:latin typeface="Microsoft YaHei"/>
              </a:rPr>
              <a:t>D. 取几滴的一间可以不管</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003 · 高校实验室安全规范与检查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003 高校实验室安全规范与检查</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实验室门口安全信息牌一般不需要包括的是：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主要危险类别和警示标志</a:t>
            </a:r>
          </a:p>
          <a:p>
            <a:pPr algn="l"/>
            <a:r>
              <a:rPr sz="1500" b="0">
                <a:solidFill>
                  <a:srgbClr val="222B33"/>
                </a:solidFill>
                <a:latin typeface="Microsoft YaHei"/>
              </a:rPr>
              <a:t>B. 安全责任人</a:t>
            </a:r>
          </a:p>
          <a:p>
            <a:pPr algn="l"/>
            <a:r>
              <a:rPr sz="1500" b="0">
                <a:solidFill>
                  <a:srgbClr val="222B33"/>
                </a:solidFill>
                <a:latin typeface="Microsoft YaHei"/>
              </a:rPr>
              <a:t>C. 应急联系电话</a:t>
            </a:r>
          </a:p>
          <a:p>
            <a:pPr algn="l"/>
            <a:r>
              <a:rPr sz="1500" b="0">
                <a:solidFill>
                  <a:srgbClr val="222B33"/>
                </a:solidFill>
                <a:latin typeface="Microsoft YaHei"/>
              </a:rPr>
              <a:t>D. 实验室成员的考试成绩</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判断：为了顺利通过检查，可以在检查前把杂物临时塞进柜子。</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003 · 高校实验室安全规范与检查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003 高校实验室安全规范与检查</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简答：签了安全承诺书后，每天离开实验室前要做哪些检查？</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800">
                <a:solidFill>
                  <a:srgbClr val="FFFFFF"/>
                </a:solidFill>
                <a:latin typeface="Microsoft YaHei"/>
              </a:rPr>
              <a:t>▪ S1  《高等学校实验室安全规范》是什么</a:t>
            </a:r>
          </a:p>
          <a:p>
            <a:pPr>
              <a:spcAft>
                <a:spcPts val="800"/>
              </a:spcAft>
            </a:pPr>
            <a:r>
              <a:rPr sz="1800">
                <a:solidFill>
                  <a:srgbClr val="FFFFFF"/>
                </a:solidFill>
                <a:latin typeface="Microsoft YaHei"/>
              </a:rPr>
              <a:t>▪ S2  规范的主要要求</a:t>
            </a:r>
          </a:p>
          <a:p>
            <a:pPr>
              <a:spcAft>
                <a:spcPts val="800"/>
              </a:spcAft>
            </a:pPr>
            <a:r>
              <a:rPr sz="1800">
                <a:solidFill>
                  <a:srgbClr val="FFFFFF"/>
                </a:solidFill>
                <a:latin typeface="Microsoft YaHei"/>
              </a:rPr>
              <a:t>▪ K1  按危险源分类分级管理</a:t>
            </a:r>
          </a:p>
          <a:p>
            <a:pPr>
              <a:spcAft>
                <a:spcPts val="800"/>
              </a:spcAft>
            </a:pPr>
            <a:r>
              <a:rPr sz="1800">
                <a:solidFill>
                  <a:srgbClr val="FFFFFF"/>
                </a:solidFill>
                <a:latin typeface="Microsoft YaHei"/>
              </a:rPr>
              <a:t>▪ K2  同样的化学品，不同的管法</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800">
                <a:solidFill>
                  <a:srgbClr val="FFFFFF"/>
                </a:solidFill>
                <a:latin typeface="Microsoft YaHei"/>
              </a:rPr>
              <a:t>▪ K3  门口信息牌写明主要危险</a:t>
            </a:r>
          </a:p>
          <a:p>
            <a:pPr>
              <a:spcAft>
                <a:spcPts val="800"/>
              </a:spcAft>
            </a:pPr>
            <a:r>
              <a:rPr sz="1800">
                <a:solidFill>
                  <a:srgbClr val="FFFFFF"/>
                </a:solidFill>
                <a:latin typeface="Microsoft YaHei"/>
              </a:rPr>
              <a:t>▪ K4  安全承诺要落到行动</a:t>
            </a:r>
          </a:p>
          <a:p>
            <a:pPr>
              <a:spcAft>
                <a:spcPts val="800"/>
              </a:spcAft>
            </a:pPr>
            <a:r>
              <a:rPr sz="1800">
                <a:solidFill>
                  <a:srgbClr val="FFFFFF"/>
                </a:solidFill>
                <a:latin typeface="Microsoft YaHei"/>
              </a:rPr>
              <a:t>▪ S3  检查项目表的结构与重点</a:t>
            </a:r>
          </a:p>
          <a:p>
            <a:pPr>
              <a:spcAft>
                <a:spcPts val="800"/>
              </a:spcAft>
            </a:pPr>
            <a:r>
              <a:rPr sz="1800">
                <a:solidFill>
                  <a:srgbClr val="FFFFFF"/>
                </a:solidFill>
                <a:latin typeface="Microsoft YaHei"/>
              </a:rPr>
              <a:t>▪ K5  校院室定期检查与上级检查</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004</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三级管理与安全责任</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第1章 法规、管理与安全文化</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5 分钟（卡通视频 61 镜）　适用对象：全体进入高校实验室的本科生、研究生、新进教职工和博士后（必修）；导师、实验室负责人和实验室安全员重点学习</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004 · 三级管理与安全责任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004 三级管理与安全责任</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能说出学校—学院—实验室三级管理的结构，以及实验室负责人作为第一责任人的主要职责。</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能说出学院安全管理员、实验室安全员、导师和带教人、学生各自的责任。</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能说出学生在实验室的安全权利：知情、拒绝违章指挥和冒险作业、紧急撤离、报告隐患。</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能做到：进实验室前记下安全联系人，出现问题按“实验室负责人→学院→保卫处/实验室管理处”逐级报告，紧急时拨打 119、120。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004 · 三级管理与安全责任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004 三级管理与安全责任</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《中华人民共和国安全生产法》（以现行文本为准）：全员安全生产责任制；从业人员的知情权、建议权、拒绝违章指挥和强令冒险作业、紧急情况下停止作业撤离等权利，以及遵守规章、报告隐患的义务</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号，以现行文本为准）：安全责任体系、三级管理、安全责任书与考核</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教育部高校实验室安全检查项目表（以现行文本为准）：责任体系类检查项</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《中华人民共和国职业病防治法》（以现行文本为准）：用人单位提供符合要求的防护设施和用品、组织培训的责任</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本校实验室安全管理办法、安全责任制和问责规定（以本校规定为准）</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004 · 三级管理与安全责任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三级管理：责任共担一条链</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004 三级管理与安全责任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高校实验室实行学校—学院—实验室三级管理</a:t>
            </a:r>
          </a:p>
          <a:p>
            <a:pPr>
              <a:spcAft>
                <a:spcPts val="1000"/>
              </a:spcAft>
            </a:pPr>
            <a:r>
              <a:rPr sz="2000">
                <a:solidFill>
                  <a:srgbClr val="222B33"/>
                </a:solidFill>
                <a:latin typeface="Microsoft YaHei"/>
              </a:rPr>
              <a:t>▪ 学校统筹，学院落实，实验室负责日常</a:t>
            </a:r>
          </a:p>
          <a:p>
            <a:pPr>
              <a:spcAft>
                <a:spcPts val="1000"/>
              </a:spcAft>
            </a:pPr>
            <a:r>
              <a:rPr sz="2000">
                <a:solidFill>
                  <a:srgbClr val="222B33"/>
                </a:solidFill>
                <a:latin typeface="Microsoft YaHei"/>
              </a:rPr>
              <a:t>▪ 每一级都有明确的责任人</a:t>
            </a:r>
          </a:p>
          <a:p>
            <a:pPr>
              <a:spcAft>
                <a:spcPts val="1000"/>
              </a:spcAft>
            </a:pPr>
            <a:r>
              <a:rPr sz="2000">
                <a:solidFill>
                  <a:srgbClr val="222B33"/>
                </a:solidFill>
                <a:latin typeface="Microsoft YaHei"/>
              </a:rPr>
              <a:t>▪ 责任共担，每个人也对自己的安全负责</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高校实验室安全实行学校、学院（二级单位）、实验室三级管理，逐级明确责任，形成一条完整的责任链。学校层面负责统筹规划、制定制度、保障条件和监督检查，学校主要负责人对全校实验室安全工作负总责；学院层面负责本单位实验室安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认为安全是学校管理部门的事，与自己无关</a:t>
            </a:r>
          </a:p>
          <a:p>
            <a:pPr>
              <a:spcAft>
                <a:spcPts val="1000"/>
              </a:spcAft>
            </a:pPr>
            <a:r>
              <a:rPr sz="1500">
                <a:solidFill>
                  <a:srgbClr val="222B33"/>
                </a:solidFill>
                <a:latin typeface="Microsoft YaHei"/>
              </a:rPr>
              <a:t>▪ 不知道本实验室负责人和学院安全管理员是谁</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004 · 三级管理与安全责任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学校要提供安全条件</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004 三级管理与安全责任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实验室安全，单位首先要担起责任</a:t>
            </a:r>
          </a:p>
          <a:p>
            <a:pPr>
              <a:spcAft>
                <a:spcPts val="1000"/>
              </a:spcAft>
            </a:pPr>
            <a:r>
              <a:rPr sz="2000">
                <a:solidFill>
                  <a:srgbClr val="222B33"/>
                </a:solidFill>
                <a:latin typeface="Microsoft YaHei"/>
              </a:rPr>
              <a:t>▪ 提供合格的设施、设备和防护用品</a:t>
            </a:r>
          </a:p>
          <a:p>
            <a:pPr>
              <a:spcAft>
                <a:spcPts val="1000"/>
              </a:spcAft>
            </a:pPr>
            <a:r>
              <a:rPr sz="2000">
                <a:solidFill>
                  <a:srgbClr val="222B33"/>
                </a:solidFill>
                <a:latin typeface="Microsoft YaHei"/>
              </a:rPr>
              <a:t>▪ 保证设备维护保养和定期检修</a:t>
            </a:r>
          </a:p>
          <a:p>
            <a:pPr>
              <a:spcAft>
                <a:spcPts val="1000"/>
              </a:spcAft>
            </a:pPr>
            <a:r>
              <a:rPr sz="2000">
                <a:solidFill>
                  <a:srgbClr val="222B33"/>
                </a:solidFill>
                <a:latin typeface="Microsoft YaHei"/>
              </a:rPr>
              <a:t>▪ 组织安全培训，保障必要经费</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法律要求单位为人员提供安全的工作条件。对高校而言，学校和学院要为实验室提供符合要求的场所、通风、消防、应急等安全设施，配备合格的仪器设备和个人防护用品，保证设备得到维护保养和定期检修，并组织安全教育培训、保障必要的安……</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防护用品不足或型号不对时将就使用</a:t>
            </a:r>
          </a:p>
          <a:p>
            <a:pPr>
              <a:spcAft>
                <a:spcPts val="1000"/>
              </a:spcAft>
            </a:pPr>
            <a:r>
              <a:rPr sz="1500">
                <a:solidFill>
                  <a:srgbClr val="222B33"/>
                </a:solidFill>
                <a:latin typeface="Microsoft YaHei"/>
              </a:rPr>
              <a:t>▪ 老化、故障设备“带病”运行而不报告</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004 · 三级管理与安全责任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实验室负责人是第一责任人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004 三级管理与安全责任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实验室负责人是本室安全第一责任人</a:t>
            </a:r>
          </a:p>
          <a:p>
            <a:pPr>
              <a:spcAft>
                <a:spcPts val="1000"/>
              </a:spcAft>
            </a:pPr>
            <a:r>
              <a:rPr sz="2000">
                <a:solidFill>
                  <a:srgbClr val="222B33"/>
                </a:solidFill>
                <a:latin typeface="Microsoft YaHei"/>
              </a:rPr>
              <a:t>▪ 确保安全制度在本室落地</a:t>
            </a:r>
          </a:p>
          <a:p>
            <a:pPr>
              <a:spcAft>
                <a:spcPts val="1000"/>
              </a:spcAft>
            </a:pPr>
            <a:r>
              <a:rPr sz="2000">
                <a:solidFill>
                  <a:srgbClr val="222B33"/>
                </a:solidFill>
                <a:latin typeface="Microsoft YaHei"/>
              </a:rPr>
              <a:t>▪ 组织风险评估，审核实验方案</a:t>
            </a:r>
          </a:p>
          <a:p>
            <a:pPr>
              <a:spcAft>
                <a:spcPts val="1000"/>
              </a:spcAft>
            </a:pPr>
            <a:r>
              <a:rPr sz="2000">
                <a:solidFill>
                  <a:srgbClr val="222B33"/>
                </a:solidFill>
                <a:latin typeface="Microsoft YaHei"/>
              </a:rPr>
              <a:t>▪ 保障设施和防护到位，组织培训准入和检查</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室负责人（通常是实验室主任、课题组长或导师）对本实验室的安全工作全面负责，是第一责任人。其主要职责包括：贯彻学校和学院的安全制度，结合本室危险源制定安全操作规程和应急措施；组织实验项目的风险评估，审核实验方案特别……</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负责人把安全全部推给安全员或学生</a:t>
            </a:r>
          </a:p>
          <a:p>
            <a:pPr>
              <a:spcAft>
                <a:spcPts val="1000"/>
              </a:spcAft>
            </a:pPr>
            <a:r>
              <a:rPr sz="1500">
                <a:solidFill>
                  <a:srgbClr val="222B33"/>
                </a:solidFill>
                <a:latin typeface="Microsoft YaHei"/>
              </a:rPr>
              <a:t>▪ 新实验、高风险实验未经负责人审核就开展</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004 · 三级管理与安全责任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负责人外出要指定代理人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004 三级管理与安全责任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负责人出差、休假，责任不能断档</a:t>
            </a:r>
          </a:p>
          <a:p>
            <a:pPr>
              <a:spcAft>
                <a:spcPts val="1000"/>
              </a:spcAft>
            </a:pPr>
            <a:r>
              <a:rPr sz="2000">
                <a:solidFill>
                  <a:srgbClr val="222B33"/>
                </a:solidFill>
                <a:latin typeface="Microsoft YaHei"/>
              </a:rPr>
              <a:t>▪ 指定代理人，交代清楚在研实验和风险</a:t>
            </a:r>
          </a:p>
          <a:p>
            <a:pPr>
              <a:spcAft>
                <a:spcPts val="1000"/>
              </a:spcAft>
            </a:pPr>
            <a:r>
              <a:rPr sz="2000">
                <a:solidFill>
                  <a:srgbClr val="222B33"/>
                </a:solidFill>
                <a:latin typeface="Microsoft YaHei"/>
              </a:rPr>
              <a:t>▪ 门口信息牌写清代理人联系方式</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实验室负责人出差、休假或长时间不在岗时，实验室的安全责任不能出现空档。负责人应指定有能力的代理人（如有经验的教师或资深研究生，按本校规定），交代清楚在研实验、重点危险源、钥匙和权限，以及应急处置的要求。</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负责人外出后实验室无人负责、联系不上</a:t>
            </a:r>
          </a:p>
          <a:p>
            <a:pPr>
              <a:spcAft>
                <a:spcPts val="1000"/>
              </a:spcAft>
            </a:pPr>
            <a:r>
              <a:rPr sz="1500">
                <a:solidFill>
                  <a:srgbClr val="222B33"/>
                </a:solidFill>
                <a:latin typeface="Microsoft YaHei"/>
              </a:rPr>
              <a:t>▪ 代理人不清楚实验室有哪些危险源</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004 · 三级管理与安全责任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学校和学院的安全管理人员</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004 三级管理与安全责任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学院设实验室安全管理员</a:t>
            </a:r>
          </a:p>
          <a:p>
            <a:pPr>
              <a:spcAft>
                <a:spcPts val="1000"/>
              </a:spcAft>
            </a:pPr>
            <a:r>
              <a:rPr sz="2000">
                <a:solidFill>
                  <a:srgbClr val="222B33"/>
                </a:solidFill>
                <a:latin typeface="Microsoft YaHei"/>
              </a:rPr>
              <a:t>▪ 学校设实验室安全管理部门</a:t>
            </a:r>
          </a:p>
          <a:p>
            <a:pPr>
              <a:spcAft>
                <a:spcPts val="1000"/>
              </a:spcAft>
            </a:pPr>
            <a:r>
              <a:rPr sz="2000">
                <a:solidFill>
                  <a:srgbClr val="222B33"/>
                </a:solidFill>
                <a:latin typeface="Microsoft YaHei"/>
              </a:rPr>
              <a:t>▪ 负责监督检查，提供培训和咨询</a:t>
            </a:r>
          </a:p>
          <a:p>
            <a:pPr>
              <a:spcAft>
                <a:spcPts val="1000"/>
              </a:spcAft>
            </a:pPr>
            <a:r>
              <a:rPr sz="2000">
                <a:solidFill>
                  <a:srgbClr val="222B33"/>
                </a:solidFill>
                <a:latin typeface="Microsoft YaHei"/>
              </a:rPr>
              <a:t>▪ 保卫处负责消防治安和应急联动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学校设有实验室安全管理部门（名称因校而异，如实验室与设备管理处、实验室安全管理办公室等），负责全校实验室安全的制度建设、培训考核、检查督查和专项管理；学院（二级单位）设实验室安全管理员（专职或兼职），负责本单位的培训……</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遇到安全问题不知道向谁咨询，自己硬着头皮做</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004 · 三级管理与安全责任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实验室安全员：巡查、叫停、上报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004 三级管理与安全责任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每间实验室设安全员，协助负责人管日常</a:t>
            </a:r>
          </a:p>
          <a:p>
            <a:pPr>
              <a:spcAft>
                <a:spcPts val="1000"/>
              </a:spcAft>
            </a:pPr>
            <a:r>
              <a:rPr sz="2000">
                <a:solidFill>
                  <a:srgbClr val="222B33"/>
                </a:solidFill>
                <a:latin typeface="Microsoft YaHei"/>
              </a:rPr>
              <a:t>▪ 巡查提醒，实验前做安全交底</a:t>
            </a:r>
          </a:p>
          <a:p>
            <a:pPr>
              <a:spcAft>
                <a:spcPts val="1000"/>
              </a:spcAft>
            </a:pPr>
            <a:r>
              <a:rPr sz="2000">
                <a:solidFill>
                  <a:srgbClr val="222B33"/>
                </a:solidFill>
                <a:latin typeface="Microsoft YaHei"/>
              </a:rPr>
              <a:t>▪ 发现危险操作要敢于叫停</a:t>
            </a:r>
          </a:p>
          <a:p>
            <a:pPr>
              <a:spcAft>
                <a:spcPts val="1000"/>
              </a:spcAft>
            </a:pPr>
            <a:r>
              <a:rPr sz="2000">
                <a:solidFill>
                  <a:srgbClr val="222B33"/>
                </a:solidFill>
                <a:latin typeface="Microsoft YaHei"/>
              </a:rPr>
              <a:t>▪ 发现隐患及时上报；安全员不负责盯进度</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室一般设一名或几名安全员（通常由教师或资深研究生兼任），在负责人领导下开展日常安全管理：日常巡查，检查大家是否按规程操作和穿戴防护；实验前对新同学或新实验做简短的安全交底；协助识别危害、提出控制建议；协助组织培训……</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安全员碍于情面，看到违规操作不提醒、不叫停</a:t>
            </a:r>
          </a:p>
          <a:p>
            <a:pPr>
              <a:spcAft>
                <a:spcPts val="1000"/>
              </a:spcAft>
            </a:pPr>
            <a:r>
              <a:rPr sz="1500">
                <a:solidFill>
                  <a:srgbClr val="222B33"/>
                </a:solidFill>
                <a:latin typeface="Microsoft YaHei"/>
              </a:rPr>
              <a:t>▪ 把安全员当成“催进度”的角色，忽视其安全职责</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004 · 三级管理与安全责任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导师和带教人的责任</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004 三级管理与安全责任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导师以身作则，组会常讲安全</a:t>
            </a:r>
          </a:p>
          <a:p>
            <a:pPr>
              <a:spcAft>
                <a:spcPts val="1000"/>
              </a:spcAft>
            </a:pPr>
            <a:r>
              <a:rPr sz="2000">
                <a:solidFill>
                  <a:srgbClr val="222B33"/>
                </a:solidFill>
                <a:latin typeface="Microsoft YaHei"/>
              </a:rPr>
              <a:t>▪ 看到问题马上提醒</a:t>
            </a:r>
          </a:p>
          <a:p>
            <a:pPr>
              <a:spcAft>
                <a:spcPts val="1000"/>
              </a:spcAft>
            </a:pPr>
            <a:r>
              <a:rPr sz="2000">
                <a:solidFill>
                  <a:srgbClr val="222B33"/>
                </a:solidFill>
                <a:latin typeface="Microsoft YaHei"/>
              </a:rPr>
              <a:t>▪ 带新人：先示范，再看着做，确认会了再放手</a:t>
            </a:r>
          </a:p>
          <a:p>
            <a:pPr>
              <a:spcAft>
                <a:spcPts val="1000"/>
              </a:spcAft>
            </a:pPr>
            <a:r>
              <a:rPr sz="2000">
                <a:solidFill>
                  <a:srgbClr val="222B33"/>
                </a:solidFill>
                <a:latin typeface="Microsoft YaHei"/>
              </a:rPr>
              <a:t>▪ 没学会的，不让单独上手</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导师是学生安全意识的第一示范者。导师自己严格遵守规定、规范穿戴防护，在组会上经常讲安全、分享险情和教训，看到问题当场指出，学生才会真正重视安全。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只口头交代一句就让新人独立操作</a:t>
            </a:r>
          </a:p>
          <a:p>
            <a:pPr>
              <a:spcAft>
                <a:spcPts val="1000"/>
              </a:spcAft>
            </a:pPr>
            <a:r>
              <a:rPr sz="1500">
                <a:solidFill>
                  <a:srgbClr val="222B33"/>
                </a:solidFill>
                <a:latin typeface="Microsoft YaHei"/>
              </a:rPr>
              <a:t>▪ 导师自己不戴防护，却要求学生戴</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004 · 三级管理与安全责任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人人有责：谁使用，谁负责</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004 三级管理与安全责任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实验室安全，每一个人都有责任</a:t>
            </a:r>
          </a:p>
          <a:p>
            <a:pPr>
              <a:spcAft>
                <a:spcPts val="1000"/>
              </a:spcAft>
            </a:pPr>
            <a:r>
              <a:rPr sz="2000">
                <a:solidFill>
                  <a:srgbClr val="222B33"/>
                </a:solidFill>
                <a:latin typeface="Microsoft YaHei"/>
              </a:rPr>
              <a:t>▪ 外来维修、施工人员同样要守规定</a:t>
            </a:r>
          </a:p>
          <a:p>
            <a:pPr>
              <a:spcAft>
                <a:spcPts val="1000"/>
              </a:spcAft>
            </a:pPr>
            <a:r>
              <a:rPr sz="2000">
                <a:solidFill>
                  <a:srgbClr val="222B33"/>
                </a:solidFill>
                <a:latin typeface="Microsoft YaHei"/>
              </a:rPr>
              <a:t>▪ 谁使用谁负责，严格按规程操作</a:t>
            </a:r>
          </a:p>
          <a:p>
            <a:pPr>
              <a:spcAft>
                <a:spcPts val="1000"/>
              </a:spcAft>
            </a:pPr>
            <a:r>
              <a:rPr sz="2000">
                <a:solidFill>
                  <a:srgbClr val="222B33"/>
                </a:solidFill>
                <a:latin typeface="Microsoft YaHei"/>
              </a:rPr>
              <a:t>▪ 设备损坏及时报告，不擅自维修；异常先停再报</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无论是教师、学生，还是外来的维修、施工人员，只要进入实验室，就对安全负有责任。按照“谁使用、谁负责”的原则，每个人对自己的操作和所用的设备、试剂负责：参加培训，熟悉规程，严格按规程操作，不图省事、不走捷径。</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发现设备损坏自己动手拆修</a:t>
            </a:r>
          </a:p>
          <a:p>
            <a:pPr>
              <a:spcAft>
                <a:spcPts val="1000"/>
              </a:spcAft>
            </a:pPr>
            <a:r>
              <a:rPr sz="1500">
                <a:solidFill>
                  <a:srgbClr val="222B33"/>
                </a:solidFill>
                <a:latin typeface="Microsoft YaHei"/>
              </a:rPr>
              <a:t>▪ 出现异常继续操作，事后不报告</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004 · 三级管理与安全责任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学生的安全权利</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004 三级管理与安全责任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有权了解实验的危险和防护措施</a:t>
            </a:r>
          </a:p>
          <a:p>
            <a:pPr>
              <a:spcAft>
                <a:spcPts val="1000"/>
              </a:spcAft>
            </a:pPr>
            <a:r>
              <a:rPr sz="2000">
                <a:solidFill>
                  <a:srgbClr val="222B33"/>
                </a:solidFill>
                <a:latin typeface="Microsoft YaHei"/>
              </a:rPr>
              <a:t>▪ 对违章指挥、冒险作业有权拒绝</a:t>
            </a:r>
          </a:p>
          <a:p>
            <a:pPr>
              <a:spcAft>
                <a:spcPts val="1000"/>
              </a:spcAft>
            </a:pPr>
            <a:r>
              <a:rPr sz="2000">
                <a:solidFill>
                  <a:srgbClr val="222B33"/>
                </a:solidFill>
                <a:latin typeface="Microsoft YaHei"/>
              </a:rPr>
              <a:t>▪ 紧急危险时有权停止作业、撤离</a:t>
            </a:r>
          </a:p>
          <a:p>
            <a:pPr>
              <a:spcAft>
                <a:spcPts val="1000"/>
              </a:spcAft>
            </a:pPr>
            <a:r>
              <a:rPr sz="2000">
                <a:solidFill>
                  <a:srgbClr val="222B33"/>
                </a:solidFill>
                <a:latin typeface="Microsoft YaHei"/>
              </a:rPr>
              <a:t>▪ 如实报告隐患，学校鼓励并保护</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人人有责，也人人有权。《中华人民共和国安全生产法》规定了从业人员的知情权（了解作业场所和岗位存在的危险因素、防范措施和事故应急措施）、建议权、批评检举控告权、拒绝违章指挥和强令冒险作业的权利，以及发现直接危及人身安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担心影响进度或得罪导师，接受冒险作业</a:t>
            </a:r>
          </a:p>
          <a:p>
            <a:pPr>
              <a:spcAft>
                <a:spcPts val="1000"/>
              </a:spcAft>
            </a:pPr>
            <a:r>
              <a:rPr sz="1500">
                <a:solidFill>
                  <a:srgbClr val="222B33"/>
                </a:solidFill>
                <a:latin typeface="Microsoft YaHei"/>
              </a:rPr>
              <a:t>▪ 怕被批评而隐瞒隐患或未遂事件</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004 · 三级管理与安全责任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记住身边的安全联系人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004 三级管理与安全责任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门口信息牌写明安全联系人和电话</a:t>
            </a:r>
          </a:p>
          <a:p>
            <a:pPr>
              <a:spcAft>
                <a:spcPts val="1000"/>
              </a:spcAft>
            </a:pPr>
            <a:r>
              <a:rPr sz="2000">
                <a:solidFill>
                  <a:srgbClr val="222B33"/>
                </a:solidFill>
                <a:latin typeface="Microsoft YaHei"/>
              </a:rPr>
              <a:t>▪ 进实验室前先记下找谁</a:t>
            </a:r>
          </a:p>
          <a:p>
            <a:pPr>
              <a:spcAft>
                <a:spcPts val="1000"/>
              </a:spcAft>
            </a:pPr>
            <a:r>
              <a:rPr sz="2000">
                <a:solidFill>
                  <a:srgbClr val="222B33"/>
                </a:solidFill>
                <a:latin typeface="Microsoft YaHei"/>
              </a:rPr>
              <a:t>▪ 逐级报告：负责人→学院→保卫处/实验室管理处</a:t>
            </a:r>
          </a:p>
          <a:p>
            <a:pPr>
              <a:spcAft>
                <a:spcPts val="1000"/>
              </a:spcAft>
            </a:pPr>
            <a:r>
              <a:rPr sz="2000">
                <a:solidFill>
                  <a:srgbClr val="222B33"/>
                </a:solidFill>
                <a:latin typeface="Microsoft YaHei"/>
              </a:rPr>
              <a:t>▪ 火警 119，急救 120</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每间实验室门口的安全信息牌上都写有安全责任人和应急联系电话。进入实验室前，要先把这些联系方式记下来（存入手机），同时记住学院安全管理员、学校保卫处和实验室安全管理部门的电话。</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出事后才临时找电话，耽误处置</a:t>
            </a:r>
          </a:p>
          <a:p>
            <a:pPr>
              <a:spcAft>
                <a:spcPts val="1000"/>
              </a:spcAft>
            </a:pPr>
            <a:r>
              <a:rPr sz="1500">
                <a:solidFill>
                  <a:srgbClr val="222B33"/>
                </a:solidFill>
                <a:latin typeface="Microsoft YaHei"/>
              </a:rPr>
              <a:t>▪ 只打 119 或 120，不向负责人和学校报告</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004 · 三级管理与安全责任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签责任书，履职有考核</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004 三级管理与安全责任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学校、学院、实验室层层签订安全责任书</a:t>
            </a:r>
          </a:p>
          <a:p>
            <a:pPr>
              <a:spcAft>
                <a:spcPts val="1000"/>
              </a:spcAft>
            </a:pPr>
            <a:r>
              <a:rPr sz="2000">
                <a:solidFill>
                  <a:srgbClr val="222B33"/>
                </a:solidFill>
                <a:latin typeface="Microsoft YaHei"/>
              </a:rPr>
              <a:t>▪ 个人进实验室前签安全承诺书</a:t>
            </a:r>
          </a:p>
          <a:p>
            <a:pPr>
              <a:spcAft>
                <a:spcPts val="1000"/>
              </a:spcAft>
            </a:pPr>
            <a:r>
              <a:rPr sz="2000">
                <a:solidFill>
                  <a:srgbClr val="222B33"/>
                </a:solidFill>
                <a:latin typeface="Microsoft YaHei"/>
              </a:rPr>
              <a:t>▪ 签了字就要照着做</a:t>
            </a:r>
          </a:p>
          <a:p>
            <a:pPr>
              <a:spcAft>
                <a:spcPts val="1000"/>
              </a:spcAft>
            </a:pPr>
            <a:r>
              <a:rPr sz="2000">
                <a:solidFill>
                  <a:srgbClr val="222B33"/>
                </a:solidFill>
                <a:latin typeface="Microsoft YaHei"/>
              </a:rPr>
              <a:t>▪ 履职纳入考核：做得好表彰，失职追责</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为把责任落实到人，学校与学院、学院与实验室之间通常逐级签订安全责任书，进入实验室的个人签订安全承诺书，明确各自的责任和义务。</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把责任书、承诺书当作走过场</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004 · 三级管理与安全责任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004 三级管理与安全责任</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本实验室安全的第一责任人是：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实验室安全员</a:t>
            </a:r>
          </a:p>
          <a:p>
            <a:pPr algn="l"/>
            <a:r>
              <a:rPr sz="1500" b="0">
                <a:solidFill>
                  <a:srgbClr val="222B33"/>
                </a:solidFill>
                <a:latin typeface="Microsoft YaHei"/>
              </a:rPr>
              <a:t>B. 实验室负责人</a:t>
            </a:r>
          </a:p>
          <a:p>
            <a:pPr algn="l"/>
            <a:r>
              <a:rPr sz="1500" b="0">
                <a:solidFill>
                  <a:srgbClr val="222B33"/>
                </a:solidFill>
                <a:latin typeface="Microsoft YaHei"/>
              </a:rPr>
              <a:t>C. 学院安全管理员</a:t>
            </a:r>
          </a:p>
          <a:p>
            <a:pPr algn="l"/>
            <a:r>
              <a:rPr sz="1500" b="0">
                <a:solidFill>
                  <a:srgbClr val="222B33"/>
                </a:solidFill>
                <a:latin typeface="Microsoft YaHei"/>
              </a:rPr>
              <a:t>D. 学校保卫处</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下列哪项不是实验室安全员的主要职责？</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日常巡查、提醒规范操作</a:t>
            </a:r>
          </a:p>
          <a:p>
            <a:pPr algn="l"/>
            <a:r>
              <a:rPr sz="1500" b="0">
                <a:solidFill>
                  <a:srgbClr val="222B33"/>
                </a:solidFill>
                <a:latin typeface="Microsoft YaHei"/>
              </a:rPr>
              <a:t>B. 发现危险操作时叫停</a:t>
            </a:r>
          </a:p>
          <a:p>
            <a:pPr algn="l"/>
            <a:r>
              <a:rPr sz="1500" b="0">
                <a:solidFill>
                  <a:srgbClr val="222B33"/>
                </a:solidFill>
                <a:latin typeface="Microsoft YaHei"/>
              </a:rPr>
              <a:t>C. 督促大家加快实验进度</a:t>
            </a:r>
          </a:p>
          <a:p>
            <a:pPr algn="l"/>
            <a:r>
              <a:rPr sz="1500" b="0">
                <a:solidFill>
                  <a:srgbClr val="222B33"/>
                </a:solidFill>
                <a:latin typeface="Microsoft YaHei"/>
              </a:rPr>
              <a:t>D. 发现隐患及时上报</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004 · 三级管理与安全责任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004 三级管理与安全责任</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判断：导师要求在没有通风柜的情况下大量使用挥发性有毒试剂，学生有权拒绝并向学院报告。</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带新同学学习一项新操作，正确的顺序是：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口头交代后让其独立操作</a:t>
            </a:r>
          </a:p>
          <a:p>
            <a:pPr algn="l"/>
            <a:r>
              <a:rPr sz="1500" b="0">
                <a:solidFill>
                  <a:srgbClr val="222B33"/>
                </a:solidFill>
                <a:latin typeface="Microsoft YaHei"/>
              </a:rPr>
              <a:t>B. 先示范，再看着他做，确认会了再放手</a:t>
            </a:r>
          </a:p>
          <a:p>
            <a:pPr algn="l"/>
            <a:r>
              <a:rPr sz="1500" b="0">
                <a:solidFill>
                  <a:srgbClr val="222B33"/>
                </a:solidFill>
                <a:latin typeface="Microsoft YaHei"/>
              </a:rPr>
              <a:t>C. 让其自己看视频学</a:t>
            </a:r>
          </a:p>
          <a:p>
            <a:pPr algn="l"/>
            <a:r>
              <a:rPr sz="1500" b="0">
                <a:solidFill>
                  <a:srgbClr val="222B33"/>
                </a:solidFill>
                <a:latin typeface="Microsoft YaHei"/>
              </a:rPr>
              <a:t>D. 先让其试，出错再纠正</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004 · 三级管理与安全责任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004 三级管理与安全责任</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简答：实验室发生问题时，校内逐级报告的顺序是什么？</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三级管理：责任共担一条链</a:t>
            </a:r>
          </a:p>
          <a:p>
            <a:pPr>
              <a:spcAft>
                <a:spcPts val="800"/>
              </a:spcAft>
            </a:pPr>
            <a:r>
              <a:rPr sz="1500">
                <a:solidFill>
                  <a:srgbClr val="FFFFFF"/>
                </a:solidFill>
                <a:latin typeface="Microsoft YaHei"/>
              </a:rPr>
              <a:t>▪ K2  学校要提供安全条件</a:t>
            </a:r>
          </a:p>
          <a:p>
            <a:pPr>
              <a:spcAft>
                <a:spcPts val="800"/>
              </a:spcAft>
            </a:pPr>
            <a:r>
              <a:rPr sz="1500">
                <a:solidFill>
                  <a:srgbClr val="FFFFFF"/>
                </a:solidFill>
                <a:latin typeface="Microsoft YaHei"/>
              </a:rPr>
              <a:t>▪ K3  实验室负责人是第一责任人</a:t>
            </a:r>
          </a:p>
          <a:p>
            <a:pPr>
              <a:spcAft>
                <a:spcPts val="800"/>
              </a:spcAft>
            </a:pPr>
            <a:r>
              <a:rPr sz="1500">
                <a:solidFill>
                  <a:srgbClr val="FFFFFF"/>
                </a:solidFill>
                <a:latin typeface="Microsoft YaHei"/>
              </a:rPr>
              <a:t>▪ K4  负责人外出要指定代理人</a:t>
            </a:r>
          </a:p>
          <a:p>
            <a:pPr>
              <a:spcAft>
                <a:spcPts val="800"/>
              </a:spcAft>
            </a:pPr>
            <a:r>
              <a:rPr sz="1500">
                <a:solidFill>
                  <a:srgbClr val="FFFFFF"/>
                </a:solidFill>
                <a:latin typeface="Microsoft YaHei"/>
              </a:rPr>
              <a:t>▪ K5  学校和学院的安全管理人员</a:t>
            </a:r>
          </a:p>
          <a:p>
            <a:pPr>
              <a:spcAft>
                <a:spcPts val="800"/>
              </a:spcAft>
            </a:pPr>
            <a:r>
              <a:rPr sz="1500">
                <a:solidFill>
                  <a:srgbClr val="FFFFFF"/>
                </a:solidFill>
                <a:latin typeface="Microsoft YaHei"/>
              </a:rPr>
              <a:t>▪ K6  实验室安全员：巡查、叫停、上报</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K7  导师和带教人的责任</a:t>
            </a:r>
          </a:p>
          <a:p>
            <a:pPr>
              <a:spcAft>
                <a:spcPts val="800"/>
              </a:spcAft>
            </a:pPr>
            <a:r>
              <a:rPr sz="1500">
                <a:solidFill>
                  <a:srgbClr val="FFFFFF"/>
                </a:solidFill>
                <a:latin typeface="Microsoft YaHei"/>
              </a:rPr>
              <a:t>▪ K8  人人有责：谁使用，谁负责</a:t>
            </a:r>
          </a:p>
          <a:p>
            <a:pPr>
              <a:spcAft>
                <a:spcPts val="800"/>
              </a:spcAft>
            </a:pPr>
            <a:r>
              <a:rPr sz="1500">
                <a:solidFill>
                  <a:srgbClr val="FFFFFF"/>
                </a:solidFill>
                <a:latin typeface="Microsoft YaHei"/>
              </a:rPr>
              <a:t>▪ K9  学生的安全权利</a:t>
            </a:r>
          </a:p>
          <a:p>
            <a:pPr>
              <a:spcAft>
                <a:spcPts val="800"/>
              </a:spcAft>
            </a:pPr>
            <a:r>
              <a:rPr sz="1500">
                <a:solidFill>
                  <a:srgbClr val="FFFFFF"/>
                </a:solidFill>
                <a:latin typeface="Microsoft YaHei"/>
              </a:rPr>
              <a:t>▪ K10  记住身边的安全联系人</a:t>
            </a:r>
          </a:p>
          <a:p>
            <a:pPr>
              <a:spcAft>
                <a:spcPts val="800"/>
              </a:spcAft>
            </a:pPr>
            <a:r>
              <a:rPr sz="1500">
                <a:solidFill>
                  <a:srgbClr val="FFFFFF"/>
                </a:solidFill>
                <a:latin typeface="Microsoft YaHei"/>
              </a:rPr>
              <a:t>▪ K11  签责任书，履职有考核</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005</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安全检查与隐患整改</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第1章 法规、管理与安全文化</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6 分钟（卡通视频 68 镜）　适用对象：全体进入高校实验室的本科生、研究生、新进教职工和博士后（必修）；实验室负责人、安全员和学院安全管理员重点学习</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005 · 安全检查与隐患整改</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005 安全检查与隐患整改</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能说出实验室日常自查、学院定期检查、学校专项检查和节假日前检查的要求与节奏。</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能做到：按清单开展日常自查，发现隐患立即报告，重大隐患先停用再报告。</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能说出隐患整改闭环（定人、定时、定措施，找根因、纠正、复查销号）的步骤。</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能判断检查记录、标识和台账的规范做法，理解记录保存期限和如实迎检的要求。</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005 · 安全检查与隐患整改</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005 安全检查与隐患整改</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《中华人民共和国安全生产法》（以现行文本为准）：安全风险分级管控和隐患排查治理双重预防机制；事故隐患排查治理与记录</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号，以现行文本为准）：安全检查与隐患排查治理</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教育部高校实验室安全检查项目表（以现行文本为准）：安全检查类检查项（检查记录、整改台账）</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《中华人民共和国职业病防治法》（以现行文本为准）：职业健康监护档案按规定期限妥善保存</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本校实验室安全检查、隐患整改和档案管理规定（以本校规定为准）</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005 · 安全检查与隐患整改</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检查就是主动找隐患</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005 安全检查与隐患整改</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巡查就是主动去找隐患，找到再想怎么改</a:t>
            </a:r>
          </a:p>
          <a:p>
            <a:pPr>
              <a:spcAft>
                <a:spcPts val="1000"/>
              </a:spcAft>
            </a:pPr>
            <a:r>
              <a:rPr sz="2000">
                <a:solidFill>
                  <a:srgbClr val="222B33"/>
                </a:solidFill>
                <a:latin typeface="Microsoft YaHei"/>
              </a:rPr>
              <a:t>▪ 设备设施要定期检查、按时维护并记录</a:t>
            </a:r>
          </a:p>
          <a:p>
            <a:pPr>
              <a:spcAft>
                <a:spcPts val="1000"/>
              </a:spcAft>
            </a:pPr>
            <a:r>
              <a:rPr sz="2000">
                <a:solidFill>
                  <a:srgbClr val="222B33"/>
                </a:solidFill>
                <a:latin typeface="Microsoft YaHei"/>
              </a:rPr>
              <a:t>▪ 定期巡查是安全管理的重要一环</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安全检查的本质，是在事故发生之前主动发现隐患——不安全的状态（如设备故障、通道堵塞、气瓶未固定）、不安全的行为（如不戴防护、违规操作）和管理上的缺陷（如制度缺失、培训不到位）。找到问题后，还要分析原因、确定整改办法。</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把检查当成“走过场”，只看表面</a:t>
            </a:r>
          </a:p>
          <a:p>
            <a:pPr>
              <a:spcAft>
                <a:spcPts val="1000"/>
              </a:spcAft>
            </a:pPr>
            <a:r>
              <a:rPr sz="1500">
                <a:solidFill>
                  <a:srgbClr val="222B33"/>
                </a:solidFill>
                <a:latin typeface="Microsoft YaHei"/>
              </a:rPr>
              <a:t>▪ 设备只用不管，坏了才修</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005 · 安全检查与隐患整改</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三级检查：自查、学院查、学校查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005 安全检查与隐患整改</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高校实行学校、学院、实验室三级安全检查</a:t>
            </a:r>
          </a:p>
          <a:p>
            <a:pPr>
              <a:spcAft>
                <a:spcPts val="1000"/>
              </a:spcAft>
            </a:pPr>
            <a:r>
              <a:rPr sz="2000">
                <a:solidFill>
                  <a:srgbClr val="222B33"/>
                </a:solidFill>
                <a:latin typeface="Microsoft YaHei"/>
              </a:rPr>
              <a:t>▪ 实验室天天自查</a:t>
            </a:r>
          </a:p>
          <a:p>
            <a:pPr>
              <a:spcAft>
                <a:spcPts val="1000"/>
              </a:spcAft>
            </a:pPr>
            <a:r>
              <a:rPr sz="2000">
                <a:solidFill>
                  <a:srgbClr val="222B33"/>
                </a:solidFill>
                <a:latin typeface="Microsoft YaHei"/>
              </a:rPr>
              <a:t>▪ 学院定期检查，学校组织定期和专项检查</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与三级管理相对应，高校实验室安全检查也分三级：实验室层面由负责人和安全员组织日常自查；学院（二级单位）定期巡查本单位实验室；学校实验室安全管理部门组织全校定期检查和专项检查（如危险化学品、气瓶、消防、用电、生物安全等……</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认为有学院和学校检查，实验室就不必自查</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005 · 安全检查与隐患整改</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日常自查：开工收工查一遍</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005 安全检查与隐患整改</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等别人来查，不如自己先查</a:t>
            </a:r>
          </a:p>
          <a:p>
            <a:pPr>
              <a:spcAft>
                <a:spcPts val="1000"/>
              </a:spcAft>
            </a:pPr>
            <a:r>
              <a:rPr sz="2000">
                <a:solidFill>
                  <a:srgbClr val="222B33"/>
                </a:solidFill>
                <a:latin typeface="Microsoft YaHei"/>
              </a:rPr>
              <a:t>▪ 每天收工前按清单查一遍</a:t>
            </a:r>
          </a:p>
          <a:p>
            <a:pPr>
              <a:spcAft>
                <a:spcPts val="1000"/>
              </a:spcAft>
            </a:pPr>
            <a:r>
              <a:rPr sz="2000">
                <a:solidFill>
                  <a:srgbClr val="222B33"/>
                </a:solidFill>
                <a:latin typeface="Microsoft YaHei"/>
              </a:rPr>
              <a:t>▪ 通道、线缆、废料、消防都要查到</a:t>
            </a:r>
          </a:p>
          <a:p>
            <a:pPr>
              <a:spcAft>
                <a:spcPts val="1000"/>
              </a:spcAft>
            </a:pPr>
            <a:r>
              <a:rPr sz="2000">
                <a:solidFill>
                  <a:srgbClr val="222B33"/>
                </a:solidFill>
                <a:latin typeface="Microsoft YaHei"/>
              </a:rPr>
              <a:t>▪ 现场一直在变，一天要多看几次</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日常自查是发现隐患最及时、成本最低的方式。每天开工时，看一眼自查表和交接记录，确认设备状态、通风和防护用品；每天收工前，按本实验室的清单查一遍：通道是否畅通，线缆是否收好、插线板是否过载，废液和废料是否按规定存放，灭……</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最后离开的人不做收工检查</a:t>
            </a:r>
          </a:p>
          <a:p>
            <a:pPr>
              <a:spcAft>
                <a:spcPts val="1000"/>
              </a:spcAft>
            </a:pPr>
            <a:r>
              <a:rPr sz="1500">
                <a:solidFill>
                  <a:srgbClr val="222B33"/>
                </a:solidFill>
                <a:latin typeface="Microsoft YaHei"/>
              </a:rPr>
              <a:t>▪ 发现小问题觉得“不是我弄的”就不管</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005 · 安全检查与隐患整改</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逐级累积的检查节奏</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005 安全检查与隐患整改</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自查要一层层累积起来</a:t>
            </a:r>
          </a:p>
          <a:p>
            <a:pPr>
              <a:spcAft>
                <a:spcPts val="1000"/>
              </a:spcAft>
            </a:pPr>
            <a:r>
              <a:rPr sz="2000">
                <a:solidFill>
                  <a:srgbClr val="222B33"/>
                </a:solidFill>
                <a:latin typeface="Microsoft YaHei"/>
              </a:rPr>
              <a:t>▪ 每周带清单巡查，每季度全面自查</a:t>
            </a:r>
          </a:p>
          <a:p>
            <a:pPr>
              <a:spcAft>
                <a:spcPts val="1000"/>
              </a:spcAft>
            </a:pPr>
            <a:r>
              <a:rPr sz="2000">
                <a:solidFill>
                  <a:srgbClr val="222B33"/>
                </a:solidFill>
                <a:latin typeface="Microsoft YaHei"/>
              </a:rPr>
              <a:t>▪ 定期请外部人员互查，每年一次全面模拟检查</a:t>
            </a:r>
          </a:p>
          <a:p>
            <a:pPr>
              <a:spcAft>
                <a:spcPts val="1000"/>
              </a:spcAft>
            </a:pPr>
            <a:r>
              <a:rPr sz="2000">
                <a:solidFill>
                  <a:srgbClr val="222B33"/>
                </a:solidFill>
                <a:latin typeface="Microsoft YaHei"/>
              </a:rPr>
              <a:t>▪ 模拟检查查出的问题当真整改</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良好的检查节奏是逐级累积的：每天开工收工的快速自查；每周由安全员带着检查表巡查一遍；每季度（或每学期）对照检查项目表的全部要求做一次全面自查；定期邀请其他实验室或学院的人员来互查，借助“外部视角”发现自己看不到的问题……</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只在正式检查前突击自查一次</a:t>
            </a:r>
          </a:p>
          <a:p>
            <a:pPr>
              <a:spcAft>
                <a:spcPts val="1000"/>
              </a:spcAft>
            </a:pPr>
            <a:r>
              <a:rPr sz="1500">
                <a:solidFill>
                  <a:srgbClr val="222B33"/>
                </a:solidFill>
                <a:latin typeface="Microsoft YaHei"/>
              </a:rPr>
              <a:t>▪ 模拟检查查出的问题不当回事</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005 · 安全检查与隐患整改</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节假日和恶劣天气前检查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005 安全检查与隐患整改</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节假日和恶劣天气前专门检查</a:t>
            </a:r>
          </a:p>
          <a:p>
            <a:pPr>
              <a:spcAft>
                <a:spcPts val="1000"/>
              </a:spcAft>
            </a:pPr>
            <a:r>
              <a:rPr sz="2000">
                <a:solidFill>
                  <a:srgbClr val="222B33"/>
                </a:solidFill>
                <a:latin typeface="Microsoft YaHei"/>
              </a:rPr>
              <a:t>▪ 关好门窗，查排水</a:t>
            </a:r>
          </a:p>
          <a:p>
            <a:pPr>
              <a:spcAft>
                <a:spcPts val="1000"/>
              </a:spcAft>
            </a:pPr>
            <a:r>
              <a:rPr sz="2000">
                <a:solidFill>
                  <a:srgbClr val="222B33"/>
                </a:solidFill>
                <a:latin typeface="Microsoft YaHei"/>
              </a:rPr>
              <a:t>▪ 关闭气瓶，切断不必要的电源</a:t>
            </a:r>
          </a:p>
          <a:p>
            <a:pPr>
              <a:spcAft>
                <a:spcPts val="1000"/>
              </a:spcAft>
            </a:pPr>
            <a:r>
              <a:rPr sz="2000">
                <a:solidFill>
                  <a:srgbClr val="222B33"/>
                </a:solidFill>
                <a:latin typeface="Microsoft YaHei"/>
              </a:rPr>
              <a:t>▪ 必须运行的设备留好值守联系人</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寒暑假、长假前和台风、暴雨、寒潮等恶劣天气来临前，实验室往往长时间无人或面临特殊风险，应专门组织一次检查：关好门窗，检查排水和地漏，防止雨水倒灌；关闭气瓶总阀，切断不必要的电源和水源；清理易燃杂物，危险化学品和废弃物……</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放假前不检查，气瓶不关、设备不断电</a:t>
            </a:r>
          </a:p>
          <a:p>
            <a:pPr>
              <a:spcAft>
                <a:spcPts val="1000"/>
              </a:spcAft>
            </a:pPr>
            <a:r>
              <a:rPr sz="1500">
                <a:solidFill>
                  <a:srgbClr val="222B33"/>
                </a:solidFill>
                <a:latin typeface="Microsoft YaHei"/>
              </a:rPr>
              <a:t>▪ 长时间运行设备无人值守、无联系人</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005 · 安全检查与隐患整改</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拿好清单，留心隐蔽隐患</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005 安全检查与隐患整改</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拿好检查清单，一项一项查</a:t>
            </a:r>
          </a:p>
          <a:p>
            <a:pPr>
              <a:spcAft>
                <a:spcPts val="1000"/>
              </a:spcAft>
            </a:pPr>
            <a:r>
              <a:rPr sz="2000">
                <a:solidFill>
                  <a:srgbClr val="222B33"/>
                </a:solidFill>
                <a:latin typeface="Microsoft YaHei"/>
              </a:rPr>
              <a:t>▪ 例：插线板不串接，气瓶要固定</a:t>
            </a:r>
          </a:p>
          <a:p>
            <a:pPr>
              <a:spcAft>
                <a:spcPts val="1000"/>
              </a:spcAft>
            </a:pPr>
            <a:r>
              <a:rPr sz="2000">
                <a:solidFill>
                  <a:srgbClr val="222B33"/>
                </a:solidFill>
                <a:latin typeface="Microsoft YaHei"/>
              </a:rPr>
              <a:t>▪ 例：化学品分类存放，废液贴签不倒下水道，账物相符</a:t>
            </a:r>
          </a:p>
          <a:p>
            <a:pPr>
              <a:spcAft>
                <a:spcPts val="1000"/>
              </a:spcAft>
            </a:pPr>
            <a:r>
              <a:rPr sz="2000">
                <a:solidFill>
                  <a:srgbClr val="222B33"/>
                </a:solidFill>
                <a:latin typeface="Microsoft YaHei"/>
              </a:rPr>
              <a:t>▪ 隐患可能藏得深；清单只是起点</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检查要依据清单逐项进行，避免遗漏。清单一般按类别分栏，例如：场所与通道、消防与应急设施、用电与设备、化学品与废弃物、个人防护等。常见的检查项举例：插线板是否串接或超负荷，气瓶是否固定、是否有检验标识；化学品是否按性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不拿清单凭印象查，漏项</a:t>
            </a:r>
          </a:p>
          <a:p>
            <a:pPr>
              <a:spcAft>
                <a:spcPts val="1000"/>
              </a:spcAft>
            </a:pPr>
            <a:r>
              <a:rPr sz="1500">
                <a:solidFill>
                  <a:srgbClr val="222B33"/>
                </a:solidFill>
                <a:latin typeface="Microsoft YaHei"/>
              </a:rPr>
              <a:t>▪ 只查显眼处，不看柜后、桌下等隐蔽位置</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005 · 安全检查与隐患整改</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检查看现场，也看记录</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005 安全检查与隐患整改</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检查既看现场，也核对手册和各类记录</a:t>
            </a:r>
          </a:p>
          <a:p>
            <a:pPr>
              <a:spcAft>
                <a:spcPts val="1000"/>
              </a:spcAft>
            </a:pPr>
            <a:r>
              <a:rPr sz="2000">
                <a:solidFill>
                  <a:srgbClr val="222B33"/>
                </a:solidFill>
                <a:latin typeface="Microsoft YaHei"/>
              </a:rPr>
              <a:t>▪ 还会单独询问实验室人员</a:t>
            </a:r>
          </a:p>
          <a:p>
            <a:pPr>
              <a:spcAft>
                <a:spcPts val="1000"/>
              </a:spcAft>
            </a:pPr>
            <a:r>
              <a:rPr sz="2000">
                <a:solidFill>
                  <a:srgbClr val="222B33"/>
                </a:solidFill>
                <a:latin typeface="Microsoft YaHei"/>
              </a:rPr>
              <a:t>▪ 审核就是找出不符合、没执行的地方</a:t>
            </a:r>
          </a:p>
          <a:p>
            <a:pPr>
              <a:spcAft>
                <a:spcPts val="1000"/>
              </a:spcAft>
            </a:pPr>
            <a:r>
              <a:rPr sz="2000">
                <a:solidFill>
                  <a:srgbClr val="222B33"/>
                </a:solidFill>
                <a:latin typeface="Microsoft YaHei"/>
              </a:rPr>
              <a:t>▪ 发现问题限期整改并记录在案</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正式检查和安全审核不仅看现场状况，还会核对文件和记录：安全制度和操作规程是否现行有效，培训和准入记录是否齐全，设备检测、维护记录是否完整，化学品台账、废弃物交接记录是否真实。检查人员还常常单独询问实验室成员，了解其是……</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只顾现场整理，忽视记录和文件</a:t>
            </a:r>
          </a:p>
          <a:p>
            <a:pPr>
              <a:spcAft>
                <a:spcPts val="1000"/>
              </a:spcAft>
            </a:pPr>
            <a:r>
              <a:rPr sz="1500">
                <a:solidFill>
                  <a:srgbClr val="222B33"/>
                </a:solidFill>
                <a:latin typeface="Microsoft YaHei"/>
              </a:rPr>
              <a:t>▪ 实验室成员说不清自己岗位的危险和应急措施</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005 · 安全检查与隐患整改</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发现隐患立即报告</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005 安全检查与隐患整改</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看到违规或不安全情况，立即报告</a:t>
            </a:r>
          </a:p>
          <a:p>
            <a:pPr>
              <a:spcAft>
                <a:spcPts val="1000"/>
              </a:spcAft>
            </a:pPr>
            <a:r>
              <a:rPr sz="2000">
                <a:solidFill>
                  <a:srgbClr val="222B33"/>
                </a:solidFill>
                <a:latin typeface="Microsoft YaHei"/>
              </a:rPr>
              <a:t>▪ 报告导师或实验室负责人</a:t>
            </a:r>
          </a:p>
          <a:p>
            <a:pPr>
              <a:spcAft>
                <a:spcPts val="1000"/>
              </a:spcAft>
            </a:pPr>
            <a:r>
              <a:rPr sz="2000">
                <a:solidFill>
                  <a:srgbClr val="222B33"/>
                </a:solidFill>
                <a:latin typeface="Microsoft YaHei"/>
              </a:rPr>
              <a:t>▪ 不要视而不见，不要等出了事</a:t>
            </a:r>
          </a:p>
          <a:p>
            <a:pPr>
              <a:spcAft>
                <a:spcPts val="1000"/>
              </a:spcAft>
            </a:pPr>
            <a:r>
              <a:rPr sz="2000">
                <a:solidFill>
                  <a:srgbClr val="222B33"/>
                </a:solidFill>
                <a:latin typeface="Microsoft YaHei"/>
              </a:rPr>
              <a:t>▪ 险情分享出来，别人就不再踩坑</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发现隐患、违规操作或不安全情况时，要立即报告导师或实验室负责人（或安全员），而不是视而不见、想着“等出了事再说”。能够安全制止的违规操作，应当场提醒或叫停。</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发现隐患觉得“不关我事”</a:t>
            </a:r>
          </a:p>
          <a:p>
            <a:pPr>
              <a:spcAft>
                <a:spcPts val="1000"/>
              </a:spcAft>
            </a:pPr>
            <a:r>
              <a:rPr sz="1500">
                <a:solidFill>
                  <a:srgbClr val="222B33"/>
                </a:solidFill>
                <a:latin typeface="Microsoft YaHei"/>
              </a:rPr>
              <a:t>▪ 险情没造成后果就不报告</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005 · 安全检查与隐患整改</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重大隐患先停用、立即报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005 安全检查与隐患整改</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隐患分一般隐患和重大隐患</a:t>
            </a:r>
          </a:p>
          <a:p>
            <a:pPr>
              <a:spcAft>
                <a:spcPts val="1000"/>
              </a:spcAft>
            </a:pPr>
            <a:r>
              <a:rPr sz="2000">
                <a:solidFill>
                  <a:srgbClr val="222B33"/>
                </a:solidFill>
                <a:latin typeface="Microsoft YaHei"/>
              </a:rPr>
              <a:t>▪ 重大隐患不能等例会，立即报告</a:t>
            </a:r>
          </a:p>
          <a:p>
            <a:pPr>
              <a:spcAft>
                <a:spcPts val="1000"/>
              </a:spcAft>
            </a:pPr>
            <a:r>
              <a:rPr sz="2000">
                <a:solidFill>
                  <a:srgbClr val="222B33"/>
                </a:solidFill>
                <a:latin typeface="Microsoft YaHei"/>
              </a:rPr>
              <a:t>▪ 先停用设备、停止实验，再整改</a:t>
            </a:r>
          </a:p>
          <a:p>
            <a:pPr>
              <a:spcAft>
                <a:spcPts val="1000"/>
              </a:spcAft>
            </a:pPr>
            <a:r>
              <a:rPr sz="2000">
                <a:solidFill>
                  <a:srgbClr val="222B33"/>
                </a:solidFill>
                <a:latin typeface="Microsoft YaHei"/>
              </a:rPr>
              <a:t>▪ 整改合格、复查通过才能恢复</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隐患按危害程度和整改难度一般分为一般隐患和重大隐患（具体分级标准以本校规定为准）。一般隐患可由实验室限期整改；重大隐患是可能导致严重后果、需要立即处置的隐患，例如管控化学品失控、气瓶严重泄漏风险、电气线路严重老化发热……</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重大隐患记下来等开会再说</a:t>
            </a:r>
          </a:p>
          <a:p>
            <a:pPr>
              <a:spcAft>
                <a:spcPts val="1000"/>
              </a:spcAft>
            </a:pPr>
            <a:r>
              <a:rPr sz="1500">
                <a:solidFill>
                  <a:srgbClr val="222B33"/>
                </a:solidFill>
                <a:latin typeface="Microsoft YaHei"/>
              </a:rPr>
              <a:t>▪ 未经复查就自行恢复使用</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005 · 安全检查与隐患整改</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整改闭环：定人定时，复查销号</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005 安全检查与隐患整改</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查出隐患开整改单：定人、定时、定措施</a:t>
            </a:r>
          </a:p>
          <a:p>
            <a:pPr>
              <a:spcAft>
                <a:spcPts val="1000"/>
              </a:spcAft>
            </a:pPr>
            <a:r>
              <a:rPr sz="2000">
                <a:solidFill>
                  <a:srgbClr val="222B33"/>
                </a:solidFill>
                <a:latin typeface="Microsoft YaHei"/>
              </a:rPr>
              <a:t>▪ 先找根本原因，再采取纠正措施</a:t>
            </a:r>
          </a:p>
          <a:p>
            <a:pPr>
              <a:spcAft>
                <a:spcPts val="1000"/>
              </a:spcAft>
            </a:pPr>
            <a:r>
              <a:rPr sz="2000">
                <a:solidFill>
                  <a:srgbClr val="222B33"/>
                </a:solidFill>
                <a:latin typeface="Microsoft YaHei"/>
              </a:rPr>
              <a:t>▪ 改完复查，确认问题不再发生才销号</a:t>
            </a:r>
          </a:p>
          <a:p>
            <a:pPr>
              <a:spcAft>
                <a:spcPts val="1000"/>
              </a:spcAft>
            </a:pPr>
            <a:r>
              <a:rPr sz="2000">
                <a:solidFill>
                  <a:srgbClr val="222B33"/>
                </a:solidFill>
                <a:latin typeface="Microsoft YaHei"/>
              </a:rPr>
              <a:t>▪ 按时回复，写明完成日期，不拖不推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隐患整改要形成闭环：登记隐患，开具整改单，明确整改责任人、整改期限和整改措施；分析根本原因（为什么会出现这个问题——是设施缺陷、制度缺失、培训不到位还是人员习惯）；针对原因采取纠正措施，而不只是处理表面现象；整改完成……</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只处理表面，不分析根本原因</a:t>
            </a:r>
          </a:p>
          <a:p>
            <a:pPr>
              <a:spcAft>
                <a:spcPts val="1000"/>
              </a:spcAft>
            </a:pPr>
            <a:r>
              <a:rPr sz="1500">
                <a:solidFill>
                  <a:srgbClr val="222B33"/>
                </a:solidFill>
                <a:latin typeface="Microsoft YaHei"/>
              </a:rPr>
              <a:t>▪ 整改后不复查就销号</a:t>
            </a:r>
          </a:p>
          <a:p>
            <a:pPr>
              <a:spcAft>
                <a:spcPts val="1000"/>
              </a:spcAft>
            </a:pPr>
            <a:r>
              <a:rPr sz="1500">
                <a:solidFill>
                  <a:srgbClr val="222B33"/>
                </a:solidFill>
                <a:latin typeface="Microsoft YaHei"/>
              </a:rPr>
              <a:t>▪ 整改拖延、反复“回潮”</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005 · 安全检查与隐患整改</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发现问题是收获</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005 安全检查与隐患整改</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自己查出问题不是失败，是收获</a:t>
            </a:r>
          </a:p>
          <a:p>
            <a:pPr>
              <a:spcAft>
                <a:spcPts val="1000"/>
              </a:spcAft>
            </a:pPr>
            <a:r>
              <a:rPr sz="2000">
                <a:solidFill>
                  <a:srgbClr val="222B33"/>
                </a:solidFill>
                <a:latin typeface="Microsoft YaHei"/>
              </a:rPr>
              <a:t>▪ 汇总问题看趋势，从系统上改进</a:t>
            </a:r>
          </a:p>
          <a:p>
            <a:pPr>
              <a:spcAft>
                <a:spcPts val="1000"/>
              </a:spcAft>
            </a:pPr>
            <a:r>
              <a:rPr sz="2000">
                <a:solidFill>
                  <a:srgbClr val="222B33"/>
                </a:solidFill>
                <a:latin typeface="Microsoft YaHei"/>
              </a:rPr>
              <a:t>▪ 检查是帮手，不是负担</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自查和互查中发现问题，说明检查起了作用，是改进的机会，不必把它当作“丢面子”的事而隐瞒。</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隐瞒自查发现的问题</a:t>
            </a:r>
          </a:p>
          <a:p>
            <a:pPr>
              <a:spcAft>
                <a:spcPts val="1000"/>
              </a:spcAft>
            </a:pPr>
            <a:r>
              <a:rPr sz="1500">
                <a:solidFill>
                  <a:srgbClr val="222B33"/>
                </a:solidFill>
                <a:latin typeface="Microsoft YaHei"/>
              </a:rPr>
              <a:t>▪ 同类问题反复出现却不从系统上找原因</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005 · 安全检查与隐患整改</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检查要记录、贴标识</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005 安全检查与隐患整改</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检查结果要记录、签名、留存</a:t>
            </a:r>
          </a:p>
          <a:p>
            <a:pPr>
              <a:spcAft>
                <a:spcPts val="1000"/>
              </a:spcAft>
            </a:pPr>
            <a:r>
              <a:rPr sz="2000">
                <a:solidFill>
                  <a:srgbClr val="222B33"/>
                </a:solidFill>
                <a:latin typeface="Microsoft YaHei"/>
              </a:rPr>
              <a:t>▪ 合格设备贴合格标识，按期复查</a:t>
            </a:r>
          </a:p>
          <a:p>
            <a:pPr>
              <a:spcAft>
                <a:spcPts val="1000"/>
              </a:spcAft>
            </a:pPr>
            <a:r>
              <a:rPr sz="2000">
                <a:solidFill>
                  <a:srgbClr val="222B33"/>
                </a:solidFill>
                <a:latin typeface="Microsoft YaHei"/>
              </a:rPr>
              <a:t>▪ 不合格设备挂禁用牌，送修</a:t>
            </a:r>
          </a:p>
          <a:p>
            <a:pPr>
              <a:spcAft>
                <a:spcPts val="1000"/>
              </a:spcAft>
            </a:pPr>
            <a:r>
              <a:rPr sz="2000">
                <a:solidFill>
                  <a:srgbClr val="222B33"/>
                </a:solidFill>
                <a:latin typeface="Microsoft YaHei"/>
              </a:rPr>
              <a:t>▪ 领用、使用、检查台账如实及时填写</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每次检查都要留下记录：检查时间、检查人、检查项目、发现的问题和处理情况，由检查人签名后留存。设备设施检查后，合格的贴上检查合格标识并注明下次检查日期，按期复查；不合格的挂“禁用”或“停用”标识，隔离并送修，修好复查合……</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检查后不记录，或只记“正常”不写细节</a:t>
            </a:r>
          </a:p>
          <a:p>
            <a:pPr>
              <a:spcAft>
                <a:spcPts val="1000"/>
              </a:spcAft>
            </a:pPr>
            <a:r>
              <a:rPr sz="1500">
                <a:solidFill>
                  <a:srgbClr val="222B33"/>
                </a:solidFill>
                <a:latin typeface="Microsoft YaHei"/>
              </a:rPr>
              <a:t>▪ 故障设备不挂禁用标识，被他人继续使用</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005 · 安全检查与隐患整改</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记录的保存期限与数字化归档</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005 安全检查与隐患整改</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有的记录多年后还可能被调阅</a:t>
            </a:r>
          </a:p>
          <a:p>
            <a:pPr>
              <a:spcAft>
                <a:spcPts val="1000"/>
              </a:spcAft>
            </a:pPr>
            <a:r>
              <a:rPr sz="2000">
                <a:solidFill>
                  <a:srgbClr val="222B33"/>
                </a:solidFill>
                <a:latin typeface="Microsoft YaHei"/>
              </a:rPr>
              <a:t>▪ 接触和健康检查记录要长期保存</a:t>
            </a:r>
          </a:p>
          <a:p>
            <a:pPr>
              <a:spcAft>
                <a:spcPts val="1000"/>
              </a:spcAft>
            </a:pPr>
            <a:r>
              <a:rPr sz="2000">
                <a:solidFill>
                  <a:srgbClr val="222B33"/>
                </a:solidFill>
                <a:latin typeface="Microsoft YaHei"/>
              </a:rPr>
              <a:t>▪ 不同记录保存期限不同，按国家和学校规定执行</a:t>
            </a:r>
          </a:p>
          <a:p>
            <a:pPr>
              <a:spcAft>
                <a:spcPts val="1000"/>
              </a:spcAft>
            </a:pPr>
            <a:r>
              <a:rPr sz="2000">
                <a:solidFill>
                  <a:srgbClr val="222B33"/>
                </a:solidFill>
                <a:latin typeface="Microsoft YaHei"/>
              </a:rPr>
              <a:t>▪ 建好电子档案，随时调出</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安全记录不只是应付眼前的检查。有些记录多年后还可能被调阅，例如有毒有害物质和辐射的接触记录、个人剂量记录、职业健康检查记录，可能用于判断多年后出现的健康问题与工作的关系。《中华人民共和国职业病防治法》要求用人单位建立……</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记录随手乱放，人员离校后无从查找</a:t>
            </a:r>
          </a:p>
          <a:p>
            <a:pPr>
              <a:spcAft>
                <a:spcPts val="1000"/>
              </a:spcAft>
            </a:pPr>
            <a:r>
              <a:rPr sz="1500">
                <a:solidFill>
                  <a:srgbClr val="222B33"/>
                </a:solidFill>
                <a:latin typeface="Microsoft YaHei"/>
              </a:rPr>
              <a:t>▪ 到期前销毁仍需保存的记录</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005 · 安全检查与隐患整改</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检查是彩排，天天经得起查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005 安全检查与隐患整改</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把检查当彩排，而不是正式演出</a:t>
            </a:r>
          </a:p>
          <a:p>
            <a:pPr>
              <a:spcAft>
                <a:spcPts val="1000"/>
              </a:spcAft>
            </a:pPr>
            <a:r>
              <a:rPr sz="2000">
                <a:solidFill>
                  <a:srgbClr val="222B33"/>
                </a:solidFill>
                <a:latin typeface="Microsoft YaHei"/>
              </a:rPr>
              <a:t>▪ 听说要查才突击补材料，不可取</a:t>
            </a:r>
          </a:p>
          <a:p>
            <a:pPr>
              <a:spcAft>
                <a:spcPts val="1000"/>
              </a:spcAft>
            </a:pPr>
            <a:r>
              <a:rPr sz="2000">
                <a:solidFill>
                  <a:srgbClr val="222B33"/>
                </a:solidFill>
                <a:latin typeface="Microsoft YaHei"/>
              </a:rPr>
              <a:t>▪ 成熟实验室：制度现行、记录齐全、标识清楚</a:t>
            </a:r>
          </a:p>
          <a:p>
            <a:pPr>
              <a:spcAft>
                <a:spcPts val="1000"/>
              </a:spcAft>
            </a:pPr>
            <a:r>
              <a:rPr sz="2000">
                <a:solidFill>
                  <a:srgbClr val="222B33"/>
                </a:solidFill>
                <a:latin typeface="Microsoft YaHei"/>
              </a:rPr>
              <a:t>▪ 准备是每天的状态，突击检查也一切照常</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如果一听说要检查就手忙脚乱，说明平时没有做到位。应当把检查看成一次“彩排”——检验日常工作是否扎实的机会，而不是需要临时排练的“正式演出”。</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检查前突击补材料、补签字</a:t>
            </a:r>
          </a:p>
          <a:p>
            <a:pPr>
              <a:spcAft>
                <a:spcPts val="1000"/>
              </a:spcAft>
            </a:pPr>
            <a:r>
              <a:rPr sz="1500">
                <a:solidFill>
                  <a:srgbClr val="222B33"/>
                </a:solidFill>
                <a:latin typeface="Microsoft YaHei"/>
              </a:rPr>
              <a:t>▪ 培训记录只有签到，不能证明掌握</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005 · 安全检查与隐患整改</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如实迎检，不补造记录</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005 安全检查与隐患整改</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检查前突击藏东西，不可取</a:t>
            </a:r>
          </a:p>
          <a:p>
            <a:pPr>
              <a:spcAft>
                <a:spcPts val="1000"/>
              </a:spcAft>
            </a:pPr>
            <a:r>
              <a:rPr sz="2000">
                <a:solidFill>
                  <a:srgbClr val="222B33"/>
                </a:solidFill>
                <a:latin typeface="Microsoft YaHei"/>
              </a:rPr>
              <a:t>▪ 记录不补签、不造假</a:t>
            </a:r>
          </a:p>
          <a:p>
            <a:pPr>
              <a:spcAft>
                <a:spcPts val="1000"/>
              </a:spcAft>
            </a:pPr>
            <a:r>
              <a:rPr sz="2000">
                <a:solidFill>
                  <a:srgbClr val="222B33"/>
                </a:solidFill>
                <a:latin typeface="Microsoft YaHei"/>
              </a:rPr>
              <a:t>▪ 检查时如实说明，不知道就去查</a:t>
            </a:r>
          </a:p>
          <a:p>
            <a:pPr>
              <a:spcAft>
                <a:spcPts val="1000"/>
              </a:spcAft>
            </a:pPr>
            <a:r>
              <a:rPr sz="2000">
                <a:solidFill>
                  <a:srgbClr val="222B33"/>
                </a:solidFill>
                <a:latin typeface="Microsoft YaHei"/>
              </a:rPr>
              <a:t>▪ 平时什么样，检查就什么样</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迎接检查必须实事求是：不藏匿超量或违规存放的物品，不临时转移问题，不补签、伪造记录。藏匿和造假不但掩盖了隐患，还可能造成新的危险（如把化学品塞进不合适的柜子），一旦发现，后果比问题本身严重得多。</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检查前把东西塞进柜子或转移到别处</a:t>
            </a:r>
          </a:p>
          <a:p>
            <a:pPr>
              <a:spcAft>
                <a:spcPts val="1000"/>
              </a:spcAft>
            </a:pPr>
            <a:r>
              <a:rPr sz="1500">
                <a:solidFill>
                  <a:srgbClr val="222B33"/>
                </a:solidFill>
                <a:latin typeface="Microsoft YaHei"/>
              </a:rPr>
              <a:t>▪ 事后补签培训、检查记录</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005 · 安全检查与隐患整改</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005 安全检查与隐患整改</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实验室安全员在巡查中发现一处电气线路严重老化发热，正确做法是：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记下来，等下周例会讨论</a:t>
            </a:r>
          </a:p>
          <a:p>
            <a:pPr algn="l"/>
            <a:r>
              <a:rPr sz="1500" b="0">
                <a:solidFill>
                  <a:srgbClr val="222B33"/>
                </a:solidFill>
                <a:latin typeface="Microsoft YaHei"/>
              </a:rPr>
              <a:t>B. 立即停用相关设备并报告负责人和学院，整改复查合格后再恢复</a:t>
            </a:r>
          </a:p>
          <a:p>
            <a:pPr algn="l"/>
            <a:r>
              <a:rPr sz="1500" b="0">
                <a:solidFill>
                  <a:srgbClr val="222B33"/>
                </a:solidFill>
                <a:latin typeface="Microsoft YaHei"/>
              </a:rPr>
              <a:t>C. 自己动手更换线路</a:t>
            </a:r>
          </a:p>
          <a:p>
            <a:pPr algn="l"/>
            <a:r>
              <a:rPr sz="1500" b="0">
                <a:solidFill>
                  <a:srgbClr val="222B33"/>
                </a:solidFill>
                <a:latin typeface="Microsoft YaHei"/>
              </a:rPr>
              <a:t>D. 贴张提示纸继续使用</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隐患整改闭环中最容易被漏掉、导致问题反复的步骤是：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登记隐患</a:t>
            </a:r>
          </a:p>
          <a:p>
            <a:pPr algn="l"/>
            <a:r>
              <a:rPr sz="1500" b="0">
                <a:solidFill>
                  <a:srgbClr val="222B33"/>
                </a:solidFill>
                <a:latin typeface="Microsoft YaHei"/>
              </a:rPr>
              <a:t>B. 开整改单</a:t>
            </a:r>
          </a:p>
          <a:p>
            <a:pPr algn="l"/>
            <a:r>
              <a:rPr sz="1500" b="0">
                <a:solidFill>
                  <a:srgbClr val="222B33"/>
                </a:solidFill>
                <a:latin typeface="Microsoft YaHei"/>
              </a:rPr>
              <a:t>C. 找根本原因和复查验证</a:t>
            </a:r>
          </a:p>
          <a:p>
            <a:pPr algn="l"/>
            <a:r>
              <a:rPr sz="1500" b="0">
                <a:solidFill>
                  <a:srgbClr val="222B33"/>
                </a:solidFill>
                <a:latin typeface="Microsoft YaHei"/>
              </a:rPr>
              <a:t>D. 通知相关人员</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005 · 安全检查与隐患整改</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005 安全检查与隐患整改</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判断：为了应付检查，可以在检查前补签以前漏签的培训记录。</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寒假放假前的实验室检查，不包括下列哪项？</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关好门窗、检查排水</a:t>
            </a:r>
          </a:p>
          <a:p>
            <a:pPr algn="l"/>
            <a:r>
              <a:rPr sz="1500" b="0">
                <a:solidFill>
                  <a:srgbClr val="222B33"/>
                </a:solidFill>
                <a:latin typeface="Microsoft YaHei"/>
              </a:rPr>
              <a:t>B. 关闭气瓶总阀</a:t>
            </a:r>
          </a:p>
          <a:p>
            <a:pPr algn="l"/>
            <a:r>
              <a:rPr sz="1500" b="0">
                <a:solidFill>
                  <a:srgbClr val="222B33"/>
                </a:solidFill>
                <a:latin typeface="Microsoft YaHei"/>
              </a:rPr>
              <a:t>C. 切断不必要的电源</a:t>
            </a:r>
          </a:p>
          <a:p>
            <a:pPr algn="l"/>
            <a:r>
              <a:rPr sz="1500" b="0">
                <a:solidFill>
                  <a:srgbClr val="222B33"/>
                </a:solidFill>
                <a:latin typeface="Microsoft YaHei"/>
              </a:rPr>
              <a:t>D. 把剩余废液倒入下水道清空</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005 · 安全检查与隐患整改</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005 安全检查与隐患整改</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简答：隐患整改单上要明确哪“三定”？</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检查就是主动找隐患</a:t>
            </a:r>
          </a:p>
          <a:p>
            <a:pPr>
              <a:spcAft>
                <a:spcPts val="800"/>
              </a:spcAft>
            </a:pPr>
            <a:r>
              <a:rPr sz="1500">
                <a:solidFill>
                  <a:srgbClr val="FFFFFF"/>
                </a:solidFill>
                <a:latin typeface="Microsoft YaHei"/>
              </a:rPr>
              <a:t>▪ K2  三级检查：自查、学院查、学校查</a:t>
            </a:r>
          </a:p>
          <a:p>
            <a:pPr>
              <a:spcAft>
                <a:spcPts val="800"/>
              </a:spcAft>
            </a:pPr>
            <a:r>
              <a:rPr sz="1500">
                <a:solidFill>
                  <a:srgbClr val="FFFFFF"/>
                </a:solidFill>
                <a:latin typeface="Microsoft YaHei"/>
              </a:rPr>
              <a:t>▪ K3  日常自查：开工收工查一遍</a:t>
            </a:r>
          </a:p>
          <a:p>
            <a:pPr>
              <a:spcAft>
                <a:spcPts val="800"/>
              </a:spcAft>
            </a:pPr>
            <a:r>
              <a:rPr sz="1500">
                <a:solidFill>
                  <a:srgbClr val="FFFFFF"/>
                </a:solidFill>
                <a:latin typeface="Microsoft YaHei"/>
              </a:rPr>
              <a:t>▪ K4  逐级累积的检查节奏</a:t>
            </a:r>
          </a:p>
          <a:p>
            <a:pPr>
              <a:spcAft>
                <a:spcPts val="800"/>
              </a:spcAft>
            </a:pPr>
            <a:r>
              <a:rPr sz="1500">
                <a:solidFill>
                  <a:srgbClr val="FFFFFF"/>
                </a:solidFill>
                <a:latin typeface="Microsoft YaHei"/>
              </a:rPr>
              <a:t>▪ K5  节假日和恶劣天气前检查</a:t>
            </a:r>
          </a:p>
          <a:p>
            <a:pPr>
              <a:spcAft>
                <a:spcPts val="800"/>
              </a:spcAft>
            </a:pPr>
            <a:r>
              <a:rPr sz="1500">
                <a:solidFill>
                  <a:srgbClr val="FFFFFF"/>
                </a:solidFill>
                <a:latin typeface="Microsoft YaHei"/>
              </a:rPr>
              <a:t>▪ K6  拿好清单，留心隐蔽隐患</a:t>
            </a:r>
          </a:p>
          <a:p>
            <a:pPr>
              <a:spcAft>
                <a:spcPts val="800"/>
              </a:spcAft>
            </a:pPr>
            <a:r>
              <a:rPr sz="1500">
                <a:solidFill>
                  <a:srgbClr val="FFFFFF"/>
                </a:solidFill>
                <a:latin typeface="Microsoft YaHei"/>
              </a:rPr>
              <a:t>▪ K7  检查看现场，也看记录</a:t>
            </a:r>
          </a:p>
          <a:p>
            <a:pPr>
              <a:spcAft>
                <a:spcPts val="800"/>
              </a:spcAft>
            </a:pPr>
            <a:r>
              <a:rPr sz="1500">
                <a:solidFill>
                  <a:srgbClr val="FFFFFF"/>
                </a:solidFill>
                <a:latin typeface="Microsoft YaHei"/>
              </a:rPr>
              <a:t>▪ K8  发现隐患立即报告</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K9  重大隐患先停用、立即报</a:t>
            </a:r>
          </a:p>
          <a:p>
            <a:pPr>
              <a:spcAft>
                <a:spcPts val="800"/>
              </a:spcAft>
            </a:pPr>
            <a:r>
              <a:rPr sz="1500">
                <a:solidFill>
                  <a:srgbClr val="FFFFFF"/>
                </a:solidFill>
                <a:latin typeface="Microsoft YaHei"/>
              </a:rPr>
              <a:t>▪ K10  整改闭环：定人定时，复查销号</a:t>
            </a:r>
          </a:p>
          <a:p>
            <a:pPr>
              <a:spcAft>
                <a:spcPts val="800"/>
              </a:spcAft>
            </a:pPr>
            <a:r>
              <a:rPr sz="1500">
                <a:solidFill>
                  <a:srgbClr val="FFFFFF"/>
                </a:solidFill>
                <a:latin typeface="Microsoft YaHei"/>
              </a:rPr>
              <a:t>▪ K11  发现问题是收获</a:t>
            </a:r>
          </a:p>
          <a:p>
            <a:pPr>
              <a:spcAft>
                <a:spcPts val="800"/>
              </a:spcAft>
            </a:pPr>
            <a:r>
              <a:rPr sz="1500">
                <a:solidFill>
                  <a:srgbClr val="FFFFFF"/>
                </a:solidFill>
                <a:latin typeface="Microsoft YaHei"/>
              </a:rPr>
              <a:t>▪ K12  检查要记录、贴标识</a:t>
            </a:r>
          </a:p>
          <a:p>
            <a:pPr>
              <a:spcAft>
                <a:spcPts val="800"/>
              </a:spcAft>
            </a:pPr>
            <a:r>
              <a:rPr sz="1500">
                <a:solidFill>
                  <a:srgbClr val="FFFFFF"/>
                </a:solidFill>
                <a:latin typeface="Microsoft YaHei"/>
              </a:rPr>
              <a:t>▪ K13  记录的保存期限与数字化归档</a:t>
            </a:r>
          </a:p>
          <a:p>
            <a:pPr>
              <a:spcAft>
                <a:spcPts val="800"/>
              </a:spcAft>
            </a:pPr>
            <a:r>
              <a:rPr sz="1500">
                <a:solidFill>
                  <a:srgbClr val="FFFFFF"/>
                </a:solidFill>
                <a:latin typeface="Microsoft YaHei"/>
              </a:rPr>
              <a:t>▪ K14  检查是彩排，天天经得起查</a:t>
            </a:r>
          </a:p>
          <a:p>
            <a:pPr>
              <a:spcAft>
                <a:spcPts val="800"/>
              </a:spcAft>
            </a:pPr>
            <a:r>
              <a:rPr sz="1500">
                <a:solidFill>
                  <a:srgbClr val="FFFFFF"/>
                </a:solidFill>
                <a:latin typeface="Microsoft YaHei"/>
              </a:rPr>
              <a:t>▪ K15  如实迎检，不补造记录</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006</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安全制度与管理体系</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第1章 法规、管理与安全文化</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6 分钟（卡通视频 67 镜）　适用对象：全体进入高校实验室的本科生、研究生、新进教职工和博士后（必修）；实验室负责人、安全员重点学习</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006 · 安全制度与管理体系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006 安全制度与管理体系</a:t>
            </a:r>
          </a:p>
        </p:txBody>
      </p:sp>
      <p:sp>
        <p:nvSpPr>
          <p:cNvPr id="5" name="Rounded Rectangle 4"/>
          <p:cNvSpPr/>
          <p:nvPr/>
        </p:nvSpPr>
        <p:spPr>
          <a:xfrm>
            <a:off x="548640" y="1828800"/>
            <a:ext cx="3454298"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2814218" cy="2468880"/>
          </a:xfrm>
          <a:prstGeom prst="rect">
            <a:avLst/>
          </a:prstGeom>
          <a:noFill/>
        </p:spPr>
        <p:txBody>
          <a:bodyPr wrap="square" anchor="t" lIns="0" rIns="0" tIns="0" bIns="0">
            <a:spAutoFit/>
          </a:bodyPr>
          <a:lstStyle/>
          <a:p>
            <a:pPr algn="l"/>
            <a:r>
              <a:rPr sz="1800" b="0">
                <a:solidFill>
                  <a:srgbClr val="222B33"/>
                </a:solidFill>
                <a:latin typeface="Microsoft YaHei"/>
              </a:rPr>
              <a:t>能说出实验室安全文件体系的组成：安全方针、安全计划（手册）、专项制度、操作规程、应急预案和记录档案。</a:t>
            </a:r>
          </a:p>
        </p:txBody>
      </p:sp>
      <p:sp>
        <p:nvSpPr>
          <p:cNvPr id="8" name="Rounded Rectangle 7"/>
          <p:cNvSpPr/>
          <p:nvPr/>
        </p:nvSpPr>
        <p:spPr>
          <a:xfrm>
            <a:off x="4368698" y="1828800"/>
            <a:ext cx="3454298"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688738"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4688738" y="3108960"/>
            <a:ext cx="2814218" cy="2468880"/>
          </a:xfrm>
          <a:prstGeom prst="rect">
            <a:avLst/>
          </a:prstGeom>
          <a:noFill/>
        </p:spPr>
        <p:txBody>
          <a:bodyPr wrap="square" anchor="t" lIns="0" rIns="0" tIns="0" bIns="0">
            <a:spAutoFit/>
          </a:bodyPr>
          <a:lstStyle/>
          <a:p>
            <a:pPr algn="l"/>
            <a:r>
              <a:rPr sz="1800" b="0">
                <a:solidFill>
                  <a:srgbClr val="222B33"/>
                </a:solidFill>
                <a:latin typeface="Microsoft YaHei"/>
              </a:rPr>
              <a:t>能判断制度“活”与“死”的区别，指出制度管理的常见陷阱，做到受控更新、写了就做。</a:t>
            </a:r>
          </a:p>
        </p:txBody>
      </p:sp>
      <p:sp>
        <p:nvSpPr>
          <p:cNvPr id="11" name="Rounded Rectangle 10"/>
          <p:cNvSpPr/>
          <p:nvPr/>
        </p:nvSpPr>
        <p:spPr>
          <a:xfrm>
            <a:off x="8188756" y="1828800"/>
            <a:ext cx="3454298"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508796"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8508796" y="3108960"/>
            <a:ext cx="2814218" cy="2468880"/>
          </a:xfrm>
          <a:prstGeom prst="rect">
            <a:avLst/>
          </a:prstGeom>
          <a:noFill/>
        </p:spPr>
        <p:txBody>
          <a:bodyPr wrap="square" anchor="t" lIns="0" rIns="0" tIns="0" bIns="0">
            <a:spAutoFit/>
          </a:bodyPr>
          <a:lstStyle/>
          <a:p>
            <a:pPr algn="l"/>
            <a:r>
              <a:rPr sz="1800" b="0">
                <a:solidFill>
                  <a:srgbClr val="222B33"/>
                </a:solidFill>
                <a:latin typeface="Microsoft YaHei"/>
              </a:rPr>
              <a:t>能说明 PDCA 持续改进、领先指标与滞后指标的含义，以及职业健康安全和环境管理体系的作用。</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006 · 安全制度与管理体系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006 安全制度与管理体系</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《中华人民共和国安全生产法》（以现行文本为准）：建立健全安全生产责任制和规章制度、操作规程，制定应急救援预案</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号，以现行文本为准）：安全管理制度、应急管理、仪器设备安全管理</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《中华人民共和国危险化学品安全法》（2026 年 5 月 1 日起施行）及《危险化学品安全管理条例》（以现行文本为准）：使用单位的安全管理制度和操作规程</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GB/T 45001-2020（以现行文本为准）《职业健康安全管理体系 要求及使用指南》</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GB/T 24001-2016（以现行文本为准）《环境管理体系 要求及使用指南》</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GB/T 33579-2017（以现行文本为准）《机械安全 危险能量控制方法 上锁/挂牌》；GB 18664-2025（以现行文本为准）《呼吸防护装备的选择、使用和维护》</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本校实验室安全管理制度、应急预案和仪器设备管理办法（以本校规定为准）</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006 · 安全制度与管理体系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安全方针：负责人的书面承诺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006 安全制度与管理体系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安全方针是负责人对安全的书面承诺</a:t>
            </a:r>
          </a:p>
          <a:p>
            <a:pPr>
              <a:spcAft>
                <a:spcPts val="1000"/>
              </a:spcAft>
            </a:pPr>
            <a:r>
              <a:rPr sz="2000">
                <a:solidFill>
                  <a:srgbClr val="222B33"/>
                </a:solidFill>
                <a:latin typeface="Microsoft YaHei"/>
              </a:rPr>
              <a:t>▪ 写清目标、各人职责、怎么落实</a:t>
            </a:r>
          </a:p>
          <a:p>
            <a:pPr>
              <a:spcAft>
                <a:spcPts val="1000"/>
              </a:spcAft>
            </a:pPr>
            <a:r>
              <a:rPr sz="2000">
                <a:solidFill>
                  <a:srgbClr val="222B33"/>
                </a:solidFill>
                <a:latin typeface="Microsoft YaHei"/>
              </a:rPr>
              <a:t>▪ 承诺照顾好每个人的安全健康，持续改进</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安全方针是单位或实验室负责人对安全工作的书面承诺，表明管理者把人员的安全和健康放在首位。一份有效的安全方针通常包含三部分：安全目标（如杜绝事故、持续改进）、各类人员的职责（负责人、安全员、导师、学生各管什么），以及落……</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方针只是一句口号，没有职责和落实方式</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006 · 安全制度与管理体系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安全计划：逐项找危害、配措施</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006 安全制度与管理体系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安全计划把方针变成具体行动</a:t>
            </a:r>
          </a:p>
          <a:p>
            <a:pPr>
              <a:spcAft>
                <a:spcPts val="1000"/>
              </a:spcAft>
            </a:pPr>
            <a:r>
              <a:rPr sz="2000">
                <a:solidFill>
                  <a:srgbClr val="222B33"/>
                </a:solidFill>
                <a:latin typeface="Microsoft YaHei"/>
              </a:rPr>
              <a:t>▪ 逐项找出危害和风险，配上控制措施</a:t>
            </a:r>
          </a:p>
          <a:p>
            <a:pPr>
              <a:spcAft>
                <a:spcPts val="1000"/>
              </a:spcAft>
            </a:pPr>
            <a:r>
              <a:rPr sz="2000">
                <a:solidFill>
                  <a:srgbClr val="222B33"/>
                </a:solidFill>
                <a:latin typeface="Microsoft YaHei"/>
              </a:rPr>
              <a:t>▪ 负责人讲清特殊危险，监督防护落实</a:t>
            </a:r>
          </a:p>
          <a:p>
            <a:pPr>
              <a:spcAft>
                <a:spcPts val="1000"/>
              </a:spcAft>
            </a:pPr>
            <a:r>
              <a:rPr sz="2000">
                <a:solidFill>
                  <a:srgbClr val="222B33"/>
                </a:solidFill>
                <a:latin typeface="Microsoft YaHei"/>
              </a:rPr>
              <a:t>▪ 化学品有清单、SDS 随时可查；评估、措施、效果要记录</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安全计划是把方针落地的方案：针对本单位、本实验室的工作，逐项识别危害、评估风险，并为每项风险配上相应的控制措施，明确由谁在什么时候完成。国外有些实验室称之为“化学品安全（卫生）计划”；在国内高校，通常体现为实验室安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计划只列危害，不写具体措施和责任人</a:t>
            </a:r>
          </a:p>
          <a:p>
            <a:pPr>
              <a:spcAft>
                <a:spcPts val="1000"/>
              </a:spcAft>
            </a:pPr>
            <a:r>
              <a:rPr sz="1500">
                <a:solidFill>
                  <a:srgbClr val="222B33"/>
                </a:solidFill>
                <a:latin typeface="Microsoft YaHei"/>
              </a:rPr>
              <a:t>▪ 化学品没有清单，SDS 找不到</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006 · 安全制度与管理体系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安全手册里有什么</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006 安全制度与管理体系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安全手册像实验室的“操作系统”</a:t>
            </a:r>
          </a:p>
          <a:p>
            <a:pPr>
              <a:spcAft>
                <a:spcPts val="1000"/>
              </a:spcAft>
            </a:pPr>
            <a:r>
              <a:rPr sz="2000">
                <a:solidFill>
                  <a:srgbClr val="222B33"/>
                </a:solidFill>
                <a:latin typeface="Microsoft YaHei"/>
              </a:rPr>
              <a:t>▪ 操作规程、控制措施、防护要求</a:t>
            </a:r>
          </a:p>
          <a:p>
            <a:pPr>
              <a:spcAft>
                <a:spcPts val="1000"/>
              </a:spcAft>
            </a:pPr>
            <a:r>
              <a:rPr sz="2000">
                <a:solidFill>
                  <a:srgbClr val="222B33"/>
                </a:solidFill>
                <a:latin typeface="Microsoft YaHei"/>
              </a:rPr>
              <a:t>▪ 培训准入、危险实验审批、健康与就医</a:t>
            </a:r>
          </a:p>
          <a:p>
            <a:pPr>
              <a:spcAft>
                <a:spcPts val="1000"/>
              </a:spcAft>
            </a:pPr>
            <a:r>
              <a:rPr sz="2000">
                <a:solidFill>
                  <a:srgbClr val="222B33"/>
                </a:solidFill>
                <a:latin typeface="Microsoft YaHei"/>
              </a:rPr>
              <a:t>▪ 明确安全员，高危化学品和感染性材料专门管理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学校和实验室都有安全管理制度和安全手册，告诉每个成员怎样安全地使用化学品、感染性材料和各类设备。一本好的实验室安全手册通常包括：本室主要危害和标准操作规程；通风柜等工程控制措施及其检查要求；个人防护要求；人员培训和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进实验室从未读过本室安全手册</a:t>
            </a:r>
          </a:p>
          <a:p>
            <a:pPr>
              <a:spcAft>
                <a:spcPts val="1000"/>
              </a:spcAft>
            </a:pPr>
            <a:r>
              <a:rPr sz="1500">
                <a:solidFill>
                  <a:srgbClr val="222B33"/>
                </a:solidFill>
                <a:latin typeface="Microsoft YaHei"/>
              </a:rPr>
              <a:t>▪ 手册缺少高危物质的专门管理要求</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006 · 安全制度与管理体系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专项制度：废物、上锁挂牌、呼吸防护</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006 安全制度与管理体系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特殊风险要有专项制度</a:t>
            </a:r>
          </a:p>
          <a:p>
            <a:pPr>
              <a:spcAft>
                <a:spcPts val="1000"/>
              </a:spcAft>
            </a:pPr>
            <a:r>
              <a:rPr sz="2000">
                <a:solidFill>
                  <a:srgbClr val="222B33"/>
                </a:solidFill>
                <a:latin typeface="Microsoft YaHei"/>
              </a:rPr>
              <a:t>▪ 危险废物：分类收集、规范贮存、合规处置</a:t>
            </a:r>
          </a:p>
          <a:p>
            <a:pPr>
              <a:spcAft>
                <a:spcPts val="1000"/>
              </a:spcAft>
            </a:pPr>
            <a:r>
              <a:rPr sz="2000">
                <a:solidFill>
                  <a:srgbClr val="222B33"/>
                </a:solidFill>
                <a:latin typeface="Microsoft YaHei"/>
              </a:rPr>
              <a:t>▪ 检修设备时上锁挂牌，防止误启动</a:t>
            </a:r>
          </a:p>
          <a:p>
            <a:pPr>
              <a:spcAft>
                <a:spcPts val="1000"/>
              </a:spcAft>
            </a:pPr>
            <a:r>
              <a:rPr sz="2000">
                <a:solidFill>
                  <a:srgbClr val="222B33"/>
                </a:solidFill>
                <a:latin typeface="Microsoft YaHei"/>
              </a:rPr>
              <a:t>▪ 呼吸防护：评估、选型、培训和适合性检验</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除综合性的手册外，一些特殊风险需要单独的专项制度，例如：危险废物管理制度（分类收集、标签、贮存、交接和处置，第 5 章讲解）；危险能量控制即上锁挂牌制度，检修、清理设备前切断能源并上锁挂牌，防止他人误启动造成伤害（依……</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检修设备不上锁挂牌，他人误合闸</a:t>
            </a:r>
          </a:p>
          <a:p>
            <a:pPr>
              <a:spcAft>
                <a:spcPts val="1000"/>
              </a:spcAft>
            </a:pPr>
            <a:r>
              <a:rPr sz="1500">
                <a:solidFill>
                  <a:srgbClr val="222B33"/>
                </a:solidFill>
                <a:latin typeface="Microsoft YaHei"/>
              </a:rPr>
              <a:t>▪ 随意选用口罩代替呼吸防护装备，未做适合性检验</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006 · 安全制度与管理体系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制度定目标，实验室定做法</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006 安全制度与管理体系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学校制度规定要达到的安全目标</a:t>
            </a:r>
          </a:p>
          <a:p>
            <a:pPr>
              <a:spcAft>
                <a:spcPts val="1000"/>
              </a:spcAft>
            </a:pPr>
            <a:r>
              <a:rPr sz="2000">
                <a:solidFill>
                  <a:srgbClr val="222B33"/>
                </a:solidFill>
                <a:latin typeface="Microsoft YaHei"/>
              </a:rPr>
              <a:t>▪ 具体怎么做，由实验室写进本室规程</a:t>
            </a:r>
          </a:p>
          <a:p>
            <a:pPr>
              <a:spcAft>
                <a:spcPts val="1000"/>
              </a:spcAft>
            </a:pPr>
            <a:r>
              <a:rPr sz="2000">
                <a:solidFill>
                  <a:srgbClr val="222B33"/>
                </a:solidFill>
                <a:latin typeface="Microsoft YaHei"/>
              </a:rPr>
              <a:t>▪ 本室规程经负责人审核后执行</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学校和学院的制度通常规定“要达到什么安全要求”，例如“使用挥发性有毒物质必须在有效的局部排风设施内进行”。至于在本实验室具体用哪台通风柜、怎么操作、谁负责检查，需要各实验室结合自身情况写进本室的操作规程。</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只有学校的原则性制度，本室没有具体规程</a:t>
            </a:r>
          </a:p>
          <a:p>
            <a:pPr>
              <a:spcAft>
                <a:spcPts val="1000"/>
              </a:spcAft>
            </a:pPr>
            <a:r>
              <a:rPr sz="1500">
                <a:solidFill>
                  <a:srgbClr val="222B33"/>
                </a:solidFill>
                <a:latin typeface="Microsoft YaHei"/>
              </a:rPr>
              <a:t>▪ 规程未经审核就使用</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006 · 安全制度与管理体系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应急预案：写好、贴好、练好</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006 安全制度与管理体系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应急预案是制度体系的重要组成部分</a:t>
            </a:r>
          </a:p>
          <a:p>
            <a:pPr>
              <a:spcAft>
                <a:spcPts val="1000"/>
              </a:spcAft>
            </a:pPr>
            <a:r>
              <a:rPr sz="2000">
                <a:solidFill>
                  <a:srgbClr val="222B33"/>
                </a:solidFill>
                <a:latin typeface="Microsoft YaHei"/>
              </a:rPr>
              <a:t>▪ 写清可能的事故、谁做什么、怎么报告</a:t>
            </a:r>
          </a:p>
          <a:p>
            <a:pPr>
              <a:spcAft>
                <a:spcPts val="1000"/>
              </a:spcAft>
            </a:pPr>
            <a:r>
              <a:rPr sz="2000">
                <a:solidFill>
                  <a:srgbClr val="222B33"/>
                </a:solidFill>
                <a:latin typeface="Microsoft YaHei"/>
              </a:rPr>
              <a:t>▪ 应急流程和电话贴在显眼处</a:t>
            </a:r>
          </a:p>
          <a:p>
            <a:pPr>
              <a:spcAft>
                <a:spcPts val="1000"/>
              </a:spcAft>
            </a:pPr>
            <a:r>
              <a:rPr sz="2000">
                <a:solidFill>
                  <a:srgbClr val="222B33"/>
                </a:solidFill>
                <a:latin typeface="Microsoft YaHei"/>
              </a:rPr>
              <a:t>▪ 定期演练，演练后修订预案</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中华人民共和国安全生产法》要求单位制定事故应急救援预案，《高等学校实验室安全规范》也要求学校、学院和实验室建立应急预案并组织演练（以现行文本为准）。实验室层面的应急预案（或现场处置方案）应针对本室可能发生的事故（火……</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预案照抄模板，与本室实际危险不符</a:t>
            </a:r>
          </a:p>
          <a:p>
            <a:pPr>
              <a:spcAft>
                <a:spcPts val="1000"/>
              </a:spcAft>
            </a:pPr>
            <a:r>
              <a:rPr sz="1500">
                <a:solidFill>
                  <a:srgbClr val="222B33"/>
                </a:solidFill>
                <a:latin typeface="Microsoft YaHei"/>
              </a:rPr>
              <a:t>▪ 有预案从不演练，人员不知道怎么做</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006 · 安全制度与管理体系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制度要活，跟上实验室的变化</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006 安全制度与管理体系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手册要跟着实验室一起变</a:t>
            </a:r>
          </a:p>
          <a:p>
            <a:pPr>
              <a:spcAft>
                <a:spcPts val="1000"/>
              </a:spcAft>
            </a:pPr>
            <a:r>
              <a:rPr sz="2000">
                <a:solidFill>
                  <a:srgbClr val="222B33"/>
                </a:solidFill>
                <a:latin typeface="Microsoft YaHei"/>
              </a:rPr>
              <a:t>▪ 定期修订：新试剂写进去，拆掉的设备删掉</a:t>
            </a:r>
          </a:p>
          <a:p>
            <a:pPr>
              <a:spcAft>
                <a:spcPts val="1000"/>
              </a:spcAft>
            </a:pPr>
            <a:r>
              <a:rPr sz="2000">
                <a:solidFill>
                  <a:srgbClr val="222B33"/>
                </a:solidFill>
                <a:latin typeface="Microsoft YaHei"/>
              </a:rPr>
              <a:t>▪ 新技术带来新危害，要提前预判</a:t>
            </a:r>
          </a:p>
          <a:p>
            <a:pPr>
              <a:spcAft>
                <a:spcPts val="1000"/>
              </a:spcAft>
            </a:pPr>
            <a:r>
              <a:rPr sz="2000">
                <a:solidFill>
                  <a:srgbClr val="222B33"/>
                </a:solidFill>
                <a:latin typeface="Microsoft YaHei"/>
              </a:rPr>
              <a:t>▪ 手册是实验室和每个人的约定，要制定更要执行</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制度和手册不能写完就束之高阁。实验室的人员、设备、试剂和实验方法一直在变化：写着已拆除的设备、早已不用的试剂，而新引进的高危试剂、新仪器却没有规程，这样的手册已经失效。</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手册多年不修订，与现实脱节</a:t>
            </a:r>
          </a:p>
          <a:p>
            <a:pPr>
              <a:spcAft>
                <a:spcPts val="1000"/>
              </a:spcAft>
            </a:pPr>
            <a:r>
              <a:rPr sz="1500">
                <a:solidFill>
                  <a:srgbClr val="222B33"/>
                </a:solidFill>
                <a:latin typeface="Microsoft YaHei"/>
              </a:rPr>
              <a:t>▪ 修订后不培训，成员仍按旧做法操作</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006 · 安全制度与管理体系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纸上的计划救不了人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006 安全制度与管理体系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有书面计划却不落实，等于没有</a:t>
            </a:r>
          </a:p>
          <a:p>
            <a:pPr>
              <a:spcAft>
                <a:spcPts val="1000"/>
              </a:spcAft>
            </a:pPr>
            <a:r>
              <a:rPr sz="2000">
                <a:solidFill>
                  <a:srgbClr val="222B33"/>
                </a:solidFill>
                <a:latin typeface="Microsoft YaHei"/>
              </a:rPr>
              <a:t>▪ 曾有研究人员放大使用自燃试剂、未穿阻燃服而遇难</a:t>
            </a:r>
          </a:p>
          <a:p>
            <a:pPr>
              <a:spcAft>
                <a:spcPts val="1000"/>
              </a:spcAft>
            </a:pPr>
            <a:r>
              <a:rPr sz="2000">
                <a:solidFill>
                  <a:srgbClr val="222B33"/>
                </a:solidFill>
                <a:latin typeface="Microsoft YaHei"/>
              </a:rPr>
              <a:t>▪ 防护、能力确认、结伴，一样不能少</a:t>
            </a:r>
          </a:p>
          <a:p>
            <a:pPr>
              <a:spcAft>
                <a:spcPts val="1000"/>
              </a:spcAft>
            </a:pPr>
            <a:r>
              <a:rPr sz="2000">
                <a:solidFill>
                  <a:srgbClr val="222B33"/>
                </a:solidFill>
                <a:latin typeface="Microsoft YaHei"/>
              </a:rPr>
              <a:t>▪ 手册过时、负责人缺位、新试剂无规程，必出问题</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国外曾发生这样的事故：一名研究人员在放大使用遇空气自燃的试剂时，试剂起火，她没有穿阻燃实验服，最终不幸身亡。这间实验室有书面的安全计划，却没有落实到实处——没有确认操作人员的能力，没有要求必要的防护，也没有安排结伴操作。</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有计划就以为安全了，不检查落实</a:t>
            </a:r>
          </a:p>
          <a:p>
            <a:pPr>
              <a:spcAft>
                <a:spcPts val="1000"/>
              </a:spcAft>
            </a:pPr>
            <a:r>
              <a:rPr sz="1500">
                <a:solidFill>
                  <a:srgbClr val="222B33"/>
                </a:solidFill>
                <a:latin typeface="Microsoft YaHei"/>
              </a:rPr>
              <a:t>▪ 高危试剂放大使用前不重新评估、不确认能力</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006 · 安全制度与管理体系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制度管理的四个常见陷阱</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006 安全制度与管理体系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陷阱一：手册只为应付检查</a:t>
            </a:r>
          </a:p>
          <a:p>
            <a:pPr>
              <a:spcAft>
                <a:spcPts val="1000"/>
              </a:spcAft>
            </a:pPr>
            <a:r>
              <a:rPr sz="2000">
                <a:solidFill>
                  <a:srgbClr val="222B33"/>
                </a:solidFill>
                <a:latin typeface="Microsoft YaHei"/>
              </a:rPr>
              <a:t>▪ 陷阱二：安全员随便指派，没有实权</a:t>
            </a:r>
          </a:p>
          <a:p>
            <a:pPr>
              <a:spcAft>
                <a:spcPts val="1000"/>
              </a:spcAft>
            </a:pPr>
            <a:r>
              <a:rPr sz="2000">
                <a:solidFill>
                  <a:srgbClr val="222B33"/>
                </a:solidFill>
                <a:latin typeface="Microsoft YaHei"/>
              </a:rPr>
              <a:t>▪ 陷阱三：安全和质量各管各的</a:t>
            </a:r>
          </a:p>
          <a:p>
            <a:pPr>
              <a:spcAft>
                <a:spcPts val="1000"/>
              </a:spcAft>
            </a:pPr>
            <a:r>
              <a:rPr sz="2000">
                <a:solidFill>
                  <a:srgbClr val="222B33"/>
                </a:solidFill>
                <a:latin typeface="Microsoft YaHei"/>
              </a:rPr>
              <a:t>▪ 陷阱四：没出事就不报告险情</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制度管理中常见四个陷阱：一是手册只为应付检查而写，平时没人看、没人用；二是安全员随便指派、没有时间和权力，看到问题也管不了；三是安全管理和实验质量管理各管各的，实际上两者的记录、培训、设备管理高度重合，应当统一考虑；……</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安全员是“挂名”的，从不巡查</a:t>
            </a:r>
          </a:p>
          <a:p>
            <a:pPr>
              <a:spcAft>
                <a:spcPts val="1000"/>
              </a:spcAft>
            </a:pPr>
            <a:r>
              <a:rPr sz="1500">
                <a:solidFill>
                  <a:srgbClr val="222B33"/>
                </a:solidFill>
                <a:latin typeface="Microsoft YaHei"/>
              </a:rPr>
              <a:t>▪ 险情不报告，直到发生事故</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006 · 安全制度与管理体系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受控文件与安全档案</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006 安全制度与管理体系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规程和检查单是受控文件</a:t>
            </a:r>
          </a:p>
          <a:p>
            <a:pPr>
              <a:spcAft>
                <a:spcPts val="1000"/>
              </a:spcAft>
            </a:pPr>
            <a:r>
              <a:rPr sz="2000">
                <a:solidFill>
                  <a:srgbClr val="222B33"/>
                </a:solidFill>
                <a:latin typeface="Microsoft YaHei"/>
              </a:rPr>
              <a:t>▪ 改一处就升版本，写明日期和修改人</a:t>
            </a:r>
          </a:p>
          <a:p>
            <a:pPr>
              <a:spcAft>
                <a:spcPts val="1000"/>
              </a:spcAft>
            </a:pPr>
            <a:r>
              <a:rPr sz="2000">
                <a:solidFill>
                  <a:srgbClr val="222B33"/>
                </a:solidFill>
                <a:latin typeface="Microsoft YaHei"/>
              </a:rPr>
              <a:t>▪ 培训、检查、事故、设备使用、样本领用都要记录</a:t>
            </a:r>
          </a:p>
          <a:p>
            <a:pPr>
              <a:spcAft>
                <a:spcPts val="1000"/>
              </a:spcAft>
            </a:pPr>
            <a:r>
              <a:rPr sz="2000">
                <a:solidFill>
                  <a:srgbClr val="222B33"/>
                </a:solidFill>
                <a:latin typeface="Microsoft YaHei"/>
              </a:rPr>
              <a:t>▪ 归档保存，权限受控，出了问题能追溯</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操作规程、检查单、应急预案等是受控文件：每份文件有编号和版本号，修改任何内容都要升级版本，注明修订日期和修改人，并经审批后发布；旧版本收回或标注作废，防止误用。文件的查阅和复制权限有规定，涉及安保敏感信息（如管控物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规程随手修改不升版本，新旧版本混用</a:t>
            </a:r>
          </a:p>
          <a:p>
            <a:pPr>
              <a:spcAft>
                <a:spcPts val="1000"/>
              </a:spcAft>
            </a:pPr>
            <a:r>
              <a:rPr sz="1500">
                <a:solidFill>
                  <a:srgbClr val="222B33"/>
                </a:solidFill>
                <a:latin typeface="Microsoft YaHei"/>
              </a:rPr>
              <a:t>▪ 安全档案随意复印外传</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006 · 安全制度与管理体系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安全委员会：大家一起商量</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006 安全制度与管理体系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管理者和人员代表共同参加</a:t>
            </a:r>
          </a:p>
          <a:p>
            <a:pPr>
              <a:spcAft>
                <a:spcPts val="1000"/>
              </a:spcAft>
            </a:pPr>
            <a:r>
              <a:rPr sz="2000">
                <a:solidFill>
                  <a:srgbClr val="222B33"/>
                </a:solidFill>
                <a:latin typeface="Microsoft YaHei"/>
              </a:rPr>
              <a:t>▪ 专门讨论安全问题，共同想办法</a:t>
            </a:r>
          </a:p>
          <a:p>
            <a:pPr>
              <a:spcAft>
                <a:spcPts val="1000"/>
              </a:spcAft>
            </a:pPr>
            <a:r>
              <a:rPr sz="2000">
                <a:solidFill>
                  <a:srgbClr val="222B33"/>
                </a:solidFill>
                <a:latin typeface="Microsoft YaHei"/>
              </a:rPr>
              <a:t>▪ 大家都能发声</a:t>
            </a:r>
          </a:p>
          <a:p>
            <a:pPr>
              <a:spcAft>
                <a:spcPts val="1000"/>
              </a:spcAft>
            </a:pPr>
            <a:r>
              <a:rPr sz="2000">
                <a:solidFill>
                  <a:srgbClr val="222B33"/>
                </a:solidFill>
                <a:latin typeface="Microsoft YaHei"/>
              </a:rPr>
              <a:t>▪ 学校和学院也设有安全工作组织</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安全委员会（或安全工作领导小组）由管理者和一线人员代表共同组成，定期开会，专门讨论安全问题：分析检查和事故中发现的问题、审议制度修订、协调资源、听取一线人员的意见。一线人员最了解现场的风险，让他们发声，能让决策更贴近……</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会议只有领导参加，听不到一线意见</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006 · 安全制度与管理体系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领先指标与滞后指标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006 安全制度与管理体系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安全指标分领先指标和滞后指标</a:t>
            </a:r>
          </a:p>
          <a:p>
            <a:pPr>
              <a:spcAft>
                <a:spcPts val="1000"/>
              </a:spcAft>
            </a:pPr>
            <a:r>
              <a:rPr sz="2000">
                <a:solidFill>
                  <a:srgbClr val="222B33"/>
                </a:solidFill>
                <a:latin typeface="Microsoft YaHei"/>
              </a:rPr>
              <a:t>▪ 滞后指标：事故率、伤病缺勤，事后才知道</a:t>
            </a:r>
          </a:p>
          <a:p>
            <a:pPr>
              <a:spcAft>
                <a:spcPts val="1000"/>
              </a:spcAft>
            </a:pPr>
            <a:r>
              <a:rPr sz="2000">
                <a:solidFill>
                  <a:srgbClr val="222B33"/>
                </a:solidFill>
                <a:latin typeface="Microsoft YaHei"/>
              </a:rPr>
              <a:t>▪ 领先指标：培训、巡查次数，险情报告数</a:t>
            </a:r>
          </a:p>
          <a:p>
            <a:pPr>
              <a:spcAft>
                <a:spcPts val="1000"/>
              </a:spcAft>
            </a:pPr>
            <a:r>
              <a:rPr sz="2000">
                <a:solidFill>
                  <a:srgbClr val="222B33"/>
                </a:solidFill>
                <a:latin typeface="Microsoft YaHei"/>
              </a:rPr>
              <a:t>▪ 多盯领先指标，才能防患于未然</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衡量安全工作有两类指标。滞后指标反映已经发生的结果，例如事故次数、受伤人数、伤病缺勤天数，只能在事后知道，而且数字低不一定代表安全（可能只是运气好或瞒报）。领先指标反映预防工作的开展情况，例如培训完成率、巡查次数、隐……</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只看“零事故”，不看培训、巡查和险情报告</a:t>
            </a:r>
          </a:p>
          <a:p>
            <a:pPr>
              <a:spcAft>
                <a:spcPts val="1000"/>
              </a:spcAft>
            </a:pPr>
            <a:r>
              <a:rPr sz="1500">
                <a:solidFill>
                  <a:srgbClr val="222B33"/>
                </a:solidFill>
                <a:latin typeface="Microsoft YaHei"/>
              </a:rPr>
              <a:t>▪ 把险情报告多当作坏事而压制报告</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006 · 安全制度与管理体系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PDCA：职业健康安全管理体系</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006 安全制度与管理体系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职业健康安全管理体系的核心是 PDCA 循环</a:t>
            </a:r>
          </a:p>
          <a:p>
            <a:pPr>
              <a:spcAft>
                <a:spcPts val="1000"/>
              </a:spcAft>
            </a:pPr>
            <a:r>
              <a:rPr sz="2000">
                <a:solidFill>
                  <a:srgbClr val="222B33"/>
                </a:solidFill>
                <a:latin typeface="Microsoft YaHei"/>
              </a:rPr>
              <a:t>▪ 计划、实施、检查、改进，循环上升</a:t>
            </a:r>
          </a:p>
          <a:p>
            <a:pPr>
              <a:spcAft>
                <a:spcPts val="1000"/>
              </a:spcAft>
            </a:pPr>
            <a:r>
              <a:rPr sz="2000">
                <a:solidFill>
                  <a:srgbClr val="222B33"/>
                </a:solidFill>
                <a:latin typeface="Microsoft YaHei"/>
              </a:rPr>
              <a:t>▪ 国内现行标准为 GB/T 45001-2020</a:t>
            </a:r>
          </a:p>
          <a:p>
            <a:pPr>
              <a:spcAft>
                <a:spcPts val="1000"/>
              </a:spcAft>
            </a:pPr>
            <a:r>
              <a:rPr sz="2000">
                <a:solidFill>
                  <a:srgbClr val="222B33"/>
                </a:solidFill>
                <a:latin typeface="Microsoft YaHei"/>
              </a:rPr>
              <a:t>▪ 以风险评估为基础，持续寻找更安全的做法</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职业健康安全管理体系是系统管理安全与健康风险的方法，其核心是 PDCA 循环：计划（识别危害、评估风险、确定目标和措施）、实施（按计划落实措施、培训和运行控制）、检查（监测、检查、审核、事故调查）、改进（纠正问题、修……</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只做计划和实施，不检查、不改进</a:t>
            </a:r>
          </a:p>
          <a:p>
            <a:pPr>
              <a:spcAft>
                <a:spcPts val="1000"/>
              </a:spcAft>
            </a:pPr>
            <a:r>
              <a:rPr sz="1500">
                <a:solidFill>
                  <a:srgbClr val="222B33"/>
                </a:solidFill>
                <a:latin typeface="Microsoft YaHei"/>
              </a:rPr>
              <a:t>▪ 引用已被取代的旧版体系标准</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006 · 安全制度与管理体系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环境管理体系</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006 安全制度与管理体系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环境管理体系帮助系统减少对环境的影响</a:t>
            </a:r>
          </a:p>
          <a:p>
            <a:pPr>
              <a:spcAft>
                <a:spcPts val="1000"/>
              </a:spcAft>
            </a:pPr>
            <a:r>
              <a:rPr sz="2000">
                <a:solidFill>
                  <a:srgbClr val="222B33"/>
                </a:solidFill>
                <a:latin typeface="Microsoft YaHei"/>
              </a:rPr>
              <a:t>▪ 国内现行标准为 GB/T 24001-2016</a:t>
            </a:r>
          </a:p>
          <a:p>
            <a:pPr>
              <a:spcAft>
                <a:spcPts val="1000"/>
              </a:spcAft>
            </a:pPr>
            <a:r>
              <a:rPr sz="2000">
                <a:solidFill>
                  <a:srgbClr val="222B33"/>
                </a:solidFill>
                <a:latin typeface="Microsoft YaHei"/>
              </a:rPr>
              <a:t>▪ 实验室的废物、排放、能耗都适用</a:t>
            </a:r>
          </a:p>
          <a:p>
            <a:pPr>
              <a:spcAft>
                <a:spcPts val="1000"/>
              </a:spcAft>
            </a:pPr>
            <a:r>
              <a:rPr sz="2000">
                <a:solidFill>
                  <a:srgbClr val="222B33"/>
                </a:solidFill>
                <a:latin typeface="Microsoft YaHei"/>
              </a:rPr>
              <a:t>▪ 同样遵循 PDCA 持续改进</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环境管理体系是单位系统识别和控制自身活动对环境影响的管理方法，我国现行标准为 GB/T 24001-2016（以现行文本为准）。它同样采用 PDCA 循环：识别环境因素和合规义务，制定目标和措施，运行控制，监测检查，……</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认为环境管理只与工厂有关，与实验室无关</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006 · 安全制度与管理体系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设备全生命周期管理</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006 安全制度与管理体系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设备从采购到报废都要管</a:t>
            </a:r>
          </a:p>
          <a:p>
            <a:pPr>
              <a:spcAft>
                <a:spcPts val="1000"/>
              </a:spcAft>
            </a:pPr>
            <a:r>
              <a:rPr sz="2000">
                <a:solidFill>
                  <a:srgbClr val="222B33"/>
                </a:solidFill>
                <a:latin typeface="Microsoft YaHei"/>
              </a:rPr>
              <a:t>▪ 采购前论证安全条件，验收后建档</a:t>
            </a:r>
          </a:p>
          <a:p>
            <a:pPr>
              <a:spcAft>
                <a:spcPts val="1000"/>
              </a:spcAft>
            </a:pPr>
            <a:r>
              <a:rPr sz="2000">
                <a:solidFill>
                  <a:srgbClr val="222B33"/>
                </a:solidFill>
                <a:latin typeface="Microsoft YaHei"/>
              </a:rPr>
              <a:t>▪ 使用前培训授权，按期维护、检定</a:t>
            </a:r>
          </a:p>
          <a:p>
            <a:pPr>
              <a:spcAft>
                <a:spcPts val="1000"/>
              </a:spcAft>
            </a:pPr>
            <a:r>
              <a:rPr sz="2000">
                <a:solidFill>
                  <a:srgbClr val="222B33"/>
                </a:solidFill>
                <a:latin typeface="Microsoft YaHei"/>
              </a:rPr>
              <a:t>▪ 报废前清洁去污，规范处置</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仪器设备的安全管理应覆盖其全生命周期：采购前论证安全条件（场地、通风、供电、防护、是否属于特种设备或射线装置需办理手续）；到货后验收、建立设备档案；使用前对使用人员进行培训和授权，制定操作规程；使用中按期维护保养，属……</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设备到货就用，没有规程和培训</a:t>
            </a:r>
          </a:p>
          <a:p>
            <a:pPr>
              <a:spcAft>
                <a:spcPts val="1000"/>
              </a:spcAft>
            </a:pPr>
            <a:r>
              <a:rPr sz="1500">
                <a:solidFill>
                  <a:srgbClr val="222B33"/>
                </a:solidFill>
                <a:latin typeface="Microsoft YaHei"/>
              </a:rPr>
              <a:t>▪ 报废设备未去污就交出处置</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006 · 安全制度与管理体系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006 安全制度与管理体系</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下列属于领先指标的是：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年度事故次数</a:t>
            </a:r>
          </a:p>
          <a:p>
            <a:pPr algn="l"/>
            <a:r>
              <a:rPr sz="1500" b="0">
                <a:solidFill>
                  <a:srgbClr val="222B33"/>
                </a:solidFill>
                <a:latin typeface="Microsoft YaHei"/>
              </a:rPr>
              <a:t>B. 伤病缺勤天数</a:t>
            </a:r>
          </a:p>
          <a:p>
            <a:pPr algn="l"/>
            <a:r>
              <a:rPr sz="1500" b="0">
                <a:solidFill>
                  <a:srgbClr val="222B33"/>
                </a:solidFill>
                <a:latin typeface="Microsoft YaHei"/>
              </a:rPr>
              <a:t>C. 险情报告数量和巡查次数</a:t>
            </a:r>
          </a:p>
          <a:p>
            <a:pPr algn="l"/>
            <a:r>
              <a:rPr sz="1500" b="0">
                <a:solidFill>
                  <a:srgbClr val="222B33"/>
                </a:solidFill>
                <a:latin typeface="Microsoft YaHei"/>
              </a:rPr>
              <a:t>D. 事故赔偿金额</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修改本实验室一份操作规程中的一个步骤，正确的做法是：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直接在打印稿上手写修改</a:t>
            </a:r>
          </a:p>
          <a:p>
            <a:pPr algn="l"/>
            <a:r>
              <a:rPr sz="1500" b="0">
                <a:solidFill>
                  <a:srgbClr val="222B33"/>
                </a:solidFill>
                <a:latin typeface="Microsoft YaHei"/>
              </a:rPr>
              <a:t>B. 升级版本号，注明日期和修改人，经审批后发布并收回旧版</a:t>
            </a:r>
          </a:p>
          <a:p>
            <a:pPr algn="l"/>
            <a:r>
              <a:rPr sz="1500" b="0">
                <a:solidFill>
                  <a:srgbClr val="222B33"/>
                </a:solidFill>
                <a:latin typeface="Microsoft YaHei"/>
              </a:rPr>
              <a:t>C. 口头通知大家</a:t>
            </a:r>
          </a:p>
          <a:p>
            <a:pPr algn="l"/>
            <a:r>
              <a:rPr sz="1500" b="0">
                <a:solidFill>
                  <a:srgbClr val="222B33"/>
                </a:solidFill>
                <a:latin typeface="Microsoft YaHei"/>
              </a:rPr>
              <a:t>D. 不必记录</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006 · 安全制度与管理体系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006 安全制度与管理体系</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判断：实验室有一份书面安全计划，就说明安全工作已经做到位了。</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职业健康安全管理体系的核心循环是：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计划—实施—检查—改进</a:t>
            </a:r>
          </a:p>
          <a:p>
            <a:pPr algn="l"/>
            <a:r>
              <a:rPr sz="1500" b="0">
                <a:solidFill>
                  <a:srgbClr val="222B33"/>
                </a:solidFill>
                <a:latin typeface="Microsoft YaHei"/>
              </a:rPr>
              <a:t>B. 发现—报告—处罚</a:t>
            </a:r>
          </a:p>
          <a:p>
            <a:pPr algn="l"/>
            <a:r>
              <a:rPr sz="1500" b="0">
                <a:solidFill>
                  <a:srgbClr val="222B33"/>
                </a:solidFill>
                <a:latin typeface="Microsoft YaHei"/>
              </a:rPr>
              <a:t>C. 采购—使用—报废</a:t>
            </a:r>
          </a:p>
          <a:p>
            <a:pPr algn="l"/>
            <a:r>
              <a:rPr sz="1500" b="0">
                <a:solidFill>
                  <a:srgbClr val="222B33"/>
                </a:solidFill>
                <a:latin typeface="Microsoft YaHei"/>
              </a:rPr>
              <a:t>D. 培训—考试—准入</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006 · 安全制度与管理体系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006 安全制度与管理体系</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简答：制度管理有哪四个常见陷阱？</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安全方针：负责人的书面承诺</a:t>
            </a:r>
          </a:p>
          <a:p>
            <a:pPr>
              <a:spcAft>
                <a:spcPts val="800"/>
              </a:spcAft>
            </a:pPr>
            <a:r>
              <a:rPr sz="1500">
                <a:solidFill>
                  <a:srgbClr val="FFFFFF"/>
                </a:solidFill>
                <a:latin typeface="Microsoft YaHei"/>
              </a:rPr>
              <a:t>▪ K2  安全计划：逐项找危害、配措施</a:t>
            </a:r>
          </a:p>
          <a:p>
            <a:pPr>
              <a:spcAft>
                <a:spcPts val="800"/>
              </a:spcAft>
            </a:pPr>
            <a:r>
              <a:rPr sz="1500">
                <a:solidFill>
                  <a:srgbClr val="FFFFFF"/>
                </a:solidFill>
                <a:latin typeface="Microsoft YaHei"/>
              </a:rPr>
              <a:t>▪ K3  安全手册里有什么</a:t>
            </a:r>
          </a:p>
          <a:p>
            <a:pPr>
              <a:spcAft>
                <a:spcPts val="800"/>
              </a:spcAft>
            </a:pPr>
            <a:r>
              <a:rPr sz="1500">
                <a:solidFill>
                  <a:srgbClr val="FFFFFF"/>
                </a:solidFill>
                <a:latin typeface="Microsoft YaHei"/>
              </a:rPr>
              <a:t>▪ K4  专项制度：废物、上锁挂牌、呼吸防护</a:t>
            </a:r>
          </a:p>
          <a:p>
            <a:pPr>
              <a:spcAft>
                <a:spcPts val="800"/>
              </a:spcAft>
            </a:pPr>
            <a:r>
              <a:rPr sz="1500">
                <a:solidFill>
                  <a:srgbClr val="FFFFFF"/>
                </a:solidFill>
                <a:latin typeface="Microsoft YaHei"/>
              </a:rPr>
              <a:t>▪ K5  制度定目标，实验室定做法</a:t>
            </a:r>
          </a:p>
          <a:p>
            <a:pPr>
              <a:spcAft>
                <a:spcPts val="800"/>
              </a:spcAft>
            </a:pPr>
            <a:r>
              <a:rPr sz="1500">
                <a:solidFill>
                  <a:srgbClr val="FFFFFF"/>
                </a:solidFill>
                <a:latin typeface="Microsoft YaHei"/>
              </a:rPr>
              <a:t>▪ S1  应急预案：写好、贴好、练好</a:t>
            </a:r>
          </a:p>
          <a:p>
            <a:pPr>
              <a:spcAft>
                <a:spcPts val="800"/>
              </a:spcAft>
            </a:pPr>
            <a:r>
              <a:rPr sz="1500">
                <a:solidFill>
                  <a:srgbClr val="FFFFFF"/>
                </a:solidFill>
                <a:latin typeface="Microsoft YaHei"/>
              </a:rPr>
              <a:t>▪ K6  制度要活，跟上实验室的变化</a:t>
            </a:r>
          </a:p>
          <a:p>
            <a:pPr>
              <a:spcAft>
                <a:spcPts val="800"/>
              </a:spcAft>
            </a:pPr>
            <a:r>
              <a:rPr sz="1500">
                <a:solidFill>
                  <a:srgbClr val="FFFFFF"/>
                </a:solidFill>
                <a:latin typeface="Microsoft YaHei"/>
              </a:rPr>
              <a:t>▪ K7  纸上的计划救不了人</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K8  制度管理的四个常见陷阱</a:t>
            </a:r>
          </a:p>
          <a:p>
            <a:pPr>
              <a:spcAft>
                <a:spcPts val="800"/>
              </a:spcAft>
            </a:pPr>
            <a:r>
              <a:rPr sz="1500">
                <a:solidFill>
                  <a:srgbClr val="FFFFFF"/>
                </a:solidFill>
                <a:latin typeface="Microsoft YaHei"/>
              </a:rPr>
              <a:t>▪ K9  受控文件与安全档案</a:t>
            </a:r>
          </a:p>
          <a:p>
            <a:pPr>
              <a:spcAft>
                <a:spcPts val="800"/>
              </a:spcAft>
            </a:pPr>
            <a:r>
              <a:rPr sz="1500">
                <a:solidFill>
                  <a:srgbClr val="FFFFFF"/>
                </a:solidFill>
                <a:latin typeface="Microsoft YaHei"/>
              </a:rPr>
              <a:t>▪ K10  安全委员会：大家一起商量</a:t>
            </a:r>
          </a:p>
          <a:p>
            <a:pPr>
              <a:spcAft>
                <a:spcPts val="800"/>
              </a:spcAft>
            </a:pPr>
            <a:r>
              <a:rPr sz="1500">
                <a:solidFill>
                  <a:srgbClr val="FFFFFF"/>
                </a:solidFill>
                <a:latin typeface="Microsoft YaHei"/>
              </a:rPr>
              <a:t>▪ K11  领先指标与滞后指标</a:t>
            </a:r>
          </a:p>
          <a:p>
            <a:pPr>
              <a:spcAft>
                <a:spcPts val="800"/>
              </a:spcAft>
            </a:pPr>
            <a:r>
              <a:rPr sz="1500">
                <a:solidFill>
                  <a:srgbClr val="FFFFFF"/>
                </a:solidFill>
                <a:latin typeface="Microsoft YaHei"/>
              </a:rPr>
              <a:t>▪ K12  PDCA：职业健康安全管理体系</a:t>
            </a:r>
          </a:p>
          <a:p>
            <a:pPr>
              <a:spcAft>
                <a:spcPts val="800"/>
              </a:spcAft>
            </a:pPr>
            <a:r>
              <a:rPr sz="1500">
                <a:solidFill>
                  <a:srgbClr val="FFFFFF"/>
                </a:solidFill>
                <a:latin typeface="Microsoft YaHei"/>
              </a:rPr>
              <a:t>▪ K13  环境管理体系</a:t>
            </a:r>
          </a:p>
          <a:p>
            <a:pPr>
              <a:spcAft>
                <a:spcPts val="800"/>
              </a:spcAft>
            </a:pPr>
            <a:r>
              <a:rPr sz="1500">
                <a:solidFill>
                  <a:srgbClr val="FFFFFF"/>
                </a:solidFill>
                <a:latin typeface="Microsoft YaHei"/>
              </a:rPr>
              <a:t>▪ S2  设备全生命周期管理</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007</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准入、培训与离岗交接</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第1章 法规、管理与安全文化</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6 分钟（卡通视频 68 镜）　适用对象：全体进入高校实验室的本科生、研究生、新进教职工和博士后（必修）；导师、带教人和实验室安全员重点学习</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007 · 准入、培训与离岗交接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007 准入、培训与离岗交接</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能说出“先培训考核、再准入”的要求和学校—学院—实验室三层培训的内容。</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能做到：进入新实验室第一天认清危害和应急设施，掌握入门须知六件事。</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能判断何时需要补专项培训和复训，并说出培训记录应包括的内容。</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能做到：毕业或离开课题组前清点交接样本试剂、移交记录、注销权限。</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007 · 准入、培训与离岗交接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007 准入、培训与离岗交接</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《中华人民共和国安全生产法》（以现行文本为准）：未经安全生产教育和培训合格的人员不得上岗作业；培训应当建立档案</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号，以现行文本为准）：安全教育培训与准入制度</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教育部高校实验室安全检查项目表（以现行文本为准）：安全教育与准入类检查项</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《中华人民共和国职业病防治法》（以现行文本为准）：上岗前和在岗期间的职业卫生培训</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《中华人民共和国危险化学品安全法》（2026 年 5 月 1 日起施行）及《危险化学品安全管理条例》（以现行文本为准）：危险化学品从业人员安全教育培训</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本校实验室安全准入、培训考核和人员离校管理规定（以本校规定为准）</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007 · 准入、培训与离岗交接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先培训考核，再准入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007 准入、培训与离岗交接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进实验室前先接受安全教育，考核合格才准入</a:t>
            </a:r>
          </a:p>
          <a:p>
            <a:pPr>
              <a:spcAft>
                <a:spcPts val="1000"/>
              </a:spcAft>
            </a:pPr>
            <a:r>
              <a:rPr sz="2000">
                <a:solidFill>
                  <a:srgbClr val="222B33"/>
                </a:solidFill>
                <a:latin typeface="Microsoft YaHei"/>
              </a:rPr>
              <a:t>▪ 签了到不等于受了培训</a:t>
            </a:r>
          </a:p>
          <a:p>
            <a:pPr>
              <a:spcAft>
                <a:spcPts val="1000"/>
              </a:spcAft>
            </a:pPr>
            <a:r>
              <a:rPr sz="2000">
                <a:solidFill>
                  <a:srgbClr val="222B33"/>
                </a:solidFill>
                <a:latin typeface="Microsoft YaHei"/>
              </a:rPr>
              <a:t>▪ 签安全承诺书后取得准入资格</a:t>
            </a:r>
          </a:p>
          <a:p>
            <a:pPr>
              <a:spcAft>
                <a:spcPts val="1000"/>
              </a:spcAft>
            </a:pPr>
            <a:r>
              <a:rPr sz="2000">
                <a:solidFill>
                  <a:srgbClr val="222B33"/>
                </a:solidFill>
                <a:latin typeface="Microsoft YaHei"/>
              </a:rPr>
              <a:t>▪ 既学操作规程，也学应急预案；进出登记，听从安排</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高校实行实验室安全准入制度：任何人员进入实验室开展实验前，必须接受安全教育培训并考核合格，签订安全承诺书，经批准后才能取得准入资格（具体流程以本校规定为准）。《中华人民共和国安全生产法》规定未经安全教育培训合格的人员……</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未取得准入就跟着同学进实验室做实验</a:t>
            </a:r>
          </a:p>
          <a:p>
            <a:pPr>
              <a:spcAft>
                <a:spcPts val="1000"/>
              </a:spcAft>
            </a:pPr>
            <a:r>
              <a:rPr sz="1500">
                <a:solidFill>
                  <a:srgbClr val="222B33"/>
                </a:solidFill>
                <a:latin typeface="Microsoft YaHei"/>
              </a:rPr>
              <a:t>▪ 培训时只签到、不认真学，考核找人代考</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007 · 准入、培训与离岗交接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培训分三层：学校、学院、实验室</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007 准入、培训与离岗交接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培训分三层，一层比一层具体</a:t>
            </a:r>
          </a:p>
          <a:p>
            <a:pPr>
              <a:spcAft>
                <a:spcPts val="1000"/>
              </a:spcAft>
            </a:pPr>
            <a:r>
              <a:rPr sz="2000">
                <a:solidFill>
                  <a:srgbClr val="222B33"/>
                </a:solidFill>
                <a:latin typeface="Microsoft YaHei"/>
              </a:rPr>
              <a:t>▪ 学校：通识培训和准入考试</a:t>
            </a:r>
          </a:p>
          <a:p>
            <a:pPr>
              <a:spcAft>
                <a:spcPts val="1000"/>
              </a:spcAft>
            </a:pPr>
            <a:r>
              <a:rPr sz="2000">
                <a:solidFill>
                  <a:srgbClr val="222B33"/>
                </a:solidFill>
                <a:latin typeface="Microsoft YaHei"/>
              </a:rPr>
              <a:t>▪ 学院：按学科开设专项课程</a:t>
            </a:r>
          </a:p>
          <a:p>
            <a:pPr>
              <a:spcAft>
                <a:spcPts val="1000"/>
              </a:spcAft>
            </a:pPr>
            <a:r>
              <a:rPr sz="2000">
                <a:solidFill>
                  <a:srgbClr val="222B33"/>
                </a:solidFill>
                <a:latin typeface="Microsoft YaHei"/>
              </a:rPr>
              <a:t>▪ 实验室：本岗位、本课题的规程和设备</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与三级管理相对应，安全培训一般分三层：学校层面组织通识安全教育和准入考试，内容覆盖法规制度、通用安全、消防、应急等；学院层面结合本学科的危险类别开设专项培训，例如化学品安全、生物安全、辐射安全、机电安全；实验室层面由……</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只参加学校通识培训，跳过学院和实验室培训</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007 · 准入、培训与离岗交接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证书不等于准入，要结合本实验室</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007 准入、培训与离岗交接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网课证书只是第一步</a:t>
            </a:r>
          </a:p>
          <a:p>
            <a:pPr>
              <a:spcAft>
                <a:spcPts val="1000"/>
              </a:spcAft>
            </a:pPr>
            <a:r>
              <a:rPr sz="2000">
                <a:solidFill>
                  <a:srgbClr val="222B33"/>
                </a:solidFill>
                <a:latin typeface="Microsoft YaHei"/>
              </a:rPr>
              <a:t>▪ 还要本室培训和实操考核，批准后才准入</a:t>
            </a:r>
          </a:p>
          <a:p>
            <a:pPr>
              <a:spcAft>
                <a:spcPts val="1000"/>
              </a:spcAft>
            </a:pPr>
            <a:r>
              <a:rPr sz="2000">
                <a:solidFill>
                  <a:srgbClr val="222B33"/>
                </a:solidFill>
                <a:latin typeface="Microsoft YaHei"/>
              </a:rPr>
              <a:t>▪ 通用证书代替不了现场培训</a:t>
            </a:r>
          </a:p>
          <a:p>
            <a:pPr>
              <a:spcAft>
                <a:spcPts val="1000"/>
              </a:spcAft>
            </a:pPr>
            <a:r>
              <a:rPr sz="2000">
                <a:solidFill>
                  <a:srgbClr val="222B33"/>
                </a:solidFill>
                <a:latin typeface="Microsoft YaHei"/>
              </a:rPr>
              <a:t>▪ 规则没定、培训没做，不能使用和储存该化学品</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完成线上课程、拿到结业证书，只说明掌握了通用知识，并不等于可以进入某个实验室工作。每个实验室的危险源、布局、设备和规程都不同，还必须接受本实验室的现场培训，通过实操考核，经实验室负责人批准后才能准入。</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拿着通用培训证书直接进新实验室工作</a:t>
            </a:r>
          </a:p>
          <a:p>
            <a:pPr>
              <a:spcAft>
                <a:spcPts val="1000"/>
              </a:spcAft>
            </a:pPr>
            <a:r>
              <a:rPr sz="1500">
                <a:solidFill>
                  <a:srgbClr val="222B33"/>
                </a:solidFill>
                <a:latin typeface="Microsoft YaHei"/>
              </a:rPr>
              <a:t>▪ 先把新的危险化学品买回来，再考虑规程和培训</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007 · 准入、培训与离岗交接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培训讲清本岗位的危害和防护</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007 准入、培训与离岗交接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讲清本岗位有哪些危害</a:t>
            </a:r>
          </a:p>
          <a:p>
            <a:pPr>
              <a:spcAft>
                <a:spcPts val="1000"/>
              </a:spcAft>
            </a:pPr>
            <a:r>
              <a:rPr sz="2000">
                <a:solidFill>
                  <a:srgbClr val="222B33"/>
                </a:solidFill>
                <a:latin typeface="Microsoft YaHei"/>
              </a:rPr>
              <a:t>▪ 讲清自己该采取哪些防护</a:t>
            </a:r>
          </a:p>
          <a:p>
            <a:pPr>
              <a:spcAft>
                <a:spcPts val="1000"/>
              </a:spcAft>
            </a:pPr>
            <a:r>
              <a:rPr sz="2000">
                <a:solidFill>
                  <a:srgbClr val="222B33"/>
                </a:solidFill>
                <a:latin typeface="Microsoft YaHei"/>
              </a:rPr>
              <a:t>▪ 安装维修或在电气设备旁工作的人也要培训</a:t>
            </a:r>
          </a:p>
          <a:p>
            <a:pPr>
              <a:spcAft>
                <a:spcPts val="1000"/>
              </a:spcAft>
            </a:pPr>
            <a:r>
              <a:rPr sz="2000">
                <a:solidFill>
                  <a:srgbClr val="222B33"/>
                </a:solidFill>
                <a:latin typeface="Microsoft YaHei"/>
              </a:rPr>
              <a:t>▪ 危险废物和应急岗位有专门培训；没培训易出事</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使用单位有责任组织培训，教会人员正确操作。培训要具体到岗位：这个岗位接触哪些危害（化学、生物、物理、电气等），如何识别，自己应采取哪些防护措施和安全操作方法，出现异常和事故怎么办。培训的目标是让人既会识别危害，也会控……</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培训只讲通用知识，不讲本岗位的具体危害</a:t>
            </a:r>
          </a:p>
          <a:p>
            <a:pPr>
              <a:spcAft>
                <a:spcPts val="1000"/>
              </a:spcAft>
            </a:pPr>
            <a:r>
              <a:rPr sz="1500">
                <a:solidFill>
                  <a:srgbClr val="222B33"/>
                </a:solidFill>
                <a:latin typeface="Microsoft YaHei"/>
              </a:rPr>
              <a:t>▪ 认为维修、保洁等辅助人员不需要培训</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007 · 准入、培训与离岗交接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培训要动手、有实效</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007 准入、培训与离岗交接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只在电脑上做题远远不够</a:t>
            </a:r>
          </a:p>
          <a:p>
            <a:pPr>
              <a:spcAft>
                <a:spcPts val="1000"/>
              </a:spcAft>
            </a:pPr>
            <a:r>
              <a:rPr sz="2000">
                <a:solidFill>
                  <a:srgbClr val="222B33"/>
                </a:solidFill>
                <a:latin typeface="Microsoft YaHei"/>
              </a:rPr>
              <a:t>▪ 考试是门槛，现场培训才是真本事</a:t>
            </a:r>
          </a:p>
          <a:p>
            <a:pPr>
              <a:spcAft>
                <a:spcPts val="1000"/>
              </a:spcAft>
            </a:pPr>
            <a:r>
              <a:rPr sz="2000">
                <a:solidFill>
                  <a:srgbClr val="222B33"/>
                </a:solidFill>
                <a:latin typeface="Microsoft YaHei"/>
              </a:rPr>
              <a:t>▪ 好的培训一定要动手练，不懂就问到会</a:t>
            </a:r>
          </a:p>
          <a:p>
            <a:pPr>
              <a:spcAft>
                <a:spcPts val="1000"/>
              </a:spcAft>
            </a:pPr>
            <a:r>
              <a:rPr sz="2000">
                <a:solidFill>
                  <a:srgbClr val="222B33"/>
                </a:solidFill>
                <a:latin typeface="Microsoft YaHei"/>
              </a:rPr>
              <a:t>▪ 按对象设计内容，培训后检验效果</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线上学习和考试是准入的门槛，但仅靠在电脑上刷题，无法掌握实际操作。有效的培训必须包括现场讲解和动手练习：亲手穿脱防护装备、操作通风柜和设备、使用洗眼器和灭火器，在练习中发现问题、当场纠正。培训中有疑问随时提出，问到真……</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以线上考试代替全部培训</a:t>
            </a:r>
          </a:p>
          <a:p>
            <a:pPr>
              <a:spcAft>
                <a:spcPts val="1000"/>
              </a:spcAft>
            </a:pPr>
            <a:r>
              <a:rPr sz="1500">
                <a:solidFill>
                  <a:srgbClr val="222B33"/>
                </a:solidFill>
                <a:latin typeface="Microsoft YaHei"/>
              </a:rPr>
              <a:t>▪ 培训完不检验效果</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007 · 准入、培训与离岗交接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跟做、看护下做、考核后独立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007 准入、培训与离岗交接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新人先跟着老手做</a:t>
            </a:r>
          </a:p>
          <a:p>
            <a:pPr>
              <a:spcAft>
                <a:spcPts val="1000"/>
              </a:spcAft>
            </a:pPr>
            <a:r>
              <a:rPr sz="2000">
                <a:solidFill>
                  <a:srgbClr val="222B33"/>
                </a:solidFill>
                <a:latin typeface="Microsoft YaHei"/>
              </a:rPr>
              <a:t>▪ 再在老手看护下自己做，当场纠正</a:t>
            </a:r>
          </a:p>
          <a:p>
            <a:pPr>
              <a:spcAft>
                <a:spcPts val="1000"/>
              </a:spcAft>
            </a:pPr>
            <a:r>
              <a:rPr sz="2000">
                <a:solidFill>
                  <a:srgbClr val="222B33"/>
                </a:solidFill>
                <a:latin typeface="Microsoft YaHei"/>
              </a:rPr>
              <a:t>▪ 考核通过才能独立操作</a:t>
            </a:r>
          </a:p>
          <a:p>
            <a:pPr>
              <a:spcAft>
                <a:spcPts val="1000"/>
              </a:spcAft>
            </a:pPr>
            <a:r>
              <a:rPr sz="2000">
                <a:solidFill>
                  <a:srgbClr val="222B33"/>
                </a:solidFill>
                <a:latin typeface="Microsoft YaHei"/>
              </a:rPr>
              <a:t>▪ 不懂就问；危险操作不要一个人做</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新人掌握一项操作，一般要经过三个阶段：先观察老手完整、规范地操作，听清每一步的要点和危险点；再在老手看护下亲自操作，哪一步不到位当场纠正、重新练习；最后通过实操考核（做一遍给带教人看），由负责人确认后才能独立操作。第……</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看过一遍就自己上手</a:t>
            </a:r>
          </a:p>
          <a:p>
            <a:pPr>
              <a:spcAft>
                <a:spcPts val="1000"/>
              </a:spcAft>
            </a:pPr>
            <a:r>
              <a:rPr sz="1500">
                <a:solidFill>
                  <a:srgbClr val="222B33"/>
                </a:solidFill>
                <a:latin typeface="Microsoft YaHei"/>
              </a:rPr>
              <a:t>▪ 不懂装懂，怕问被笑话</a:t>
            </a:r>
          </a:p>
          <a:p>
            <a:pPr>
              <a:spcAft>
                <a:spcPts val="1000"/>
              </a:spcAft>
            </a:pPr>
            <a:r>
              <a:rPr sz="1500">
                <a:solidFill>
                  <a:srgbClr val="222B33"/>
                </a:solidFill>
                <a:latin typeface="Microsoft YaHei"/>
              </a:rPr>
              <a:t>▪ 夜间独自进行危险操作</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007 · 准入、培训与离岗交接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进新实验室的第一天</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007 准入、培训与离岗交接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第一天面对陌生环境，最重要的是学会安全工作</a:t>
            </a:r>
          </a:p>
          <a:p>
            <a:pPr>
              <a:spcAft>
                <a:spcPts val="1000"/>
              </a:spcAft>
            </a:pPr>
            <a:r>
              <a:rPr sz="2000">
                <a:solidFill>
                  <a:srgbClr val="222B33"/>
                </a:solidFill>
                <a:latin typeface="Microsoft YaHei"/>
              </a:rPr>
              <a:t>▪ 负责人带你转一圈，指出危险源</a:t>
            </a:r>
          </a:p>
          <a:p>
            <a:pPr>
              <a:spcAft>
                <a:spcPts val="1000"/>
              </a:spcAft>
            </a:pPr>
            <a:r>
              <a:rPr sz="2000">
                <a:solidFill>
                  <a:srgbClr val="222B33"/>
                </a:solidFill>
                <a:latin typeface="Microsoft YaHei"/>
              </a:rPr>
              <a:t>▪ 走一遍：洗眼器、喷淋、灭火器、安全出口</a:t>
            </a:r>
          </a:p>
          <a:p>
            <a:pPr>
              <a:spcAft>
                <a:spcPts val="1000"/>
              </a:spcAft>
            </a:pPr>
            <a:r>
              <a:rPr sz="2000">
                <a:solidFill>
                  <a:srgbClr val="222B33"/>
                </a:solidFill>
                <a:latin typeface="Microsoft YaHei"/>
              </a:rPr>
              <a:t>▪ 约定出事时怎么通知全实验室</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进入新实验室，面对新同事、新材料、新流程，既兴奋又有压力。这时最重要的不是马上开始实验，而是学会在这里安全地工作。</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第一天就急着开始实验，不熟悉环境</a:t>
            </a:r>
          </a:p>
          <a:p>
            <a:pPr>
              <a:spcAft>
                <a:spcPts val="1000"/>
              </a:spcAft>
            </a:pPr>
            <a:r>
              <a:rPr sz="1500">
                <a:solidFill>
                  <a:srgbClr val="222B33"/>
                </a:solidFill>
                <a:latin typeface="Microsoft YaHei"/>
              </a:rPr>
              <a:t>▪ 不知道洗眼器和灭火器的位置</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007 · 准入、培训与离岗交接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入门须知六件事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007 准入、培训与离岗交接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知道用什么，SDS 和手册在哪</a:t>
            </a:r>
          </a:p>
          <a:p>
            <a:pPr>
              <a:spcAft>
                <a:spcPts val="1000"/>
              </a:spcAft>
            </a:pPr>
            <a:r>
              <a:rPr sz="2000">
                <a:solidFill>
                  <a:srgbClr val="222B33"/>
                </a:solidFill>
                <a:latin typeface="Microsoft YaHei"/>
              </a:rPr>
              <a:t>▪ 知道要什么防护、怎么用</a:t>
            </a:r>
          </a:p>
          <a:p>
            <a:pPr>
              <a:spcAft>
                <a:spcPts val="1000"/>
              </a:spcAft>
            </a:pPr>
            <a:r>
              <a:rPr sz="2000">
                <a:solidFill>
                  <a:srgbClr val="222B33"/>
                </a:solidFill>
                <a:latin typeface="Microsoft YaHei"/>
              </a:rPr>
              <a:t>▪ 设备先检查，台面保持整洁</a:t>
            </a:r>
          </a:p>
          <a:p>
            <a:pPr>
              <a:spcAft>
                <a:spcPts val="1000"/>
              </a:spcAft>
            </a:pPr>
            <a:r>
              <a:rPr sz="2000">
                <a:solidFill>
                  <a:srgbClr val="222B33"/>
                </a:solidFill>
                <a:latin typeface="Microsoft YaHei"/>
              </a:rPr>
              <a:t>▪ 出了事知道怎么应急；听负责人的话，守规矩</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新人入门可以记住六件事：一是知道自己要用哪些物质和设备；二是知道化学品安全技术说明书（SDS）和实验室安全手册放在哪里，随时可查；三是知道需要什么防护、怎样正确使用；四是使用设备前先检查状态是否正常；五是保持台面整洁……</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不知道 SDS 放在哪里</a:t>
            </a:r>
          </a:p>
          <a:p>
            <a:pPr>
              <a:spcAft>
                <a:spcPts val="1000"/>
              </a:spcAft>
            </a:pPr>
            <a:r>
              <a:rPr sz="1500">
                <a:solidFill>
                  <a:srgbClr val="222B33"/>
                </a:solidFill>
                <a:latin typeface="Microsoft YaHei"/>
              </a:rPr>
              <a:t>▪ 设备不检查就开机使用</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007 · 准入、培训与离岗交接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应急技能培训：灭火器与急救</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007 准入、培训与离岗交接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参加灭火器使用培训，亲手练过</a:t>
            </a:r>
          </a:p>
          <a:p>
            <a:pPr>
              <a:spcAft>
                <a:spcPts val="1000"/>
              </a:spcAft>
            </a:pPr>
            <a:r>
              <a:rPr sz="2000">
                <a:solidFill>
                  <a:srgbClr val="222B33"/>
                </a:solidFill>
                <a:latin typeface="Microsoft YaHei"/>
              </a:rPr>
              <a:t>▪ 灭火器使用要领：提、拔、握、压</a:t>
            </a:r>
          </a:p>
          <a:p>
            <a:pPr>
              <a:spcAft>
                <a:spcPts val="1000"/>
              </a:spcAft>
            </a:pPr>
            <a:r>
              <a:rPr sz="2000">
                <a:solidFill>
                  <a:srgbClr val="222B33"/>
                </a:solidFill>
                <a:latin typeface="Microsoft YaHei"/>
              </a:rPr>
              <a:t>▪ 参加急救和心肺复苏培训</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除准入培训外，建议参加学校或学院组织的应急技能培训：灭火器使用培训（在培训场地用训练灭火器或模拟器亲手练习提、拔、握、压的动作，第 4 章讲解），以及急救和心肺复苏培训（在训练模型上练习）。这些技能平时用不上，关键时……</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从未亲手操作过灭火器</a:t>
            </a:r>
          </a:p>
          <a:p>
            <a:pPr>
              <a:spcAft>
                <a:spcPts val="1000"/>
              </a:spcAft>
            </a:pPr>
            <a:r>
              <a:rPr sz="1500">
                <a:solidFill>
                  <a:srgbClr val="222B33"/>
                </a:solidFill>
                <a:latin typeface="Microsoft YaHei"/>
              </a:rPr>
              <a:t>▪ 认为急救是医生的事，自己不必学</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007 · 准入、培训与离岗交接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换实验、用新设备，先补专项培训</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007 准入、培训与离岗交接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学过一次，不等于什么都会了</a:t>
            </a:r>
          </a:p>
          <a:p>
            <a:pPr>
              <a:spcAft>
                <a:spcPts val="1000"/>
              </a:spcAft>
            </a:pPr>
            <a:r>
              <a:rPr sz="2000">
                <a:solidFill>
                  <a:srgbClr val="222B33"/>
                </a:solidFill>
                <a:latin typeface="Microsoft YaHei"/>
              </a:rPr>
              <a:t>▪ 换课题、用新设备、规程改版</a:t>
            </a:r>
          </a:p>
          <a:p>
            <a:pPr>
              <a:spcAft>
                <a:spcPts val="1000"/>
              </a:spcAft>
            </a:pPr>
            <a:r>
              <a:rPr sz="2000">
                <a:solidFill>
                  <a:srgbClr val="222B33"/>
                </a:solidFill>
                <a:latin typeface="Microsoft YaHei"/>
              </a:rPr>
              <a:t>▪ 都要先补专项培训，再上手</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准入培训不是一劳永逸的。出现下列情况时，要先补专项培训再操作：更换课题或开展新的实验，使用此前没有用过的设备或危险物质，操作规程修订改版，从低风险实验转入高风险实验。必要时还要重新进行风险评估和实操考核。</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凭原来的经验直接操作新设备</a:t>
            </a:r>
          </a:p>
          <a:p>
            <a:pPr>
              <a:spcAft>
                <a:spcPts val="1000"/>
              </a:spcAft>
            </a:pPr>
            <a:r>
              <a:rPr sz="1500">
                <a:solidFill>
                  <a:srgbClr val="222B33"/>
                </a:solidFill>
                <a:latin typeface="Microsoft YaHei"/>
              </a:rPr>
              <a:t>▪ 规程改版后仍按旧版操作</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007 · 准入、培训与离岗交接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久未操作先复训，定期复训演练</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007 准入、培训与离岗交接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很久没操作，手生了，先复训再确认</a:t>
            </a:r>
          </a:p>
          <a:p>
            <a:pPr>
              <a:spcAft>
                <a:spcPts val="1000"/>
              </a:spcAft>
            </a:pPr>
            <a:r>
              <a:rPr sz="2000">
                <a:solidFill>
                  <a:srgbClr val="222B33"/>
                </a:solidFill>
                <a:latin typeface="Microsoft YaHei"/>
              </a:rPr>
              <a:t>▪ 定期复训，老手也不例外</a:t>
            </a:r>
          </a:p>
          <a:p>
            <a:pPr>
              <a:spcAft>
                <a:spcPts val="1000"/>
              </a:spcAft>
            </a:pPr>
            <a:r>
              <a:rPr sz="2000">
                <a:solidFill>
                  <a:srgbClr val="222B33"/>
                </a:solidFill>
                <a:latin typeface="Microsoft YaHei"/>
              </a:rPr>
              <a:t>▪ 规程更新后更要学</a:t>
            </a:r>
          </a:p>
          <a:p>
            <a:pPr>
              <a:spcAft>
                <a:spcPts val="1000"/>
              </a:spcAft>
            </a:pPr>
            <a:r>
              <a:rPr sz="2000">
                <a:solidFill>
                  <a:srgbClr val="222B33"/>
                </a:solidFill>
                <a:latin typeface="Microsoft YaHei"/>
              </a:rPr>
              <a:t>▪ 定期参加应急演练</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长时间（如一个假期或更久）没有进行某项操作，熟练度会下降，容易出错。重新开始前，应先复习规程，在他人看护下操作一遍，确认没有问题后再独立进行。</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认为老手不需要复训</a:t>
            </a:r>
          </a:p>
          <a:p>
            <a:pPr>
              <a:spcAft>
                <a:spcPts val="1000"/>
              </a:spcAft>
            </a:pPr>
            <a:r>
              <a:rPr sz="1500">
                <a:solidFill>
                  <a:srgbClr val="222B33"/>
                </a:solidFill>
                <a:latin typeface="Microsoft YaHei"/>
              </a:rPr>
              <a:t>▪ 隔了很久直接上手高风险操作</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007 · 准入、培训与离岗交接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培训要有记录</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007 准入、培训与离岗交接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每次培训都要留下记录</a:t>
            </a:r>
          </a:p>
          <a:p>
            <a:pPr>
              <a:spcAft>
                <a:spcPts val="1000"/>
              </a:spcAft>
            </a:pPr>
            <a:r>
              <a:rPr sz="2000">
                <a:solidFill>
                  <a:srgbClr val="222B33"/>
                </a:solidFill>
                <a:latin typeface="Microsoft YaHei"/>
              </a:rPr>
              <a:t>▪ 写清学了什么、谁讲的、考得怎样、日期</a:t>
            </a:r>
          </a:p>
          <a:p>
            <a:pPr>
              <a:spcAft>
                <a:spcPts val="1000"/>
              </a:spcAft>
            </a:pPr>
            <a:r>
              <a:rPr sz="2000">
                <a:solidFill>
                  <a:srgbClr val="222B33"/>
                </a:solidFill>
                <a:latin typeface="Microsoft YaHei"/>
              </a:rPr>
              <a:t>▪ 到期提醒复训，记录归档可查</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每次培训都要留下记录，内容包括：培训主题和内容、培训人、受训人、日期、考核方式和结果。《中华人民共和国安全生产法》要求单位建立安全教育培训档案，如实记录培训情况（以现行文本为准）；高校实验室安全检查也会核对培训和准入……</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培训记录只有签名，没有内容和考核结果</a:t>
            </a:r>
          </a:p>
          <a:p>
            <a:pPr>
              <a:spcAft>
                <a:spcPts val="1000"/>
              </a:spcAft>
            </a:pPr>
            <a:r>
              <a:rPr sz="1500">
                <a:solidFill>
                  <a:srgbClr val="222B33"/>
                </a:solidFill>
                <a:latin typeface="Microsoft YaHei"/>
              </a:rPr>
              <a:t>▪ 复训过期无人提醒</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007 · 准入、培训与离岗交接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本课程不能代替本实验室规程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007 准入、培训与离岗交接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本课程只是基础</a:t>
            </a:r>
          </a:p>
          <a:p>
            <a:pPr>
              <a:spcAft>
                <a:spcPts val="1000"/>
              </a:spcAft>
            </a:pPr>
            <a:r>
              <a:rPr sz="2000">
                <a:solidFill>
                  <a:srgbClr val="222B33"/>
                </a:solidFill>
                <a:latin typeface="Microsoft YaHei"/>
              </a:rPr>
              <a:t>▪ 不能代替本实验室的操作规程</a:t>
            </a:r>
          </a:p>
          <a:p>
            <a:pPr>
              <a:spcAft>
                <a:spcPts val="1000"/>
              </a:spcAft>
            </a:pPr>
            <a:r>
              <a:rPr sz="2000">
                <a:solidFill>
                  <a:srgbClr val="222B33"/>
                </a:solidFill>
                <a:latin typeface="Microsoft YaHei"/>
              </a:rPr>
              <a:t>▪ 具体做法以本实验室规程为准</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本课程各节讲的是通用的安全知识和原则，是打基础的。每个实验室的设施、设备、物质和管理要求不同，具体的操作方法和要求一律以本实验室的安全操作规程、安全手册和负责人的指导为准。课程内容与本实验室规程不一致时，以本实验室规……</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以课程内容为由不遵守本实验室规程</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007 · 准入、培训与离岗交接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离开课题组：清点交接、注销权限</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007 准入、培训与离岗交接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毕业或离开课题组前办理交接</a:t>
            </a:r>
          </a:p>
          <a:p>
            <a:pPr>
              <a:spcAft>
                <a:spcPts val="1000"/>
              </a:spcAft>
            </a:pPr>
            <a:r>
              <a:rPr sz="2000">
                <a:solidFill>
                  <a:srgbClr val="222B33"/>
                </a:solidFill>
                <a:latin typeface="Microsoft YaHei"/>
              </a:rPr>
              <a:t>▪ 样本、试剂逐一清点交接</a:t>
            </a:r>
          </a:p>
          <a:p>
            <a:pPr>
              <a:spcAft>
                <a:spcPts val="1000"/>
              </a:spcAft>
            </a:pPr>
            <a:r>
              <a:rPr sz="2000">
                <a:solidFill>
                  <a:srgbClr val="222B33"/>
                </a:solidFill>
                <a:latin typeface="Microsoft YaHei"/>
              </a:rPr>
              <a:t>▪ 实验记录完整移交</a:t>
            </a:r>
          </a:p>
          <a:p>
            <a:pPr>
              <a:spcAft>
                <a:spcPts val="1000"/>
              </a:spcAft>
            </a:pPr>
            <a:r>
              <a:rPr sz="2000">
                <a:solidFill>
                  <a:srgbClr val="222B33"/>
                </a:solidFill>
                <a:latin typeface="Microsoft YaHei"/>
              </a:rPr>
              <a:t>▪ 门禁和仪器权限及时注销，不留无主样本</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毕业、出站、调离或离开课题组前，要按本校和本实验室规定办理离岗交接：自己名下的样本、试剂、危险化学品逐一清点，与接收人或负责人当面交接，并更新台账；不需要保留的按规定处置（危险废物交有资质单位处置，感染性材料灭活处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离开时把样本和试剂留在冰箱里不交代</a:t>
            </a:r>
          </a:p>
          <a:p>
            <a:pPr>
              <a:spcAft>
                <a:spcPts val="1000"/>
              </a:spcAft>
            </a:pPr>
            <a:r>
              <a:rPr sz="1500">
                <a:solidFill>
                  <a:srgbClr val="222B33"/>
                </a:solidFill>
                <a:latin typeface="Microsoft YaHei"/>
              </a:rPr>
              <a:t>▪ 毕业后门禁权限仍未注销</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007 · 准入、培训与离岗交接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007 准入、培训与离岗交接</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关于实验室准入，下列说法正确的是：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完成线上课程拿到证书即可进入任何实验室</a:t>
            </a:r>
          </a:p>
          <a:p>
            <a:pPr algn="l"/>
            <a:r>
              <a:rPr sz="1500" b="0">
                <a:solidFill>
                  <a:srgbClr val="222B33"/>
                </a:solidFill>
                <a:latin typeface="Microsoft YaHei"/>
              </a:rPr>
              <a:t>B. 跟着师兄进门就行</a:t>
            </a:r>
          </a:p>
          <a:p>
            <a:pPr algn="l"/>
            <a:r>
              <a:rPr sz="1500" b="0">
                <a:solidFill>
                  <a:srgbClr val="222B33"/>
                </a:solidFill>
                <a:latin typeface="Microsoft YaHei"/>
              </a:rPr>
              <a:t>C. 培训考核合格、签承诺书并经本室培训和批准后才能准入</a:t>
            </a:r>
          </a:p>
          <a:p>
            <a:pPr algn="l"/>
            <a:r>
              <a:rPr sz="1500" b="0">
                <a:solidFill>
                  <a:srgbClr val="222B33"/>
                </a:solidFill>
                <a:latin typeface="Microsoft YaHei"/>
              </a:rPr>
              <a:t>D. 签到即视为完成培训</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新人学习一项实验操作，正确的顺序是：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看说明书后独立操作</a:t>
            </a:r>
          </a:p>
          <a:p>
            <a:pPr algn="l"/>
            <a:r>
              <a:rPr sz="1500" b="0">
                <a:solidFill>
                  <a:srgbClr val="222B33"/>
                </a:solidFill>
                <a:latin typeface="Microsoft YaHei"/>
              </a:rPr>
              <a:t>B. 跟着老手做—在看护下自己做—考核通过后独立操作</a:t>
            </a:r>
          </a:p>
          <a:p>
            <a:pPr algn="l"/>
            <a:r>
              <a:rPr sz="1500" b="0">
                <a:solidFill>
                  <a:srgbClr val="222B33"/>
                </a:solidFill>
                <a:latin typeface="Microsoft YaHei"/>
              </a:rPr>
              <a:t>C. 先自己试，出错再问</a:t>
            </a:r>
          </a:p>
          <a:p>
            <a:pPr algn="l"/>
            <a:r>
              <a:rPr sz="1500" b="0">
                <a:solidFill>
                  <a:srgbClr val="222B33"/>
                </a:solidFill>
                <a:latin typeface="Microsoft YaHei"/>
              </a:rPr>
              <a:t>D. 夜间人少时练习</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007 · 准入、培训与离岗交接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007 准入、培训与离岗交接</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判断：已经在实验室工作三年的老手，规程改版后也需要参加培训。</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毕业离开课题组前，下列哪项做法不正确？</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清点并交接样本和试剂</a:t>
            </a:r>
          </a:p>
          <a:p>
            <a:pPr algn="l"/>
            <a:r>
              <a:rPr sz="1500" b="0">
                <a:solidFill>
                  <a:srgbClr val="222B33"/>
                </a:solidFill>
                <a:latin typeface="Microsoft YaHei"/>
              </a:rPr>
              <a:t>B. 移交实验记录</a:t>
            </a:r>
          </a:p>
          <a:p>
            <a:pPr algn="l"/>
            <a:r>
              <a:rPr sz="1500" b="0">
                <a:solidFill>
                  <a:srgbClr val="222B33"/>
                </a:solidFill>
                <a:latin typeface="Microsoft YaHei"/>
              </a:rPr>
              <a:t>C. 注销门禁和仪器权限</a:t>
            </a:r>
          </a:p>
          <a:p>
            <a:pPr algn="l"/>
            <a:r>
              <a:rPr sz="1500" b="0">
                <a:solidFill>
                  <a:srgbClr val="222B33"/>
                </a:solidFill>
                <a:latin typeface="Microsoft YaHei"/>
              </a:rPr>
              <a:t>D. 把不用的样品留在冰箱里，以后有人会处理</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007 · 准入、培训与离岗交接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007 准入、培训与离岗交接</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进入新实验室第一天，最先应做的是：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马上开始实验</a:t>
            </a:r>
          </a:p>
          <a:p>
            <a:pPr algn="l"/>
            <a:r>
              <a:rPr sz="1500" b="0">
                <a:solidFill>
                  <a:srgbClr val="222B33"/>
                </a:solidFill>
                <a:latin typeface="Microsoft YaHei"/>
              </a:rPr>
              <a:t>B. 在负责人带领下认清危险源，实地走一遍洗眼器、喷淋、灭火器和安全出口</a:t>
            </a:r>
          </a:p>
          <a:p>
            <a:pPr algn="l"/>
            <a:r>
              <a:rPr sz="1500" b="0">
                <a:solidFill>
                  <a:srgbClr val="222B33"/>
                </a:solidFill>
                <a:latin typeface="Microsoft YaHei"/>
              </a:rPr>
              <a:t>C. 先整理自己的桌面</a:t>
            </a:r>
          </a:p>
          <a:p>
            <a:pPr algn="l"/>
            <a:r>
              <a:rPr sz="1500" b="0">
                <a:solidFill>
                  <a:srgbClr val="222B33"/>
                </a:solidFill>
                <a:latin typeface="Microsoft YaHei"/>
              </a:rPr>
              <a:t>D. 上网查实验方法</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简答：一份完整的培训记录应包括哪些内容？</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先培训考核，再准入</a:t>
            </a:r>
          </a:p>
          <a:p>
            <a:pPr>
              <a:spcAft>
                <a:spcPts val="800"/>
              </a:spcAft>
            </a:pPr>
            <a:r>
              <a:rPr sz="1500">
                <a:solidFill>
                  <a:srgbClr val="FFFFFF"/>
                </a:solidFill>
                <a:latin typeface="Microsoft YaHei"/>
              </a:rPr>
              <a:t>▪ K2  培训分三层：学校、学院、实验室</a:t>
            </a:r>
          </a:p>
          <a:p>
            <a:pPr>
              <a:spcAft>
                <a:spcPts val="800"/>
              </a:spcAft>
            </a:pPr>
            <a:r>
              <a:rPr sz="1500">
                <a:solidFill>
                  <a:srgbClr val="FFFFFF"/>
                </a:solidFill>
                <a:latin typeface="Microsoft YaHei"/>
              </a:rPr>
              <a:t>▪ K3  证书不等于准入，要结合本实验室</a:t>
            </a:r>
          </a:p>
          <a:p>
            <a:pPr>
              <a:spcAft>
                <a:spcPts val="800"/>
              </a:spcAft>
            </a:pPr>
            <a:r>
              <a:rPr sz="1500">
                <a:solidFill>
                  <a:srgbClr val="FFFFFF"/>
                </a:solidFill>
                <a:latin typeface="Microsoft YaHei"/>
              </a:rPr>
              <a:t>▪ K4  培训讲清本岗位的危害和防护</a:t>
            </a:r>
          </a:p>
          <a:p>
            <a:pPr>
              <a:spcAft>
                <a:spcPts val="800"/>
              </a:spcAft>
            </a:pPr>
            <a:r>
              <a:rPr sz="1500">
                <a:solidFill>
                  <a:srgbClr val="FFFFFF"/>
                </a:solidFill>
                <a:latin typeface="Microsoft YaHei"/>
              </a:rPr>
              <a:t>▪ K5  培训要动手、有实效</a:t>
            </a:r>
          </a:p>
          <a:p>
            <a:pPr>
              <a:spcAft>
                <a:spcPts val="800"/>
              </a:spcAft>
            </a:pPr>
            <a:r>
              <a:rPr sz="1500">
                <a:solidFill>
                  <a:srgbClr val="FFFFFF"/>
                </a:solidFill>
                <a:latin typeface="Microsoft YaHei"/>
              </a:rPr>
              <a:t>▪ K6  跟做、看护下做、考核后独立</a:t>
            </a:r>
          </a:p>
          <a:p>
            <a:pPr>
              <a:spcAft>
                <a:spcPts val="800"/>
              </a:spcAft>
            </a:pPr>
            <a:r>
              <a:rPr sz="1500">
                <a:solidFill>
                  <a:srgbClr val="FFFFFF"/>
                </a:solidFill>
                <a:latin typeface="Microsoft YaHei"/>
              </a:rPr>
              <a:t>▪ K7  进新实验室的第一天</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K8  入门须知六件事</a:t>
            </a:r>
          </a:p>
          <a:p>
            <a:pPr>
              <a:spcAft>
                <a:spcPts val="800"/>
              </a:spcAft>
            </a:pPr>
            <a:r>
              <a:rPr sz="1500">
                <a:solidFill>
                  <a:srgbClr val="FFFFFF"/>
                </a:solidFill>
                <a:latin typeface="Microsoft YaHei"/>
              </a:rPr>
              <a:t>▪ K9  应急技能培训：灭火器与急救</a:t>
            </a:r>
          </a:p>
          <a:p>
            <a:pPr>
              <a:spcAft>
                <a:spcPts val="800"/>
              </a:spcAft>
            </a:pPr>
            <a:r>
              <a:rPr sz="1500">
                <a:solidFill>
                  <a:srgbClr val="FFFFFF"/>
                </a:solidFill>
                <a:latin typeface="Microsoft YaHei"/>
              </a:rPr>
              <a:t>▪ K10  换实验、用新设备，先补专项培训</a:t>
            </a:r>
          </a:p>
          <a:p>
            <a:pPr>
              <a:spcAft>
                <a:spcPts val="800"/>
              </a:spcAft>
            </a:pPr>
            <a:r>
              <a:rPr sz="1500">
                <a:solidFill>
                  <a:srgbClr val="FFFFFF"/>
                </a:solidFill>
                <a:latin typeface="Microsoft YaHei"/>
              </a:rPr>
              <a:t>▪ K11  久未操作先复训，定期复训演练</a:t>
            </a:r>
          </a:p>
          <a:p>
            <a:pPr>
              <a:spcAft>
                <a:spcPts val="800"/>
              </a:spcAft>
            </a:pPr>
            <a:r>
              <a:rPr sz="1500">
                <a:solidFill>
                  <a:srgbClr val="FFFFFF"/>
                </a:solidFill>
                <a:latin typeface="Microsoft YaHei"/>
              </a:rPr>
              <a:t>▪ K12  培训要有记录</a:t>
            </a:r>
          </a:p>
          <a:p>
            <a:pPr>
              <a:spcAft>
                <a:spcPts val="800"/>
              </a:spcAft>
            </a:pPr>
            <a:r>
              <a:rPr sz="1500">
                <a:solidFill>
                  <a:srgbClr val="FFFFFF"/>
                </a:solidFill>
                <a:latin typeface="Microsoft YaHei"/>
              </a:rPr>
              <a:t>▪ K13  本课程不能代替本实验室规程</a:t>
            </a:r>
          </a:p>
          <a:p>
            <a:pPr>
              <a:spcAft>
                <a:spcPts val="800"/>
              </a:spcAft>
            </a:pPr>
            <a:r>
              <a:rPr sz="1500">
                <a:solidFill>
                  <a:srgbClr val="FFFFFF"/>
                </a:solidFill>
                <a:latin typeface="Microsoft YaHei"/>
              </a:rPr>
              <a:t>▪ K14  离开课题组：清点交接、注销权限</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008</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访客与外来人员管理</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第1章 法规、管理与安全文化</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5 分钟（卡通视频 64 镜）　适用对象：全体进入高校实验室的人员；实验室负责人、安全员、承担参观接待的师生、学生社团负责人和指导教师重点学习</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008 · 访客与外来人员管理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008 访客与外来人员管理</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能说出访客和外来人员进入实验室“登记、批准、交底、全程陪同”的要求。</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能做到：带访客参观时选好安全区，提醒不越线、不靠不搭不爬，动作前先告知，紧急时带队撤离。</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能做到：外来维修人员进实验室前双向告知危险，清场、去污、关闭气源并全程陪同。</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能判断社团借用实验室或开展活动是否已审批、有安全负责人、参加者已培训准入。</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008 · 访客与外来人员管理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008 访客与外来人员管理</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《中华人民共和国安全生产法》（以现行文本为准）：生产经营单位对进入作业场所的人员告知危险因素和防范措施</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号，以现行文本为准）：外来人员进入实验室的管理和安全告知</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教育部高校实验室安全检查项目表（以现行文本为准）：人员准入与外来人员管理类检查项</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《中华人民共和国消防法》（以现行文本为准）：人员密集活动的安全疏散</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《中华人民共和国特种设备安全法》（以现行文本为准）：起重机械作业安全</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2894-2025（以现行文本为准）《安全色和安全标志》：警戒线、禁止和警告标志</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GB/T 7247.1-2024（以现行文本为准）《激光产品的安全 第1部分》：激光警告标志和受控区域</a:t>
            </a:r>
          </a:p>
        </p:txBody>
      </p:sp>
      <p:sp>
        <p:nvSpPr>
          <p:cNvPr id="26" name="Rounded Rectangle 25"/>
          <p:cNvSpPr/>
          <p:nvPr/>
        </p:nvSpPr>
        <p:spPr>
          <a:xfrm>
            <a:off x="6278727"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61607"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8" name="TextBox 27"/>
          <p:cNvSpPr txBox="1"/>
          <p:nvPr/>
        </p:nvSpPr>
        <p:spPr>
          <a:xfrm>
            <a:off x="7101687"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本校实验室外来人员管理、参观接待和学生社团活动管理规定（以本校规定为准）</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008 · 访客与外来人员管理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欢迎参观，保护访客是第一位</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008 访客与外来人员管理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想看实验室很正常，也很欢迎</a:t>
            </a:r>
          </a:p>
          <a:p>
            <a:pPr>
              <a:spcAft>
                <a:spcPts val="1000"/>
              </a:spcAft>
            </a:pPr>
            <a:r>
              <a:rPr sz="2000">
                <a:solidFill>
                  <a:srgbClr val="222B33"/>
                </a:solidFill>
                <a:latin typeface="Microsoft YaHei"/>
              </a:rPr>
              <a:t>▪ 访客只熟悉家和办公室，不熟悉实验室</a:t>
            </a:r>
          </a:p>
          <a:p>
            <a:pPr>
              <a:spcAft>
                <a:spcPts val="1000"/>
              </a:spcAft>
            </a:pPr>
            <a:r>
              <a:rPr sz="2000">
                <a:solidFill>
                  <a:srgbClr val="222B33"/>
                </a:solidFill>
                <a:latin typeface="Microsoft YaHei"/>
              </a:rPr>
              <a:t>▪ 带人进来，要时刻照看好每一个</a:t>
            </a:r>
          </a:p>
          <a:p>
            <a:pPr>
              <a:spcAft>
                <a:spcPts val="1000"/>
              </a:spcAft>
            </a:pPr>
            <a:r>
              <a:rPr sz="2000">
                <a:solidFill>
                  <a:srgbClr val="222B33"/>
                </a:solidFill>
                <a:latin typeface="Microsoft YaHei"/>
              </a:rPr>
              <a:t>▪ 可以展示，保护访客永远第一</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开放日、参观考察、招生宣传、科普活动时，常有校外人员或其他专业的师生进入实验室。他们对实验设备感兴趣，这很正常，也值得欢迎。但访客习惯的是家和办公室，不知道实验室里哪些东西危险、哪些地方不能去，也没有接受过本实验室的……</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只顾讲解，不留意访客走到了哪里</a:t>
            </a:r>
          </a:p>
          <a:p>
            <a:pPr>
              <a:spcAft>
                <a:spcPts val="1000"/>
              </a:spcAft>
            </a:pPr>
            <a:r>
              <a:rPr sz="1500">
                <a:solidFill>
                  <a:srgbClr val="222B33"/>
                </a:solidFill>
                <a:latin typeface="Microsoft YaHei"/>
              </a:rPr>
              <a:t>▪ 一次带太多人参观，照看不过来</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008 · 访客与外来人员管理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登记、批准、交底、全程陪同</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008 访客与外来人员管理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访客进门先登记</a:t>
            </a:r>
          </a:p>
          <a:p>
            <a:pPr>
              <a:spcAft>
                <a:spcPts val="1000"/>
              </a:spcAft>
            </a:pPr>
            <a:r>
              <a:rPr sz="2000">
                <a:solidFill>
                  <a:srgbClr val="222B33"/>
                </a:solidFill>
                <a:latin typeface="Microsoft YaHei"/>
              </a:rPr>
              <a:t>▪ 经实验室负责人批准</a:t>
            </a:r>
          </a:p>
          <a:p>
            <a:pPr>
              <a:spcAft>
                <a:spcPts val="1000"/>
              </a:spcAft>
            </a:pPr>
            <a:r>
              <a:rPr sz="2000">
                <a:solidFill>
                  <a:srgbClr val="222B33"/>
                </a:solidFill>
                <a:latin typeface="Microsoft YaHei"/>
              </a:rPr>
              <a:t>▪ 进门前讲清安全须知</a:t>
            </a:r>
          </a:p>
          <a:p>
            <a:pPr>
              <a:spcAft>
                <a:spcPts val="1000"/>
              </a:spcAft>
            </a:pPr>
            <a:r>
              <a:rPr sz="2000">
                <a:solidFill>
                  <a:srgbClr val="222B33"/>
                </a:solidFill>
                <a:latin typeface="Microsoft YaHei"/>
              </a:rPr>
              <a:t>▪ 佩戴访客牌，全程陪同，不单独走动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外来人员进入实验室，应按本校规定办理：一是登记，写明姓名、单位、事由、进出时间和接待人；二是经实验室负责人（必要时经学院）批准；三是进门前进行安全交底，讲清实验室的主要危险、不能触碰的物品和设备、需要佩戴的防护用品、……</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熟人来访不登记，直接带进实验室</a:t>
            </a:r>
          </a:p>
          <a:p>
            <a:pPr>
              <a:spcAft>
                <a:spcPts val="1000"/>
              </a:spcAft>
            </a:pPr>
            <a:r>
              <a:rPr sz="1500">
                <a:solidFill>
                  <a:srgbClr val="222B33"/>
                </a:solidFill>
                <a:latin typeface="Microsoft YaHei"/>
              </a:rPr>
              <a:t>▪ 把访客一个人留在实验室里</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008 · 访客与外来人员管理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参观前告知着装，进门配防护</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008 访客与外来人员管理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参观前就告诉访客怎么穿</a:t>
            </a:r>
          </a:p>
          <a:p>
            <a:pPr>
              <a:spcAft>
                <a:spcPts val="1000"/>
              </a:spcAft>
            </a:pPr>
            <a:r>
              <a:rPr sz="2000">
                <a:solidFill>
                  <a:srgbClr val="222B33"/>
                </a:solidFill>
                <a:latin typeface="Microsoft YaHei"/>
              </a:rPr>
              <a:t>▪ 长裤、包脚鞋，长发束起</a:t>
            </a:r>
          </a:p>
          <a:p>
            <a:pPr>
              <a:spcAft>
                <a:spcPts val="1000"/>
              </a:spcAft>
            </a:pPr>
            <a:r>
              <a:rPr sz="2000">
                <a:solidFill>
                  <a:srgbClr val="222B33"/>
                </a:solidFill>
                <a:latin typeface="Microsoft YaHei"/>
              </a:rPr>
              <a:t>▪ 进门发护目镜，戴好再进</a:t>
            </a:r>
          </a:p>
          <a:p>
            <a:pPr>
              <a:spcAft>
                <a:spcPts val="1000"/>
              </a:spcAft>
            </a:pPr>
            <a:r>
              <a:rPr sz="2000">
                <a:solidFill>
                  <a:srgbClr val="222B33"/>
                </a:solidFill>
                <a:latin typeface="Microsoft YaHei"/>
              </a:rPr>
              <a:t>▪ 穿凉鞋、裙装的访客不进操作区</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访客往往穿着便装甚至凉鞋、短裙前来，身上没有任何防护。接待方应在参观前通知访客着装要求：穿长裤和包住脚面的鞋，长发束起，不戴悬垂饰物。</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访客穿凉鞋短裤进入操作区，接待人“通融”</a:t>
            </a:r>
          </a:p>
          <a:p>
            <a:pPr>
              <a:spcAft>
                <a:spcPts val="1000"/>
              </a:spcAft>
            </a:pPr>
            <a:r>
              <a:rPr sz="1500">
                <a:solidFill>
                  <a:srgbClr val="222B33"/>
                </a:solidFill>
                <a:latin typeface="Microsoft YaHei"/>
              </a:rPr>
              <a:t>▪ 只给访客发护目镜，自己却不戴</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008 · 访客与外来人员管理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访客在场：通道畅通，暂停吊运</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008 访客与外来人员管理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访客在场，通道要清空，防止绊倒</a:t>
            </a:r>
          </a:p>
          <a:p>
            <a:pPr>
              <a:spcAft>
                <a:spcPts val="1000"/>
              </a:spcAft>
            </a:pPr>
            <a:r>
              <a:rPr sz="2000">
                <a:solidFill>
                  <a:srgbClr val="222B33"/>
                </a:solidFill>
                <a:latin typeface="Microsoft YaHei"/>
              </a:rPr>
              <a:t>▪ 暂停吊装、搬运重物等高风险作业</a:t>
            </a:r>
          </a:p>
          <a:p>
            <a:pPr>
              <a:spcAft>
                <a:spcPts val="1000"/>
              </a:spcAft>
            </a:pPr>
            <a:r>
              <a:rPr sz="2000">
                <a:solidFill>
                  <a:srgbClr val="222B33"/>
                </a:solidFill>
                <a:latin typeface="Microsoft YaHei"/>
              </a:rPr>
              <a:t>▪ 吊运区下方绝不能站人</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访客不熟悉现场，容易被通道上的纸箱、线缆、软管绊倒。参观前要把参观路线清理干净，保持通道畅通。</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参观时照常吊运，访客从吊物下方经过</a:t>
            </a:r>
          </a:p>
          <a:p>
            <a:pPr>
              <a:spcAft>
                <a:spcPts val="1000"/>
              </a:spcAft>
            </a:pPr>
            <a:r>
              <a:rPr sz="1500">
                <a:solidFill>
                  <a:srgbClr val="222B33"/>
                </a:solidFill>
                <a:latin typeface="Microsoft YaHei"/>
              </a:rPr>
              <a:t>▪ 参观路线上堆放杂物和线缆</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008 · 访客与外来人员管理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站在安全区：不越线，隔窗看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008 访客与外来人员管理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把访客带到划定的参观区</a:t>
            </a:r>
          </a:p>
          <a:p>
            <a:pPr>
              <a:spcAft>
                <a:spcPts val="1000"/>
              </a:spcAft>
            </a:pPr>
            <a:r>
              <a:rPr sz="2000">
                <a:solidFill>
                  <a:srgbClr val="222B33"/>
                </a:solidFill>
                <a:latin typeface="Microsoft YaHei"/>
              </a:rPr>
              <a:t>▪ 既看得清，又在安全范围里</a:t>
            </a:r>
          </a:p>
          <a:p>
            <a:pPr>
              <a:spcAft>
                <a:spcPts val="1000"/>
              </a:spcAft>
            </a:pPr>
            <a:r>
              <a:rPr sz="2000">
                <a:solidFill>
                  <a:srgbClr val="222B33"/>
                </a:solidFill>
                <a:latin typeface="Microsoft YaHei"/>
              </a:rPr>
              <a:t>▪ 人人都想凑近看，不能越线</a:t>
            </a:r>
          </a:p>
          <a:p>
            <a:pPr>
              <a:spcAft>
                <a:spcPts val="1000"/>
              </a:spcAft>
            </a:pPr>
            <a:r>
              <a:rPr sz="2000">
                <a:solidFill>
                  <a:srgbClr val="222B33"/>
                </a:solidFill>
                <a:latin typeface="Microsoft YaHei"/>
              </a:rPr>
              <a:t>▪ 激光区有警示，只隔着观察窗看，不靠近机门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参观区可以用地面黄色警戒线等方式划定，位置既要能看清设备和演示，又要在设备运动范围、飞溅范围和危险区之外。走到设备前，人人都想凑近看，向导要提前说明“只在线内看”，发现越线及时提醒退回。</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为了看得清楚，让访客站到设备旁边</a:t>
            </a:r>
          </a:p>
          <a:p>
            <a:pPr>
              <a:spcAft>
                <a:spcPts val="1000"/>
              </a:spcAft>
            </a:pPr>
            <a:r>
              <a:rPr sz="1500">
                <a:solidFill>
                  <a:srgbClr val="222B33"/>
                </a:solidFill>
                <a:latin typeface="Microsoft YaHei"/>
              </a:rPr>
              <a:t>▪ 访客好奇推开设备防护门向里看</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008 · 访客与外来人员管理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不靠、不搭、不爬</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008 访客与外来人员管理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设备台面的格栅又尖又利</a:t>
            </a:r>
          </a:p>
          <a:p>
            <a:pPr>
              <a:spcAft>
                <a:spcPts val="1000"/>
              </a:spcAft>
            </a:pPr>
            <a:r>
              <a:rPr sz="2000">
                <a:solidFill>
                  <a:srgbClr val="222B33"/>
                </a:solidFill>
                <a:latin typeface="Microsoft YaHei"/>
              </a:rPr>
              <a:t>▪ 不靠机器，不搭格栅，不爬台面</a:t>
            </a:r>
          </a:p>
          <a:p>
            <a:pPr>
              <a:spcAft>
                <a:spcPts val="1000"/>
              </a:spcAft>
            </a:pPr>
            <a:r>
              <a:rPr sz="2000">
                <a:solidFill>
                  <a:srgbClr val="222B33"/>
                </a:solidFill>
                <a:latin typeface="Microsoft YaHei"/>
              </a:rPr>
              <a:t>▪ 摔在设备台面上，伤得会很重</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很多设备的台面、格栅、导轨边缘锋利，部件可能是热的或会突然移动。访客和非操作人员不要倚靠在设备上，不要把手搭在格栅或台面上，更不能爬上台面。曾有人摔倒在设备台面上，受了很重的伤。</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访客倚靠在设备上听讲解</a:t>
            </a:r>
          </a:p>
          <a:p>
            <a:pPr>
              <a:spcAft>
                <a:spcPts val="1000"/>
              </a:spcAft>
            </a:pPr>
            <a:r>
              <a:rPr sz="1500">
                <a:solidFill>
                  <a:srgbClr val="222B33"/>
                </a:solidFill>
                <a:latin typeface="Microsoft YaHei"/>
              </a:rPr>
              <a:t>▪ 为拍照爬上设备台面</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008 · 访客与外来人员管理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留意会突然启动的设备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008 访客与外来人员管理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有些设备会突然动起来、突然发出响声</a:t>
            </a:r>
          </a:p>
          <a:p>
            <a:pPr>
              <a:spcAft>
                <a:spcPts val="1000"/>
              </a:spcAft>
            </a:pPr>
            <a:r>
              <a:rPr sz="2000">
                <a:solidFill>
                  <a:srgbClr val="222B33"/>
                </a:solidFill>
                <a:latin typeface="Microsoft YaHei"/>
              </a:rPr>
              <a:t>▪ 气动台面一按按钮就“砰”地升起</a:t>
            </a:r>
          </a:p>
          <a:p>
            <a:pPr>
              <a:spcAft>
                <a:spcPts val="1000"/>
              </a:spcAft>
            </a:pPr>
            <a:r>
              <a:rPr sz="2000">
                <a:solidFill>
                  <a:srgbClr val="222B33"/>
                </a:solidFill>
                <a:latin typeface="Microsoft YaHei"/>
              </a:rPr>
              <a:t>▪ 受惊的人常往后乱退，碰撞、摔倒</a:t>
            </a:r>
          </a:p>
          <a:p>
            <a:pPr>
              <a:spcAft>
                <a:spcPts val="1000"/>
              </a:spcAft>
            </a:pPr>
            <a:r>
              <a:rPr sz="2000">
                <a:solidFill>
                  <a:srgbClr val="222B33"/>
                </a:solidFill>
                <a:latin typeface="Microsoft YaHei"/>
              </a:rPr>
              <a:t>▪ 向导替访客留意，背对设备的人最易受惊</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实验室和车间里有不少会突然启动或发出巨响的设备：气动台面、储气罐排气、自动门、真空泵、离心机、空压机等。气动上料台的滚珠靠压缩空气顶起，一按按钮就会“砰”的一声升起。</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有访客在场时，不打招呼就启动设备</a:t>
            </a:r>
          </a:p>
          <a:p>
            <a:pPr>
              <a:spcAft>
                <a:spcPts val="1000"/>
              </a:spcAft>
            </a:pPr>
            <a:r>
              <a:rPr sz="1500">
                <a:solidFill>
                  <a:srgbClr val="222B33"/>
                </a:solidFill>
                <a:latin typeface="Microsoft YaHei"/>
              </a:rPr>
              <a:t>▪ 让访客背对设备站立</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008 · 访客与外来人员管理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先说清楚，再动手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008 访客与外来人员管理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动作之前，先告诉访客要做什么</a:t>
            </a:r>
          </a:p>
          <a:p>
            <a:pPr>
              <a:spcAft>
                <a:spcPts val="1000"/>
              </a:spcAft>
            </a:pPr>
            <a:r>
              <a:rPr sz="2000">
                <a:solidFill>
                  <a:srgbClr val="222B33"/>
                </a:solidFill>
                <a:latin typeface="Microsoft YaHei"/>
              </a:rPr>
              <a:t>▪ 指给他们看：从这里响，会这样动</a:t>
            </a:r>
          </a:p>
          <a:p>
            <a:pPr>
              <a:spcAft>
                <a:spcPts val="1000"/>
              </a:spcAft>
            </a:pPr>
            <a:r>
              <a:rPr sz="2000">
                <a:solidFill>
                  <a:srgbClr val="222B33"/>
                </a:solidFill>
                <a:latin typeface="Microsoft YaHei"/>
              </a:rPr>
              <a:t>▪ 心里有数，就不会被吓到</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操作人员和向导在设备动作前，先告诉访客接下来要做什么，指出声音从哪里发出、哪个部位会怎样运动，然后再操作。访客心里有准备，就不会突然受惊后退。</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演示时突然开机，“给大家一个惊喜”</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008 · 访客与外来人员管理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拍照拍视频有边界</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008 访客与外来人员管理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拍照拍视频只在参观区里拍</a:t>
            </a:r>
          </a:p>
          <a:p>
            <a:pPr>
              <a:spcAft>
                <a:spcPts val="1000"/>
              </a:spcAft>
            </a:pPr>
            <a:r>
              <a:rPr sz="2000">
                <a:solidFill>
                  <a:srgbClr val="222B33"/>
                </a:solidFill>
                <a:latin typeface="Microsoft YaHei"/>
              </a:rPr>
              <a:t>▪ 不挤到操作员身边，不打扰操作</a:t>
            </a:r>
          </a:p>
          <a:p>
            <a:pPr>
              <a:spcAft>
                <a:spcPts val="1000"/>
              </a:spcAft>
            </a:pPr>
            <a:r>
              <a:rPr sz="2000">
                <a:solidFill>
                  <a:srgbClr val="222B33"/>
                </a:solidFill>
                <a:latin typeface="Microsoft YaHei"/>
              </a:rPr>
              <a:t>▪ 标明禁止拍摄的地方不拍</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访客喜欢拍照、拍视频留念，这可以在规定范围内进行：只在参观区内拍摄，不为了取景越线，不挤到操作人员身边，不使用闪光灯干扰操作。</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为拍到好角度越过警戒线</a:t>
            </a:r>
          </a:p>
          <a:p>
            <a:pPr>
              <a:spcAft>
                <a:spcPts val="1000"/>
              </a:spcAft>
            </a:pPr>
            <a:r>
              <a:rPr sz="1500">
                <a:solidFill>
                  <a:srgbClr val="222B33"/>
                </a:solidFill>
                <a:latin typeface="Microsoft YaHei"/>
              </a:rPr>
              <a:t>▪ 拍摄并公开发布危化品库、门禁等安保信息</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008 · 访客与外来人员管理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高风险区域限制进入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008 访客与外来人员管理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生物安全实验室、辐射场所、危化品库不对访客开放</a:t>
            </a:r>
          </a:p>
          <a:p>
            <a:pPr>
              <a:spcAft>
                <a:spcPts val="1000"/>
              </a:spcAft>
            </a:pPr>
            <a:r>
              <a:rPr sz="2000">
                <a:solidFill>
                  <a:srgbClr val="222B33"/>
                </a:solidFill>
                <a:latin typeface="Microsoft YaHei"/>
              </a:rPr>
              <a:t>▪ 未经批准，外来人员不得进入</a:t>
            </a:r>
          </a:p>
          <a:p>
            <a:pPr>
              <a:spcAft>
                <a:spcPts val="1000"/>
              </a:spcAft>
            </a:pPr>
            <a:r>
              <a:rPr sz="2000">
                <a:solidFill>
                  <a:srgbClr val="222B33"/>
                </a:solidFill>
                <a:latin typeface="Microsoft YaHei"/>
              </a:rPr>
              <a:t>▪ 看到陌生人，主动询问并报告</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病原微生物实验室（尤其是二级及以上生物安全实验室）、放射性同位素和射线装置工作场所、剧毒和易制爆等危险化学品储存场所，有专门的准入和安保要求，一般不安排参观；确需进入的，要按相关法规和本校规定另行审批，并由具备资质的……</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把参观者带进生物安全实验室或辐射工作场所“看一眼”</a:t>
            </a:r>
          </a:p>
          <a:p>
            <a:pPr>
              <a:spcAft>
                <a:spcPts val="1000"/>
              </a:spcAft>
            </a:pPr>
            <a:r>
              <a:rPr sz="1500">
                <a:solidFill>
                  <a:srgbClr val="222B33"/>
                </a:solidFill>
                <a:latin typeface="Microsoft YaHei"/>
              </a:rPr>
              <a:t>▪ 看到陌生人在实验室里转悠不闻不问</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008 · 访客与外来人员管理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紧急时带访客撤离</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008 访客与外来人员管理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访客不知道出口和集合点</a:t>
            </a:r>
          </a:p>
          <a:p>
            <a:pPr>
              <a:spcAft>
                <a:spcPts val="1000"/>
              </a:spcAft>
            </a:pPr>
            <a:r>
              <a:rPr sz="2000">
                <a:solidFill>
                  <a:srgbClr val="222B33"/>
                </a:solidFill>
                <a:latin typeface="Microsoft YaHei"/>
              </a:rPr>
              <a:t>▪ 向导带队沿疏散通道撤离</a:t>
            </a:r>
          </a:p>
          <a:p>
            <a:pPr>
              <a:spcAft>
                <a:spcPts val="1000"/>
              </a:spcAft>
            </a:pPr>
            <a:r>
              <a:rPr sz="2000">
                <a:solidFill>
                  <a:srgbClr val="222B33"/>
                </a:solidFill>
                <a:latin typeface="Microsoft YaHei"/>
              </a:rPr>
              <a:t>▪ 到集合点清点人数，一个不少</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访客不熟悉实验室的布局、安全出口和应急集合点。参观前的安全交底就要说明：一旦听到警报或接到撤离指令，跟着向导走，不要自行乱跑，不要返回取物。</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警报响起时只顾自己撤离，忘了访客</a:t>
            </a:r>
          </a:p>
          <a:p>
            <a:pPr>
              <a:spcAft>
                <a:spcPts val="1000"/>
              </a:spcAft>
            </a:pPr>
            <a:r>
              <a:rPr sz="1500">
                <a:solidFill>
                  <a:srgbClr val="222B33"/>
                </a:solidFill>
                <a:latin typeface="Microsoft YaHei"/>
              </a:rPr>
              <a:t>▪ 撤离后不清点人数</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008 · 访客与外来人员管理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外来维修人员：双向告知危险</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008 访客与外来人员管理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维修、保洁人员进实验室，实验室主动讲清危险</a:t>
            </a:r>
          </a:p>
          <a:p>
            <a:pPr>
              <a:spcAft>
                <a:spcPts val="1000"/>
              </a:spcAft>
            </a:pPr>
            <a:r>
              <a:rPr sz="2000">
                <a:solidFill>
                  <a:srgbClr val="222B33"/>
                </a:solidFill>
                <a:latin typeface="Microsoft YaHei"/>
              </a:rPr>
              <a:t>▪ 维修人员也要主动问清楚</a:t>
            </a:r>
          </a:p>
          <a:p>
            <a:pPr>
              <a:spcAft>
                <a:spcPts val="1000"/>
              </a:spcAft>
            </a:pPr>
            <a:r>
              <a:rPr sz="2000">
                <a:solidFill>
                  <a:srgbClr val="222B33"/>
                </a:solidFill>
                <a:latin typeface="Microsoft YaHei"/>
              </a:rPr>
              <a:t>▪ 信息双向流动，才安全</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后勤维修、设备厂家工程师、保洁人员等进入实验室区域作业时，往往并不了解实验室里有哪些危险。实验室要主动告知：作业点附近有哪些化学品、气体、生物材料、带电设备，哪些东西不能碰，出了意外怎么办。</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维修人员进来后，实验室没人告知任何危险</a:t>
            </a:r>
          </a:p>
          <a:p>
            <a:pPr>
              <a:spcAft>
                <a:spcPts val="1000"/>
              </a:spcAft>
            </a:pPr>
            <a:r>
              <a:rPr sz="1500">
                <a:solidFill>
                  <a:srgbClr val="222B33"/>
                </a:solidFill>
                <a:latin typeface="Microsoft YaHei"/>
              </a:rPr>
              <a:t>▪ 维修人员不问情况就拆开通风管道、下水管</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008 · 访客与外来人员管理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外来人员作业前：清场、去污、陪同</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008 访客与外来人员管理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作业前负责人当面交底</a:t>
            </a:r>
          </a:p>
          <a:p>
            <a:pPr>
              <a:spcAft>
                <a:spcPts val="1000"/>
              </a:spcAft>
            </a:pPr>
            <a:r>
              <a:rPr sz="2000">
                <a:solidFill>
                  <a:srgbClr val="222B33"/>
                </a:solidFill>
                <a:latin typeface="Microsoft YaHei"/>
              </a:rPr>
              <a:t>▪ 清走作业点附近的化学品，关闭相关气源</a:t>
            </a:r>
          </a:p>
          <a:p>
            <a:pPr>
              <a:spcAft>
                <a:spcPts val="1000"/>
              </a:spcAft>
            </a:pPr>
            <a:r>
              <a:rPr sz="2000">
                <a:solidFill>
                  <a:srgbClr val="222B33"/>
                </a:solidFill>
                <a:latin typeface="Microsoft YaHei"/>
              </a:rPr>
              <a:t>▪ 要碰的设备台面先去污，标明危险部位</a:t>
            </a:r>
          </a:p>
          <a:p>
            <a:pPr>
              <a:spcAft>
                <a:spcPts val="1000"/>
              </a:spcAft>
            </a:pPr>
            <a:r>
              <a:rPr sz="2000">
                <a:solidFill>
                  <a:srgbClr val="222B33"/>
                </a:solidFill>
                <a:latin typeface="Microsoft YaHei"/>
              </a:rPr>
              <a:t>▪ 作业期间有人陪同，做完登记</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外来人员在实验室内维修、安装或施工前，实验室负责人或安全员应当面交底，必要时填写作业审批单。随后做好现场准备：把作业点附近的化学品移走或妥善存放，关闭相关气源、水源、电源并挂牌提示，对要触碰的设备、管道和台面先进行去……</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维修人员到场时，台面上的化学品和样品没有清走</a:t>
            </a:r>
          </a:p>
          <a:p>
            <a:pPr>
              <a:spcAft>
                <a:spcPts val="1000"/>
              </a:spcAft>
            </a:pPr>
            <a:r>
              <a:rPr sz="1500">
                <a:solidFill>
                  <a:srgbClr val="222B33"/>
                </a:solidFill>
                <a:latin typeface="Microsoft YaHei"/>
              </a:rPr>
              <a:t>▪ 交了钥匙就走，让维修人员独自在实验室作业</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008 · 访客与外来人员管理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社团活动：先审批，定安全负责人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008 访客与外来人员管理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社团办活动，安全第一位</a:t>
            </a:r>
          </a:p>
          <a:p>
            <a:pPr>
              <a:spcAft>
                <a:spcPts val="1000"/>
              </a:spcAft>
            </a:pPr>
            <a:r>
              <a:rPr sz="2000">
                <a:solidFill>
                  <a:srgbClr val="222B33"/>
                </a:solidFill>
                <a:latin typeface="Microsoft YaHei"/>
              </a:rPr>
              <a:t>▪ 活动方案先报指导老师和学校审批</a:t>
            </a:r>
          </a:p>
          <a:p>
            <a:pPr>
              <a:spcAft>
                <a:spcPts val="1000"/>
              </a:spcAft>
            </a:pPr>
            <a:r>
              <a:rPr sz="2000">
                <a:solidFill>
                  <a:srgbClr val="222B33"/>
                </a:solidFill>
                <a:latin typeface="Microsoft YaHei"/>
              </a:rPr>
              <a:t>▪ 每场活动都要明确安全负责人</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学生社团开展科普展示、竞赛、实践等活动，活动方案（时间、地点、内容、人数、风险和防范措施、应急预案）要先报指导教师和学校有关部门审批，批准后才能举办。</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先办活动，再补审批</a:t>
            </a:r>
          </a:p>
          <a:p>
            <a:pPr>
              <a:spcAft>
                <a:spcPts val="1000"/>
              </a:spcAft>
            </a:pPr>
            <a:r>
              <a:rPr sz="1500">
                <a:solidFill>
                  <a:srgbClr val="222B33"/>
                </a:solidFill>
                <a:latin typeface="Microsoft YaHei"/>
              </a:rPr>
              <a:t>▪ 活动没有指定安全负责人，出了事没人管</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008 · 访客与外来人员管理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社团借用实验室：先培训准入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008 访客与外来人员管理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借用实验室，先完成安全培训和准入</a:t>
            </a:r>
          </a:p>
          <a:p>
            <a:pPr>
              <a:spcAft>
                <a:spcPts val="1000"/>
              </a:spcAft>
            </a:pPr>
            <a:r>
              <a:rPr sz="2000">
                <a:solidFill>
                  <a:srgbClr val="222B33"/>
                </a:solidFill>
                <a:latin typeface="Microsoft YaHei"/>
              </a:rPr>
              <a:t>▪ 要有老师在场，遵守实验室规定</a:t>
            </a:r>
          </a:p>
          <a:p>
            <a:pPr>
              <a:spcAft>
                <a:spcPts val="1000"/>
              </a:spcAft>
            </a:pPr>
            <a:r>
              <a:rPr sz="2000">
                <a:solidFill>
                  <a:srgbClr val="222B33"/>
                </a:solidFill>
                <a:latin typeface="Microsoft YaHei"/>
              </a:rPr>
              <a:t>▪ 活动不玩火，不私带化学品</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社团借用实验室开展活动，与正式进入实验室工作一样，参加者要先完成实验室安全培训和准入考核（见第 007 课），并经实验室负责人同意。活动时要有指导教师或实验室人员在场，所有人遵守该实验室的规章制度和着装要求。</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社团成员未经培训就在实验室里做“演示实验”</a:t>
            </a:r>
          </a:p>
          <a:p>
            <a:pPr>
              <a:spcAft>
                <a:spcPts val="1000"/>
              </a:spcAft>
            </a:pPr>
            <a:r>
              <a:rPr sz="1500">
                <a:solidFill>
                  <a:srgbClr val="222B33"/>
                </a:solidFill>
                <a:latin typeface="Microsoft YaHei"/>
              </a:rPr>
              <a:t>▪ 自带化学品到实验室搞展示</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008 · 访客与外来人员管理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008 访客与外来人员管理</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校外访客到实验室参观，下列做法正确的是：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熟人来访可以不登记</a:t>
            </a:r>
          </a:p>
          <a:p>
            <a:pPr algn="l"/>
            <a:r>
              <a:rPr sz="1500" b="0">
                <a:solidFill>
                  <a:srgbClr val="222B33"/>
                </a:solidFill>
                <a:latin typeface="Microsoft YaHei"/>
              </a:rPr>
              <a:t>B. 登记并经负责人批准，进门前安全交底，全程陪同</a:t>
            </a:r>
          </a:p>
          <a:p>
            <a:pPr algn="l"/>
            <a:r>
              <a:rPr sz="1500" b="0">
                <a:solidFill>
                  <a:srgbClr val="222B33"/>
                </a:solidFill>
                <a:latin typeface="Microsoft YaHei"/>
              </a:rPr>
              <a:t>C. 讲解完让访客自己随便看</a:t>
            </a:r>
          </a:p>
          <a:p>
            <a:pPr algn="l"/>
            <a:r>
              <a:rPr sz="1500" b="0">
                <a:solidFill>
                  <a:srgbClr val="222B33"/>
                </a:solidFill>
                <a:latin typeface="Microsoft YaHei"/>
              </a:rPr>
              <a:t>D. 访客可以试操作仪器</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判断：参观激光加工设备时，访客可以打开设备防护门凑近观看。</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008 · 访客与外来人员管理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008 访客与外来人员管理</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设备即将启动并会发出较大声响，向导应当：</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直接启动，给访客惊喜</a:t>
            </a:r>
          </a:p>
          <a:p>
            <a:pPr algn="l"/>
            <a:r>
              <a:rPr sz="1500" b="0">
                <a:solidFill>
                  <a:srgbClr val="222B33"/>
                </a:solidFill>
                <a:latin typeface="Microsoft YaHei"/>
              </a:rPr>
              <a:t>B. 先告诉访客要做什么、哪里会响、会怎样动，再操作</a:t>
            </a:r>
          </a:p>
          <a:p>
            <a:pPr algn="l"/>
            <a:r>
              <a:rPr sz="1500" b="0">
                <a:solidFill>
                  <a:srgbClr val="222B33"/>
                </a:solidFill>
                <a:latin typeface="Microsoft YaHei"/>
              </a:rPr>
              <a:t>C. 让访客背对设备</a:t>
            </a:r>
          </a:p>
          <a:p>
            <a:pPr algn="l"/>
            <a:r>
              <a:rPr sz="1500" b="0">
                <a:solidFill>
                  <a:srgbClr val="222B33"/>
                </a:solidFill>
                <a:latin typeface="Microsoft YaHei"/>
              </a:rPr>
              <a:t>D. 让访客离开实验室</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后勤维修人员要进实验室检修通风管道，下列哪项做法不正确？</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当面交底，讲清危险</a:t>
            </a:r>
          </a:p>
          <a:p>
            <a:pPr algn="l"/>
            <a:r>
              <a:rPr sz="1500" b="0">
                <a:solidFill>
                  <a:srgbClr val="222B33"/>
                </a:solidFill>
                <a:latin typeface="Microsoft YaHei"/>
              </a:rPr>
              <a:t>B. 清走作业点附近化学品、关闭相关气源</a:t>
            </a:r>
          </a:p>
          <a:p>
            <a:pPr algn="l"/>
            <a:r>
              <a:rPr sz="1500" b="0">
                <a:solidFill>
                  <a:srgbClr val="222B33"/>
                </a:solidFill>
                <a:latin typeface="Microsoft YaHei"/>
              </a:rPr>
              <a:t>C. 对要触碰的部位先去污</a:t>
            </a:r>
          </a:p>
          <a:p>
            <a:pPr algn="l"/>
            <a:r>
              <a:rPr sz="1500" b="0">
                <a:solidFill>
                  <a:srgbClr val="222B33"/>
                </a:solidFill>
                <a:latin typeface="Microsoft YaHei"/>
              </a:rPr>
              <a:t>D. 把钥匙交给维修人员，自己先下班</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008 · 访客与外来人员管理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008 访客与外来人员管理</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学生社团想借用实验室开展科普活动，应当：</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跟实验室同学打个招呼就行</a:t>
            </a:r>
          </a:p>
          <a:p>
            <a:pPr algn="l"/>
            <a:r>
              <a:rPr sz="1500" b="0">
                <a:solidFill>
                  <a:srgbClr val="222B33"/>
                </a:solidFill>
                <a:latin typeface="Microsoft YaHei"/>
              </a:rPr>
              <a:t>B. 活动方案报指导老师和学校审批，明确安全负责人，参加者先培训准入，活动时老师在场</a:t>
            </a:r>
          </a:p>
          <a:p>
            <a:pPr algn="l"/>
            <a:r>
              <a:rPr sz="1500" b="0">
                <a:solidFill>
                  <a:srgbClr val="222B33"/>
                </a:solidFill>
                <a:latin typeface="Microsoft YaHei"/>
              </a:rPr>
              <a:t>C. 自带化学品做演示</a:t>
            </a:r>
          </a:p>
          <a:p>
            <a:pPr algn="l"/>
            <a:r>
              <a:rPr sz="1500" b="0">
                <a:solidFill>
                  <a:srgbClr val="222B33"/>
                </a:solidFill>
                <a:latin typeface="Microsoft YaHei"/>
              </a:rPr>
              <a:t>D. 活动后再补审批</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简答：带访客参观时，“不靠、不搭、不爬”指什么？</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欢迎参观，保护访客是第一位</a:t>
            </a:r>
          </a:p>
          <a:p>
            <a:pPr>
              <a:spcAft>
                <a:spcPts val="800"/>
              </a:spcAft>
            </a:pPr>
            <a:r>
              <a:rPr sz="1500">
                <a:solidFill>
                  <a:srgbClr val="FFFFFF"/>
                </a:solidFill>
                <a:latin typeface="Microsoft YaHei"/>
              </a:rPr>
              <a:t>▪ K2  登记、批准、交底、全程陪同</a:t>
            </a:r>
          </a:p>
          <a:p>
            <a:pPr>
              <a:spcAft>
                <a:spcPts val="800"/>
              </a:spcAft>
            </a:pPr>
            <a:r>
              <a:rPr sz="1500">
                <a:solidFill>
                  <a:srgbClr val="FFFFFF"/>
                </a:solidFill>
                <a:latin typeface="Microsoft YaHei"/>
              </a:rPr>
              <a:t>▪ K3  参观前告知着装，进门配防护</a:t>
            </a:r>
          </a:p>
          <a:p>
            <a:pPr>
              <a:spcAft>
                <a:spcPts val="800"/>
              </a:spcAft>
            </a:pPr>
            <a:r>
              <a:rPr sz="1500">
                <a:solidFill>
                  <a:srgbClr val="FFFFFF"/>
                </a:solidFill>
                <a:latin typeface="Microsoft YaHei"/>
              </a:rPr>
              <a:t>▪ K4  访客在场：通道畅通，暂停吊运</a:t>
            </a:r>
          </a:p>
          <a:p>
            <a:pPr>
              <a:spcAft>
                <a:spcPts val="800"/>
              </a:spcAft>
            </a:pPr>
            <a:r>
              <a:rPr sz="1500">
                <a:solidFill>
                  <a:srgbClr val="FFFFFF"/>
                </a:solidFill>
                <a:latin typeface="Microsoft YaHei"/>
              </a:rPr>
              <a:t>▪ K5  站在安全区：不越线，隔窗看</a:t>
            </a:r>
          </a:p>
          <a:p>
            <a:pPr>
              <a:spcAft>
                <a:spcPts val="800"/>
              </a:spcAft>
            </a:pPr>
            <a:r>
              <a:rPr sz="1500">
                <a:solidFill>
                  <a:srgbClr val="FFFFFF"/>
                </a:solidFill>
                <a:latin typeface="Microsoft YaHei"/>
              </a:rPr>
              <a:t>▪ K6  不靠、不搭、不爬</a:t>
            </a:r>
          </a:p>
          <a:p>
            <a:pPr>
              <a:spcAft>
                <a:spcPts val="800"/>
              </a:spcAft>
            </a:pPr>
            <a:r>
              <a:rPr sz="1500">
                <a:solidFill>
                  <a:srgbClr val="FFFFFF"/>
                </a:solidFill>
                <a:latin typeface="Microsoft YaHei"/>
              </a:rPr>
              <a:t>▪ K7  留意会突然启动的设备</a:t>
            </a:r>
          </a:p>
          <a:p>
            <a:pPr>
              <a:spcAft>
                <a:spcPts val="800"/>
              </a:spcAft>
            </a:pPr>
            <a:r>
              <a:rPr sz="1500">
                <a:solidFill>
                  <a:srgbClr val="FFFFFF"/>
                </a:solidFill>
                <a:latin typeface="Microsoft YaHei"/>
              </a:rPr>
              <a:t>▪ K8  先说清楚，再动手</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K9  拍照拍视频有边界</a:t>
            </a:r>
          </a:p>
          <a:p>
            <a:pPr>
              <a:spcAft>
                <a:spcPts val="800"/>
              </a:spcAft>
            </a:pPr>
            <a:r>
              <a:rPr sz="1500">
                <a:solidFill>
                  <a:srgbClr val="FFFFFF"/>
                </a:solidFill>
                <a:latin typeface="Microsoft YaHei"/>
              </a:rPr>
              <a:t>▪ S1  高风险区域限制进入</a:t>
            </a:r>
          </a:p>
          <a:p>
            <a:pPr>
              <a:spcAft>
                <a:spcPts val="800"/>
              </a:spcAft>
            </a:pPr>
            <a:r>
              <a:rPr sz="1500">
                <a:solidFill>
                  <a:srgbClr val="FFFFFF"/>
                </a:solidFill>
                <a:latin typeface="Microsoft YaHei"/>
              </a:rPr>
              <a:t>▪ S2  紧急时带访客撤离</a:t>
            </a:r>
          </a:p>
          <a:p>
            <a:pPr>
              <a:spcAft>
                <a:spcPts val="800"/>
              </a:spcAft>
            </a:pPr>
            <a:r>
              <a:rPr sz="1500">
                <a:solidFill>
                  <a:srgbClr val="FFFFFF"/>
                </a:solidFill>
                <a:latin typeface="Microsoft YaHei"/>
              </a:rPr>
              <a:t>▪ K10  外来维修人员：双向告知危险</a:t>
            </a:r>
          </a:p>
          <a:p>
            <a:pPr>
              <a:spcAft>
                <a:spcPts val="800"/>
              </a:spcAft>
            </a:pPr>
            <a:r>
              <a:rPr sz="1500">
                <a:solidFill>
                  <a:srgbClr val="FFFFFF"/>
                </a:solidFill>
                <a:latin typeface="Microsoft YaHei"/>
              </a:rPr>
              <a:t>▪ K11  外来人员作业前：清场、去污、陪同</a:t>
            </a:r>
          </a:p>
          <a:p>
            <a:pPr>
              <a:spcAft>
                <a:spcPts val="800"/>
              </a:spcAft>
            </a:pPr>
            <a:r>
              <a:rPr sz="1500">
                <a:solidFill>
                  <a:srgbClr val="FFFFFF"/>
                </a:solidFill>
                <a:latin typeface="Microsoft YaHei"/>
              </a:rPr>
              <a:t>▪ K12  社团活动：先审批，定安全负责人</a:t>
            </a:r>
          </a:p>
          <a:p>
            <a:pPr>
              <a:spcAft>
                <a:spcPts val="800"/>
              </a:spcAft>
            </a:pPr>
            <a:r>
              <a:rPr sz="1500">
                <a:solidFill>
                  <a:srgbClr val="FFFFFF"/>
                </a:solidFill>
                <a:latin typeface="Microsoft YaHei"/>
              </a:rPr>
              <a:t>▪ K13  社团借用实验室：先培训准入</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009</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实验室行为守则</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第1章 法规、管理与安全文化</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6 分钟（卡通视频 71 镜）　适用对象：全体进入高校实验室的本科生、研究生和教职工（必修）</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009 · 实验室行为守则</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009 实验室行为守则</a:t>
            </a:r>
          </a:p>
        </p:txBody>
      </p:sp>
      <p:sp>
        <p:nvSpPr>
          <p:cNvPr id="5" name="Rounded Rectangle 4"/>
          <p:cNvSpPr/>
          <p:nvPr/>
        </p:nvSpPr>
        <p:spPr>
          <a:xfrm>
            <a:off x="548640" y="1828800"/>
            <a:ext cx="3454298"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2814218" cy="2468880"/>
          </a:xfrm>
          <a:prstGeom prst="rect">
            <a:avLst/>
          </a:prstGeom>
          <a:noFill/>
        </p:spPr>
        <p:txBody>
          <a:bodyPr wrap="square" anchor="t" lIns="0" rIns="0" tIns="0" bIns="0">
            <a:spAutoFit/>
          </a:bodyPr>
          <a:lstStyle/>
          <a:p>
            <a:pPr algn="l"/>
            <a:r>
              <a:rPr sz="1800" b="0">
                <a:solidFill>
                  <a:srgbClr val="222B33"/>
                </a:solidFill>
                <a:latin typeface="Microsoft YaHei"/>
              </a:rPr>
              <a:t>能说出实验室基本行为守则：听从负责人、课前预习、按规程操作、拿不准就问。</a:t>
            </a:r>
          </a:p>
        </p:txBody>
      </p:sp>
      <p:sp>
        <p:nvSpPr>
          <p:cNvPr id="8" name="Rounded Rectangle 7"/>
          <p:cNvSpPr/>
          <p:nvPr/>
        </p:nvSpPr>
        <p:spPr>
          <a:xfrm>
            <a:off x="4368698" y="1828800"/>
            <a:ext cx="3454298"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688738"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4688738" y="3108960"/>
            <a:ext cx="2814218" cy="2468880"/>
          </a:xfrm>
          <a:prstGeom prst="rect">
            <a:avLst/>
          </a:prstGeom>
          <a:noFill/>
        </p:spPr>
        <p:txBody>
          <a:bodyPr wrap="square" anchor="t" lIns="0" rIns="0" tIns="0" bIns="0">
            <a:spAutoFit/>
          </a:bodyPr>
          <a:lstStyle/>
          <a:p>
            <a:pPr algn="l"/>
            <a:r>
              <a:rPr sz="1800" b="0">
                <a:solidFill>
                  <a:srgbClr val="222B33"/>
                </a:solidFill>
                <a:latin typeface="Microsoft YaHei"/>
              </a:rPr>
              <a:t>能判断哪些行为违反守则：饮食吸烟化妆、实验冰箱放食品、用手碰和闻尝化学品、嬉闹、擅动他人样品、私自改装仪器。</a:t>
            </a:r>
          </a:p>
        </p:txBody>
      </p:sp>
      <p:sp>
        <p:nvSpPr>
          <p:cNvPr id="11" name="Rounded Rectangle 10"/>
          <p:cNvSpPr/>
          <p:nvPr/>
        </p:nvSpPr>
        <p:spPr>
          <a:xfrm>
            <a:off x="8188756" y="1828800"/>
            <a:ext cx="3454298"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508796"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8508796" y="3108960"/>
            <a:ext cx="2814218" cy="2468880"/>
          </a:xfrm>
          <a:prstGeom prst="rect">
            <a:avLst/>
          </a:prstGeom>
          <a:noFill/>
        </p:spPr>
        <p:txBody>
          <a:bodyPr wrap="square" anchor="t" lIns="0" rIns="0" tIns="0" bIns="0">
            <a:spAutoFit/>
          </a:bodyPr>
          <a:lstStyle/>
          <a:p>
            <a:pPr algn="l"/>
            <a:r>
              <a:rPr sz="1800" b="0">
                <a:solidFill>
                  <a:srgbClr val="222B33"/>
                </a:solidFill>
                <a:latin typeface="Microsoft YaHei"/>
              </a:rPr>
              <a:t>能做到：危险实验不独自做，夜间节假日实验先报备，无人值守设备经同意并挂牌，离开前检查水电气门窗。</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009 · 实验室行为守则</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009 实验室行为守则</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号，以现行文本为准）：实验室人员行为规范、禁止饮食吸烟和过夜、危险实验与无人值守管理</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教育部高校实验室安全检查项目表（以现行文本为准）：实验室场所与行为规范类检查项</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《中华人民共和国安全生产法》（以现行文本为准）：从业人员遵守安全规章制度和操作规程、服从管理</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19489-2008（以现行文本为准）《实验室 生物安全通用要求》：实验室工作区禁止饮食、吸烟和化妆等</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《中华人民共和国危险化学品安全法》（2026 年 5 月 1 日起施行）及《危险化学品安全管理条例》（以现行文本为准）：危险化学品使用单位的操作规程和安全管理</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4793.1-2007（以现行文本为准）《测量、控制和实验室用电气设备的安全要求 第1部分》：设备防护和联锁</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本校实验室安全管理制度、夜间和节假日实验审批及设备运行管理规定（以本校规定为准）</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009 · 实验室行为守则</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尊重实验室，从自己的行为做起</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009 实验室行为守则</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尊重实验室，也尊重身边的同伴</a:t>
            </a:r>
          </a:p>
          <a:p>
            <a:pPr>
              <a:spcAft>
                <a:spcPts val="1000"/>
              </a:spcAft>
            </a:pPr>
            <a:r>
              <a:rPr sz="2000">
                <a:solidFill>
                  <a:srgbClr val="222B33"/>
                </a:solidFill>
                <a:latin typeface="Microsoft YaHei"/>
              </a:rPr>
              <a:t>▪ 每个人的行为决定大家是否安全</a:t>
            </a:r>
          </a:p>
          <a:p>
            <a:pPr>
              <a:spcAft>
                <a:spcPts val="1000"/>
              </a:spcAft>
            </a:pPr>
            <a:r>
              <a:rPr sz="2000">
                <a:solidFill>
                  <a:srgbClr val="222B33"/>
                </a:solidFill>
                <a:latin typeface="Microsoft YaHei"/>
              </a:rPr>
              <a:t>▪ 体谅前一个人，照顾下一个人</a:t>
            </a:r>
          </a:p>
          <a:p>
            <a:pPr>
              <a:spcAft>
                <a:spcPts val="1000"/>
              </a:spcAft>
            </a:pPr>
            <a:r>
              <a:rPr sz="2000">
                <a:solidFill>
                  <a:srgbClr val="222B33"/>
                </a:solidFill>
                <a:latin typeface="Microsoft YaHei"/>
              </a:rPr>
              <a:t>▪ 懂规则、守规则，还要会发现隐患</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实验室是多人共用的危险场所，一个人的随意行为可能伤到整个实验室的人。了解规则、遵守规则，是每个人的责任；同时还要学会发现身边的安全隐患，及时提醒或报告。</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认为“只要我自己小心就行”，不在意对别人的影响</a:t>
            </a:r>
          </a:p>
          <a:p>
            <a:pPr>
              <a:spcAft>
                <a:spcPts val="1000"/>
              </a:spcAft>
            </a:pPr>
            <a:r>
              <a:rPr sz="1500">
                <a:solidFill>
                  <a:srgbClr val="222B33"/>
                </a:solidFill>
                <a:latin typeface="Microsoft YaHei"/>
              </a:rPr>
              <a:t>▪ 用完台面和设备不清理，留给下一个人</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009 · 实验室行为守则</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听从实验室负责人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009 实验室行为守则</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实验课上负责人或指导教师始终在场</a:t>
            </a:r>
          </a:p>
          <a:p>
            <a:pPr>
              <a:spcAft>
                <a:spcPts val="1000"/>
              </a:spcAft>
            </a:pPr>
            <a:r>
              <a:rPr sz="2000">
                <a:solidFill>
                  <a:srgbClr val="222B33"/>
                </a:solidFill>
                <a:latin typeface="Microsoft YaHei"/>
              </a:rPr>
              <a:t>▪ 开工前讲清技术、设备和防护</a:t>
            </a:r>
          </a:p>
          <a:p>
            <a:pPr>
              <a:spcAft>
                <a:spcPts val="1000"/>
              </a:spcAft>
            </a:pPr>
            <a:r>
              <a:rPr sz="2000">
                <a:solidFill>
                  <a:srgbClr val="222B33"/>
                </a:solidFill>
                <a:latin typeface="Microsoft YaHei"/>
              </a:rPr>
              <a:t>▪ 有问题先找他</a:t>
            </a:r>
          </a:p>
          <a:p>
            <a:pPr>
              <a:spcAft>
                <a:spcPts val="1000"/>
              </a:spcAft>
            </a:pPr>
            <a:r>
              <a:rPr sz="2000">
                <a:solidFill>
                  <a:srgbClr val="222B33"/>
                </a:solidFill>
                <a:latin typeface="Microsoft YaHei"/>
              </a:rPr>
              <a:t>▪ 他的安全指令必须照办</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教学实验课上，指导教师或实验室负责人应始终在场；科研实验中，实验室负责人和导师对本实验室的安全负责（见第 004 课）。开始操作前，他们会讲清实验技术、设备使用方法、需要的防护和注意事项。</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老师不在时擅自开始实验</a:t>
            </a:r>
          </a:p>
          <a:p>
            <a:pPr>
              <a:spcAft>
                <a:spcPts val="1000"/>
              </a:spcAft>
            </a:pPr>
            <a:r>
              <a:rPr sz="1500">
                <a:solidFill>
                  <a:srgbClr val="222B33"/>
                </a:solidFill>
                <a:latin typeface="Microsoft YaHei"/>
              </a:rPr>
              <a:t>▪ 对“停止操作”的指令置之不理，坚持做完</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009 · 实验室行为守则</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课前预习：看演示不能代替读讲义</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009 实验室行为守则</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实验课前先读讲义预习</a:t>
            </a:r>
          </a:p>
          <a:p>
            <a:pPr>
              <a:spcAft>
                <a:spcPts val="1000"/>
              </a:spcAft>
            </a:pPr>
            <a:r>
              <a:rPr sz="2000">
                <a:solidFill>
                  <a:srgbClr val="222B33"/>
                </a:solidFill>
                <a:latin typeface="Microsoft YaHei"/>
              </a:rPr>
              <a:t>▪ 别指望到了现场才有人告诉你</a:t>
            </a:r>
          </a:p>
          <a:p>
            <a:pPr>
              <a:spcAft>
                <a:spcPts val="1000"/>
              </a:spcAft>
            </a:pPr>
            <a:r>
              <a:rPr sz="2000">
                <a:solidFill>
                  <a:srgbClr val="222B33"/>
                </a:solidFill>
                <a:latin typeface="Microsoft YaHei"/>
              </a:rPr>
              <a:t>▪ 看演示视频只是预习，代替不了讲义</a:t>
            </a:r>
          </a:p>
          <a:p>
            <a:pPr>
              <a:spcAft>
                <a:spcPts val="1000"/>
              </a:spcAft>
            </a:pPr>
            <a:r>
              <a:rPr sz="2000">
                <a:solidFill>
                  <a:srgbClr val="222B33"/>
                </a:solidFill>
                <a:latin typeface="Microsoft YaHei"/>
              </a:rPr>
              <a:t>▪ 原理和操作，两样都要弄明白</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实验前要认真预习实验讲义或实验方案：明确实验目的、原理、步骤，使用的化学品和设备有哪些危害，需要哪些防护，出现意外如何处置。不能到了实验室才临时翻讲义、等别人告诉你怎么做。</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不预习，到实验室才看讲义</a:t>
            </a:r>
          </a:p>
          <a:p>
            <a:pPr>
              <a:spcAft>
                <a:spcPts val="1000"/>
              </a:spcAft>
            </a:pPr>
            <a:r>
              <a:rPr sz="1500">
                <a:solidFill>
                  <a:srgbClr val="222B33"/>
                </a:solidFill>
                <a:latin typeface="Microsoft YaHei"/>
              </a:rPr>
              <a:t>▪ 只看演示视频，不读讲义中的安全注意事项</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009 · 实验室行为守则</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按书面规程做，只做培训过的工作</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009 实验室行为守则</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严格按书面规程，一步一步做</a:t>
            </a:r>
          </a:p>
          <a:p>
            <a:pPr>
              <a:spcAft>
                <a:spcPts val="1000"/>
              </a:spcAft>
            </a:pPr>
            <a:r>
              <a:rPr sz="2000">
                <a:solidFill>
                  <a:srgbClr val="222B33"/>
                </a:solidFill>
                <a:latin typeface="Microsoft YaHei"/>
              </a:rPr>
              <a:t>▪ 不跳步，不凭感觉改步骤</a:t>
            </a:r>
          </a:p>
          <a:p>
            <a:pPr>
              <a:spcAft>
                <a:spcPts val="1000"/>
              </a:spcAft>
            </a:pPr>
            <a:r>
              <a:rPr sz="2000">
                <a:solidFill>
                  <a:srgbClr val="222B33"/>
                </a:solidFill>
                <a:latin typeface="Microsoft YaHei"/>
              </a:rPr>
              <a:t>▪ 只做自己受过培训的工作</a:t>
            </a:r>
          </a:p>
          <a:p>
            <a:pPr>
              <a:spcAft>
                <a:spcPts val="1000"/>
              </a:spcAft>
            </a:pPr>
            <a:r>
              <a:rPr sz="2000">
                <a:solidFill>
                  <a:srgbClr val="222B33"/>
                </a:solidFill>
                <a:latin typeface="Microsoft YaHei"/>
              </a:rPr>
              <a:t>▪ 别人的活，没学过别乱接手</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实验操作要严格按照书面的操作规程（SOP）或经批准的实验方案进行，一步一步做，不跳步、不随意调换顺序、不凭感觉增减用量和条件。规程的编写见第 019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凭经验省略规程中的步骤</a:t>
            </a:r>
          </a:p>
          <a:p>
            <a:pPr>
              <a:spcAft>
                <a:spcPts val="1000"/>
              </a:spcAft>
            </a:pPr>
            <a:r>
              <a:rPr sz="1500">
                <a:solidFill>
                  <a:srgbClr val="222B33"/>
                </a:solidFill>
                <a:latin typeface="Microsoft YaHei"/>
              </a:rPr>
              <a:t>▪ 帮同学操作自己没培训过的仪器</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009 · 实验室行为守则</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拿不准就问，不擅改方案</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009 实验室行为守则</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拿不准，先问导师或负责人</a:t>
            </a:r>
          </a:p>
          <a:p>
            <a:pPr>
              <a:spcAft>
                <a:spcPts val="1000"/>
              </a:spcAft>
            </a:pPr>
            <a:r>
              <a:rPr sz="2000">
                <a:solidFill>
                  <a:srgbClr val="222B33"/>
                </a:solidFill>
                <a:latin typeface="Microsoft YaHei"/>
              </a:rPr>
              <a:t>▪ 不自己乱试，也不是慢慢做就行</a:t>
            </a:r>
          </a:p>
          <a:p>
            <a:pPr>
              <a:spcAft>
                <a:spcPts val="1000"/>
              </a:spcAft>
            </a:pPr>
            <a:r>
              <a:rPr sz="2000">
                <a:solidFill>
                  <a:srgbClr val="222B33"/>
                </a:solidFill>
                <a:latin typeface="Microsoft YaHei"/>
              </a:rPr>
              <a:t>▪ 改变方案或装置布置，先经同意</a:t>
            </a:r>
          </a:p>
          <a:p>
            <a:pPr>
              <a:spcAft>
                <a:spcPts val="1000"/>
              </a:spcAft>
            </a:pPr>
            <a:r>
              <a:rPr sz="2000">
                <a:solidFill>
                  <a:srgbClr val="222B33"/>
                </a:solidFill>
                <a:latin typeface="Microsoft YaHei"/>
              </a:rPr>
              <a:t>▪ 仪器旁加热、加设备，先问再做</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实验中遇到拿不准的情况——仪器怎么用、条件能不能改、出现了没见过的现象——先停下来问导师、负责人或带教人。自己乱试可能酿成事故；“慢慢做、小心点”也不能代替弄清楚。</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怕被批评，不懂也不问</a:t>
            </a:r>
          </a:p>
          <a:p>
            <a:pPr>
              <a:spcAft>
                <a:spcPts val="1000"/>
              </a:spcAft>
            </a:pPr>
            <a:r>
              <a:rPr sz="1500">
                <a:solidFill>
                  <a:srgbClr val="222B33"/>
                </a:solidFill>
                <a:latin typeface="Microsoft YaHei"/>
              </a:rPr>
              <a:t>▪ 为了加快进度，擅自放大反应规模或提高温度</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009 · 实验室行为守则</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守则堵住的是暴露途径</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009 实验室行为守则</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有害物进入人体主要有四条路</a:t>
            </a:r>
          </a:p>
          <a:p>
            <a:pPr>
              <a:spcAft>
                <a:spcPts val="1000"/>
              </a:spcAft>
            </a:pPr>
            <a:r>
              <a:rPr sz="2000">
                <a:solidFill>
                  <a:srgbClr val="222B33"/>
                </a:solidFill>
                <a:latin typeface="Microsoft YaHei"/>
              </a:rPr>
              <a:t>▪ 食入、吸入、皮肤接触、刺伤</a:t>
            </a:r>
          </a:p>
          <a:p>
            <a:pPr>
              <a:spcAft>
                <a:spcPts val="1000"/>
              </a:spcAft>
            </a:pPr>
            <a:r>
              <a:rPr sz="2000">
                <a:solidFill>
                  <a:srgbClr val="222B33"/>
                </a:solidFill>
                <a:latin typeface="Microsoft YaHei"/>
              </a:rPr>
              <a:t>▪ 行为守则就是把这些路堵上</a:t>
            </a:r>
          </a:p>
          <a:p>
            <a:pPr>
              <a:spcAft>
                <a:spcPts val="1000"/>
              </a:spcAft>
            </a:pPr>
            <a:r>
              <a:rPr sz="2000">
                <a:solidFill>
                  <a:srgbClr val="222B33"/>
                </a:solidFill>
                <a:latin typeface="Microsoft YaHei"/>
              </a:rPr>
              <a:t>▪ 手上和台面的污染会跟着进嘴</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化学品和病原微生物等有害物质进入人体，主要有四条途径：经口食入、经呼吸道吸入、经皮肤和黏膜接触吸收、经锐器刺伤或割伤进入。</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认为守则只是形式，不理解背后的暴露途径</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009 · 实验室行为守则</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不吃、不喝、不吸烟、不化妆</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009 实验室行为守则</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实验室里不吃不喝，严禁吸烟</a:t>
            </a:r>
          </a:p>
          <a:p>
            <a:pPr>
              <a:spcAft>
                <a:spcPts val="1000"/>
              </a:spcAft>
            </a:pPr>
            <a:r>
              <a:rPr sz="1700">
                <a:solidFill>
                  <a:srgbClr val="222B33"/>
                </a:solidFill>
                <a:latin typeface="Microsoft YaHei"/>
              </a:rPr>
              <a:t>▪ 嚼口香糖、咬笔头、化妆也不行</a:t>
            </a:r>
          </a:p>
          <a:p>
            <a:pPr>
              <a:spcAft>
                <a:spcPts val="1000"/>
              </a:spcAft>
            </a:pPr>
            <a:r>
              <a:rPr sz="1700">
                <a:solidFill>
                  <a:srgbClr val="222B33"/>
                </a:solidFill>
                <a:latin typeface="Microsoft YaHei"/>
              </a:rPr>
              <a:t>▪ 水杯零食书包放在门外</a:t>
            </a:r>
          </a:p>
          <a:p>
            <a:pPr>
              <a:spcAft>
                <a:spcPts val="1000"/>
              </a:spcAft>
            </a:pPr>
            <a:r>
              <a:rPr sz="1700">
                <a:solidFill>
                  <a:srgbClr val="222B33"/>
                </a:solidFill>
                <a:latin typeface="Microsoft YaHei"/>
              </a:rPr>
              <a:t>▪ 吃喝去休息区，先洗手</a:t>
            </a:r>
          </a:p>
          <a:p>
            <a:pPr>
              <a:spcAft>
                <a:spcPts val="1000"/>
              </a:spcAft>
            </a:pPr>
            <a:r>
              <a:rPr sz="1700">
                <a:solidFill>
                  <a:srgbClr val="222B33"/>
                </a:solidFill>
                <a:latin typeface="Microsoft YaHei"/>
              </a:rPr>
              <a:t>▪ 不在实验室休息过夜，通道保持畅通</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手上、台面上、空气中的污染物会通过饮食进入人体，因此实验室工作区内禁止饮食、饮水、嚼口香糖，禁止吸烟（含电子烟），不化妆，不咬笔头、不用手摸脸。水杯、零食和书包放在实验室外或指定的存放区，吃喝到休息区进行，离开实验室……</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在实验台上放水杯，边做实验边喝水</a:t>
            </a:r>
          </a:p>
          <a:p>
            <a:pPr>
              <a:spcAft>
                <a:spcPts val="1000"/>
              </a:spcAft>
            </a:pPr>
            <a:r>
              <a:rPr sz="1500">
                <a:solidFill>
                  <a:srgbClr val="222B33"/>
                </a:solidFill>
                <a:latin typeface="Microsoft YaHei"/>
              </a:rPr>
              <a:t>▪ 在实验室搭折叠床过夜</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009 · 实验室行为守则</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实验冰箱和微波炉不碰食品</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009 实验室行为守则</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试剂冰箱、培养箱不放食物饮料</a:t>
            </a:r>
          </a:p>
          <a:p>
            <a:pPr>
              <a:spcAft>
                <a:spcPts val="1000"/>
              </a:spcAft>
            </a:pPr>
            <a:r>
              <a:rPr sz="2000">
                <a:solidFill>
                  <a:srgbClr val="222B33"/>
                </a:solidFill>
                <a:latin typeface="Microsoft YaHei"/>
              </a:rPr>
              <a:t>▪ 实验室的微波炉不热饭</a:t>
            </a:r>
          </a:p>
          <a:p>
            <a:pPr>
              <a:spcAft>
                <a:spcPts val="1000"/>
              </a:spcAft>
            </a:pPr>
            <a:r>
              <a:rPr sz="2000">
                <a:solidFill>
                  <a:srgbClr val="222B33"/>
                </a:solidFill>
                <a:latin typeface="Microsoft YaHei"/>
              </a:rPr>
              <a:t>▪ 实验用的冰箱只放实验材料</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存放试剂、样品、培养物的冰箱和培养箱，以及实验用的微波炉、烘箱，都可能被化学品或微生物污染，不得存放或加热食品、饮料。同样，食品冰箱不能存放试剂和样品。</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把午饭放进试剂冰箱</a:t>
            </a:r>
          </a:p>
          <a:p>
            <a:pPr>
              <a:spcAft>
                <a:spcPts val="1000"/>
              </a:spcAft>
            </a:pPr>
            <a:r>
              <a:rPr sz="1500">
                <a:solidFill>
                  <a:srgbClr val="222B33"/>
                </a:solidFill>
                <a:latin typeface="Microsoft YaHei"/>
              </a:rPr>
              <a:t>▪ 用实验室微波炉热饭</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009 · 实验室行为守则</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不用手碰，不闻不尝</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009 实验室行为守则</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化学品和产物不用手直接碰</a:t>
            </a:r>
          </a:p>
          <a:p>
            <a:pPr>
              <a:spcAft>
                <a:spcPts val="1000"/>
              </a:spcAft>
            </a:pPr>
            <a:r>
              <a:rPr sz="2000">
                <a:solidFill>
                  <a:srgbClr val="222B33"/>
                </a:solidFill>
                <a:latin typeface="Microsoft YaHei"/>
              </a:rPr>
              <a:t>▪ 不凑近闻，不尝味道</a:t>
            </a:r>
          </a:p>
          <a:p>
            <a:pPr>
              <a:spcAft>
                <a:spcPts val="1000"/>
              </a:spcAft>
            </a:pPr>
            <a:r>
              <a:rPr sz="2000">
                <a:solidFill>
                  <a:srgbClr val="222B33"/>
                </a:solidFill>
                <a:latin typeface="Microsoft YaHei"/>
              </a:rPr>
              <a:t>▪ 取样用刮刀、镊子等工具</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任何化学品、反应产物和样品，都不能用手直接接触，更不能尝味道或凑近容器口闻气味。取用固体用刮刀、药匙或镊子，取用液体用移液器或滴管，并佩戴合适的手套。</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用手指捏取结晶产物</a:t>
            </a:r>
          </a:p>
          <a:p>
            <a:pPr>
              <a:spcAft>
                <a:spcPts val="1000"/>
              </a:spcAft>
            </a:pPr>
            <a:r>
              <a:rPr sz="1500">
                <a:solidFill>
                  <a:srgbClr val="222B33"/>
                </a:solidFill>
                <a:latin typeface="Microsoft YaHei"/>
              </a:rPr>
              <a:t>▪ 凑到瓶口闻未知液体</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009 · 实验室行为守则</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专心操作，不嬉闹</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009 实验室行为守则</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专心操作，做实验时不玩手机</a:t>
            </a:r>
          </a:p>
          <a:p>
            <a:pPr>
              <a:spcAft>
                <a:spcPts val="1000"/>
              </a:spcAft>
            </a:pPr>
            <a:r>
              <a:rPr sz="2000">
                <a:solidFill>
                  <a:srgbClr val="222B33"/>
                </a:solidFill>
                <a:latin typeface="Microsoft YaHei"/>
              </a:rPr>
              <a:t>▪ 不奔跑、不打闹、不搞恶作剧</a:t>
            </a:r>
          </a:p>
          <a:p>
            <a:pPr>
              <a:spcAft>
                <a:spcPts val="1000"/>
              </a:spcAft>
            </a:pPr>
            <a:r>
              <a:rPr sz="2000">
                <a:solidFill>
                  <a:srgbClr val="222B33"/>
                </a:solidFill>
                <a:latin typeface="Microsoft YaHei"/>
              </a:rPr>
              <a:t>▪ 留意周围，发现隐患马上说</a:t>
            </a:r>
          </a:p>
          <a:p>
            <a:pPr>
              <a:spcAft>
                <a:spcPts val="1000"/>
              </a:spcAft>
            </a:pPr>
            <a:r>
              <a:rPr sz="2000">
                <a:solidFill>
                  <a:srgbClr val="222B33"/>
                </a:solidFill>
                <a:latin typeface="Microsoft YaHei"/>
              </a:rPr>
              <a:t>▪ 守规范，数据如实记录</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实验时要专心，不玩手机、不戴耳机听音乐、不闲聊分心。实验室里不奔跑、不打闹、不搞恶作剧——一次推搡就可能打翻试剂瓶、撞倒装置。加热和反应进行中不离开岗位。</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一边操作一边刷手机</a:t>
            </a:r>
          </a:p>
          <a:p>
            <a:pPr>
              <a:spcAft>
                <a:spcPts val="1000"/>
              </a:spcAft>
            </a:pPr>
            <a:r>
              <a:rPr sz="1500">
                <a:solidFill>
                  <a:srgbClr val="222B33"/>
                </a:solidFill>
                <a:latin typeface="Microsoft YaHei"/>
              </a:rPr>
              <a:t>▪ 和同学开玩笑推搡</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009 · 实验室行为守则</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别人的样品先问再动，公用器具用完归位</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009 实验室行为守则</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不认识的瓶子，不要去洗、不要倒</a:t>
            </a:r>
          </a:p>
          <a:p>
            <a:pPr>
              <a:spcAft>
                <a:spcPts val="1000"/>
              </a:spcAft>
            </a:pPr>
            <a:r>
              <a:rPr sz="2000">
                <a:solidFill>
                  <a:srgbClr val="222B33"/>
                </a:solidFill>
                <a:latin typeface="Microsoft YaHei"/>
              </a:rPr>
              <a:t>▪ 自己的样品贴好名字和日期</a:t>
            </a:r>
          </a:p>
          <a:p>
            <a:pPr>
              <a:spcAft>
                <a:spcPts val="1000"/>
              </a:spcAft>
            </a:pPr>
            <a:r>
              <a:rPr sz="2000">
                <a:solidFill>
                  <a:srgbClr val="222B33"/>
                </a:solidFill>
                <a:latin typeface="Microsoft YaHei"/>
              </a:rPr>
              <a:t>▪ 不认识的瓶子先问清楚再动</a:t>
            </a:r>
          </a:p>
          <a:p>
            <a:pPr>
              <a:spcAft>
                <a:spcPts val="1000"/>
              </a:spcAft>
            </a:pPr>
            <a:r>
              <a:rPr sz="2000">
                <a:solidFill>
                  <a:srgbClr val="222B33"/>
                </a:solidFill>
                <a:latin typeface="Microsoft YaHei"/>
              </a:rPr>
              <a:t>▪ 公用器具用了登记，用完归位</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一个真实常见的场景：有人辛苦一周准备好一排样品，离开去休息，回来发现被别人当成废瓶洗掉了。这既毁了别人的工作，也可能因为倒掉未知物质而引发危险。两条教训：不认识的瓶子，不要随便洗或倒；再生气，也不要拿东西撒气。</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把别人没贴标签的样品当废液倒掉</a:t>
            </a:r>
          </a:p>
          <a:p>
            <a:pPr>
              <a:spcAft>
                <a:spcPts val="1000"/>
              </a:spcAft>
            </a:pPr>
            <a:r>
              <a:rPr sz="1500">
                <a:solidFill>
                  <a:srgbClr val="222B33"/>
                </a:solidFill>
                <a:latin typeface="Microsoft YaHei"/>
              </a:rPr>
              <a:t>▪ 借用公用器具不登记、不归还</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009 · 实验室行为守则</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不私自改装仪器设备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009 实验室行为守则</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不拆外壳和防护罩</a:t>
            </a:r>
          </a:p>
          <a:p>
            <a:pPr>
              <a:spcAft>
                <a:spcPts val="1000"/>
              </a:spcAft>
            </a:pPr>
            <a:r>
              <a:rPr sz="2000">
                <a:solidFill>
                  <a:srgbClr val="222B33"/>
                </a:solidFill>
                <a:latin typeface="Microsoft YaHei"/>
              </a:rPr>
              <a:t>▪ 不短接、不屏蔽安全联锁</a:t>
            </a:r>
          </a:p>
          <a:p>
            <a:pPr>
              <a:spcAft>
                <a:spcPts val="1000"/>
              </a:spcAft>
            </a:pPr>
            <a:r>
              <a:rPr sz="2000">
                <a:solidFill>
                  <a:srgbClr val="222B33"/>
                </a:solidFill>
                <a:latin typeface="Microsoft YaHei"/>
              </a:rPr>
              <a:t>▪ 改装维修报负责人，由专业人员做</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仪器设备的外壳、防护罩、安全联锁和报警装置是保护使用者的关键措施。不得私自拆卸外壳和防护罩，不得短接、屏蔽联锁或报警，不得私自改动电路、气路，不得私拉乱接电线、串联插线板。</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嫌联锁麻烦，用胶带把门开关粘住</a:t>
            </a:r>
          </a:p>
          <a:p>
            <a:pPr>
              <a:spcAft>
                <a:spcPts val="1000"/>
              </a:spcAft>
            </a:pPr>
            <a:r>
              <a:rPr sz="1500">
                <a:solidFill>
                  <a:srgbClr val="222B33"/>
                </a:solidFill>
                <a:latin typeface="Microsoft YaHei"/>
              </a:rPr>
              <a:t>▪ 自己拆开仪器“修一修”</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009 · 实验室行为守则</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危险实验不独自做</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009 实验室行为守则</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危险实验不能一个人做</a:t>
            </a:r>
          </a:p>
          <a:p>
            <a:pPr>
              <a:spcAft>
                <a:spcPts val="1000"/>
              </a:spcAft>
            </a:pPr>
            <a:r>
              <a:rPr sz="2000">
                <a:solidFill>
                  <a:srgbClr val="222B33"/>
                </a:solidFill>
                <a:latin typeface="Microsoft YaHei"/>
              </a:rPr>
              <a:t>▪ 身边有人，出事能互相帮忙、及时报警</a:t>
            </a:r>
          </a:p>
          <a:p>
            <a:pPr>
              <a:spcAft>
                <a:spcPts val="1000"/>
              </a:spcAft>
            </a:pPr>
            <a:r>
              <a:rPr sz="2000">
                <a:solidFill>
                  <a:srgbClr val="222B33"/>
                </a:solidFill>
                <a:latin typeface="Microsoft YaHei"/>
              </a:rPr>
              <a:t>▪ 高风险实验按规定至少两人在场</a:t>
            </a:r>
          </a:p>
          <a:p>
            <a:pPr>
              <a:spcAft>
                <a:spcPts val="1000"/>
              </a:spcAft>
            </a:pPr>
            <a:r>
              <a:rPr sz="2000">
                <a:solidFill>
                  <a:srgbClr val="222B33"/>
                </a:solidFill>
                <a:latin typeface="Microsoft YaHei"/>
              </a:rPr>
              <a:t>▪ 至少让人知道你在哪、在做什么</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一个人在实验室做危险实验，一旦受伤、中毒或晕倒，就没有人能及时施救和报警。因此危险性较高的实验（如使用剧毒品、易燃易爆品、高温高压、高能量设备等）不得一个人进行，按本校规定至少两人在场，互相照应。</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夜里一个人做高温高压实验</a:t>
            </a:r>
          </a:p>
          <a:p>
            <a:pPr>
              <a:spcAft>
                <a:spcPts val="1000"/>
              </a:spcAft>
            </a:pPr>
            <a:r>
              <a:rPr sz="1500">
                <a:solidFill>
                  <a:srgbClr val="222B33"/>
                </a:solidFill>
                <a:latin typeface="Microsoft YaHei"/>
              </a:rPr>
              <a:t>▪ 单独工作不告诉任何人</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009 · 实验室行为守则</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夜间节假日实验先报备，不疲劳作业</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009 实验室行为守则</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夜间节假日人少，风险更高</a:t>
            </a:r>
          </a:p>
          <a:p>
            <a:pPr>
              <a:spcAft>
                <a:spcPts val="1000"/>
              </a:spcAft>
            </a:pPr>
            <a:r>
              <a:rPr sz="2000">
                <a:solidFill>
                  <a:srgbClr val="222B33"/>
                </a:solidFill>
                <a:latin typeface="Microsoft YaHei"/>
              </a:rPr>
              <a:t>▪ 先向负责人报备，经同意再做</a:t>
            </a:r>
          </a:p>
          <a:p>
            <a:pPr>
              <a:spcAft>
                <a:spcPts val="1000"/>
              </a:spcAft>
            </a:pPr>
            <a:r>
              <a:rPr sz="2000">
                <a:solidFill>
                  <a:srgbClr val="222B33"/>
                </a:solidFill>
                <a:latin typeface="Microsoft YaHei"/>
              </a:rPr>
              <a:t>▪ 累了就停，不疲劳做实验</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夜间、周末和节假日实验室人少，出了事难以及时发现和救援，风险更高。确需在这些时间做实验的，应按本校规定提前向实验室负责人报备或申请，经同意后进行；高风险操作一般不安排在此时，确需进行的必须两人以上在场。</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节假日偷偷进实验室，不报备</a:t>
            </a:r>
          </a:p>
          <a:p>
            <a:pPr>
              <a:spcAft>
                <a:spcPts val="1000"/>
              </a:spcAft>
            </a:pPr>
            <a:r>
              <a:rPr sz="1500">
                <a:solidFill>
                  <a:srgbClr val="222B33"/>
                </a:solidFill>
                <a:latin typeface="Microsoft YaHei"/>
              </a:rPr>
              <a:t>▪ 连续熬夜做实验</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009 · 实验室行为守则</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无人值守实验：经同意，挂牌留联系方式</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009 实验室行为守则</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加热、反应进行中，人不能走开</a:t>
            </a:r>
          </a:p>
          <a:p>
            <a:pPr>
              <a:spcAft>
                <a:spcPts val="1000"/>
              </a:spcAft>
            </a:pPr>
            <a:r>
              <a:rPr sz="2000">
                <a:solidFill>
                  <a:srgbClr val="222B33"/>
                </a:solidFill>
                <a:latin typeface="Microsoft YaHei"/>
              </a:rPr>
              <a:t>▪ 确需过夜运行，要经负责人同意</a:t>
            </a:r>
          </a:p>
          <a:p>
            <a:pPr>
              <a:spcAft>
                <a:spcPts val="1000"/>
              </a:spcAft>
            </a:pPr>
            <a:r>
              <a:rPr sz="2000">
                <a:solidFill>
                  <a:srgbClr val="222B33"/>
                </a:solidFill>
                <a:latin typeface="Microsoft YaHei"/>
              </a:rPr>
              <a:t>▪ 挂牌写明在做什么、到几点、怎么联系</a:t>
            </a:r>
          </a:p>
          <a:p>
            <a:pPr>
              <a:spcAft>
                <a:spcPts val="1000"/>
              </a:spcAft>
            </a:pPr>
            <a:r>
              <a:rPr sz="2000">
                <a:solidFill>
                  <a:srgbClr val="222B33"/>
                </a:solidFill>
                <a:latin typeface="Microsoft YaHei"/>
              </a:rPr>
              <a:t>▪ 其他设备离开前关闭断电</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加热、回流、蒸馏等反应进行中，操作人不得离开。确需长时间或过夜运行的设备（如培养箱、某些长时间反应），要经实验室负责人同意，确认设备和防护措施可靠（如温控、过热保护、冷却水断流保护），并在设备上挂牌，写明实验内容、负……</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开着电炉加热就去吃饭</a:t>
            </a:r>
          </a:p>
          <a:p>
            <a:pPr>
              <a:spcAft>
                <a:spcPts val="1000"/>
              </a:spcAft>
            </a:pPr>
            <a:r>
              <a:rPr sz="1500">
                <a:solidFill>
                  <a:srgbClr val="222B33"/>
                </a:solidFill>
                <a:latin typeface="Microsoft YaHei"/>
              </a:rPr>
              <a:t>▪ 过夜实验不挂牌、不留联系方式</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009 · 实验室行为守则</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离开前检查水电气门窗</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009 实验室行为守则</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做完实验，关水、断电、关气</a:t>
            </a:r>
          </a:p>
          <a:p>
            <a:pPr>
              <a:spcAft>
                <a:spcPts val="1000"/>
              </a:spcAft>
            </a:pPr>
            <a:r>
              <a:rPr sz="2000">
                <a:solidFill>
                  <a:srgbClr val="222B33"/>
                </a:solidFill>
                <a:latin typeface="Microsoft YaHei"/>
              </a:rPr>
              <a:t>▪ 水电气门窗逐项检查一遍</a:t>
            </a:r>
          </a:p>
          <a:p>
            <a:pPr>
              <a:spcAft>
                <a:spcPts val="1000"/>
              </a:spcAft>
            </a:pPr>
            <a:r>
              <a:rPr sz="2000">
                <a:solidFill>
                  <a:srgbClr val="222B33"/>
                </a:solidFill>
                <a:latin typeface="Microsoft YaHei"/>
              </a:rPr>
              <a:t>▪ 确认无误再锁门离开</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实验结束或最后一个离开实验室时，要逐项检查：水龙头和冷却水是否关闭，不用的设备是否断电，气瓶总阀和燃气阀是否关闭，化学品是否归位，门窗是否关好，然后再锁门离开。很多实验室在门口设有离开前检查表，照表逐项确认。</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最后离开的人没检查就锁门</a:t>
            </a:r>
          </a:p>
          <a:p>
            <a:pPr>
              <a:spcAft>
                <a:spcPts val="1000"/>
              </a:spcAft>
            </a:pPr>
            <a:r>
              <a:rPr sz="1500">
                <a:solidFill>
                  <a:srgbClr val="222B33"/>
                </a:solidFill>
                <a:latin typeface="Microsoft YaHei"/>
              </a:rPr>
              <a:t>▪ 只关灯，不关水和气</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009 · 实验室行为守则</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009 实验室行为守则</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下列做法符合实验室行为守则的是：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实验台上放水杯，口渴时喝一口</a:t>
            </a:r>
          </a:p>
          <a:p>
            <a:pPr algn="l"/>
            <a:r>
              <a:rPr sz="1500" b="0">
                <a:solidFill>
                  <a:srgbClr val="222B33"/>
                </a:solidFill>
                <a:latin typeface="Microsoft YaHei"/>
              </a:rPr>
              <a:t>B. 把午饭放进试剂冰箱</a:t>
            </a:r>
          </a:p>
          <a:p>
            <a:pPr algn="l"/>
            <a:r>
              <a:rPr sz="1500" b="0">
                <a:solidFill>
                  <a:srgbClr val="222B33"/>
                </a:solidFill>
                <a:latin typeface="Microsoft YaHei"/>
              </a:rPr>
              <a:t>C. 水杯零食放在门外，吃喝到休息区并先洗手</a:t>
            </a:r>
          </a:p>
          <a:p>
            <a:pPr algn="l"/>
            <a:r>
              <a:rPr sz="1500" b="0">
                <a:solidFill>
                  <a:srgbClr val="222B33"/>
                </a:solidFill>
                <a:latin typeface="Microsoft YaHei"/>
              </a:rPr>
              <a:t>D. 用实验室微波炉热饭</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判断：只要自己足够小心，危险实验可以一个人在夜里做。</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009 · 实验室行为守则</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009 实验室行为守则</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实验台上有一排没贴标签的瓶子，你不知道是谁的，应当：</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直接洗掉</a:t>
            </a:r>
          </a:p>
          <a:p>
            <a:pPr algn="l"/>
            <a:r>
              <a:rPr sz="1500" b="0">
                <a:solidFill>
                  <a:srgbClr val="222B33"/>
                </a:solidFill>
                <a:latin typeface="Microsoft YaHei"/>
              </a:rPr>
              <a:t>B. 倒进水池</a:t>
            </a:r>
          </a:p>
          <a:p>
            <a:pPr algn="l"/>
            <a:r>
              <a:rPr sz="1500" b="0">
                <a:solidFill>
                  <a:srgbClr val="222B33"/>
                </a:solidFill>
                <a:latin typeface="Microsoft YaHei"/>
              </a:rPr>
              <a:t>C. 先问清楚是谁的，无人认领报告负责人</a:t>
            </a:r>
          </a:p>
          <a:p>
            <a:pPr algn="l"/>
            <a:r>
              <a:rPr sz="1500" b="0">
                <a:solidFill>
                  <a:srgbClr val="222B33"/>
                </a:solidFill>
                <a:latin typeface="Microsoft YaHei"/>
              </a:rPr>
              <a:t>D. 拿来自己用</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一台培养箱需要过夜运行，正确的做法是：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开着就走，第二天再看</a:t>
            </a:r>
          </a:p>
          <a:p>
            <a:pPr algn="l"/>
            <a:r>
              <a:rPr sz="1500" b="0">
                <a:solidFill>
                  <a:srgbClr val="222B33"/>
                </a:solidFill>
                <a:latin typeface="Microsoft YaHei"/>
              </a:rPr>
              <a:t>B. 经负责人同意，挂牌写明实验内容、运行时间和联系电话</a:t>
            </a:r>
          </a:p>
          <a:p>
            <a:pPr algn="l"/>
            <a:r>
              <a:rPr sz="1500" b="0">
                <a:solidFill>
                  <a:srgbClr val="222B33"/>
                </a:solidFill>
                <a:latin typeface="Microsoft YaHei"/>
              </a:rPr>
              <a:t>C. 把门锁好就行</a:t>
            </a:r>
          </a:p>
          <a:p>
            <a:pPr algn="l"/>
            <a:r>
              <a:rPr sz="1500" b="0">
                <a:solidFill>
                  <a:srgbClr val="222B33"/>
                </a:solidFill>
                <a:latin typeface="Microsoft YaHei"/>
              </a:rPr>
              <a:t>D. 请保洁人员帮忙看着</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009 · 实验室行为守则</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009 实验室行为守则</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嫌仪器的安全联锁“太麻烦”，下列哪种做法正确？</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用胶带把联锁开关粘住</a:t>
            </a:r>
          </a:p>
          <a:p>
            <a:pPr algn="l"/>
            <a:r>
              <a:rPr sz="1500" b="0">
                <a:solidFill>
                  <a:srgbClr val="222B33"/>
                </a:solidFill>
                <a:latin typeface="Microsoft YaHei"/>
              </a:rPr>
              <a:t>B. 拆掉防护罩</a:t>
            </a:r>
          </a:p>
          <a:p>
            <a:pPr algn="l"/>
            <a:r>
              <a:rPr sz="1500" b="0">
                <a:solidFill>
                  <a:srgbClr val="222B33"/>
                </a:solidFill>
                <a:latin typeface="Microsoft YaHei"/>
              </a:rPr>
              <a:t>C. 报告负责人，确需改动由专业人员处理</a:t>
            </a:r>
          </a:p>
          <a:p>
            <a:pPr algn="l"/>
            <a:r>
              <a:rPr sz="1500" b="0">
                <a:solidFill>
                  <a:srgbClr val="222B33"/>
                </a:solidFill>
                <a:latin typeface="Microsoft YaHei"/>
              </a:rPr>
              <a:t>D. 自己改接线路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简答：有害物质进入人体的四条主要途径是什么？</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尊重实验室，从自己的行为做起</a:t>
            </a:r>
          </a:p>
          <a:p>
            <a:pPr>
              <a:spcAft>
                <a:spcPts val="800"/>
              </a:spcAft>
            </a:pPr>
            <a:r>
              <a:rPr sz="1500">
                <a:solidFill>
                  <a:srgbClr val="FFFFFF"/>
                </a:solidFill>
                <a:latin typeface="Microsoft YaHei"/>
              </a:rPr>
              <a:t>▪ K2  听从实验室负责人</a:t>
            </a:r>
          </a:p>
          <a:p>
            <a:pPr>
              <a:spcAft>
                <a:spcPts val="800"/>
              </a:spcAft>
            </a:pPr>
            <a:r>
              <a:rPr sz="1500">
                <a:solidFill>
                  <a:srgbClr val="FFFFFF"/>
                </a:solidFill>
                <a:latin typeface="Microsoft YaHei"/>
              </a:rPr>
              <a:t>▪ K3  课前预习：看演示不能代替读讲义</a:t>
            </a:r>
          </a:p>
          <a:p>
            <a:pPr>
              <a:spcAft>
                <a:spcPts val="800"/>
              </a:spcAft>
            </a:pPr>
            <a:r>
              <a:rPr sz="1500">
                <a:solidFill>
                  <a:srgbClr val="FFFFFF"/>
                </a:solidFill>
                <a:latin typeface="Microsoft YaHei"/>
              </a:rPr>
              <a:t>▪ K4  按书面规程做，只做培训过的工作</a:t>
            </a:r>
          </a:p>
          <a:p>
            <a:pPr>
              <a:spcAft>
                <a:spcPts val="800"/>
              </a:spcAft>
            </a:pPr>
            <a:r>
              <a:rPr sz="1500">
                <a:solidFill>
                  <a:srgbClr val="FFFFFF"/>
                </a:solidFill>
                <a:latin typeface="Microsoft YaHei"/>
              </a:rPr>
              <a:t>▪ K5  拿不准就问，不擅改方案</a:t>
            </a:r>
          </a:p>
          <a:p>
            <a:pPr>
              <a:spcAft>
                <a:spcPts val="800"/>
              </a:spcAft>
            </a:pPr>
            <a:r>
              <a:rPr sz="1500">
                <a:solidFill>
                  <a:srgbClr val="FFFFFF"/>
                </a:solidFill>
                <a:latin typeface="Microsoft YaHei"/>
              </a:rPr>
              <a:t>▪ K6  守则堵住的是暴露途径</a:t>
            </a:r>
          </a:p>
          <a:p>
            <a:pPr>
              <a:spcAft>
                <a:spcPts val="800"/>
              </a:spcAft>
            </a:pPr>
            <a:r>
              <a:rPr sz="1500">
                <a:solidFill>
                  <a:srgbClr val="FFFFFF"/>
                </a:solidFill>
                <a:latin typeface="Microsoft YaHei"/>
              </a:rPr>
              <a:t>▪ K7  不吃、不喝、不吸烟、不化妆</a:t>
            </a:r>
          </a:p>
          <a:p>
            <a:pPr>
              <a:spcAft>
                <a:spcPts val="800"/>
              </a:spcAft>
            </a:pPr>
            <a:r>
              <a:rPr sz="1500">
                <a:solidFill>
                  <a:srgbClr val="FFFFFF"/>
                </a:solidFill>
                <a:latin typeface="Microsoft YaHei"/>
              </a:rPr>
              <a:t>▪ K8  实验冰箱和微波炉不碰食品</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K9  不用手碰，不闻不尝</a:t>
            </a:r>
          </a:p>
          <a:p>
            <a:pPr>
              <a:spcAft>
                <a:spcPts val="800"/>
              </a:spcAft>
            </a:pPr>
            <a:r>
              <a:rPr sz="1500">
                <a:solidFill>
                  <a:srgbClr val="FFFFFF"/>
                </a:solidFill>
                <a:latin typeface="Microsoft YaHei"/>
              </a:rPr>
              <a:t>▪ K10  专心操作，不嬉闹</a:t>
            </a:r>
          </a:p>
          <a:p>
            <a:pPr>
              <a:spcAft>
                <a:spcPts val="800"/>
              </a:spcAft>
            </a:pPr>
            <a:r>
              <a:rPr sz="1500">
                <a:solidFill>
                  <a:srgbClr val="FFFFFF"/>
                </a:solidFill>
                <a:latin typeface="Microsoft YaHei"/>
              </a:rPr>
              <a:t>▪ K11  别人的样品先问再动，公用器具用完归位</a:t>
            </a:r>
          </a:p>
          <a:p>
            <a:pPr>
              <a:spcAft>
                <a:spcPts val="800"/>
              </a:spcAft>
            </a:pPr>
            <a:r>
              <a:rPr sz="1500">
                <a:solidFill>
                  <a:srgbClr val="FFFFFF"/>
                </a:solidFill>
                <a:latin typeface="Microsoft YaHei"/>
              </a:rPr>
              <a:t>▪ S1  不私自改装仪器设备</a:t>
            </a:r>
          </a:p>
          <a:p>
            <a:pPr>
              <a:spcAft>
                <a:spcPts val="800"/>
              </a:spcAft>
            </a:pPr>
            <a:r>
              <a:rPr sz="1500">
                <a:solidFill>
                  <a:srgbClr val="FFFFFF"/>
                </a:solidFill>
                <a:latin typeface="Microsoft YaHei"/>
              </a:rPr>
              <a:t>▪ K12  危险实验不独自做</a:t>
            </a:r>
          </a:p>
          <a:p>
            <a:pPr>
              <a:spcAft>
                <a:spcPts val="800"/>
              </a:spcAft>
            </a:pPr>
            <a:r>
              <a:rPr sz="1500">
                <a:solidFill>
                  <a:srgbClr val="FFFFFF"/>
                </a:solidFill>
                <a:latin typeface="Microsoft YaHei"/>
              </a:rPr>
              <a:t>▪ K13  夜间节假日实验先报备，不疲劳作业</a:t>
            </a:r>
          </a:p>
          <a:p>
            <a:pPr>
              <a:spcAft>
                <a:spcPts val="800"/>
              </a:spcAft>
            </a:pPr>
            <a:r>
              <a:rPr sz="1500">
                <a:solidFill>
                  <a:srgbClr val="FFFFFF"/>
                </a:solidFill>
                <a:latin typeface="Microsoft YaHei"/>
              </a:rPr>
              <a:t>▪ K14  无人值守实验：经同意，挂牌留联系方式</a:t>
            </a:r>
          </a:p>
          <a:p>
            <a:pPr>
              <a:spcAft>
                <a:spcPts val="800"/>
              </a:spcAft>
            </a:pPr>
            <a:r>
              <a:rPr sz="1500">
                <a:solidFill>
                  <a:srgbClr val="FFFFFF"/>
                </a:solidFill>
                <a:latin typeface="Microsoft YaHei"/>
              </a:rPr>
              <a:t>▪ K15  离开前检查水电气门窗</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《高校实验室安全》学习课件</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