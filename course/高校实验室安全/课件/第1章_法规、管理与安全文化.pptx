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只发生在“危险专业”。</a:t>
            </a:r>
          </a:p>
          <a:p>
            <a:r>
              <a:t>常见的事故类型包括：化学品溢洒和喷溅、针头和锐器刺伤、实验室获得性感染、火灾和爆炸，以及触电、烫伤、冻伤、机械伤害等。后果轻则皮肤灼伤、眼部损伤，重则致残甚至造成人员死亡。</a:t>
            </a:r>
          </a:p>
          <a:p>
            <a:r>
              <a:t>学习本课程的目的，是在动手之前就知道“哪里可能出事、怎样防止出事、出了事怎么办”。第一次进入实验室时就要建立这种意识，而不是等到发生险情之后才补课。</a:t>
            </a:r>
          </a:p>
          <a:p/>
          <a:p>
            <a:r>
              <a:t>来源：合并了 2 个原知识点，最佳讲解取自 CDC Laboratory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有的同学把安全当成“检查前突击整理、检查表上打勾”的任务。实际上安全是科研活动的前提和基础：没有安全，实验无法持续进行，已经取得的成果也可能因为一次事故毁于一旦。</a:t>
            </a:r>
          </a:p>
          <a:p>
            <a:r>
              <a:t>安全与实验质量、数据可靠性是相互关联的。规范操作、整洁有序的实验环境、准确的记录，既减少事故，也减少污染、差错和数据失真。一个在安全上马虎的实验，往往在质量上同样靠不住。</a:t>
            </a:r>
          </a:p>
          <a:p>
            <a:r>
              <a:t>因此，要把安全要求当作实验方案的一部分来设计和执行，而不是额外的负担。</a:t>
            </a:r>
          </a:p>
          <a:p/>
          <a:p>
            <a:r>
              <a:t>来源：合并了 1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相关资质、项目也可能受到影响。</a:t>
            </a:r>
          </a:p>
          <a:p>
            <a:r>
              <a:t>实验室是共享空间。一个人的不规范操作，可能伤及隔壁实验台的同学、楼内其他人员乃至周边环境；反过来，别人的疏忽也可能波及你。所以安全不只是“管好自己”，还包括提醒他人、及时报告隐患。</a:t>
            </a:r>
          </a:p>
          <a:p/>
          <a:p>
            <a:r>
              <a:t>来源：合并了 2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失等。</a:t>
            </a:r>
          </a:p>
          <a:p>
            <a:r>
              <a:t>在高校，事故还会带来特有的损失：实验停摆导致课题进度延误，长期培养的细胞、菌种、样品和数据报废，学生的学业和毕业时间受到影响，甚至整个课题组、学院的实验室都要停工检查。</a:t>
            </a:r>
          </a:p>
          <a:p>
            <a:r>
              <a:t>认识到事故的全部代价，就会明白：在预防上花的时间和经费，是最划算的投入。</a:t>
            </a:r>
          </a:p>
          <a:p/>
          <a:p>
            <a:r>
              <a:t>来源：合并了 3 个原知识点，最佳讲解取自 Laboratory Ergonomics &amp; RSI 17（详见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a:p>
            <a:r>
              <a:t>因此，本课程要在规则之上更进一步：理解规则背后的原则。遇到新物质、新仪器、新方法时，先识别有哪些危害，再评估风险有多大（与严重程度、可能性、用量和场所有关），然后确定降低风险的措施，并提前做好应急准备。具体的风险评估方法在第 2 章讲解。</a:t>
            </a:r>
          </a:p>
          <a:p>
            <a:r>
              <a:t>懂原则的人，在规则没有写到的地方也能做出正确判断；但懂原则不等于可以不守规则——学校和实验室的规定是底线，必须遵守。</a:t>
            </a:r>
          </a:p>
          <a:p/>
          <a:p>
            <a:r>
              <a:t>来源：合并了 2 个原知识点，最佳讲解取自 ACS College Lab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本课程讲的是高校实验室安全的通用知识和原则。不同实验室的危险源、设备和管理规定差别很大，课程内容不能代替学校、学院组织的安全培训和考核，也不能代替本实验室的安全操作规程和岗前指导。</a:t>
            </a:r>
          </a:p>
          <a:p>
            <a:r>
              <a:t>进入一间实验室前，要按本校规定完成相应的培训和考核，阅读实验室门口的安全信息牌（危险类别、安全责任人、应急联系方式等），熟悉本室的操作规程，并实地确认洗眼器、紧急喷淋、灭火器、急救箱和安全出口的位置。</a:t>
            </a:r>
          </a:p>
          <a:p>
            <a:r>
              <a:t>对于设备用法、化学品性质、操作步骤等任何拿不准的问题，先问实验室负责人、导师或实验室安全员，弄清楚再做。</a:t>
            </a:r>
          </a:p>
          <a:p/>
          <a:p>
            <a:r>
              <a:t>来源：合并了 1 个原知识点，最佳讲解取自 Lab Safety Training Series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规定，安全生产工作坚持安全第一、预防为主、综合治理的方针。“安全第一”指在安全与进度、效率、成本发生冲突时，安全优先；“预防为主”指把工作重点放在事前的风险辨识、隐患排查和教育培训上；“综合治理”指综合运用制度、技术、教育、检查等多种手段，由各方共同承担责任。</a:t>
            </a:r>
          </a:p>
          <a:p>
            <a:r>
              <a:t>高校实验室安全工作同样遵循这一方针（具体表述以《高等学校实验室安全规范》和本校制度的现行文本为准）。落到每个人身上，就是：实验前做好准备和评估，实验中规范操作，发现隐患及时报告，而不是等出了事再补救。</a:t>
            </a:r>
          </a:p>
          <a:p/>
          <a:p>
            <a:r>
              <a:t>来源：补充知识点（依据《中华人民共和国安全生产法》和《高等学校实验室安全规范》，原视频未涉及）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本课程共 15 章：第 1 章法规、管理与安全文化，第 2 章危险源辨识与风险评估，第 3 章通用安全与个人防护，第 4 章消防安全，为全体必修；第 5–13 章分别讲化学品、生物、辐射、电气、激光与光学、机械与设备、气瓶低温与气体、特种作业与工程施工、人机工效与职业健康，按所在实验室的危险类别选修；第 14 章应急处置与事故调查为全体必修；第 15 章实验基本技能按专业选学。</a:t>
            </a:r>
          </a:p>
          <a:p>
            <a:r>
              <a:t>每节课包括一段卡通视频、一份知识点详细内容说明书、一份学习课件和课后练习。建议先看视频建立整体印象，再读说明书掌握细节，最后完成练习检验理解。</a:t>
            </a:r>
          </a:p>
          <a:p>
            <a:r>
              <a:t>学习时要带着问题：我的实验用了哪些物质和设备？可能出什么事？应该怎样防护和应急？把课程内容和自己的实际工作对照起来，才能真正用得上。</a:t>
            </a:r>
          </a:p>
          <a:p/>
          <a:p>
            <a:r>
              <a:t>来源：补充知识点（依据本课程大纲，原视频未涉及）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答案：C。解析：医疗费、赔偿金属于直接成本；停工、调查、误工和进度延误属于间接成本。</a:t>
            </a:r>
          </a:p>
          <a:p>
            <a:r>
              <a:t>第 2 题 答案：A。解析：《中华人民共和国安全生产法》规定安全生产工作坚持安全第一、预防为主、综合治理的方针，高校实验室同样遵循。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答案：B。解析：本课程只讲通用要点，不能代替学校、学院和本实验室的培训考核与操作规程。</a:t>
            </a:r>
          </a:p>
          <a:p>
            <a:r>
              <a:t>第 4 题 答案：B。解析：本课程强调“懂原则、会评估”，新情况先评估风险，并向实验室负责人或老师确认后再操作。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答案：人员的生命健康、仪器设备、样品和数据、单位继续开展科研的资格。解析：见 K3。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个安全的实验室应当是什么样”。</a:t>
            </a:r>
          </a:p>
          <a:p>
            <a:r>
              <a:t>其他国家和地区也有各自的实验室安全法规和标准，例如针对实验室化学品暴露的专门标准。学习时可以把它们作为了解国际通行做法的背景，但其中的数值、豁免条件和机构要求不能直接搬用。在我国高校做实验，必须遵守我国法律法规、国家标准和本校规定。</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位素与射线装置安全和防护条例）；部门规章和规范性文件（由国务院各部门制定，多称“办法”“规定”“规范”，如易制爆危险化学品治安管理办法，以及教育部发布的高等学校实验室安全规范）；此外还有地方性法规和地方政府规章。</a:t>
            </a:r>
          </a:p>
          <a:p>
            <a:r>
              <a:t>标准是技术层面的依据，分为国家标准、行业标准、地方标准、团体标准和企业标准。国家标准中，代号 GB 的是强制性标准，必须执行；GB/T 是推荐性标准，但被法规或合同引用时同样要遵守。</a:t>
            </a:r>
          </a:p>
          <a:p>
            <a:r>
              <a:t>学校、学院和实验室依据上述法规制定本单位的管理办法和操作规程，内容最具体，是每个人日常必须遵守的规定。下位规定不得与上位法冲突；遇到不一致时，按上位法和更严格的要求执行。</a:t>
            </a:r>
          </a:p>
          <a:p/>
          <a:p>
            <a:r>
              <a:t>来源：补充知识点（依据《中华人民共和国立法法》《中华人民共和国标准化法》的层级规定，原视频未涉及）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在法律上的核心义务，是为所有人员提供安全的工作条件，保障他们的安全和健康。这不在于实验室装修多漂亮、发了多少新装备，而在于危险源是否得到有效控制、人员是否得到培训和防护、隐患是否及时整改。</a:t>
            </a:r>
          </a:p>
          <a:p>
            <a:r>
              <a:t>《中华人民共和国安全生产法》规定了单位的安全生产主体责任，主要负责人对本单位安全工作全面负责；《中华人民共和国职业病防治法》规定了用人单位防治职业病危害的责任。缺氧和有限空间作业等高风险作业还有专门的标准和规定（第 12 章讲解）。</a:t>
            </a:r>
          </a:p>
          <a:p>
            <a:r>
              <a:t>在高校，这些责任通过学校—学院—实验室三级管理逐级落实，实验室负责人是本实验室安全的第一责任人（第 4 课详讲）。具体条款以现行文本和本校规定为准。</a:t>
            </a:r>
          </a:p>
          <a:p/>
          <a:p>
            <a:r>
              <a:t>来源：合并了 2 个原知识点，最佳讲解取自 Laboratory Ergonomics &amp; RSI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 课的隐患整改就是这一要求在实验室的落实。</a:t>
            </a:r>
          </a:p>
          <a:p>
            <a:r>
              <a:t>《中华人民共和国职业病防治法》要求用人单位辨识工作场所的职业病危害因素，如实告知劳动者，进行职业卫生培训，提供合格的个人防护用品，并按规定组织职业健康检查。在高校，接触化学毒物、放射性、噪声、粉尘等危害的人员同样适用相关要求。</a:t>
            </a:r>
          </a:p>
          <a:p>
            <a:r>
              <a:t>具体条款和限值以现行文本和本校规定为准。</a:t>
            </a:r>
          </a:p>
          <a:p/>
          <a:p>
            <a:r>
              <a:t>来源：合并了 1 个原知识点，最佳讲解取自 Laboratory Ergonomics &amp; RSI 09（详见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《中华人民共和国消防法》规定，任何单位和个人都有维护消防安全、保护消防设施、预防火灾、报告火警的义务；任何人发现火灾都应当立即报警，任何单位和个人都应当无偿为报警提供便利。</a:t>
            </a:r>
          </a:p>
          <a:p>
            <a:r>
              <a:t>在实验室里，这意味着：不得损坏、挪用或者擅自拆除、停用消防设施和器材，不得占用、堵塞、封闭疏散通道和安全出口，不得遮挡消防设施；发现火灾立即拨打 119，同时按本校程序报告实验室负责人、学院和保卫处。</a:t>
            </a:r>
          </a:p>
          <a:p>
            <a:r>
              <a:t>火灾自动报警系统、自动喷水灭火系统、灭火器、消防安全标志等都有相应的国家标准（如 GB 4351-2023、GB 13495.1-2015，以现行文本为准）。消防安全的具体知识在第 4 章讲解。</a:t>
            </a:r>
          </a:p>
          <a:p/>
          <a:p>
            <a:r>
              <a:t>来源：合并了 1 个原知识点，最佳讲解取自 Laboratory Ergonomics &amp; RSI 04（详见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的生产、储存、使用、经营、运输等环节作出规定，并设专章规定“使用安全”。学校、科研机构使用危险化学品的，属于该法规定的责任主体；该法要求危险化学品附有中文的化学品安全技术说明书和安全标签。《危险化学品安全管理条例》目前仍同时适用，具体以现行文本为准。</a:t>
            </a:r>
          </a:p>
          <a:p>
            <a:r>
              <a:t>此外，易制毒化学品按《易制毒化学品管理条例》管理，易制爆危险化学品按《易制爆危险化学品治安管理办法》管理，购买、储存、使用、处置都有登记和报告要求；剧毒化学品实行双人收发、双人保管、双人领取、双把锁、双本账的“五双”管理（以本校规定为准）。</a:t>
            </a:r>
          </a:p>
          <a:p>
            <a:r>
              <a:t>废弃危险化学品的处置依照生态环境保护法律法规执行。化学品安全的具体要求在第 5 章讲解。</a:t>
            </a:r>
          </a:p>
          <a:p/>
          <a:p>
            <a:r>
              <a:t>来源：补充知识点（依据《中华人民共和国危险化学品安全法》《危险化学品安全管理条例》等，原视频未涉及）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水平分为一级、二级、三级、四级，规定了不同级别实验室可从事的实验活动、备案和审批要求。</a:t>
            </a:r>
          </a:p>
          <a:p>
            <a:r>
              <a:t>病原微生物的分类以国家卫生健康委发布的《人间传染的病原微生物目录》（2023 年版，以现行版本为准）等为依据；实验室的技术要求见 GB 19489-2008（以现行文本为准）《实验室 生物安全通用要求》和 WS 233（以现行文本为准）。</a:t>
            </a:r>
          </a:p>
          <a:p>
            <a:r>
              <a:t>涉及转基因的研究，依据生物安全法、《农业转基因生物安全管理条例》（涉及农业转基因生物时）和单位生物安全委员会的审查要求开展。生物安全的具体要求在第 6 章讲解。</a:t>
            </a:r>
          </a:p>
          <a:p/>
          <a:p>
            <a:r>
              <a:t>来源：补充知识点（依据《中华人民共和国生物安全法》《病原微生物实验室生物安全管理条例》等，原视频未涉及）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术要求见 GB 18871-2002（以现行文本为准）。具体内容在第 7 章讲解。</a:t>
            </a:r>
          </a:p>
          <a:p>
            <a:r>
              <a:t>气瓶、压力容器（如部分高压灭菌器、反应釜）、电梯、起重机械等属于特种设备，适用《中华人民共和国特种设备安全法》，须定期检验，作业人员按规定持证上岗；气瓶还要遵守 TSG 23《气瓶安全技术规程》（以现行文本为准）。具体内容在第 10、11 章讲解。</a:t>
            </a:r>
          </a:p>
          <a:p>
            <a:r>
              <a:t>实验室产生的废液、废弃化学品、沾染危险物质的包装物等属于危险废物的，依照《中华人民共和国固体废物污染环境防治法》和《国家危险废物名录》（以现行版本为准）管理，分类收集、规范贮存、交有资质的单位处置，严禁倒入下水道或混入生活垃圾。</a:t>
            </a:r>
          </a:p>
          <a:p/>
          <a:p>
            <a:r>
              <a:t>来源：补充知识点（依据《中华人民共和国放射性污染防治法》《中华人民共和国特种设备安全法》《中华人民共和国固体废物污染环境防治法》等，原视频未涉及）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的选择使用、特殊作业的安全措施。因此，进入实验室装修、维修的外来人员同样要遵守相关标准和学校规定。</a:t>
            </a:r>
          </a:p>
          <a:p>
            <a:r>
              <a:t>行业实践和技术进步往往走在前面，推动标准不断修订完善。很多标准近年已更新（如 GB 2894-2025《安全色和安全标志》、GB 14866-2023《眼面防护具通用技术规范》，以现行文本为准），引用和执行时要确认使用的是现行版本，已废止的标准不再作为依据。</a:t>
            </a:r>
          </a:p>
          <a:p/>
          <a:p>
            <a:r>
              <a:t>来源：合并了 2 个原知识点，最佳讲解取自 Lab Safety Training - Essential Protocols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门监管）；消防救援机构负责消防监督检查；公安机关负责剧毒化学品、易制爆和易制毒化学品等的治安管理；生态环境部门负责辐射安全许可和危险废物等环境监管；市场监督管理部门负责特种设备安全监察。</a:t>
            </a:r>
          </a:p>
          <a:p>
            <a:r>
              <a:t>教育部门对高校实验室安全工作进行指导和督查，学校内部则通过三级管理落实责任。各部门的具体职责以现行法律法规和机构职能规定为准。了解监管分工，有助于明白各项手续（如采购备案、许可、检验）为什么必须办、找谁办。</a:t>
            </a:r>
          </a:p>
          <a:p/>
          <a:p>
            <a:r>
              <a:t>来源：合并了 1 个原知识点，最佳讲解取自 Laboratory Ergonomics &amp; RSI 32（详见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在上述法律法规和标准之外，教育部针对高校实验室发布了《高等学校实验室安全规范》（教科信厅函〔2023〕5 号），对责任体系、分级分类、教育培训与准入、风险评估、安全设施、各类危险源管理、检查与应急等提出要求；教育部还组织制定高校实验室安全检查项目表，作为学校自查和上级检查的依据（均以现行文本为准）。</a:t>
            </a:r>
          </a:p>
          <a:p>
            <a:r>
              <a:t>各高校据此制定本校的实验室安全管理办法、准入制度和各类专项规定，学院和实验室再制定具体的操作规程。对学生来说，本校和本实验室的制度是最具体、最直接要遵守的规定。第 3 课将详细介绍《高等学校实验室安全规范》和检查项目表。</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答案：B。解析：行政法规由国务院制定，多以“条例”命名；A 是法律，C 是部门规章，D 是国家标准。</a:t>
            </a:r>
          </a:p>
          <a:p>
            <a:r>
              <a:t>第 2 题 答案：C。解析：该法于 2025 年 12 月 27 日通过，2026 年 5 月 1 日起施行。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答案：B。解析：推荐性标准被法规、合同或本校制度引用时同样要遵守；GB 强制性标准必须执行。</a:t>
            </a:r>
          </a:p>
          <a:p>
            <a:r>
              <a:t>第 4 题 答案：C。解析：危险废物依照固体废物污染环境防治法和国家危险废物名录管理，严禁倒入下水道。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答案：A。解析：气瓶、压力容器属于特种设备，适用特种设备安全法，并须定期检验。</a:t>
            </a:r>
          </a:p>
          <a:p>
            <a:r>
              <a:t>第 6 题 答案：安全风险分级管控和隐患排查治理。解析：事前辨识危险源、评估并分级管控风险；定期排查隐患并及时治理、复查，形成闭环。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《高等学校实验室安全规范》由教育部办公厅于 2023 年印发（教科信厅函〔2023〕5 号），是针对高校实验室安全工作的专门规范性文件。它以安全生产、消防、危险化学品、生物安全、辐射安全等法律法规为基础，结合高校实验室人员流动大、学科门类多、危险源分散等特点，对高校实验室安全管理提出系统要求。</a:t>
            </a:r>
          </a:p>
          <a:p>
            <a:r>
              <a:t>规范适用于高校开展教学、科研活动的各类实验室（含实验场所）。各高校依据规范制定或修订本校的实验室安全管理办法、准入、检查、应急等制度，学院和实验室再细化为具体规程。学生日常遵守的本校制度，背后就是规范和上位法的要求。</a:t>
            </a:r>
          </a:p>
          <a:p>
            <a:r>
              <a:t>规范的具体条文以现行文本为准；本课介绍其主要内容，各项要求在后续各章中展开。</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须接受安全教育培训并考核合格；四是风险管控与隐患排查，对实验项目和危险源进行风险评估、分级管控，开展安全检查并对隐患闭环整改；五是应急管理，制定应急预案、配备应急设施并开展演练；六是条件保障，学校在经费、人员、设施等方面予以保障。</a:t>
            </a:r>
          </a:p>
          <a:p>
            <a:r>
              <a:t>此外，规范对危险化学品、病原微生物、放射性物质和射线装置、机电设备、特种设备、激光、废弃物等各类危险源的管理分别提出要求。这些要求就是本课程第 3 章至第 14 章的主要内容。</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分级。</a:t>
            </a:r>
          </a:p>
          <a:p>
            <a:r>
              <a:t>很多高校将实验室按风险由高到低分为若干级，并用红、橙、黄、蓝等颜色在信息牌上标识。级别越高，管控要求越严：准入培训更严格、进出需授权登记、检查频次更高、对危险源的数量和存放条件要求更严。低风险实验室也要管理，只是要求相对简单。</a:t>
            </a:r>
          </a:p>
          <a:p>
            <a:r>
              <a:t>分级的具体标准、级数和颜色以本校规定为准。实验内容、危险源发生变化时，实验室的级别和信息牌也要相应调整。</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a:p>
            <a:r>
              <a:t>因此，判断管理要求不能只看“清单上有什么物质”，而要看实际在做什么：用量多少、是否加热加压、是否产生气溶胶或蒸气、在什么场所、由谁操作。这也是第 2 章风险评估要解决的问题。</a:t>
            </a:r>
          </a:p>
          <a:p>
            <a:r>
              <a:t>当用量增加、操作条件改变或换到新场所时，要重新评估风险并相应调整措施。</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主要的安全操作规程和应急处置流程。</a:t>
            </a:r>
          </a:p>
          <a:p>
            <a:r>
              <a:t>信息牌的作用之一，是让不熟悉实验室的人——新同学、访客、维修人员，尤其是火灾或事故时赶来的救援人员——在进门之前就知道里面有什么危险、该采取什么防护、该联系谁。</a:t>
            </a:r>
          </a:p>
          <a:p>
            <a:r>
              <a:t>信息牌必须准确、及时：新进了危险化学品或开展新的危险性实验，要对照化学品安全技术说明书（SDS）更新危险类别和防护要求；责任人、电话变更要立即更换。信息过期或不全的信息牌，等于没有挂。</a:t>
            </a:r>
          </a:p>
          <a:p/>
          <a:p>
            <a:r>
              <a:t>来源：合并了 1 个原知识点，最佳讲解取自 Microbiology Biosafety 23（详见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很多高校要求进入实验室的人员签订安全承诺书（或安全责任书），承诺遵守学校和实验室的安全制度、规范操作、及时报告隐患。签字是一种郑重的承诺，也意味着本人知晓并愿意承担相应责任。</a:t>
            </a:r>
          </a:p>
          <a:p>
            <a:r>
              <a:t>但承诺的意义在于落实到每天的行动：进门时按要求穿好实验服、戴好防护用品，查看仪器使用记录和交接信息；实验中遵守规程；离开前检查并关闭水、电、气，关好门窗，按本实验室的离室检查清单逐项确认。</a:t>
            </a:r>
          </a:p>
          <a:p/>
          <a:p>
            <a:r>
              <a:t>来源：合并了 1 个原知识点，最佳讲解取自 Laboratory Ergonomics &amp; RSI 34（详见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教育部组织制定的高校实验室安全检查项目表，把规范和相关法规的要求细化为一条条可检查的条目，是学校、学院、实验室自查和上级部门检查的依据。</a:t>
            </a:r>
          </a:p>
          <a:p>
            <a:r>
              <a:t>项目表大体可分为两部分（具体类别和条目以教育部发布的现行版本为准）：管理类，包括责任体系、规章制度、安全宣传教育与培训、安全检查等；现场类，包括实验场所、安全设施、基础安全，以及化学、生物、辐射、机电、特种设备和常规冷热设备等专项安全。</a:t>
            </a:r>
          </a:p>
          <a:p>
            <a:r>
              <a:t>检查中问题较集中的往往是：危险化学品的存放和台账、气瓶的固定和管理、消防器材和疏散通道、用电线路和插座、废弃物的收集存放、个人防护等。平时对照项目表逐项自查，是发现问题、避免“临检突击”的最有效办法。</a:t>
            </a:r>
          </a:p>
          <a:p/>
          <a:p>
            <a:r>
              <a:t>来源：补充知识点（依据教育部高校实验室安全检查项目表，原视频未涉及）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高校实验室安全检查分层开展：学校层面组织定期和专项检查，学院（二级单位）开展定期巡查，实验室负责人和安全员组织日常自查。教育部等上级部门也会按检查项目表对高校进行检查或抽查。</a:t>
            </a:r>
          </a:p>
          <a:p>
            <a:r>
              <a:t>检查的目的是发现和消除隐患，而不是“过关”。把杂物塞进柜子、临时补记录的突击做法，既掩盖了问题，也可能制造新的隐患（如堵塞柜内通风、混放不相容物质）。真正有效的迎检准备就是平时按规范做到位。</a:t>
            </a:r>
          </a:p>
          <a:p>
            <a:r>
              <a:t>检查发现的问题要登记、整改并复查；存在重大隐患的，要立即停止相关实验或停用相关设备，整改合格后才能恢复。日常自查、隐患分级和整改闭环的具体方法在第 5 课讲解。</a:t>
            </a:r>
          </a:p>
          <a:p/>
          <a:p>
            <a:r>
              <a:t>来源：合并了 1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答案：A。解析：规范由教育部办公厅于 2023 年印发，文号为教科信厅函〔2023〕5 号。</a:t>
            </a:r>
          </a:p>
          <a:p>
            <a:r>
              <a:t>第 2 题 答案：B。解析：风险取决于用量、操作方式和场所，管理要求按实际在做的工作来定。</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答案：D。解析：信息牌写明危险类别、安全责任人、防护要求和应急电话等，供进入人员和救援人员识别。</a:t>
            </a:r>
          </a:p>
          <a:p>
            <a:r>
              <a:t>第 4 题 答案：B。解析：突击藏匿会掩盖问题并可能造成混放等新隐患，迎检应靠平时做到位。</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答案：关水、关电、关气，关好门窗，按本实验室离室检查清单逐项确认。解析：安全承诺要落实到每天的行动。</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的组织落实、培训和检查；实验室层面负责本室的日常安全管理，实验室负责人是本实验室安全的第一责任人（各级责任人的具体称谓和分工以《高等学校实验室安全规范》和本校规定为准）。</a:t>
            </a:r>
          </a:p>
          <a:p>
            <a:r>
              <a:t>责任链条的意义在于“事事有人管、人人有专责”。但这并不意味着安全只是负责人的事：按照安全生产法确立的全员安全生产责任制精神，从校领导到每一名进入实验室的学生，都在自己的岗位上承担相应责任，首先要对自己的安全负责，也要关心他人的安全。</a:t>
            </a:r>
          </a:p>
          <a:p>
            <a:r>
              <a:t>进入一个实验室，首先要知道这条链条上的人分别是谁、怎么联系。</a:t>
            </a:r>
          </a:p>
          <a:p/>
          <a:p>
            <a:r>
              <a:t>来源：合并了 11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全经费。</a:t>
            </a:r>
          </a:p>
          <a:p>
            <a:r>
              <a:t>实验室负责人在本室范围内落实这些要求：申请和维护安全设施，淘汰老化、不合格的设备，确保防护用品数量和型号满足实验需要。学生发现设施设备缺失、损坏或防护用品不足时，应及时向负责人反映，而不是将就使用。</a:t>
            </a:r>
          </a:p>
          <a:p/>
          <a:p>
            <a:r>
              <a:t>来源：合并了 2 个原知识点，最佳讲解取自 Lab Safety Training - Essential Protocols 21（详见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是新实验和高风险实验；保障安全设施和个人防护用品配备到位；组织进入本室人员的安全培训和准入；组织日常安全检查，督促隐患整改；发生事故时组织处置并按规定报告。</a:t>
            </a:r>
          </a:p>
          <a:p>
            <a:r>
              <a:t>负责人可以指定实验室安全员协助日常管理，但第一责任不因此转移。生物安全负责人、辐射安全负责人等专项职责分别在第 6 章、第 7 章讲解。</a:t>
            </a:r>
          </a:p>
          <a:p/>
          <a:p>
            <a:r>
              <a:t>来源：合并了 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a:p>
            <a:r>
              <a:t>代理人的姓名和联系方式应在门口信息牌或实验室显著位置写明，确保出现紧急情况时，实验室成员和救援人员能找到拿主意的人。负责人返回后，代理人应交接期间发生的情况。</a:t>
            </a:r>
          </a:p>
          <a:p/>
          <a:p>
            <a:r>
              <a:t>来源：合并了 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组织、巡查检查、隐患督办和信息上报；保卫部门负责消防、治安和突发事件的应急联动。</a:t>
            </a:r>
          </a:p>
          <a:p>
            <a:r>
              <a:t>这些人员是实验室安全的重要资源：安全培训的报名、准入考核、危险化学品和废弃物的管理流程、安全设施的报修，以及对某项操作是否安全拿不准时的咨询，都可以找他们。</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检查和应急演练，参与编写操作规程和应急预案；参与事故和未遂事件的调查。</a:t>
            </a:r>
          </a:p>
          <a:p>
            <a:r>
              <a:t>安全员看到危险操作时，有责任当场提醒和叫停；发现隐患要及时报告实验室负责人，必要时报学院。安全员的职责是管安全，而不是盯实验进度、催产出——风险评估、合规检查、事故调查才是其主要工作。</a:t>
            </a:r>
          </a:p>
          <a:p/>
          <a:p>
            <a:r>
              <a:t>来源：合并了 4 个原知识点，最佳讲解取自 ACS Hazard Communication &amp; Safety 05（详见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导师是学生安全意识的第一示范者。导师自己严格遵守规定、规范穿戴防护，在组会上经常讲安全、分享险情和教训，看到问题当场指出，学生才会真正重视安全。</a:t>
            </a:r>
          </a:p>
          <a:p>
            <a:r>
              <a:t>研究生带本科生、老同学带新同学，同样承担带教责任。带教要遵循“先示范、再看着做、确认会了再放手”的顺序：先完整演示正确操作并讲清危险点，再让新人在旁监督下操作，确认其能独立、正确完成后，才允许单独操作。没有学会的操作、没有通过考核的设备，不能让新人单独上手。</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论是教师、学生，还是外来的维修、施工人员，只要进入实验室，就对安全负有责任。按照“谁使用、谁负责”的原则，每个人对自己的操作和所用的设备、试剂负责：参加培训，熟悉规程，严格按规程操作，不图省事、不走捷径。</a:t>
            </a:r>
          </a:p>
          <a:p>
            <a:r>
              <a:t>发现电线破损、设备异常、试剂泄漏等问题时，要及时报告，并在设备上挂“停用”标识，不要擅自拆修（电气维修须由持证电工进行）。实验中出现异常情况，先停下来、确保安全，再报告负责人。报告了，问题才能被及时处理。</a:t>
            </a:r>
          </a:p>
          <a:p/>
          <a:p>
            <a:r>
              <a:t>来源：合并了 5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的紧急情况时停止作业或者在采取可能的应急措施后撤离作业场所的权利。高校实验室中，学生和教职工同样应当享有相应的安全保障（具体以本校规定为准）。</a:t>
            </a:r>
          </a:p>
          <a:p>
            <a:r>
              <a:t>具体来说：你有权在实验前了解所用物质和设备的危险以及防护措施；遇到违反规定的要求或明显冒险的作业，有权拒绝，并可向学院或学校实验室安全管理部门报告；情况危急时，可以先停下、先撤离；如实报告隐患和未遂事件，学校鼓励并保护报告人，不应因此受到打击报复。</a:t>
            </a:r>
          </a:p>
          <a:p/>
          <a:p>
            <a:r>
              <a:t>来源：合并了 2 个原知识点，最佳讲解取自 Laboratory Ergonomics &amp; RSI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每间实验室门口的安全信息牌上都写有安全责任人和应急联系电话。进入实验室前，要先把这些联系方式记下来（存入手机），同时记住学院安全管理员、学校保卫处和实验室安全管理部门的电话。</a:t>
            </a:r>
          </a:p>
          <a:p>
            <a:r>
              <a:t>出现问题时，按本校程序逐级报告：先报告实验室负责人（或其代理人），再报学院，由学院报保卫处或实验室安全管理部门；情况紧急时可同时报告。发生火灾立即拨打 119，有人受伤需要急救时拨打 120，并在报警后向负责人和学校报告。</a:t>
            </a:r>
          </a:p>
          <a:p/>
          <a:p>
            <a:r>
              <a:t>来源：合并了 1 个原知识点，最佳讲解取自 BIORISK MANAGEMENT 25（详见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为把责任落实到人，学校与学院、学院与实验室之间通常逐级签订安全责任书，进入实验室的个人签订安全承诺书，明确各自的责任和义务。</a:t>
            </a:r>
          </a:p>
          <a:p>
            <a:r>
              <a:t>签字不是形式。学校会通过检查和考核了解各级责任是否落实，把实验室安全工作纳入单位和个人的考核：做得好的给予表彰，失职、渎职造成隐患或事故的，依照有关规定追究责任（具体以本校规定为准）。</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答案：B。解析：实验室负责人是本实验室安全的第一责任人；安全员协助日常管理，第一责任不因此转移。</a:t>
            </a:r>
          </a:p>
          <a:p>
            <a:r>
              <a:t>第 2 题 答案：C。解析：安全员管安全，不负责盯实验进度。</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答案：A。解析：对违章指挥和冒险作业，有权拒绝并报告。</a:t>
            </a:r>
          </a:p>
          <a:p>
            <a:r>
              <a:t>第 4 题 答案：B。解析：带教要先示范、再监督操作，确认能独立正确完成后才放手。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答案：实验室负责人→学院→保卫处或实验室安全管理部门；着火打 119，有人受伤打 120。解析：见 K10，紧急时可同时报告。</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课程导学：从规则到风险管理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适用对象：全体进入高校实验室的本科生、研究生、新进教职工和博士后（必修，建议入学或进入实验室前学习）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能说出实验室常见事故类型，以及一次实验同时关系到的人员、设备、样品数据和单位科研资格。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能区分事故的直接成本与间接成本，说出高校事故特有的损失。</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能说明“安全第一、预防为主、综合治理”方针和“从背规则到懂原则、会评估”的学习思路。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能做到：明白本课程不能代替学校、学院和本实验室的培训与操作规程，遇到不确定的情况先问再做。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《中华人民共和国安全生产法》（以现行文本为准）：安全生产工作坚持安全第一、预防为主、综合治理的方针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号）：实验室安全工作的总体要求、安全教育培训与准入（以现行文本为准）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教育部高校实验室安全检查项目表（以现行文本为准）：安全教育与培训类检查项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本校实验室安全管理办法、准入制度和本实验室安全操作规程（以本校规定为准）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实验室事故离我们不远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实验室事故每年都在发生，不是偶然个例</a:t>
            </a:r>
          </a:p>
          <a:p>
            <a:pPr>
              <a:spcAft>
                <a:spcPts val="1000"/>
              </a:spcAft>
            </a:pPr>
            <a:r>
              <a:rPr sz="2000">
                <a:solidFill>
                  <a:srgbClr val="222B33"/>
                </a:solidFill>
                <a:latin typeface="Microsoft YaHei"/>
              </a:rPr>
              <a:t>▪ 常见类型：溢洒、针刺、感染、火灾和爆炸</a:t>
            </a:r>
          </a:p>
          <a:p>
            <a:pPr>
              <a:spcAft>
                <a:spcPts val="1000"/>
              </a:spcAft>
            </a:pPr>
            <a:r>
              <a:rPr sz="2000">
                <a:solidFill>
                  <a:srgbClr val="222B33"/>
                </a:solidFill>
                <a:latin typeface="Microsoft YaHei"/>
              </a:rPr>
              <a:t>▪ 严重时可致伤、致残甚至死亡</a:t>
            </a:r>
          </a:p>
          <a:p>
            <a:pPr>
              <a:spcAft>
                <a:spcPts val="1000"/>
              </a:spcAft>
            </a:pPr>
            <a:r>
              <a:rPr sz="2000">
                <a:solidFill>
                  <a:srgbClr val="222B33"/>
                </a:solidFill>
                <a:latin typeface="Microsoft YaHei"/>
              </a:rPr>
              <a:t>▪ 安全意识要从第一次进实验室开始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认为事故只发生在别人身上或“危险专业”</a:t>
            </a:r>
          </a:p>
          <a:p>
            <a:pPr>
              <a:spcAft>
                <a:spcPts val="1000"/>
              </a:spcAft>
            </a:pPr>
            <a:r>
              <a:rPr sz="1500">
                <a:solidFill>
                  <a:srgbClr val="222B33"/>
                </a:solidFill>
                <a:latin typeface="Microsoft YaHei"/>
              </a:rPr>
              <a:t>▪ 觉得自己只做简单实验，不需要学安全知识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安全是科研的地基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安全不是为了应付检查打勾</a:t>
            </a:r>
          </a:p>
          <a:p>
            <a:pPr>
              <a:spcAft>
                <a:spcPts val="1000"/>
              </a:spcAft>
            </a:pPr>
            <a:r>
              <a:rPr sz="2000">
                <a:solidFill>
                  <a:srgbClr val="222B33"/>
                </a:solidFill>
                <a:latin typeface="Microsoft YaHei"/>
              </a:rPr>
              <a:t>▪ 安全像地基，托起所有科研活动</a:t>
            </a:r>
          </a:p>
          <a:p>
            <a:pPr>
              <a:spcAft>
                <a:spcPts val="1000"/>
              </a:spcAft>
            </a:pPr>
            <a:r>
              <a:rPr sz="2000">
                <a:solidFill>
                  <a:srgbClr val="222B33"/>
                </a:solidFill>
                <a:latin typeface="Microsoft YaHei"/>
              </a:rPr>
              <a:t>▪ 安全、质量、数据三者密不可分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有的同学把安全当成“检查前突击整理、检查表上打勾”的任务。实际上安全是科研活动的前提和基础：没有安全，实验无法持续进行，已经取得的成果也可能因为一次事故毁于一旦。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平时不管，检查前突击整改、补记录</a:t>
            </a:r>
          </a:p>
          <a:p>
            <a:pPr>
              <a:spcAft>
                <a:spcPts val="1000"/>
              </a:spcAft>
            </a:pPr>
            <a:r>
              <a:rPr sz="1500">
                <a:solidFill>
                  <a:srgbClr val="222B33"/>
                </a:solidFill>
                <a:latin typeface="Microsoft YaHei"/>
              </a:rPr>
              <a:t>▪ 把安全和科研效率对立起来，觉得“讲安全耽误进度”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每次实验押上的四样东西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第一是人员的生命和健康</a:t>
            </a:r>
          </a:p>
          <a:p>
            <a:pPr>
              <a:spcAft>
                <a:spcPts val="1000"/>
              </a:spcAft>
            </a:pPr>
            <a:r>
              <a:rPr sz="2000">
                <a:solidFill>
                  <a:srgbClr val="222B33"/>
                </a:solidFill>
                <a:latin typeface="Microsoft YaHei"/>
              </a:rPr>
              <a:t>▪ 还有仪器设备和样品数据</a:t>
            </a:r>
          </a:p>
          <a:p>
            <a:pPr>
              <a:spcAft>
                <a:spcPts val="1000"/>
              </a:spcAft>
            </a:pPr>
            <a:r>
              <a:rPr sz="2000">
                <a:solidFill>
                  <a:srgbClr val="222B33"/>
                </a:solidFill>
                <a:latin typeface="Microsoft YaHei"/>
              </a:rPr>
              <a:t>▪ 以及单位继续开展科研的资格</a:t>
            </a:r>
          </a:p>
          <a:p>
            <a:pPr>
              <a:spcAft>
                <a:spcPts val="1000"/>
              </a:spcAft>
            </a:pPr>
            <a:r>
              <a:rPr sz="2000">
                <a:solidFill>
                  <a:srgbClr val="222B33"/>
                </a:solidFill>
                <a:latin typeface="Microsoft YaHei"/>
              </a:rPr>
              <a:t>▪ 同一实验室里每个人的安全都和你相关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只考虑自己有没有防护，不顾及周围同学</a:t>
            </a:r>
          </a:p>
          <a:p>
            <a:pPr>
              <a:spcAft>
                <a:spcPts val="1000"/>
              </a:spcAft>
            </a:pPr>
            <a:r>
              <a:rPr sz="1500">
                <a:solidFill>
                  <a:srgbClr val="222B33"/>
                </a:solidFill>
                <a:latin typeface="Microsoft YaHei"/>
              </a:rPr>
              <a:t>▪ 发现别人违规操作或存在隐患时不提醒、不报告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事故的代价远不止医药费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直接成本：医疗费、赔偿金等看得见的支出</a:t>
            </a:r>
          </a:p>
          <a:p>
            <a:pPr>
              <a:spcAft>
                <a:spcPts val="1000"/>
              </a:spcAft>
            </a:pPr>
            <a:r>
              <a:rPr sz="2000">
                <a:solidFill>
                  <a:srgbClr val="222B33"/>
                </a:solidFill>
                <a:latin typeface="Microsoft YaHei"/>
              </a:rPr>
              <a:t>▪ 间接成本：停工、事故调查、误工等</a:t>
            </a:r>
          </a:p>
          <a:p>
            <a:pPr>
              <a:spcAft>
                <a:spcPts val="1000"/>
              </a:spcAft>
            </a:pPr>
            <a:r>
              <a:rPr sz="2000">
                <a:solidFill>
                  <a:srgbClr val="222B33"/>
                </a:solidFill>
                <a:latin typeface="Microsoft YaHei"/>
              </a:rPr>
              <a:t>▪ 高校还有实验停摆、样品报废、学业延误</a:t>
            </a:r>
          </a:p>
          <a:p>
            <a:pPr>
              <a:spcAft>
                <a:spcPts val="1000"/>
              </a:spcAft>
            </a:pPr>
            <a:r>
              <a:rPr sz="2000">
                <a:solidFill>
                  <a:srgbClr val="222B33"/>
                </a:solidFill>
                <a:latin typeface="Microsoft YaHei"/>
              </a:rPr>
              <a:t>▪ 间接损失往往远大于直接损失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只算医药费，忽视停工、调查和学业延误等间接损失</a:t>
            </a:r>
          </a:p>
          <a:p>
            <a:pPr>
              <a:spcAft>
                <a:spcPts val="1000"/>
              </a:spcAft>
            </a:pPr>
            <a:r>
              <a:rPr sz="1500">
                <a:solidFill>
                  <a:srgbClr val="222B33"/>
                </a:solidFill>
                <a:latin typeface="Microsoft YaHei"/>
              </a:rPr>
              <a:t>▪ 认为“没伤到人就不算事故”，不报告未遂事件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从背规则到懂原则、会评估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高中学过的规则，大学还会再强调</a:t>
            </a:r>
          </a:p>
          <a:p>
            <a:pPr>
              <a:spcAft>
                <a:spcPts val="1000"/>
              </a:spcAft>
            </a:pPr>
            <a:r>
              <a:rPr sz="2000">
                <a:solidFill>
                  <a:srgbClr val="222B33"/>
                </a:solidFill>
                <a:latin typeface="Microsoft YaHei"/>
              </a:rPr>
              <a:t>▪ 规则清单不可能覆盖所有新情况</a:t>
            </a:r>
          </a:p>
          <a:p>
            <a:pPr>
              <a:spcAft>
                <a:spcPts val="1000"/>
              </a:spcAft>
            </a:pPr>
            <a:r>
              <a:rPr sz="2000">
                <a:solidFill>
                  <a:srgbClr val="222B33"/>
                </a:solidFill>
                <a:latin typeface="Microsoft YaHei"/>
              </a:rPr>
              <a:t>▪ 懂原则：认危害、估风险、定措施、备应急</a:t>
            </a:r>
          </a:p>
          <a:p>
            <a:pPr>
              <a:spcAft>
                <a:spcPts val="1000"/>
              </a:spcAft>
            </a:pPr>
            <a:r>
              <a:rPr sz="2000">
                <a:solidFill>
                  <a:srgbClr val="222B33"/>
                </a:solidFill>
                <a:latin typeface="Microsoft YaHei"/>
              </a:rPr>
              <a:t>▪ 安全远不只是遵守规则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认为“规则高中就背过了”，不再认真学习</a:t>
            </a:r>
          </a:p>
          <a:p>
            <a:pPr>
              <a:spcAft>
                <a:spcPts val="1000"/>
              </a:spcAft>
            </a:pPr>
            <a:r>
              <a:rPr sz="1500">
                <a:solidFill>
                  <a:srgbClr val="222B33"/>
                </a:solidFill>
                <a:latin typeface="Microsoft YaHei"/>
              </a:rPr>
              <a:t>▪ 遇到规则没写到的新情况就凭感觉操作</a:t>
            </a:r>
          </a:p>
          <a:p>
            <a:pPr>
              <a:spcAft>
                <a:spcPts val="1000"/>
              </a:spcAft>
            </a:pPr>
            <a:r>
              <a:rPr sz="1500">
                <a:solidFill>
                  <a:srgbClr val="222B33"/>
                </a:solidFill>
                <a:latin typeface="Microsoft YaHei"/>
              </a:rPr>
              <a:t>▪ 以“懂原则”为由自行变通、不遵守本实验室规定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本课程讲通用要点，帮助打基础</a:t>
            </a:r>
          </a:p>
          <a:p>
            <a:pPr>
              <a:spcAft>
                <a:spcPts val="1000"/>
              </a:spcAft>
            </a:pPr>
            <a:r>
              <a:rPr sz="2000">
                <a:solidFill>
                  <a:srgbClr val="222B33"/>
                </a:solidFill>
                <a:latin typeface="Microsoft YaHei"/>
              </a:rPr>
              <a:t>▪ 还须参加学校、学院和实验室的安全培训</a:t>
            </a:r>
          </a:p>
          <a:p>
            <a:pPr>
              <a:spcAft>
                <a:spcPts val="1000"/>
              </a:spcAft>
            </a:pPr>
            <a:r>
              <a:rPr sz="2000">
                <a:solidFill>
                  <a:srgbClr val="222B33"/>
                </a:solidFill>
                <a:latin typeface="Microsoft YaHei"/>
              </a:rPr>
              <a:t>▪ 进入实验室要学习本室规程、认清应急设施</a:t>
            </a:r>
          </a:p>
          <a:p>
            <a:pPr>
              <a:spcAft>
                <a:spcPts val="1000"/>
              </a:spcAft>
            </a:pPr>
            <a:r>
              <a:rPr sz="2000">
                <a:solidFill>
                  <a:srgbClr val="222B33"/>
                </a:solidFill>
                <a:latin typeface="Microsoft YaHei"/>
              </a:rPr>
              <a:t>▪ 拿不准就问实验室负责人和老师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本课程讲的是高校实验室安全的通用知识和原则。不同实验室的危险源、设备和管理规定差别很大，课程内容不能代替学校、学院组织的安全培训和考核，也不能代替本实验室的安全操作规程和岗前指导。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看完线上课程就以为可以独立做所有实验</a:t>
            </a:r>
          </a:p>
          <a:p>
            <a:pPr>
              <a:spcAft>
                <a:spcPts val="1000"/>
              </a:spcAft>
            </a:pPr>
            <a:r>
              <a:rPr sz="1500">
                <a:solidFill>
                  <a:srgbClr val="222B33"/>
                </a:solidFill>
                <a:latin typeface="Microsoft YaHei"/>
              </a:rPr>
              <a:t>▪ 进实验室不看安全信息牌，不知道应急设施在哪里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安全第一、预防为主、综合治理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安全生产法确立的基本方针</a:t>
            </a:r>
          </a:p>
          <a:p>
            <a:pPr>
              <a:spcAft>
                <a:spcPts val="1000"/>
              </a:spcAft>
            </a:pPr>
            <a:r>
              <a:rPr sz="2000">
                <a:solidFill>
                  <a:srgbClr val="222B33"/>
                </a:solidFill>
                <a:latin typeface="Microsoft YaHei"/>
              </a:rPr>
              <a:t>▪ 安全第一：安全优先于进度和效率</a:t>
            </a:r>
          </a:p>
          <a:p>
            <a:pPr>
              <a:spcAft>
                <a:spcPts val="1000"/>
              </a:spcAft>
            </a:pPr>
            <a:r>
              <a:rPr sz="2000">
                <a:solidFill>
                  <a:srgbClr val="222B33"/>
                </a:solidFill>
                <a:latin typeface="Microsoft YaHei"/>
              </a:rPr>
              <a:t>▪ 预防为主：功夫下在事前，不靠事后补救</a:t>
            </a:r>
          </a:p>
          <a:p>
            <a:pPr>
              <a:spcAft>
                <a:spcPts val="1000"/>
              </a:spcAft>
            </a:pPr>
            <a:r>
              <a:rPr sz="2000">
                <a:solidFill>
                  <a:srgbClr val="222B33"/>
                </a:solidFill>
                <a:latin typeface="Microsoft YaHei"/>
              </a:rPr>
              <a:t>▪ 高校实验室安全工作同样坚持这一方针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规定，安全生产工作坚持安全第一、预防为主、综合治理的方针。“安全第一”指在安全与进度、效率、成本发生冲突时，安全优先；“预防为主”指把工作重点放在事前的风险辨识、隐患排查和教育培训上；“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为赶进度省略安全步骤</a:t>
            </a:r>
          </a:p>
          <a:p>
            <a:pPr>
              <a:spcAft>
                <a:spcPts val="1000"/>
              </a:spcAft>
            </a:pPr>
            <a:r>
              <a:rPr sz="1500">
                <a:solidFill>
                  <a:srgbClr val="222B33"/>
                </a:solidFill>
                <a:latin typeface="Microsoft YaHei"/>
              </a:rPr>
              <a:t>▪ 只在出事后才重视安全，平时不排查隐患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课程地图与学习方法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全课程 15 章，先管理通识后专项危害</a:t>
            </a:r>
          </a:p>
          <a:p>
            <a:pPr>
              <a:spcAft>
                <a:spcPts val="1000"/>
              </a:spcAft>
            </a:pPr>
            <a:r>
              <a:rPr sz="2000">
                <a:solidFill>
                  <a:srgbClr val="222B33"/>
                </a:solidFill>
                <a:latin typeface="Microsoft YaHei"/>
              </a:rPr>
              <a:t>▪ 第1–4、14章人人必修，专项章按实验选学</a:t>
            </a:r>
          </a:p>
          <a:p>
            <a:pPr>
              <a:spcAft>
                <a:spcPts val="1000"/>
              </a:spcAft>
            </a:pPr>
            <a:r>
              <a:rPr sz="2000">
                <a:solidFill>
                  <a:srgbClr val="222B33"/>
                </a:solidFill>
                <a:latin typeface="Microsoft YaHei"/>
              </a:rPr>
              <a:t>▪ 学习方法：看视频、读说明书、做练习</a:t>
            </a:r>
          </a:p>
          <a:p>
            <a:pPr>
              <a:spcAft>
                <a:spcPts val="1000"/>
              </a:spcAft>
            </a:pPr>
            <a:r>
              <a:rPr sz="2000">
                <a:solidFill>
                  <a:srgbClr val="222B33"/>
                </a:solidFill>
                <a:latin typeface="Microsoft YaHei"/>
              </a:rPr>
              <a:t>▪ 边学边对照自己的实验找危害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本课程共 15 章：第 1 章法规、管理与安全文化，第 2 章危险源辨识与风险评估，第 3 章通用安全与个人防护，第 4 章消防安全，为全体必修；第 5–13 章分别讲化学品、生物、辐射、电气、激光与光学、机械与设备……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只学和自己专业“相关”的章节，跳过必修的通用内容</a:t>
            </a:r>
          </a:p>
          <a:p>
            <a:pPr>
              <a:spcAft>
                <a:spcPts val="1000"/>
              </a:spcAft>
            </a:pPr>
            <a:r>
              <a:rPr sz="1500">
                <a:solidFill>
                  <a:srgbClr val="222B33"/>
                </a:solidFill>
                <a:latin typeface="Microsoft YaHei"/>
              </a:rPr>
              <a:t>▪ 只看视频不做练习，学完无法应用到自己的实验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下列哪一项不属于事故的间接成本？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实验室停用整改</a:t>
            </a:r>
          </a:p>
          <a:p>
            <a:pPr algn="l"/>
            <a:r>
              <a:rPr sz="1500" b="0">
                <a:solidFill>
                  <a:srgbClr val="222B33"/>
                </a:solidFill>
                <a:latin typeface="Microsoft YaHei"/>
              </a:rPr>
              <a:t>B. 事故调查占用的时间</a:t>
            </a:r>
          </a:p>
          <a:p>
            <a:pPr algn="l"/>
            <a:r>
              <a:rPr sz="1500" b="0">
                <a:solidFill>
                  <a:srgbClr val="222B33"/>
                </a:solidFill>
                <a:latin typeface="Microsoft YaHei"/>
              </a:rPr>
              <a:t>C. 受伤人员的医疗费</a:t>
            </a:r>
          </a:p>
          <a:p>
            <a:pPr algn="l"/>
            <a:r>
              <a:rPr sz="1500" b="0">
                <a:solidFill>
                  <a:srgbClr val="222B33"/>
                </a:solidFill>
                <a:latin typeface="Microsoft YaHei"/>
              </a:rPr>
              <a:t>D. 课题进度延误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我国安全生产工作的方针是：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安全第一、预防为主、综合治理</a:t>
            </a:r>
          </a:p>
          <a:p>
            <a:pPr algn="l"/>
            <a:r>
              <a:rPr sz="1500" b="0">
                <a:solidFill>
                  <a:srgbClr val="222B33"/>
                </a:solidFill>
                <a:latin typeface="Microsoft YaHei"/>
              </a:rPr>
              <a:t>B. 效率优先、兼顾安全</a:t>
            </a:r>
          </a:p>
          <a:p>
            <a:pPr algn="l"/>
            <a:r>
              <a:rPr sz="1500" b="0">
                <a:solidFill>
                  <a:srgbClr val="222B33"/>
                </a:solidFill>
                <a:latin typeface="Microsoft YaHei"/>
              </a:rPr>
              <a:t>C. 谁出事谁负责</a:t>
            </a:r>
          </a:p>
          <a:p>
            <a:pPr algn="l"/>
            <a:r>
              <a:rPr sz="1500" b="0">
                <a:solidFill>
                  <a:srgbClr val="222B33"/>
                </a:solidFill>
                <a:latin typeface="Microsoft YaHei"/>
              </a:rPr>
              <a:t>D. 先实验后整改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判断：已经学完本课程的线上视频，就可以不参加本实验室的岗前培训。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在实验室遇到规则清单没有写到的新仪器、新物质时，正确的做法是：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凭经验先试一试</a:t>
            </a:r>
          </a:p>
          <a:p>
            <a:pPr algn="l"/>
            <a:r>
              <a:rPr sz="1500" b="0">
                <a:solidFill>
                  <a:srgbClr val="222B33"/>
                </a:solidFill>
                <a:latin typeface="Microsoft YaHei"/>
              </a:rPr>
              <a:t>B. 识别危害、评估风险、确定措施并做好应急准备，拿不准先请教负责人</a:t>
            </a:r>
          </a:p>
          <a:p>
            <a:pPr algn="l"/>
            <a:r>
              <a:rPr sz="1500" b="0">
                <a:solidFill>
                  <a:srgbClr val="222B33"/>
                </a:solidFill>
                <a:latin typeface="Microsoft YaHei"/>
              </a:rPr>
              <a:t>C. 等出了问题再问</a:t>
            </a:r>
          </a:p>
          <a:p>
            <a:pPr algn="l"/>
            <a:r>
              <a:rPr sz="1500" b="0">
                <a:solidFill>
                  <a:srgbClr val="222B33"/>
                </a:solidFill>
                <a:latin typeface="Microsoft YaHei"/>
              </a:rPr>
              <a:t>D. 照搬别的实验室的做法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简答：一次实验同时关系到哪四样东西？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实验室事故离我们不远</a:t>
            </a:r>
          </a:p>
          <a:p>
            <a:pPr>
              <a:spcAft>
                <a:spcPts val="800"/>
              </a:spcAft>
            </a:pPr>
            <a:r>
              <a:rPr sz="1800">
                <a:solidFill>
                  <a:srgbClr val="FFFFFF"/>
                </a:solidFill>
                <a:latin typeface="Microsoft YaHei"/>
              </a:rPr>
              <a:t>▪ K2  安全是科研的地基</a:t>
            </a:r>
          </a:p>
          <a:p>
            <a:pPr>
              <a:spcAft>
                <a:spcPts val="800"/>
              </a:spcAft>
            </a:pPr>
            <a:r>
              <a:rPr sz="1800">
                <a:solidFill>
                  <a:srgbClr val="FFFFFF"/>
                </a:solidFill>
                <a:latin typeface="Microsoft YaHei"/>
              </a:rPr>
              <a:t>▪ K3  每次实验押上的四样东西</a:t>
            </a:r>
          </a:p>
          <a:p>
            <a:pPr>
              <a:spcAft>
                <a:spcPts val="800"/>
              </a:spcAft>
            </a:pPr>
            <a:r>
              <a:rPr sz="1800">
                <a:solidFill>
                  <a:srgbClr val="FFFFFF"/>
                </a:solidFill>
                <a:latin typeface="Microsoft YaHei"/>
              </a:rPr>
              <a:t>▪ K4  事故的代价远不止医药费</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从背规则到懂原则、会评估</a:t>
            </a:r>
          </a:p>
          <a:p>
            <a:pPr>
              <a:spcAft>
                <a:spcPts val="800"/>
              </a:spcAft>
            </a:pPr>
            <a:r>
              <a:rPr sz="1800">
                <a:solidFill>
                  <a:srgbClr val="FFFFFF"/>
                </a:solidFill>
                <a:latin typeface="Microsoft YaHei"/>
              </a:rPr>
              <a:t>▪ K6  本课程不能代替本实验室培训</a:t>
            </a:r>
          </a:p>
          <a:p>
            <a:pPr>
              <a:spcAft>
                <a:spcPts val="800"/>
              </a:spcAft>
            </a:pPr>
            <a:r>
              <a:rPr sz="1800">
                <a:solidFill>
                  <a:srgbClr val="FFFFFF"/>
                </a:solidFill>
                <a:latin typeface="Microsoft YaHei"/>
              </a:rPr>
              <a:t>▪ S1  安全第一、预防为主、综合治理</a:t>
            </a:r>
          </a:p>
          <a:p>
            <a:pPr>
              <a:spcAft>
                <a:spcPts val="800"/>
              </a:spcAft>
            </a:pPr>
            <a:r>
              <a:rPr sz="1800">
                <a:solidFill>
                  <a:srgbClr val="FFFFFF"/>
                </a:solidFill>
                <a:latin typeface="Microsoft YaHei"/>
              </a:rPr>
              <a:t>▪ S2  课程地图与学习方法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实验室安全法律法规体系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能说出我国法律、行政法规、部门规章、标准和学校制度的层级关系。</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能说出安全生产、消防、危险化学品、生物、辐射、特种设备和环境保护各领域的主要法律法规。</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能判断各领域由哪类主管部门监管，并明白单位和个人在法律上的基本责任和义务。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《中华人民共和国安全生产法》《中华人民共和国消防法》《中华人民共和国职业病防治法》（以现行文本为准）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日起施行）及《危险化学品安全管理条例》（以现行文本为准）；《易制毒化学品管理条例》《易制爆危险化学品治安管理办法》</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《中华人民共和国生物安全法》《病原微生物实验室生物安全管理条例》《农业转基因生物安全管理条例》（以现行文本为准）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《中华人民共和国放射性污染防治法》《放射性同位素与射线装置安全和防护条例》（以现行文本为准）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《中华人民共和国特种设备安全法》、TSG 23《气瓶安全技术规程》（以现行文本为准）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《中华人民共和国固体废物污染环境防治法》《国家危险废物名录》（以现行版本为准）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《中华人民共和国标准化法》（强制性标准必须执行，以现行文本为准）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号）、教育部高校实验室安全检查项目表（以现行文本为准）</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实验室安全有章可循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实验室安全有一整套法律、标准和制度</a:t>
            </a:r>
          </a:p>
          <a:p>
            <a:pPr>
              <a:spcAft>
                <a:spcPts val="1000"/>
              </a:spcAft>
            </a:pPr>
            <a:r>
              <a:rPr sz="2000">
                <a:solidFill>
                  <a:srgbClr val="222B33"/>
                </a:solidFill>
                <a:latin typeface="Microsoft YaHei"/>
              </a:rPr>
              <a:t>▪ 制度规定了安全的实验室应该是什么样</a:t>
            </a:r>
          </a:p>
          <a:p>
            <a:pPr>
              <a:spcAft>
                <a:spcPts val="1000"/>
              </a:spcAft>
            </a:pPr>
            <a:r>
              <a:rPr sz="2000">
                <a:solidFill>
                  <a:srgbClr val="222B33"/>
                </a:solidFill>
                <a:latin typeface="Microsoft YaHei"/>
              </a:rPr>
              <a:t>▪ 国外有类似制度，只作背景了解</a:t>
            </a:r>
          </a:p>
          <a:p>
            <a:pPr>
              <a:spcAft>
                <a:spcPts val="1000"/>
              </a:spcAft>
            </a:pPr>
            <a:r>
              <a:rPr sz="2000">
                <a:solidFill>
                  <a:srgbClr val="222B33"/>
                </a:solidFill>
                <a:latin typeface="Microsoft YaHei"/>
              </a:rPr>
              <a:t>▪ 在国内做实验，按国内法规和本校制度执行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照搬国外资料中的限值、做法和机构要求</a:t>
            </a:r>
          </a:p>
          <a:p>
            <a:pPr>
              <a:spcAft>
                <a:spcPts val="1000"/>
              </a:spcAft>
            </a:pPr>
            <a:r>
              <a:rPr sz="1500">
                <a:solidFill>
                  <a:srgbClr val="222B33"/>
                </a:solidFill>
                <a:latin typeface="Microsoft YaHei"/>
              </a:rPr>
              <a:t>▪ 以为安全只靠个人经验，不需要了解制度</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法律法规的层级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法律：全国人大及其常委会制定，效力最高</a:t>
            </a:r>
          </a:p>
          <a:p>
            <a:pPr>
              <a:spcAft>
                <a:spcPts val="1000"/>
              </a:spcAft>
            </a:pPr>
            <a:r>
              <a:rPr sz="2000">
                <a:solidFill>
                  <a:srgbClr val="222B33"/>
                </a:solidFill>
                <a:latin typeface="Microsoft YaHei"/>
              </a:rPr>
              <a:t>▪ 行政法规：国务院制定，多称“条例”</a:t>
            </a:r>
          </a:p>
          <a:p>
            <a:pPr>
              <a:spcAft>
                <a:spcPts val="1000"/>
              </a:spcAft>
            </a:pPr>
            <a:r>
              <a:rPr sz="2000">
                <a:solidFill>
                  <a:srgbClr val="222B33"/>
                </a:solidFill>
                <a:latin typeface="Microsoft YaHei"/>
              </a:rPr>
              <a:t>▪ 部门规章：国务院各部门制定，多称“办法”“规定”</a:t>
            </a:r>
          </a:p>
          <a:p>
            <a:pPr>
              <a:spcAft>
                <a:spcPts val="1000"/>
              </a:spcAft>
            </a:pPr>
            <a:r>
              <a:rPr sz="2000">
                <a:solidFill>
                  <a:srgbClr val="222B33"/>
                </a:solidFill>
                <a:latin typeface="Microsoft YaHei"/>
              </a:rPr>
              <a:t>▪ 国家和行业标准给出技术要求，学校制度最具体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认为学校制度“不是法律”，可以不遵守</a:t>
            </a:r>
          </a:p>
          <a:p>
            <a:pPr>
              <a:spcAft>
                <a:spcPts val="1000"/>
              </a:spcAft>
            </a:pPr>
            <a:r>
              <a:rPr sz="1500">
                <a:solidFill>
                  <a:srgbClr val="222B33"/>
                </a:solidFill>
                <a:latin typeface="Microsoft YaHei"/>
              </a:rPr>
              <a:t>▪ 把推荐性标准一律当成“可以不管”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单位要保障人人安全健康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单位的法定义务是保障所有人员安全与健康</a:t>
            </a:r>
          </a:p>
          <a:p>
            <a:pPr>
              <a:spcAft>
                <a:spcPts val="1000"/>
              </a:spcAft>
            </a:pPr>
            <a:r>
              <a:rPr sz="2000">
                <a:solidFill>
                  <a:srgbClr val="222B33"/>
                </a:solidFill>
                <a:latin typeface="Microsoft YaHei"/>
              </a:rPr>
              <a:t>▪ 不是装修漂亮，也不是发彩色安全帽</a:t>
            </a:r>
          </a:p>
          <a:p>
            <a:pPr>
              <a:spcAft>
                <a:spcPts val="1000"/>
              </a:spcAft>
            </a:pPr>
            <a:r>
              <a:rPr sz="2000">
                <a:solidFill>
                  <a:srgbClr val="222B33"/>
                </a:solidFill>
                <a:latin typeface="Microsoft YaHei"/>
              </a:rPr>
              <a:t>▪ 依据安全生产法和职业病防治法</a:t>
            </a:r>
          </a:p>
          <a:p>
            <a:pPr>
              <a:spcAft>
                <a:spcPts val="1000"/>
              </a:spcAft>
            </a:pPr>
            <a:r>
              <a:rPr sz="2000">
                <a:solidFill>
                  <a:srgbClr val="222B33"/>
                </a:solidFill>
                <a:latin typeface="Microsoft YaHei"/>
              </a:rPr>
              <a:t>▪ 高校通过学校—学院—实验室三级管理落实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单位在法律上的核心义务，是为所有人员提供安全的工作条件，保障他们的安全和健康。这不在于实验室装修多漂亮、发了多少新装备，而在于危险源是否得到有效控制、人员是否得到培训和防护、隐患是否及时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把“添置新设备”等同于“做好了安全”</a:t>
            </a:r>
          </a:p>
          <a:p>
            <a:pPr>
              <a:spcAft>
                <a:spcPts val="1000"/>
              </a:spcAft>
            </a:pPr>
            <a:r>
              <a:rPr sz="1500">
                <a:solidFill>
                  <a:srgbClr val="222B33"/>
                </a:solidFill>
                <a:latin typeface="Microsoft YaHei"/>
              </a:rPr>
              <a:t>▪ 认为安全只是学校管理部门的事，与实验室和个人无关</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双重预防与危害告知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安全生产法：风险分级管控、隐患排查治理</a:t>
            </a:r>
          </a:p>
          <a:p>
            <a:pPr>
              <a:spcAft>
                <a:spcPts val="1000"/>
              </a:spcAft>
            </a:pPr>
            <a:r>
              <a:rPr sz="2000">
                <a:solidFill>
                  <a:srgbClr val="222B33"/>
                </a:solidFill>
                <a:latin typeface="Microsoft YaHei"/>
              </a:rPr>
              <a:t>▪ 先辨识危害、评估风险，再分级落实措施</a:t>
            </a:r>
          </a:p>
          <a:p>
            <a:pPr>
              <a:spcAft>
                <a:spcPts val="1000"/>
              </a:spcAft>
            </a:pPr>
            <a:r>
              <a:rPr sz="2000">
                <a:solidFill>
                  <a:srgbClr val="222B33"/>
                </a:solidFill>
                <a:latin typeface="Microsoft YaHei"/>
              </a:rPr>
              <a:t>▪ 职业病防治法：辨识危害因素并如实告知</a:t>
            </a:r>
          </a:p>
          <a:p>
            <a:pPr>
              <a:spcAft>
                <a:spcPts val="1000"/>
              </a:spcAft>
            </a:pPr>
            <a:r>
              <a:rPr sz="2000">
                <a:solidFill>
                  <a:srgbClr val="222B33"/>
                </a:solidFill>
                <a:latin typeface="Microsoft YaHei"/>
              </a:rPr>
              <a:t>▪ 培训、防护用品和健康检查要落实到人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只在出事后整改，平时不做风险辨识和隐患排查</a:t>
            </a:r>
          </a:p>
          <a:p>
            <a:pPr>
              <a:spcAft>
                <a:spcPts val="1000"/>
              </a:spcAft>
            </a:pPr>
            <a:r>
              <a:rPr sz="1500">
                <a:solidFill>
                  <a:srgbClr val="222B33"/>
                </a:solidFill>
                <a:latin typeface="Microsoft YaHei"/>
              </a:rPr>
              <a:t>▪ 隐患“发现了不报、报了不改、改了不查”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消防法：人人有消防义务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任何单位和个人都有维护消防安全的义务</a:t>
            </a:r>
          </a:p>
          <a:p>
            <a:pPr>
              <a:spcAft>
                <a:spcPts val="1000"/>
              </a:spcAft>
            </a:pPr>
            <a:r>
              <a:rPr sz="2000">
                <a:solidFill>
                  <a:srgbClr val="222B33"/>
                </a:solidFill>
                <a:latin typeface="Microsoft YaHei"/>
              </a:rPr>
              <a:t>▪ 发现火灾必须立即报警（火警 119）</a:t>
            </a:r>
          </a:p>
          <a:p>
            <a:pPr>
              <a:spcAft>
                <a:spcPts val="1000"/>
              </a:spcAft>
            </a:pPr>
            <a:r>
              <a:rPr sz="2000">
                <a:solidFill>
                  <a:srgbClr val="222B33"/>
                </a:solidFill>
                <a:latin typeface="Microsoft YaHei"/>
              </a:rPr>
              <a:t>▪ 不得损坏、挪用消防设施，不得堵塞通道</a:t>
            </a:r>
          </a:p>
          <a:p>
            <a:pPr>
              <a:spcAft>
                <a:spcPts val="1000"/>
              </a:spcAft>
            </a:pPr>
            <a:r>
              <a:rPr sz="2000">
                <a:solidFill>
                  <a:srgbClr val="222B33"/>
                </a:solidFill>
                <a:latin typeface="Microsoft YaHei"/>
              </a:rPr>
              <a:t>▪ 报警、喷淋、灭火器等都有国家标准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《中华人民共和国消防法》规定，任何单位和个人都有维护消防安全、保护消防设施、预防火灾、报告火警的义务；任何人发现火灾都应当立即报警，任何单位和个人都应当无偿为报警提供便利。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发现小火先自己扑救，不报警</a:t>
            </a:r>
          </a:p>
          <a:p>
            <a:pPr>
              <a:spcAft>
                <a:spcPts val="1000"/>
              </a:spcAft>
            </a:pPr>
            <a:r>
              <a:rPr sz="1500">
                <a:solidFill>
                  <a:srgbClr val="222B33"/>
                </a:solidFill>
                <a:latin typeface="Microsoft YaHei"/>
              </a:rPr>
              <a:t>▪ 在安全出口、灭火器前堆放杂物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危险化学品：安全法与条例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危化品安全法 2026 年 5 月 1 日起施行</a:t>
            </a:r>
          </a:p>
          <a:p>
            <a:pPr>
              <a:spcAft>
                <a:spcPts val="1000"/>
              </a:spcAft>
            </a:pPr>
            <a:r>
              <a:rPr sz="2000">
                <a:solidFill>
                  <a:srgbClr val="222B33"/>
                </a:solidFill>
                <a:latin typeface="Microsoft YaHei"/>
              </a:rPr>
              <a:t>▪ 学校、科研机构是危化品安全责任主体</a:t>
            </a:r>
          </a:p>
          <a:p>
            <a:pPr>
              <a:spcAft>
                <a:spcPts val="1000"/>
              </a:spcAft>
            </a:pPr>
            <a:r>
              <a:rPr sz="2000">
                <a:solidFill>
                  <a:srgbClr val="222B33"/>
                </a:solidFill>
                <a:latin typeface="Microsoft YaHei"/>
              </a:rPr>
              <a:t>▪ 同时适用危化品条例、易制毒和易制爆规定</a:t>
            </a:r>
          </a:p>
          <a:p>
            <a:pPr>
              <a:spcAft>
                <a:spcPts val="1000"/>
              </a:spcAft>
            </a:pPr>
            <a:r>
              <a:rPr sz="2000">
                <a:solidFill>
                  <a:srgbClr val="222B33"/>
                </a:solidFill>
                <a:latin typeface="Microsoft YaHei"/>
              </a:rPr>
              <a:t>▪ 剧毒化学品实行“五双”管理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日起施行，对危险化学品的生产、储存、使用、经营、运输等环节作出规定，并设专章规定“使用安全”。学校、科研机构使用危……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认为少量试剂“不算危化品”，可以随意购买和存放</a:t>
            </a:r>
          </a:p>
          <a:p>
            <a:pPr>
              <a:spcAft>
                <a:spcPts val="1000"/>
              </a:spcAft>
            </a:pPr>
            <a:r>
              <a:rPr sz="1500">
                <a:solidFill>
                  <a:srgbClr val="222B33"/>
                </a:solidFill>
                <a:latin typeface="Microsoft YaHei"/>
              </a:rPr>
              <a:t>▪ 私自从网上或校外渠道购买管制化学品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生物安全：生物安全法与条例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生物安全法是生物安全领域的基本法律</a:t>
            </a:r>
          </a:p>
          <a:p>
            <a:pPr>
              <a:spcAft>
                <a:spcPts val="1000"/>
              </a:spcAft>
            </a:pPr>
            <a:r>
              <a:rPr sz="2000">
                <a:solidFill>
                  <a:srgbClr val="222B33"/>
                </a:solidFill>
                <a:latin typeface="Microsoft YaHei"/>
              </a:rPr>
              <a:t>▪ 病原微生物实验室按防护水平分为四级</a:t>
            </a:r>
          </a:p>
          <a:p>
            <a:pPr>
              <a:spcAft>
                <a:spcPts val="1000"/>
              </a:spcAft>
            </a:pPr>
            <a:r>
              <a:rPr sz="2000">
                <a:solidFill>
                  <a:srgbClr val="222B33"/>
                </a:solidFill>
                <a:latin typeface="Microsoft YaHei"/>
              </a:rPr>
              <a:t>▪ 病原微生物按目录分类，实验活动对应级别</a:t>
            </a:r>
          </a:p>
          <a:p>
            <a:pPr>
              <a:spcAft>
                <a:spcPts val="1000"/>
              </a:spcAft>
            </a:pPr>
            <a:r>
              <a:rPr sz="2000">
                <a:solidFill>
                  <a:srgbClr val="222B33"/>
                </a:solidFill>
                <a:latin typeface="Microsoft YaHei"/>
              </a:rPr>
              <a:t>▪ 转基因实验须经单位生物安全委员会审查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在级别不够的实验室开展病原微生物实验</a:t>
            </a:r>
          </a:p>
          <a:p>
            <a:pPr>
              <a:spcAft>
                <a:spcPts val="1000"/>
              </a:spcAft>
            </a:pPr>
            <a:r>
              <a:rPr sz="1500">
                <a:solidFill>
                  <a:srgbClr val="222B33"/>
                </a:solidFill>
                <a:latin typeface="Microsoft YaHei"/>
              </a:rPr>
              <a:t>▪ 转基因实验未经审查就开始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辐射、特种设备与环境保护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辐射：放射性污染防治法和放射性同位素条例</a:t>
            </a:r>
          </a:p>
          <a:p>
            <a:pPr>
              <a:spcAft>
                <a:spcPts val="1000"/>
              </a:spcAft>
            </a:pPr>
            <a:r>
              <a:rPr sz="2000">
                <a:solidFill>
                  <a:srgbClr val="222B33"/>
                </a:solidFill>
                <a:latin typeface="Microsoft YaHei"/>
              </a:rPr>
              <a:t>▪ 使用放射源、射线装置须取得辐射安全许可</a:t>
            </a:r>
          </a:p>
          <a:p>
            <a:pPr>
              <a:spcAft>
                <a:spcPts val="1000"/>
              </a:spcAft>
            </a:pPr>
            <a:r>
              <a:rPr sz="2000">
                <a:solidFill>
                  <a:srgbClr val="222B33"/>
                </a:solidFill>
                <a:latin typeface="Microsoft YaHei"/>
              </a:rPr>
              <a:t>▪ 气瓶、压力容器等归特种设备安全法管理</a:t>
            </a:r>
          </a:p>
          <a:p>
            <a:pPr>
              <a:spcAft>
                <a:spcPts val="1000"/>
              </a:spcAft>
            </a:pPr>
            <a:r>
              <a:rPr sz="2000">
                <a:solidFill>
                  <a:srgbClr val="222B33"/>
                </a:solidFill>
                <a:latin typeface="Microsoft YaHei"/>
              </a:rPr>
              <a:t>▪ 危险废物按名录管理，严禁倒入下水道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把废液、废试剂倒进水槽或生活垃圾</a:t>
            </a:r>
          </a:p>
          <a:p>
            <a:pPr>
              <a:spcAft>
                <a:spcPts val="1000"/>
              </a:spcAft>
            </a:pPr>
            <a:r>
              <a:rPr sz="1500">
                <a:solidFill>
                  <a:srgbClr val="222B33"/>
                </a:solidFill>
                <a:latin typeface="Microsoft YaHei"/>
              </a:rPr>
              <a:t>▪ 使用超过检验期的气瓶或压力容器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标准：管设施，也管人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法律定原则，标准给出具体技术要求</a:t>
            </a:r>
          </a:p>
          <a:p>
            <a:pPr>
              <a:spcAft>
                <a:spcPts val="1000"/>
              </a:spcAft>
            </a:pPr>
            <a:r>
              <a:rPr sz="2000">
                <a:solidFill>
                  <a:srgbClr val="222B33"/>
                </a:solidFill>
                <a:latin typeface="Microsoft YaHei"/>
              </a:rPr>
              <a:t>▪ 标准既管设施的设计安装，也管作业人员</a:t>
            </a:r>
          </a:p>
          <a:p>
            <a:pPr>
              <a:spcAft>
                <a:spcPts val="1000"/>
              </a:spcAft>
            </a:pPr>
            <a:r>
              <a:rPr sz="2000">
                <a:solidFill>
                  <a:srgbClr val="222B33"/>
                </a:solidFill>
                <a:latin typeface="Microsoft YaHei"/>
              </a:rPr>
              <a:t>▪ GB 为强制性标准，GB/T 为推荐性标准</a:t>
            </a:r>
          </a:p>
          <a:p>
            <a:pPr>
              <a:spcAft>
                <a:spcPts val="1000"/>
              </a:spcAft>
            </a:pPr>
            <a:r>
              <a:rPr sz="2000">
                <a:solidFill>
                  <a:srgbClr val="222B33"/>
                </a:solidFill>
                <a:latin typeface="Microsoft YaHei"/>
              </a:rPr>
              <a:t>▪ 标准会更新，要使用现行版本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引用已经废止或被替代的旧标准</a:t>
            </a:r>
          </a:p>
          <a:p>
            <a:pPr>
              <a:spcAft>
                <a:spcPts val="1000"/>
              </a:spcAft>
            </a:pPr>
            <a:r>
              <a:rPr sz="1500">
                <a:solidFill>
                  <a:srgbClr val="222B33"/>
                </a:solidFill>
                <a:latin typeface="Microsoft YaHei"/>
              </a:rPr>
              <a:t>▪ 认为标准只管设备厂家，与使用者无关</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谁来监管：各领域主管部门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安全生产：应急管理部门综合监管</a:t>
            </a:r>
          </a:p>
          <a:p>
            <a:pPr>
              <a:spcAft>
                <a:spcPts val="1000"/>
              </a:spcAft>
            </a:pPr>
            <a:r>
              <a:rPr sz="2000">
                <a:solidFill>
                  <a:srgbClr val="222B33"/>
                </a:solidFill>
                <a:latin typeface="Microsoft YaHei"/>
              </a:rPr>
              <a:t>▪ 职业健康：卫生健康部门</a:t>
            </a:r>
          </a:p>
          <a:p>
            <a:pPr>
              <a:spcAft>
                <a:spcPts val="1000"/>
              </a:spcAft>
            </a:pPr>
            <a:r>
              <a:rPr sz="2000">
                <a:solidFill>
                  <a:srgbClr val="222B33"/>
                </a:solidFill>
                <a:latin typeface="Microsoft YaHei"/>
              </a:rPr>
              <a:t>▪ 消防救援机构、公安、生态环境等分领域监管</a:t>
            </a:r>
          </a:p>
          <a:p>
            <a:pPr>
              <a:spcAft>
                <a:spcPts val="1000"/>
              </a:spcAft>
            </a:pPr>
            <a:r>
              <a:rPr sz="2000">
                <a:solidFill>
                  <a:srgbClr val="222B33"/>
                </a:solidFill>
                <a:latin typeface="Microsoft YaHei"/>
              </a:rPr>
              <a:t>▪ 特种设备归市场监管，高校还受教育部门督查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以为高校实验室“只归学校管”，外部法规不适用</a:t>
            </a:r>
          </a:p>
          <a:p>
            <a:pPr>
              <a:spcAft>
                <a:spcPts val="1000"/>
              </a:spcAft>
            </a:pPr>
            <a:r>
              <a:rPr sz="1500">
                <a:solidFill>
                  <a:srgbClr val="222B33"/>
                </a:solidFill>
                <a:latin typeface="Microsoft YaHei"/>
              </a:rPr>
              <a:t>▪ 管制化学品、放射源等手续不办或补办</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高校实验室的专门要求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教育部发布《高等学校实验室安全规范》</a:t>
            </a:r>
          </a:p>
          <a:p>
            <a:pPr>
              <a:spcAft>
                <a:spcPts val="1000"/>
              </a:spcAft>
            </a:pPr>
            <a:r>
              <a:rPr sz="2000">
                <a:solidFill>
                  <a:srgbClr val="222B33"/>
                </a:solidFill>
                <a:latin typeface="Microsoft YaHei"/>
              </a:rPr>
              <a:t>▪ 高校实验室安全检查项目表是检查依据</a:t>
            </a:r>
          </a:p>
          <a:p>
            <a:pPr>
              <a:spcAft>
                <a:spcPts val="1000"/>
              </a:spcAft>
            </a:pPr>
            <a:r>
              <a:rPr sz="2000">
                <a:solidFill>
                  <a:srgbClr val="222B33"/>
                </a:solidFill>
                <a:latin typeface="Microsoft YaHei"/>
              </a:rPr>
              <a:t>▪ 本校制度是最具体、最直接的规定</a:t>
            </a:r>
          </a:p>
          <a:p>
            <a:pPr>
              <a:spcAft>
                <a:spcPts val="1000"/>
              </a:spcAft>
            </a:pPr>
            <a:r>
              <a:rPr sz="2000">
                <a:solidFill>
                  <a:srgbClr val="222B33"/>
                </a:solidFill>
                <a:latin typeface="Microsoft YaHei"/>
              </a:rPr>
              <a:t>▪ 具体要求在第 3 课详讲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在上述法律法规和标准之外，教育部针对高校实验室发布了《高等学校实验室安全规范》（教科信厅函〔2023〕5 号），对责任体系、分级分类、教育培训与准入、风险评估、安全设施、各类危险源管理、检查与应急等提出要求；教育部还……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只知道国家法律，不了解本校和本实验室的具体规定</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下列属于行政法规的是：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《中华人民共和国消防法》</a:t>
            </a:r>
          </a:p>
          <a:p>
            <a:pPr algn="l"/>
            <a:r>
              <a:rPr sz="1500" b="0">
                <a:solidFill>
                  <a:srgbClr val="222B33"/>
                </a:solidFill>
                <a:latin typeface="Microsoft YaHei"/>
              </a:rPr>
              <a:t>B. 《病原微生物实验室生物安全管理条例》</a:t>
            </a:r>
          </a:p>
          <a:p>
            <a:pPr algn="l"/>
            <a:r>
              <a:rPr sz="1500" b="0">
                <a:solidFill>
                  <a:srgbClr val="222B33"/>
                </a:solidFill>
                <a:latin typeface="Microsoft YaHei"/>
              </a:rPr>
              <a:t>C. 《易制爆危险化学品治安管理办法》</a:t>
            </a:r>
          </a:p>
          <a:p>
            <a:pPr algn="l"/>
            <a:r>
              <a:rPr sz="1500" b="0">
                <a:solidFill>
                  <a:srgbClr val="222B33"/>
                </a:solidFill>
                <a:latin typeface="Microsoft YaHei"/>
              </a:rPr>
              <a:t>D. GB 2894-2025</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判断：标准代号为 GB/T 的推荐性标准，在任何情况下都可以不执行。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实验室产生的有机废液，正确的处理方式是：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大量清水稀释后倒入下水道</a:t>
            </a:r>
          </a:p>
          <a:p>
            <a:pPr algn="l"/>
            <a:r>
              <a:rPr sz="1500" b="0">
                <a:solidFill>
                  <a:srgbClr val="222B33"/>
                </a:solidFill>
                <a:latin typeface="Microsoft YaHei"/>
              </a:rPr>
              <a:t>B. 混入生活垃圾</a:t>
            </a:r>
          </a:p>
          <a:p>
            <a:pPr algn="l"/>
            <a:r>
              <a:rPr sz="1500" b="0">
                <a:solidFill>
                  <a:srgbClr val="222B33"/>
                </a:solidFill>
                <a:latin typeface="Microsoft YaHei"/>
              </a:rPr>
              <a:t>C. 分类收集、规范贮存，交有资质的单位处置</a:t>
            </a:r>
          </a:p>
          <a:p>
            <a:pPr algn="l"/>
            <a:r>
              <a:rPr sz="1500" b="0">
                <a:solidFill>
                  <a:srgbClr val="222B33"/>
                </a:solidFill>
                <a:latin typeface="Microsoft YaHei"/>
              </a:rPr>
              <a:t>D. 自然挥发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使用气瓶和压力容器主要适用下列哪部法律？</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《中华人民共和国特种设备安全法》</a:t>
            </a:r>
          </a:p>
          <a:p>
            <a:pPr algn="l"/>
            <a:r>
              <a:rPr sz="1500" b="0">
                <a:solidFill>
                  <a:srgbClr val="222B33"/>
                </a:solidFill>
                <a:latin typeface="Microsoft YaHei"/>
              </a:rPr>
              <a:t>B. 《中华人民共和国生物安全法》</a:t>
            </a:r>
          </a:p>
          <a:p>
            <a:pPr algn="l"/>
            <a:r>
              <a:rPr sz="1500" b="0">
                <a:solidFill>
                  <a:srgbClr val="222B33"/>
                </a:solidFill>
                <a:latin typeface="Microsoft YaHei"/>
              </a:rPr>
              <a:t>C. 《中华人民共和国放射性污染防治法》</a:t>
            </a:r>
          </a:p>
          <a:p>
            <a:pPr algn="l"/>
            <a:r>
              <a:rPr sz="1500" b="0">
                <a:solidFill>
                  <a:srgbClr val="222B33"/>
                </a:solidFill>
                <a:latin typeface="Microsoft YaHei"/>
              </a:rPr>
              <a:t>D. 《中华人民共和国职业病防治法》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简答：安全生产法要求构建的“双重预防机制”指什么？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实验室安全有章可循</a:t>
            </a:r>
          </a:p>
          <a:p>
            <a:pPr>
              <a:spcAft>
                <a:spcPts val="800"/>
              </a:spcAft>
            </a:pPr>
            <a:r>
              <a:rPr sz="1500">
                <a:solidFill>
                  <a:srgbClr val="FFFFFF"/>
                </a:solidFill>
                <a:latin typeface="Microsoft YaHei"/>
              </a:rPr>
              <a:t>▪ S1  法律法规的层级</a:t>
            </a:r>
          </a:p>
          <a:p>
            <a:pPr>
              <a:spcAft>
                <a:spcPts val="800"/>
              </a:spcAft>
            </a:pPr>
            <a:r>
              <a:rPr sz="1500">
                <a:solidFill>
                  <a:srgbClr val="FFFFFF"/>
                </a:solidFill>
                <a:latin typeface="Microsoft YaHei"/>
              </a:rPr>
              <a:t>▪ K2  单位要保障人人安全健康</a:t>
            </a:r>
          </a:p>
          <a:p>
            <a:pPr>
              <a:spcAft>
                <a:spcPts val="800"/>
              </a:spcAft>
            </a:pPr>
            <a:r>
              <a:rPr sz="1500">
                <a:solidFill>
                  <a:srgbClr val="FFFFFF"/>
                </a:solidFill>
                <a:latin typeface="Microsoft YaHei"/>
              </a:rPr>
              <a:t>▪ K3  双重预防与危害告知</a:t>
            </a:r>
          </a:p>
          <a:p>
            <a:pPr>
              <a:spcAft>
                <a:spcPts val="800"/>
              </a:spcAft>
            </a:pPr>
            <a:r>
              <a:rPr sz="1500">
                <a:solidFill>
                  <a:srgbClr val="FFFFFF"/>
                </a:solidFill>
                <a:latin typeface="Microsoft YaHei"/>
              </a:rPr>
              <a:t>▪ K4  消防法：人人有消防义务</a:t>
            </a:r>
          </a:p>
          <a:p>
            <a:pPr>
              <a:spcAft>
                <a:spcPts val="800"/>
              </a:spcAft>
            </a:pPr>
            <a:r>
              <a:rPr sz="1500">
                <a:solidFill>
                  <a:srgbClr val="FFFFFF"/>
                </a:solidFill>
                <a:latin typeface="Microsoft YaHei"/>
              </a:rPr>
              <a:t>▪ S2  危险化学品：安全法与条例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S3  生物安全：生物安全法与条例</a:t>
            </a:r>
          </a:p>
          <a:p>
            <a:pPr>
              <a:spcAft>
                <a:spcPts val="800"/>
              </a:spcAft>
            </a:pPr>
            <a:r>
              <a:rPr sz="1500">
                <a:solidFill>
                  <a:srgbClr val="FFFFFF"/>
                </a:solidFill>
                <a:latin typeface="Microsoft YaHei"/>
              </a:rPr>
              <a:t>▪ S4  辐射、特种设备与环境保护</a:t>
            </a:r>
          </a:p>
          <a:p>
            <a:pPr>
              <a:spcAft>
                <a:spcPts val="800"/>
              </a:spcAft>
            </a:pPr>
            <a:r>
              <a:rPr sz="1500">
                <a:solidFill>
                  <a:srgbClr val="FFFFFF"/>
                </a:solidFill>
                <a:latin typeface="Microsoft YaHei"/>
              </a:rPr>
              <a:t>▪ K5  标准：管设施，也管人</a:t>
            </a:r>
          </a:p>
          <a:p>
            <a:pPr>
              <a:spcAft>
                <a:spcPts val="800"/>
              </a:spcAft>
            </a:pPr>
            <a:r>
              <a:rPr sz="1500">
                <a:solidFill>
                  <a:srgbClr val="FFFFFF"/>
                </a:solidFill>
                <a:latin typeface="Microsoft YaHei"/>
              </a:rPr>
              <a:t>▪ K6  谁来监管：各领域主管部门</a:t>
            </a:r>
          </a:p>
          <a:p>
            <a:pPr>
              <a:spcAft>
                <a:spcPts val="800"/>
              </a:spcAft>
            </a:pPr>
            <a:r>
              <a:rPr sz="1500">
                <a:solidFill>
                  <a:srgbClr val="FFFFFF"/>
                </a:solidFill>
                <a:latin typeface="Microsoft YaHei"/>
              </a:rPr>
              <a:t>▪ S5  高校实验室的专门要求</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高校实验室安全规范与检查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56 镜）　适用对象：全体进入高校实验室的本科生、研究生、新进教职工和博士后（必修）；实验室负责人、安全员可作为迎检准备参考</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能说出《高等学校实验室安全规范》的发布单位、适用范围和主要要求。</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能说出高校实验室安全检查项目表的大体结构和检查重点。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能理解实验室分类分级管理的含义，判断“同样的物质、不同的操作”为什么管理要求不同。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能做到：看懂并协助更新门口安全信息牌，把安全承诺落实到每天的进出实验室行为中。</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教育部高校实验室安全检查项目表（以教育部当年发布的现行版本为准）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《中华人民共和国安全生产法》（风险分级管控和隐患排查治理，以现行文本为准）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2894-2025（以现行文本为准）《安全色和安全标志》：信息牌上的安全标志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本校实验室安全管理办法、分级分类管理规定（以本校规定为准）</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《高等学校实验室安全规范》是什么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教育部办公厅 2023 年印发（教科信厅函〔2023〕5 号）</a:t>
            </a:r>
          </a:p>
          <a:p>
            <a:pPr>
              <a:spcAft>
                <a:spcPts val="1000"/>
              </a:spcAft>
            </a:pPr>
            <a:r>
              <a:rPr sz="2000">
                <a:solidFill>
                  <a:srgbClr val="222B33"/>
                </a:solidFill>
                <a:latin typeface="Microsoft YaHei"/>
              </a:rPr>
              <a:t>▪ 适用于高校各类教学、科研实验室</a:t>
            </a:r>
          </a:p>
          <a:p>
            <a:pPr>
              <a:spcAft>
                <a:spcPts val="1000"/>
              </a:spcAft>
            </a:pPr>
            <a:r>
              <a:rPr sz="2000">
                <a:solidFill>
                  <a:srgbClr val="222B33"/>
                </a:solidFill>
                <a:latin typeface="Microsoft YaHei"/>
              </a:rPr>
              <a:t>▪ 把法律法规要求落到高校日常管理</a:t>
            </a:r>
          </a:p>
          <a:p>
            <a:pPr>
              <a:spcAft>
                <a:spcPts val="1000"/>
              </a:spcAft>
            </a:pPr>
            <a:r>
              <a:rPr sz="2000">
                <a:solidFill>
                  <a:srgbClr val="222B33"/>
                </a:solidFill>
                <a:latin typeface="Microsoft YaHei"/>
              </a:rPr>
              <a:t>▪ 学校据此制定本校制度，以现行文本为准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《高等学校实验室安全规范》由教育部办公厅于 2023 年印发（教科信厅函〔2023〕5 号），是针对高校实验室安全工作的专门规范性文件。它以安全生产、消防、危险化学品、生物安全、辐射安全等法律法规为基础，结合高校实验……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认为规范只是管理部门的文件，与学生无关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规范的主要要求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建立责任体系，制定管理制度和操作规程</a:t>
            </a:r>
          </a:p>
          <a:p>
            <a:pPr>
              <a:spcAft>
                <a:spcPts val="1000"/>
              </a:spcAft>
            </a:pPr>
            <a:r>
              <a:rPr sz="1700">
                <a:solidFill>
                  <a:srgbClr val="222B33"/>
                </a:solidFill>
                <a:latin typeface="Microsoft YaHei"/>
              </a:rPr>
              <a:t>▪ 开展安全教育培训，考核合格才准入</a:t>
            </a:r>
          </a:p>
          <a:p>
            <a:pPr>
              <a:spcAft>
                <a:spcPts val="1000"/>
              </a:spcAft>
            </a:pPr>
            <a:r>
              <a:rPr sz="1700">
                <a:solidFill>
                  <a:srgbClr val="222B33"/>
                </a:solidFill>
                <a:latin typeface="Microsoft YaHei"/>
              </a:rPr>
              <a:t>▪ 风险评估、分级管控，排查治理隐患</a:t>
            </a:r>
          </a:p>
          <a:p>
            <a:pPr>
              <a:spcAft>
                <a:spcPts val="1000"/>
              </a:spcAft>
            </a:pPr>
            <a:r>
              <a:rPr sz="1700">
                <a:solidFill>
                  <a:srgbClr val="222B33"/>
                </a:solidFill>
                <a:latin typeface="Microsoft YaHei"/>
              </a:rPr>
              <a:t>▪ 应急管理、安全设施和条件保障</a:t>
            </a:r>
          </a:p>
          <a:p>
            <a:pPr>
              <a:spcAft>
                <a:spcPts val="1000"/>
              </a:spcAft>
            </a:pPr>
            <a:r>
              <a:rPr sz="1700">
                <a:solidFill>
                  <a:srgbClr val="222B33"/>
                </a:solidFill>
                <a:latin typeface="Microsoft YaHei"/>
              </a:rPr>
              <a:t>▪ 对化学、生物、辐射、机电等危险源分类管理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把规范理解为“只管化学实验室”</a:t>
            </a:r>
          </a:p>
          <a:p>
            <a:pPr>
              <a:spcAft>
                <a:spcPts val="1000"/>
              </a:spcAft>
            </a:pPr>
            <a:r>
              <a:rPr sz="1500">
                <a:solidFill>
                  <a:srgbClr val="222B33"/>
                </a:solidFill>
                <a:latin typeface="Microsoft YaHei"/>
              </a:rPr>
              <a:t>▪ 只关注设施配备，忽视制度、培训和应急</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按危险源分类分级管理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先按危险源分类：化学、生物、辐射、机电等</a:t>
            </a:r>
          </a:p>
          <a:p>
            <a:pPr>
              <a:spcAft>
                <a:spcPts val="1000"/>
              </a:spcAft>
            </a:pPr>
            <a:r>
              <a:rPr sz="2000">
                <a:solidFill>
                  <a:srgbClr val="222B33"/>
                </a:solidFill>
                <a:latin typeface="Microsoft YaHei"/>
              </a:rPr>
              <a:t>▪ 再按风险高低分级，危险越高管控越严</a:t>
            </a:r>
          </a:p>
          <a:p>
            <a:pPr>
              <a:spcAft>
                <a:spcPts val="1000"/>
              </a:spcAft>
            </a:pPr>
            <a:r>
              <a:rPr sz="2000">
                <a:solidFill>
                  <a:srgbClr val="222B33"/>
                </a:solidFill>
                <a:latin typeface="Microsoft YaHei"/>
              </a:rPr>
              <a:t>▪ 高风险实验室准入更严、检查更勤</a:t>
            </a:r>
          </a:p>
          <a:p>
            <a:pPr>
              <a:spcAft>
                <a:spcPts val="1000"/>
              </a:spcAft>
            </a:pPr>
            <a:r>
              <a:rPr sz="2000">
                <a:solidFill>
                  <a:srgbClr val="222B33"/>
                </a:solidFill>
                <a:latin typeface="Microsoft YaHei"/>
              </a:rPr>
              <a:t>▪ 分级标准和标识颜色以本校规定为准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认为低级别实验室“不用管”</a:t>
            </a:r>
          </a:p>
          <a:p>
            <a:pPr>
              <a:spcAft>
                <a:spcPts val="1000"/>
              </a:spcAft>
            </a:pPr>
            <a:r>
              <a:rPr sz="1500">
                <a:solidFill>
                  <a:srgbClr val="222B33"/>
                </a:solidFill>
                <a:latin typeface="Microsoft YaHei"/>
              </a:rPr>
              <a:t>▪ 实验内容已变化，实验室分级和信息牌仍不更新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同样的化学品，不同的管法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风险不只取决于用什么，还取决于怎么用</a:t>
            </a:r>
          </a:p>
          <a:p>
            <a:pPr>
              <a:spcAft>
                <a:spcPts val="1000"/>
              </a:spcAft>
            </a:pPr>
            <a:r>
              <a:rPr sz="2000">
                <a:solidFill>
                  <a:srgbClr val="222B33"/>
                </a:solidFill>
                <a:latin typeface="Microsoft YaHei"/>
              </a:rPr>
              <a:t>▪ 用量、操作方式、场所不同，风险不同</a:t>
            </a:r>
          </a:p>
          <a:p>
            <a:pPr>
              <a:spcAft>
                <a:spcPts val="1000"/>
              </a:spcAft>
            </a:pPr>
            <a:r>
              <a:rPr sz="2000">
                <a:solidFill>
                  <a:srgbClr val="222B33"/>
                </a:solidFill>
                <a:latin typeface="Microsoft YaHei"/>
              </a:rPr>
              <a:t>▪ 管理要求按实际在做的工作来定</a:t>
            </a:r>
          </a:p>
          <a:p>
            <a:pPr>
              <a:spcAft>
                <a:spcPts val="1000"/>
              </a:spcAft>
            </a:pPr>
            <a:r>
              <a:rPr sz="2000">
                <a:solidFill>
                  <a:srgbClr val="222B33"/>
                </a:solidFill>
                <a:latin typeface="Microsoft YaHei"/>
              </a:rPr>
              <a:t>▪ 改变操作方式时要重新评估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照搬别的实验室的防护要求，不看自己的实际操作</a:t>
            </a:r>
          </a:p>
          <a:p>
            <a:pPr>
              <a:spcAft>
                <a:spcPts val="1000"/>
              </a:spcAft>
            </a:pPr>
            <a:r>
              <a:rPr sz="1500">
                <a:solidFill>
                  <a:srgbClr val="222B33"/>
                </a:solidFill>
                <a:latin typeface="Microsoft YaHei"/>
              </a:rPr>
              <a:t>▪ 实验放大后仍沿用小量实验的防护措施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门口信息牌写明主要危险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实验室门口要张贴安全信息牌</a:t>
            </a:r>
          </a:p>
          <a:p>
            <a:pPr>
              <a:spcAft>
                <a:spcPts val="1000"/>
              </a:spcAft>
            </a:pPr>
            <a:r>
              <a:rPr sz="2000">
                <a:solidFill>
                  <a:srgbClr val="222B33"/>
                </a:solidFill>
                <a:latin typeface="Microsoft YaHei"/>
              </a:rPr>
              <a:t>▪ 写明危险类别、安全责任人、防护要求、应急电话</a:t>
            </a:r>
          </a:p>
          <a:p>
            <a:pPr>
              <a:spcAft>
                <a:spcPts val="1000"/>
              </a:spcAft>
            </a:pPr>
            <a:r>
              <a:rPr sz="2000">
                <a:solidFill>
                  <a:srgbClr val="222B33"/>
                </a:solidFill>
                <a:latin typeface="Microsoft YaHei"/>
              </a:rPr>
              <a:t>▪ 新进危化品要对照 SDS 及时更新</a:t>
            </a:r>
          </a:p>
          <a:p>
            <a:pPr>
              <a:spcAft>
                <a:spcPts val="1000"/>
              </a:spcAft>
            </a:pPr>
            <a:r>
              <a:rPr sz="2000">
                <a:solidFill>
                  <a:srgbClr val="222B33"/>
                </a:solidFill>
                <a:latin typeface="Microsoft YaHei"/>
              </a:rPr>
              <a:t>▪ 让救援人员进门前一看就懂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信息牌多年不更新，责任人、电话已失效</a:t>
            </a:r>
          </a:p>
          <a:p>
            <a:pPr>
              <a:spcAft>
                <a:spcPts val="1000"/>
              </a:spcAft>
            </a:pPr>
            <a:r>
              <a:rPr sz="1500">
                <a:solidFill>
                  <a:srgbClr val="222B33"/>
                </a:solidFill>
                <a:latin typeface="Microsoft YaHei"/>
              </a:rPr>
              <a:t>▪ 新增危化品或危险实验后不更新危险类别</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安全承诺要落到行动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进入实验室前签订安全承诺书</a:t>
            </a:r>
          </a:p>
          <a:p>
            <a:pPr>
              <a:spcAft>
                <a:spcPts val="1000"/>
              </a:spcAft>
            </a:pPr>
            <a:r>
              <a:rPr sz="2000">
                <a:solidFill>
                  <a:srgbClr val="222B33"/>
                </a:solidFill>
                <a:latin typeface="Microsoft YaHei"/>
              </a:rPr>
              <a:t>▪ 签了不等于做了，不能签完就算</a:t>
            </a:r>
          </a:p>
          <a:p>
            <a:pPr>
              <a:spcAft>
                <a:spcPts val="1000"/>
              </a:spcAft>
            </a:pPr>
            <a:r>
              <a:rPr sz="2000">
                <a:solidFill>
                  <a:srgbClr val="222B33"/>
                </a:solidFill>
                <a:latin typeface="Microsoft YaHei"/>
              </a:rPr>
              <a:t>▪ 每天进门穿好防护、查看记录</a:t>
            </a:r>
          </a:p>
          <a:p>
            <a:pPr>
              <a:spcAft>
                <a:spcPts val="1000"/>
              </a:spcAft>
            </a:pPr>
            <a:r>
              <a:rPr sz="2000">
                <a:solidFill>
                  <a:srgbClr val="222B33"/>
                </a:solidFill>
                <a:latin typeface="Microsoft YaHei"/>
              </a:rPr>
              <a:t>▪ 离开前关水、关电、关气、关门窗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很多高校要求进入实验室的人员签订安全承诺书（或安全责任书），承诺遵守学校和实验室的安全制度、规范操作、及时报告隐患。签字是一种郑重的承诺，也意味着本人知晓并愿意承担相应责任。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签完承诺书就忘，实际行为不变</a:t>
            </a:r>
          </a:p>
          <a:p>
            <a:pPr>
              <a:spcAft>
                <a:spcPts val="1000"/>
              </a:spcAft>
            </a:pPr>
            <a:r>
              <a:rPr sz="1500">
                <a:solidFill>
                  <a:srgbClr val="222B33"/>
                </a:solidFill>
                <a:latin typeface="Microsoft YaHei"/>
              </a:rPr>
              <a:t>▪ 最后离开的人不做关水关电检查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检查项目表的结构与重点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检查项目表是校内自查和上级检查的依据</a:t>
            </a:r>
          </a:p>
          <a:p>
            <a:pPr>
              <a:spcAft>
                <a:spcPts val="1000"/>
              </a:spcAft>
            </a:pPr>
            <a:r>
              <a:rPr sz="2000">
                <a:solidFill>
                  <a:srgbClr val="222B33"/>
                </a:solidFill>
                <a:latin typeface="Microsoft YaHei"/>
              </a:rPr>
              <a:t>▪ 大体分为管理类和现场类两部分</a:t>
            </a:r>
          </a:p>
          <a:p>
            <a:pPr>
              <a:spcAft>
                <a:spcPts val="1000"/>
              </a:spcAft>
            </a:pPr>
            <a:r>
              <a:rPr sz="2000">
                <a:solidFill>
                  <a:srgbClr val="222B33"/>
                </a:solidFill>
                <a:latin typeface="Microsoft YaHei"/>
              </a:rPr>
              <a:t>▪ 现场重点：危化品、气瓶、消防、用电等</a:t>
            </a:r>
          </a:p>
          <a:p>
            <a:pPr>
              <a:spcAft>
                <a:spcPts val="1000"/>
              </a:spcAft>
            </a:pPr>
            <a:r>
              <a:rPr sz="2000">
                <a:solidFill>
                  <a:srgbClr val="222B33"/>
                </a:solidFill>
                <a:latin typeface="Microsoft YaHei"/>
              </a:rPr>
              <a:t>▪ 项目表会更新，以现行版本为准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教育部组织制定的高校实验室安全检查项目表，把规范和相关法规的要求细化为一条条可检查的条目，是学校、学院、实验室自查和上级部门检查的依据。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只在检查前才翻看项目表</a:t>
            </a:r>
          </a:p>
          <a:p>
            <a:pPr>
              <a:spcAft>
                <a:spcPts val="1000"/>
              </a:spcAft>
            </a:pPr>
            <a:r>
              <a:rPr sz="1500">
                <a:solidFill>
                  <a:srgbClr val="222B33"/>
                </a:solidFill>
                <a:latin typeface="Microsoft YaHei"/>
              </a:rPr>
              <a:t>▪ 使用过时版本的检查表自查</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校院室定期检查与上级检查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学校、学院、实验室分层开展定期检查</a:t>
            </a:r>
          </a:p>
          <a:p>
            <a:pPr>
              <a:spcAft>
                <a:spcPts val="1000"/>
              </a:spcAft>
            </a:pPr>
            <a:r>
              <a:rPr sz="2000">
                <a:solidFill>
                  <a:srgbClr val="222B33"/>
                </a:solidFill>
                <a:latin typeface="Microsoft YaHei"/>
              </a:rPr>
              <a:t>▪ 上级部门按检查项目表开展检查</a:t>
            </a:r>
          </a:p>
          <a:p>
            <a:pPr>
              <a:spcAft>
                <a:spcPts val="1000"/>
              </a:spcAft>
            </a:pPr>
            <a:r>
              <a:rPr sz="2000">
                <a:solidFill>
                  <a:srgbClr val="222B33"/>
                </a:solidFill>
                <a:latin typeface="Microsoft YaHei"/>
              </a:rPr>
              <a:t>▪ 迎检不靠突击，靠平时做到位</a:t>
            </a:r>
          </a:p>
          <a:p>
            <a:pPr>
              <a:spcAft>
                <a:spcPts val="1000"/>
              </a:spcAft>
            </a:pPr>
            <a:r>
              <a:rPr sz="2000">
                <a:solidFill>
                  <a:srgbClr val="222B33"/>
                </a:solidFill>
                <a:latin typeface="Microsoft YaHei"/>
              </a:rPr>
              <a:t>▪ 查出问题要整改、复查；重大隐患立即停用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高校实验室安全检查分层开展：学校层面组织定期和专项检查，学院（二级单位）开展定期巡查，实验室负责人和安全员组织日常自查。教育部等上级部门也会按检查项目表对高校进行检查或抽查。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检查前突击藏匿杂物、补记录</a:t>
            </a:r>
          </a:p>
          <a:p>
            <a:pPr>
              <a:spcAft>
                <a:spcPts val="1000"/>
              </a:spcAft>
            </a:pPr>
            <a:r>
              <a:rPr sz="1500">
                <a:solidFill>
                  <a:srgbClr val="222B33"/>
                </a:solidFill>
                <a:latin typeface="Microsoft YaHei"/>
              </a:rPr>
              <a:t>▪ 查出问题后只做表面整改，不复查</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《高等学校实验室安全规范》的文号是：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教科信厅函〔2023〕5 号</a:t>
            </a:r>
          </a:p>
          <a:p>
            <a:pPr algn="l"/>
            <a:r>
              <a:rPr sz="1500" b="0">
                <a:solidFill>
                  <a:srgbClr val="222B33"/>
                </a:solidFill>
                <a:latin typeface="Microsoft YaHei"/>
              </a:rPr>
              <a:t>B. 国务院令第 591 号</a:t>
            </a:r>
          </a:p>
          <a:p>
            <a:pPr algn="l"/>
            <a:r>
              <a:rPr sz="1500" b="0">
                <a:solidFill>
                  <a:srgbClr val="222B33"/>
                </a:solidFill>
                <a:latin typeface="Microsoft YaHei"/>
              </a:rPr>
              <a:t>C. GB 19489-2008</a:t>
            </a:r>
          </a:p>
          <a:p>
            <a:pPr algn="l"/>
            <a:r>
              <a:rPr sz="1500" b="0">
                <a:solidFill>
                  <a:srgbClr val="222B33"/>
                </a:solidFill>
                <a:latin typeface="Microsoft YaHei"/>
              </a:rPr>
              <a:t>D. 主席令第六十四号</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隔壁两间实验室用同一种化学品，一间只取几滴，一间大量加热回流。关于管理要求，正确的是：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两间完全一样</a:t>
            </a:r>
          </a:p>
          <a:p>
            <a:pPr algn="l"/>
            <a:r>
              <a:rPr sz="1500" b="0">
                <a:solidFill>
                  <a:srgbClr val="222B33"/>
                </a:solidFill>
                <a:latin typeface="Microsoft YaHei"/>
              </a:rPr>
              <a:t>B. 按实际操作的风险分别确定，加热回流的一间要求更严</a:t>
            </a:r>
          </a:p>
          <a:p>
            <a:pPr algn="l"/>
            <a:r>
              <a:rPr sz="1500" b="0">
                <a:solidFill>
                  <a:srgbClr val="222B33"/>
                </a:solidFill>
                <a:latin typeface="Microsoft YaHei"/>
              </a:rPr>
              <a:t>C. 只看化学品清单</a:t>
            </a:r>
          </a:p>
          <a:p>
            <a:pPr algn="l"/>
            <a:r>
              <a:rPr sz="1500" b="0">
                <a:solidFill>
                  <a:srgbClr val="222B33"/>
                </a:solidFill>
                <a:latin typeface="Microsoft YaHei"/>
              </a:rPr>
              <a:t>D. 取几滴的一间可以不管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实验室门口安全信息牌一般不需要包括的是：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主要危险类别和警示标志</a:t>
            </a:r>
          </a:p>
          <a:p>
            <a:pPr algn="l"/>
            <a:r>
              <a:rPr sz="1500" b="0">
                <a:solidFill>
                  <a:srgbClr val="222B33"/>
                </a:solidFill>
                <a:latin typeface="Microsoft YaHei"/>
              </a:rPr>
              <a:t>B. 安全责任人</a:t>
            </a:r>
          </a:p>
          <a:p>
            <a:pPr algn="l"/>
            <a:r>
              <a:rPr sz="1500" b="0">
                <a:solidFill>
                  <a:srgbClr val="222B33"/>
                </a:solidFill>
                <a:latin typeface="Microsoft YaHei"/>
              </a:rPr>
              <a:t>C. 应急联系电话</a:t>
            </a:r>
          </a:p>
          <a:p>
            <a:pPr algn="l"/>
            <a:r>
              <a:rPr sz="1500" b="0">
                <a:solidFill>
                  <a:srgbClr val="222B33"/>
                </a:solidFill>
                <a:latin typeface="Microsoft YaHei"/>
              </a:rPr>
              <a:t>D. 实验室成员的考试成绩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判断：为了顺利通过检查，可以在检查前把杂物临时塞进柜子。</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简答：签了安全承诺书后，每天离开实验室前要做哪些检查？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《高等学校实验室安全规范》是什么</a:t>
            </a:r>
          </a:p>
          <a:p>
            <a:pPr>
              <a:spcAft>
                <a:spcPts val="800"/>
              </a:spcAft>
            </a:pPr>
            <a:r>
              <a:rPr sz="1800">
                <a:solidFill>
                  <a:srgbClr val="FFFFFF"/>
                </a:solidFill>
                <a:latin typeface="Microsoft YaHei"/>
              </a:rPr>
              <a:t>▪ S2  规范的主要要求</a:t>
            </a:r>
          </a:p>
          <a:p>
            <a:pPr>
              <a:spcAft>
                <a:spcPts val="800"/>
              </a:spcAft>
            </a:pPr>
            <a:r>
              <a:rPr sz="1800">
                <a:solidFill>
                  <a:srgbClr val="FFFFFF"/>
                </a:solidFill>
                <a:latin typeface="Microsoft YaHei"/>
              </a:rPr>
              <a:t>▪ K1  按危险源分类分级管理</a:t>
            </a:r>
          </a:p>
          <a:p>
            <a:pPr>
              <a:spcAft>
                <a:spcPts val="800"/>
              </a:spcAft>
            </a:pPr>
            <a:r>
              <a:rPr sz="1800">
                <a:solidFill>
                  <a:srgbClr val="FFFFFF"/>
                </a:solidFill>
                <a:latin typeface="Microsoft YaHei"/>
              </a:rPr>
              <a:t>▪ K2  同样的化学品，不同的管法</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K3  门口信息牌写明主要危险</a:t>
            </a:r>
          </a:p>
          <a:p>
            <a:pPr>
              <a:spcAft>
                <a:spcPts val="800"/>
              </a:spcAft>
            </a:pPr>
            <a:r>
              <a:rPr sz="1800">
                <a:solidFill>
                  <a:srgbClr val="FFFFFF"/>
                </a:solidFill>
                <a:latin typeface="Microsoft YaHei"/>
              </a:rPr>
              <a:t>▪ K4  安全承诺要落到行动</a:t>
            </a:r>
          </a:p>
          <a:p>
            <a:pPr>
              <a:spcAft>
                <a:spcPts val="800"/>
              </a:spcAft>
            </a:pPr>
            <a:r>
              <a:rPr sz="1800">
                <a:solidFill>
                  <a:srgbClr val="FFFFFF"/>
                </a:solidFill>
                <a:latin typeface="Microsoft YaHei"/>
              </a:rPr>
              <a:t>▪ S3  检查项目表的结构与重点</a:t>
            </a:r>
          </a:p>
          <a:p>
            <a:pPr>
              <a:spcAft>
                <a:spcPts val="800"/>
              </a:spcAft>
            </a:pPr>
            <a:r>
              <a:rPr sz="1800">
                <a:solidFill>
                  <a:srgbClr val="FFFFFF"/>
                </a:solidFill>
                <a:latin typeface="Microsoft YaHei"/>
              </a:rPr>
              <a:t>▪ K5  校院室定期检查与上级检查</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三级管理与安全责任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适用对象：全体进入高校实验室的本科生、研究生、新进教职工和博士后（必修）；导师、实验室负责人和实验室安全员重点学习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能说出学校—学院—实验室三级管理的结构，以及实验室负责人作为第一责任人的主要职责。</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能说出学院安全管理员、实验室安全员、导师和带教人、学生各自的责任。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能说出学生在实验室的安全权利：知情、拒绝违章指挥和冒险作业、紧急撤离、报告隐患。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能做到：进实验室前记下安全联系人，出现问题按“实验室负责人→学院→保卫处/实验室管理处”逐级报告，紧急时拨打 119、120。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《中华人民共和国安全生产法》（以现行文本为准）：全员安全生产责任制；从业人员的知情权、建议权、拒绝违章指挥和强令冒险作业、紧急情况下停止作业撤离等权利，以及遵守规章、报告隐患的义务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号，以现行文本为准）：安全责任体系、三级管理、安全责任书与考核</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教育部高校实验室安全检查项目表（以现行文本为准）：责任体系类检查项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《中华人民共和国职业病防治法》（以现行文本为准）：用人单位提供符合要求的防护设施和用品、组织培训的责任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本校实验室安全管理办法、安全责任制和问责规定（以本校规定为准）</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三级管理：责任共担一条链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高校实验室实行学校—学院—实验室三级管理</a:t>
            </a:r>
          </a:p>
          <a:p>
            <a:pPr>
              <a:spcAft>
                <a:spcPts val="1000"/>
              </a:spcAft>
            </a:pPr>
            <a:r>
              <a:rPr sz="2000">
                <a:solidFill>
                  <a:srgbClr val="222B33"/>
                </a:solidFill>
                <a:latin typeface="Microsoft YaHei"/>
              </a:rPr>
              <a:t>▪ 学校统筹，学院落实，实验室负责日常</a:t>
            </a:r>
          </a:p>
          <a:p>
            <a:pPr>
              <a:spcAft>
                <a:spcPts val="1000"/>
              </a:spcAft>
            </a:pPr>
            <a:r>
              <a:rPr sz="2000">
                <a:solidFill>
                  <a:srgbClr val="222B33"/>
                </a:solidFill>
                <a:latin typeface="Microsoft YaHei"/>
              </a:rPr>
              <a:t>▪ 每一级都有明确的责任人</a:t>
            </a:r>
          </a:p>
          <a:p>
            <a:pPr>
              <a:spcAft>
                <a:spcPts val="1000"/>
              </a:spcAft>
            </a:pPr>
            <a:r>
              <a:rPr sz="2000">
                <a:solidFill>
                  <a:srgbClr val="222B33"/>
                </a:solidFill>
                <a:latin typeface="Microsoft YaHei"/>
              </a:rPr>
              <a:t>▪ 责任共担，每个人也对自己的安全负责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认为安全是学校管理部门的事，与自己无关</a:t>
            </a:r>
          </a:p>
          <a:p>
            <a:pPr>
              <a:spcAft>
                <a:spcPts val="1000"/>
              </a:spcAft>
            </a:pPr>
            <a:r>
              <a:rPr sz="1500">
                <a:solidFill>
                  <a:srgbClr val="222B33"/>
                </a:solidFill>
                <a:latin typeface="Microsoft YaHei"/>
              </a:rPr>
              <a:t>▪ 不知道本实验室负责人和学院安全管理员是谁</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学校要提供安全条件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实验室安全，单位首先要担起责任</a:t>
            </a:r>
          </a:p>
          <a:p>
            <a:pPr>
              <a:spcAft>
                <a:spcPts val="1000"/>
              </a:spcAft>
            </a:pPr>
            <a:r>
              <a:rPr sz="2000">
                <a:solidFill>
                  <a:srgbClr val="222B33"/>
                </a:solidFill>
                <a:latin typeface="Microsoft YaHei"/>
              </a:rPr>
              <a:t>▪ 提供合格的设施、设备和防护用品</a:t>
            </a:r>
          </a:p>
          <a:p>
            <a:pPr>
              <a:spcAft>
                <a:spcPts val="1000"/>
              </a:spcAft>
            </a:pPr>
            <a:r>
              <a:rPr sz="2000">
                <a:solidFill>
                  <a:srgbClr val="222B33"/>
                </a:solidFill>
                <a:latin typeface="Microsoft YaHei"/>
              </a:rPr>
              <a:t>▪ 保证设备维护保养和定期检修</a:t>
            </a:r>
          </a:p>
          <a:p>
            <a:pPr>
              <a:spcAft>
                <a:spcPts val="1000"/>
              </a:spcAft>
            </a:pPr>
            <a:r>
              <a:rPr sz="2000">
                <a:solidFill>
                  <a:srgbClr val="222B33"/>
                </a:solidFill>
                <a:latin typeface="Microsoft YaHei"/>
              </a:rPr>
              <a:t>▪ 组织安全培训，保障必要经费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防护用品不足或型号不对时将就使用</a:t>
            </a:r>
          </a:p>
          <a:p>
            <a:pPr>
              <a:spcAft>
                <a:spcPts val="1000"/>
              </a:spcAft>
            </a:pPr>
            <a:r>
              <a:rPr sz="1500">
                <a:solidFill>
                  <a:srgbClr val="222B33"/>
                </a:solidFill>
                <a:latin typeface="Microsoft YaHei"/>
              </a:rPr>
              <a:t>▪ 老化、故障设备“带病”运行而不报告</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实验室负责人是第一责任人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实验室负责人是本室安全第一责任人</a:t>
            </a:r>
          </a:p>
          <a:p>
            <a:pPr>
              <a:spcAft>
                <a:spcPts val="1000"/>
              </a:spcAft>
            </a:pPr>
            <a:r>
              <a:rPr sz="2000">
                <a:solidFill>
                  <a:srgbClr val="222B33"/>
                </a:solidFill>
                <a:latin typeface="Microsoft YaHei"/>
              </a:rPr>
              <a:t>▪ 确保安全制度在本室落地</a:t>
            </a:r>
          </a:p>
          <a:p>
            <a:pPr>
              <a:spcAft>
                <a:spcPts val="1000"/>
              </a:spcAft>
            </a:pPr>
            <a:r>
              <a:rPr sz="2000">
                <a:solidFill>
                  <a:srgbClr val="222B33"/>
                </a:solidFill>
                <a:latin typeface="Microsoft YaHei"/>
              </a:rPr>
              <a:t>▪ 组织风险评估，审核实验方案</a:t>
            </a:r>
          </a:p>
          <a:p>
            <a:pPr>
              <a:spcAft>
                <a:spcPts val="1000"/>
              </a:spcAft>
            </a:pPr>
            <a:r>
              <a:rPr sz="2000">
                <a:solidFill>
                  <a:srgbClr val="222B33"/>
                </a:solidFill>
                <a:latin typeface="Microsoft YaHei"/>
              </a:rPr>
              <a:t>▪ 保障设施和防护到位，组织培训准入和检查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负责人把安全全部推给安全员或学生</a:t>
            </a:r>
          </a:p>
          <a:p>
            <a:pPr>
              <a:spcAft>
                <a:spcPts val="1000"/>
              </a:spcAft>
            </a:pPr>
            <a:r>
              <a:rPr sz="1500">
                <a:solidFill>
                  <a:srgbClr val="222B33"/>
                </a:solidFill>
                <a:latin typeface="Microsoft YaHei"/>
              </a:rPr>
              <a:t>▪ 新实验、高风险实验未经负责人审核就开展</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负责人外出要指定代理人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负责人出差、休假，责任不能断档</a:t>
            </a:r>
          </a:p>
          <a:p>
            <a:pPr>
              <a:spcAft>
                <a:spcPts val="1000"/>
              </a:spcAft>
            </a:pPr>
            <a:r>
              <a:rPr sz="2000">
                <a:solidFill>
                  <a:srgbClr val="222B33"/>
                </a:solidFill>
                <a:latin typeface="Microsoft YaHei"/>
              </a:rPr>
              <a:t>▪ 指定代理人，交代清楚在研实验和风险</a:t>
            </a:r>
          </a:p>
          <a:p>
            <a:pPr>
              <a:spcAft>
                <a:spcPts val="1000"/>
              </a:spcAft>
            </a:pPr>
            <a:r>
              <a:rPr sz="2000">
                <a:solidFill>
                  <a:srgbClr val="222B33"/>
                </a:solidFill>
                <a:latin typeface="Microsoft YaHei"/>
              </a:rPr>
              <a:t>▪ 门口信息牌写清代理人联系方式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负责人外出后实验室无人负责、联系不上</a:t>
            </a:r>
          </a:p>
          <a:p>
            <a:pPr>
              <a:spcAft>
                <a:spcPts val="1000"/>
              </a:spcAft>
            </a:pPr>
            <a:r>
              <a:rPr sz="1500">
                <a:solidFill>
                  <a:srgbClr val="222B33"/>
                </a:solidFill>
                <a:latin typeface="Microsoft YaHei"/>
              </a:rPr>
              <a:t>▪ 代理人不清楚实验室有哪些危险源</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学校和学院的安全管理人员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学院设实验室安全管理员</a:t>
            </a:r>
          </a:p>
          <a:p>
            <a:pPr>
              <a:spcAft>
                <a:spcPts val="1000"/>
              </a:spcAft>
            </a:pPr>
            <a:r>
              <a:rPr sz="2000">
                <a:solidFill>
                  <a:srgbClr val="222B33"/>
                </a:solidFill>
                <a:latin typeface="Microsoft YaHei"/>
              </a:rPr>
              <a:t>▪ 学校设实验室安全管理部门</a:t>
            </a:r>
          </a:p>
          <a:p>
            <a:pPr>
              <a:spcAft>
                <a:spcPts val="1000"/>
              </a:spcAft>
            </a:pPr>
            <a:r>
              <a:rPr sz="2000">
                <a:solidFill>
                  <a:srgbClr val="222B33"/>
                </a:solidFill>
                <a:latin typeface="Microsoft YaHei"/>
              </a:rPr>
              <a:t>▪ 负责监督检查，提供培训和咨询</a:t>
            </a:r>
          </a:p>
          <a:p>
            <a:pPr>
              <a:spcAft>
                <a:spcPts val="1000"/>
              </a:spcAft>
            </a:pPr>
            <a:r>
              <a:rPr sz="2000">
                <a:solidFill>
                  <a:srgbClr val="222B33"/>
                </a:solidFill>
                <a:latin typeface="Microsoft YaHei"/>
              </a:rPr>
              <a:t>▪ 保卫处负责消防治安和应急联动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遇到安全问题不知道向谁咨询，自己硬着头皮做</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实验室安全员：巡查、叫停、上报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每间实验室设安全员，协助负责人管日常</a:t>
            </a:r>
          </a:p>
          <a:p>
            <a:pPr>
              <a:spcAft>
                <a:spcPts val="1000"/>
              </a:spcAft>
            </a:pPr>
            <a:r>
              <a:rPr sz="2000">
                <a:solidFill>
                  <a:srgbClr val="222B33"/>
                </a:solidFill>
                <a:latin typeface="Microsoft YaHei"/>
              </a:rPr>
              <a:t>▪ 巡查提醒，实验前做安全交底</a:t>
            </a:r>
          </a:p>
          <a:p>
            <a:pPr>
              <a:spcAft>
                <a:spcPts val="1000"/>
              </a:spcAft>
            </a:pPr>
            <a:r>
              <a:rPr sz="2000">
                <a:solidFill>
                  <a:srgbClr val="222B33"/>
                </a:solidFill>
                <a:latin typeface="Microsoft YaHei"/>
              </a:rPr>
              <a:t>▪ 发现危险操作要敢于叫停</a:t>
            </a:r>
          </a:p>
          <a:p>
            <a:pPr>
              <a:spcAft>
                <a:spcPts val="1000"/>
              </a:spcAft>
            </a:pPr>
            <a:r>
              <a:rPr sz="2000">
                <a:solidFill>
                  <a:srgbClr val="222B33"/>
                </a:solidFill>
                <a:latin typeface="Microsoft YaHei"/>
              </a:rPr>
              <a:t>▪ 发现隐患及时上报；安全员不负责盯进度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安全员碍于情面，看到违规操作不提醒、不叫停</a:t>
            </a:r>
          </a:p>
          <a:p>
            <a:pPr>
              <a:spcAft>
                <a:spcPts val="1000"/>
              </a:spcAft>
            </a:pPr>
            <a:r>
              <a:rPr sz="1500">
                <a:solidFill>
                  <a:srgbClr val="222B33"/>
                </a:solidFill>
                <a:latin typeface="Microsoft YaHei"/>
              </a:rPr>
              <a:t>▪ 把安全员当成“催进度”的角色，忽视其安全职责</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导师和带教人的责任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导师以身作则，组会常讲安全</a:t>
            </a:r>
          </a:p>
          <a:p>
            <a:pPr>
              <a:spcAft>
                <a:spcPts val="1000"/>
              </a:spcAft>
            </a:pPr>
            <a:r>
              <a:rPr sz="2000">
                <a:solidFill>
                  <a:srgbClr val="222B33"/>
                </a:solidFill>
                <a:latin typeface="Microsoft YaHei"/>
              </a:rPr>
              <a:t>▪ 看到问题马上提醒</a:t>
            </a:r>
          </a:p>
          <a:p>
            <a:pPr>
              <a:spcAft>
                <a:spcPts val="1000"/>
              </a:spcAft>
            </a:pPr>
            <a:r>
              <a:rPr sz="2000">
                <a:solidFill>
                  <a:srgbClr val="222B33"/>
                </a:solidFill>
                <a:latin typeface="Microsoft YaHei"/>
              </a:rPr>
              <a:t>▪ 带新人：先示范，再看着做，确认会了再放手</a:t>
            </a:r>
          </a:p>
          <a:p>
            <a:pPr>
              <a:spcAft>
                <a:spcPts val="1000"/>
              </a:spcAft>
            </a:pPr>
            <a:r>
              <a:rPr sz="2000">
                <a:solidFill>
                  <a:srgbClr val="222B33"/>
                </a:solidFill>
                <a:latin typeface="Microsoft YaHei"/>
              </a:rPr>
              <a:t>▪ 没学会的，不让单独上手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导师是学生安全意识的第一示范者。导师自己严格遵守规定、规范穿戴防护，在组会上经常讲安全、分享险情和教训，看到问题当场指出，学生才会真正重视安全。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只口头交代一句就让新人独立操作</a:t>
            </a:r>
          </a:p>
          <a:p>
            <a:pPr>
              <a:spcAft>
                <a:spcPts val="1000"/>
              </a:spcAft>
            </a:pPr>
            <a:r>
              <a:rPr sz="1500">
                <a:solidFill>
                  <a:srgbClr val="222B33"/>
                </a:solidFill>
                <a:latin typeface="Microsoft YaHei"/>
              </a:rPr>
              <a:t>▪ 导师自己不戴防护，却要求学生戴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人人有责：谁使用，谁负责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实验室安全，每一个人都有责任</a:t>
            </a:r>
          </a:p>
          <a:p>
            <a:pPr>
              <a:spcAft>
                <a:spcPts val="1000"/>
              </a:spcAft>
            </a:pPr>
            <a:r>
              <a:rPr sz="2000">
                <a:solidFill>
                  <a:srgbClr val="222B33"/>
                </a:solidFill>
                <a:latin typeface="Microsoft YaHei"/>
              </a:rPr>
              <a:t>▪ 外来维修、施工人员同样要守规定</a:t>
            </a:r>
          </a:p>
          <a:p>
            <a:pPr>
              <a:spcAft>
                <a:spcPts val="1000"/>
              </a:spcAft>
            </a:pPr>
            <a:r>
              <a:rPr sz="2000">
                <a:solidFill>
                  <a:srgbClr val="222B33"/>
                </a:solidFill>
                <a:latin typeface="Microsoft YaHei"/>
              </a:rPr>
              <a:t>▪ 谁使用谁负责，严格按规程操作</a:t>
            </a:r>
          </a:p>
          <a:p>
            <a:pPr>
              <a:spcAft>
                <a:spcPts val="1000"/>
              </a:spcAft>
            </a:pPr>
            <a:r>
              <a:rPr sz="2000">
                <a:solidFill>
                  <a:srgbClr val="222B33"/>
                </a:solidFill>
                <a:latin typeface="Microsoft YaHei"/>
              </a:rPr>
              <a:t>▪ 设备损坏及时报告，不擅自维修；异常先停再报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论是教师、学生，还是外来的维修、施工人员，只要进入实验室，就对安全负有责任。按照“谁使用、谁负责”的原则，每个人对自己的操作和所用的设备、试剂负责：参加培训，熟悉规程，严格按规程操作，不图省事、不走捷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发现设备损坏自己动手拆修</a:t>
            </a:r>
          </a:p>
          <a:p>
            <a:pPr>
              <a:spcAft>
                <a:spcPts val="1000"/>
              </a:spcAft>
            </a:pPr>
            <a:r>
              <a:rPr sz="1500">
                <a:solidFill>
                  <a:srgbClr val="222B33"/>
                </a:solidFill>
                <a:latin typeface="Microsoft YaHei"/>
              </a:rPr>
              <a:t>▪ 出现异常继续操作，事后不报告</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学生的安全权利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有权了解实验的危险和防护措施</a:t>
            </a:r>
          </a:p>
          <a:p>
            <a:pPr>
              <a:spcAft>
                <a:spcPts val="1000"/>
              </a:spcAft>
            </a:pPr>
            <a:r>
              <a:rPr sz="2000">
                <a:solidFill>
                  <a:srgbClr val="222B33"/>
                </a:solidFill>
                <a:latin typeface="Microsoft YaHei"/>
              </a:rPr>
              <a:t>▪ 对违章指挥、冒险作业有权拒绝</a:t>
            </a:r>
          </a:p>
          <a:p>
            <a:pPr>
              <a:spcAft>
                <a:spcPts val="1000"/>
              </a:spcAft>
            </a:pPr>
            <a:r>
              <a:rPr sz="2000">
                <a:solidFill>
                  <a:srgbClr val="222B33"/>
                </a:solidFill>
                <a:latin typeface="Microsoft YaHei"/>
              </a:rPr>
              <a:t>▪ 紧急危险时有权停止作业、撤离</a:t>
            </a:r>
          </a:p>
          <a:p>
            <a:pPr>
              <a:spcAft>
                <a:spcPts val="1000"/>
              </a:spcAft>
            </a:pPr>
            <a:r>
              <a:rPr sz="2000">
                <a:solidFill>
                  <a:srgbClr val="222B33"/>
                </a:solidFill>
                <a:latin typeface="Microsoft YaHei"/>
              </a:rPr>
              <a:t>▪ 如实报告隐患，学校鼓励并保护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担心影响进度或得罪导师，接受冒险作业</a:t>
            </a:r>
          </a:p>
          <a:p>
            <a:pPr>
              <a:spcAft>
                <a:spcPts val="1000"/>
              </a:spcAft>
            </a:pPr>
            <a:r>
              <a:rPr sz="1500">
                <a:solidFill>
                  <a:srgbClr val="222B33"/>
                </a:solidFill>
                <a:latin typeface="Microsoft YaHei"/>
              </a:rPr>
              <a:t>▪ 怕被批评而隐瞒隐患或未遂事件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记住身边的安全联系人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门口信息牌写明安全联系人和电话</a:t>
            </a:r>
          </a:p>
          <a:p>
            <a:pPr>
              <a:spcAft>
                <a:spcPts val="1000"/>
              </a:spcAft>
            </a:pPr>
            <a:r>
              <a:rPr sz="2000">
                <a:solidFill>
                  <a:srgbClr val="222B33"/>
                </a:solidFill>
                <a:latin typeface="Microsoft YaHei"/>
              </a:rPr>
              <a:t>▪ 进实验室前先记下找谁</a:t>
            </a:r>
          </a:p>
          <a:p>
            <a:pPr>
              <a:spcAft>
                <a:spcPts val="1000"/>
              </a:spcAft>
            </a:pPr>
            <a:r>
              <a:rPr sz="2000">
                <a:solidFill>
                  <a:srgbClr val="222B33"/>
                </a:solidFill>
                <a:latin typeface="Microsoft YaHei"/>
              </a:rPr>
              <a:t>▪ 逐级报告：负责人→学院→保卫处/实验室管理处</a:t>
            </a:r>
          </a:p>
          <a:p>
            <a:pPr>
              <a:spcAft>
                <a:spcPts val="1000"/>
              </a:spcAft>
            </a:pPr>
            <a:r>
              <a:rPr sz="2000">
                <a:solidFill>
                  <a:srgbClr val="222B33"/>
                </a:solidFill>
                <a:latin typeface="Microsoft YaHei"/>
              </a:rPr>
              <a:t>▪ 火警 119，急救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每间实验室门口的安全信息牌上都写有安全责任人和应急联系电话。进入实验室前，要先把这些联系方式记下来（存入手机），同时记住学院安全管理员、学校保卫处和实验室安全管理部门的电话。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出事后才临时找电话，耽误处置</a:t>
            </a:r>
          </a:p>
          <a:p>
            <a:pPr>
              <a:spcAft>
                <a:spcPts val="1000"/>
              </a:spcAft>
            </a:pPr>
            <a:r>
              <a:rPr sz="1500">
                <a:solidFill>
                  <a:srgbClr val="222B33"/>
                </a:solidFill>
                <a:latin typeface="Microsoft YaHei"/>
              </a:rPr>
              <a:t>▪ 只打 119 或 120，不向负责人和学校报告</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签责任书，履职有考核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学校、学院、实验室层层签订安全责任书</a:t>
            </a:r>
          </a:p>
          <a:p>
            <a:pPr>
              <a:spcAft>
                <a:spcPts val="1000"/>
              </a:spcAft>
            </a:pPr>
            <a:r>
              <a:rPr sz="2000">
                <a:solidFill>
                  <a:srgbClr val="222B33"/>
                </a:solidFill>
                <a:latin typeface="Microsoft YaHei"/>
              </a:rPr>
              <a:t>▪ 个人进实验室前签安全承诺书</a:t>
            </a:r>
          </a:p>
          <a:p>
            <a:pPr>
              <a:spcAft>
                <a:spcPts val="1000"/>
              </a:spcAft>
            </a:pPr>
            <a:r>
              <a:rPr sz="2000">
                <a:solidFill>
                  <a:srgbClr val="222B33"/>
                </a:solidFill>
                <a:latin typeface="Microsoft YaHei"/>
              </a:rPr>
              <a:t>▪ 签了字就要照着做</a:t>
            </a:r>
          </a:p>
          <a:p>
            <a:pPr>
              <a:spcAft>
                <a:spcPts val="1000"/>
              </a:spcAft>
            </a:pPr>
            <a:r>
              <a:rPr sz="2000">
                <a:solidFill>
                  <a:srgbClr val="222B33"/>
                </a:solidFill>
                <a:latin typeface="Microsoft YaHei"/>
              </a:rPr>
              <a:t>▪ 履职纳入考核：做得好表彰，失职追责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为把责任落实到人，学校与学院、学院与实验室之间通常逐级签订安全责任书，进入实验室的个人签订安全承诺书，明确各自的责任和义务。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把责任书、承诺书当作走过场</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本实验室安全的第一责任人是：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实验室安全员</a:t>
            </a:r>
          </a:p>
          <a:p>
            <a:pPr algn="l"/>
            <a:r>
              <a:rPr sz="1500" b="0">
                <a:solidFill>
                  <a:srgbClr val="222B33"/>
                </a:solidFill>
                <a:latin typeface="Microsoft YaHei"/>
              </a:rPr>
              <a:t>B. 实验室负责人</a:t>
            </a:r>
          </a:p>
          <a:p>
            <a:pPr algn="l"/>
            <a:r>
              <a:rPr sz="1500" b="0">
                <a:solidFill>
                  <a:srgbClr val="222B33"/>
                </a:solidFill>
                <a:latin typeface="Microsoft YaHei"/>
              </a:rPr>
              <a:t>C. 学院安全管理员</a:t>
            </a:r>
          </a:p>
          <a:p>
            <a:pPr algn="l"/>
            <a:r>
              <a:rPr sz="1500" b="0">
                <a:solidFill>
                  <a:srgbClr val="222B33"/>
                </a:solidFill>
                <a:latin typeface="Microsoft YaHei"/>
              </a:rPr>
              <a:t>D. 学校保卫处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下列哪项不是实验室安全员的主要职责？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日常巡查、提醒规范操作</a:t>
            </a:r>
          </a:p>
          <a:p>
            <a:pPr algn="l"/>
            <a:r>
              <a:rPr sz="1500" b="0">
                <a:solidFill>
                  <a:srgbClr val="222B33"/>
                </a:solidFill>
                <a:latin typeface="Microsoft YaHei"/>
              </a:rPr>
              <a:t>B. 发现危险操作时叫停</a:t>
            </a:r>
          </a:p>
          <a:p>
            <a:pPr algn="l"/>
            <a:r>
              <a:rPr sz="1500" b="0">
                <a:solidFill>
                  <a:srgbClr val="222B33"/>
                </a:solidFill>
                <a:latin typeface="Microsoft YaHei"/>
              </a:rPr>
              <a:t>C. 督促大家加快实验进度</a:t>
            </a:r>
          </a:p>
          <a:p>
            <a:pPr algn="l"/>
            <a:r>
              <a:rPr sz="1500" b="0">
                <a:solidFill>
                  <a:srgbClr val="222B33"/>
                </a:solidFill>
                <a:latin typeface="Microsoft YaHei"/>
              </a:rPr>
              <a:t>D. 发现隐患及时上报</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判断：导师要求在没有通风柜的情况下大量使用挥发性有毒试剂，学生有权拒绝并向学院报告。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带新同学学习一项新操作，正确的顺序是：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口头交代后让其独立操作</a:t>
            </a:r>
          </a:p>
          <a:p>
            <a:pPr algn="l"/>
            <a:r>
              <a:rPr sz="1500" b="0">
                <a:solidFill>
                  <a:srgbClr val="222B33"/>
                </a:solidFill>
                <a:latin typeface="Microsoft YaHei"/>
              </a:rPr>
              <a:t>B. 先示范，再看着他做，确认会了再放手</a:t>
            </a:r>
          </a:p>
          <a:p>
            <a:pPr algn="l"/>
            <a:r>
              <a:rPr sz="1500" b="0">
                <a:solidFill>
                  <a:srgbClr val="222B33"/>
                </a:solidFill>
                <a:latin typeface="Microsoft YaHei"/>
              </a:rPr>
              <a:t>C. 让其自己看视频学</a:t>
            </a:r>
          </a:p>
          <a:p>
            <a:pPr algn="l"/>
            <a:r>
              <a:rPr sz="1500" b="0">
                <a:solidFill>
                  <a:srgbClr val="222B33"/>
                </a:solidFill>
                <a:latin typeface="Microsoft YaHei"/>
              </a:rPr>
              <a:t>D. 先让其试，出错再纠正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简答：实验室发生问题时，校内逐级报告的顺序是什么？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三级管理：责任共担一条链</a:t>
            </a:r>
          </a:p>
          <a:p>
            <a:pPr>
              <a:spcAft>
                <a:spcPts val="800"/>
              </a:spcAft>
            </a:pPr>
            <a:r>
              <a:rPr sz="1500">
                <a:solidFill>
                  <a:srgbClr val="FFFFFF"/>
                </a:solidFill>
                <a:latin typeface="Microsoft YaHei"/>
              </a:rPr>
              <a:t>▪ K2  学校要提供安全条件</a:t>
            </a:r>
          </a:p>
          <a:p>
            <a:pPr>
              <a:spcAft>
                <a:spcPts val="800"/>
              </a:spcAft>
            </a:pPr>
            <a:r>
              <a:rPr sz="1500">
                <a:solidFill>
                  <a:srgbClr val="FFFFFF"/>
                </a:solidFill>
                <a:latin typeface="Microsoft YaHei"/>
              </a:rPr>
              <a:t>▪ K3  实验室负责人是第一责任人</a:t>
            </a:r>
          </a:p>
          <a:p>
            <a:pPr>
              <a:spcAft>
                <a:spcPts val="800"/>
              </a:spcAft>
            </a:pPr>
            <a:r>
              <a:rPr sz="1500">
                <a:solidFill>
                  <a:srgbClr val="FFFFFF"/>
                </a:solidFill>
                <a:latin typeface="Microsoft YaHei"/>
              </a:rPr>
              <a:t>▪ K4  负责人外出要指定代理人</a:t>
            </a:r>
          </a:p>
          <a:p>
            <a:pPr>
              <a:spcAft>
                <a:spcPts val="800"/>
              </a:spcAft>
            </a:pPr>
            <a:r>
              <a:rPr sz="1500">
                <a:solidFill>
                  <a:srgbClr val="FFFFFF"/>
                </a:solidFill>
                <a:latin typeface="Microsoft YaHei"/>
              </a:rPr>
              <a:t>▪ K5  学校和学院的安全管理人员</a:t>
            </a:r>
          </a:p>
          <a:p>
            <a:pPr>
              <a:spcAft>
                <a:spcPts val="800"/>
              </a:spcAft>
            </a:pPr>
            <a:r>
              <a:rPr sz="1500">
                <a:solidFill>
                  <a:srgbClr val="FFFFFF"/>
                </a:solidFill>
                <a:latin typeface="Microsoft YaHei"/>
              </a:rPr>
              <a:t>▪ K6  实验室安全员：巡查、叫停、上报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导师和带教人的责任</a:t>
            </a:r>
          </a:p>
          <a:p>
            <a:pPr>
              <a:spcAft>
                <a:spcPts val="800"/>
              </a:spcAft>
            </a:pPr>
            <a:r>
              <a:rPr sz="1500">
                <a:solidFill>
                  <a:srgbClr val="FFFFFF"/>
                </a:solidFill>
                <a:latin typeface="Microsoft YaHei"/>
              </a:rPr>
              <a:t>▪ K8  人人有责：谁使用，谁负责</a:t>
            </a:r>
          </a:p>
          <a:p>
            <a:pPr>
              <a:spcAft>
                <a:spcPts val="800"/>
              </a:spcAft>
            </a:pPr>
            <a:r>
              <a:rPr sz="1500">
                <a:solidFill>
                  <a:srgbClr val="FFFFFF"/>
                </a:solidFill>
                <a:latin typeface="Microsoft YaHei"/>
              </a:rPr>
              <a:t>▪ K9  学生的安全权利</a:t>
            </a:r>
          </a:p>
          <a:p>
            <a:pPr>
              <a:spcAft>
                <a:spcPts val="800"/>
              </a:spcAft>
            </a:pPr>
            <a:r>
              <a:rPr sz="1500">
                <a:solidFill>
                  <a:srgbClr val="FFFFFF"/>
                </a:solidFill>
                <a:latin typeface="Microsoft YaHei"/>
              </a:rPr>
              <a:t>▪ K10  记住身边的安全联系人</a:t>
            </a:r>
          </a:p>
          <a:p>
            <a:pPr>
              <a:spcAft>
                <a:spcPts val="800"/>
              </a:spcAft>
            </a:pPr>
            <a:r>
              <a:rPr sz="1500">
                <a:solidFill>
                  <a:srgbClr val="FFFFFF"/>
                </a:solidFill>
                <a:latin typeface="Microsoft YaHei"/>
              </a:rPr>
              <a:t>▪ K11  签责任书，履职有考核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