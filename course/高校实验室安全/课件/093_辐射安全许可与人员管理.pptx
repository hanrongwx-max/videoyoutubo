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懂了剂量和防护原理，还要守规矩。我国辐射安全管理的法律依据是《中华人民共和国放射性污染防治法》（以现行文本为准）；国务院《放射性同位素与射线装置安全和防护条例》（以现行文本为准）对生产、销售、使用放射性同位素和射线装置的许可、安全和防护、事故应急等作了具体规定；主管部门又制定了《放射性同位素与射线装置安全许可管理办法》《放射性同位素与射线装置安全和防护管理办法》《放射工作人员职业健康管理办法》（均以现行文本为准）等规章；放射性废物还有《放射性废物安全管理条例》（见第 091 课）。</a:t>
            </a:r>
          </a:p>
          <a:p>
            <a:r>
              <a:t>技术要求以国家标准为准，基本标准是 GB 18871-2002（以现行文本为准）《电离辐射防护与辐射源安全基本标准》；学校在此基础上制定本校的辐射安全管理制度。辐射安全许可和监督主要由生态环境主管部门负责，职业健康检查等由卫生健康主管部门监督，具体以现行规定为准（法规体系总览见第 002 课）。</a:t>
            </a:r>
          </a:p>
          <a:p>
            <a:r>
              <a:t>国外的许可制度、机构和数值只作背景参考，不能照搬。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放射性同位素（含密封源和非密封放射性物质、放射性药物和示踪剂）和射线装置的单位，必须依法向生态环境主管部门申请领取辐射安全许可证，由学校作为持证单位统一申领和管理。申请时要具备相应的场所、设施、人员、管理机构和制度等条件；新建、改建、扩建辐射工作场所还要按规定做环境影响评价和竣工验收（见第 094 课）。</a:t>
            </a:r>
          </a:p>
          <a:p>
            <a:r>
              <a:t>许可证上载明允许从事的活动种类和范围（如使用哪几类放射源、射线装置，非密封放射性物质工作场所的级别等）。课题组只能在学校许可的种类和范围内开展工作，超出范围的不得开展。</a:t>
            </a:r>
          </a:p>
          <a:p>
            <a:r>
              <a:t>需要新增核素、增加源或射线装置、改变工作场所时，要事先通过学院向学校辐射安全管理部门申报，由学校办理许可证变更（或重新申领）后才能开展。许可证有有效期，到期前由学校按规定申请延续。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持证单位要对放射性同位素和射线装置建立台账：每个放射源、每批非密封放射性物质、每台射线装置都一一登记核素（或型号）、活度、编号、来源、存放和使用地点、责任人；使用、领用和归还都要登记（领用归还的做法见第 094 课）。放射源由专人管理，存放场所上锁，出入登记，定期清点，做到账物相符；发现丢失要立即报告（见第 096 课）。</a:t>
            </a:r>
          </a:p>
          <a:p>
            <a:r>
              <a:t>放射性同位素的购买、转让、转移、异地使用和进出口，按《放射性同位素与射线装置安全和防护条例》（以现行文本为准）的规定审批或备案，由学校统一办理。个人和课题组不得私自购买、转让、转借放射源，也不得向没有许可证的单位借用或出借。</a:t>
            </a:r>
          </a:p>
          <a:p>
            <a:r>
              <a:t>持证单位每年对本单位的辐射安全和防护状况进行年度评估，编写评估报告，按规定报送主管部门（以现行规定为准）。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学校按规定设立辐射安全与环境保护管理机构（或指定专门的管理部门），配备辐射安全负责人和专职（兼职）管理人员，实行学校—学院—实验室分级管理（三级管理见第 004 课）。</a:t>
            </a:r>
          </a:p>
          <a:p>
            <a:r>
              <a:t>辐射安全负责人和管理人员的主要职责：组织制定和落实辐射安全管理制度和应急预案；办理许可、审批和备案；组织辐射安全培训考核、个人剂量监测和职业健康检查；管理放射源和射线装置台账；组织场所监测和年度评估；开展安全检查，督促隐患整改；发现严重隐患时可以要求停止相关工作。</a:t>
            </a:r>
          </a:p>
          <a:p>
            <a:r>
              <a:t>实验室负责人是本实验室辐射安全的第一责任人，负责本实验室的规程、人员准入、日常管理和隐患整改；导师对学生的辐射工作负直接管理责任。遇到问题或疑问，先问导师和实验室负责人，也可以直接找学院和学校辐射安全管理人员；学校的辐射安全制度、场所评估资料可以按规定查阅。</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因工作可能受到高于天然本底照射的人员，是辐射工作人员（放射工作人员）。他们必须接受辐射安全培训，佩戴个人剂量计监测受照剂量，并接受职业健康检查。</a:t>
            </a:r>
          </a:p>
          <a:p>
            <a:r>
              <a:t>其他人员都属于公众，包括实验室周围的师生、访客、保洁和维修人员。公众的剂量限值比职业人员严得多（见第 089 课），所以公众不得进入控制区，辐射工作场所的设计和管理要保证公众受照远低于限值。</a:t>
            </a:r>
          </a:p>
          <a:p>
            <a:r>
              <a:t>用放射源、射线装置或非密封放射性物质做实验的研究生、本科生，同样属于辐射工作人员，同样要满足培训、监测和体检的要求；未满 16 岁的人员不得从事辐射工作，16–18 岁学生的特殊要求见第 089 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事辐射工作的人员，必须先参加辐射安全与防护培训，考核合格后才能上岗操作。考核按生态环境主管部门关于核技术利用辐射安全与防护培训考核的现行规定进行（通常通过国家组织的平台学习和考核，部分类别可由单位自行组织考核，以现行规定为准）；考核合格有一定有效期，到期前要重新考核。</a:t>
            </a:r>
          </a:p>
          <a:p>
            <a:r>
              <a:t>国家要求的培训考核之外，学院和实验室还要做岗位培训：本实验室使用的核素和装置、操作规程、防护和监测方法、应急处置和报告程序。实验室负责人审核培训考核记录后，才给予准入、授予钥匙或门禁权限（准入与培训的通则见第 007 课）。放射性专用通风柜、手套箱、射线装置等专用设备，经授权后才能使用。</a:t>
            </a:r>
          </a:p>
          <a:p>
            <a:r>
              <a:t>没有受过训练的人，遇到洒漏、报警等异常不要自行处理，离开现场并报告。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辐射安全培训不是上一次就够：上岗前要学，之后还要按学校规定定期复训，持续更新知识、巩固习惯。学完不能只签个到，要结合自己的岗位和课题，组里一起讨论：我们用什么源、风险在哪、哪些做法要改。</a:t>
            </a:r>
          </a:p>
          <a:p>
            <a:r>
              <a:t>更换新的核素、新的射线装置或新的操作方法前，要先补训，确认掌握新的风险和防护方法后再开始。</a:t>
            </a:r>
          </a:p>
          <a:p>
            <a:r>
              <a:t>培训和考核的时间、内容、成绩都要记录存档，作为准入和检查的依据。</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程讲的通用做法，要落实成本实验室的辐射安全操作规程（本课不能代替本实验室规程）。规程至少写清：操作步骤和注意事项；人员培训和准入要求；个人防护和监测要求；屏蔽、通风柜、联锁等工程控制措施；废物收集；以及怀疑超剂量照射、洒漏、源丢失等异常情况的处置和报告程序。</a:t>
            </a:r>
          </a:p>
          <a:p>
            <a:r>
              <a:t>规程由实验室负责人组织编写，经学院和学校辐射安全管理部门审核后执行，放在工作现场，人人看得到、照着做。核素、设备、场所或法规要求变化时，及时修订。</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辐射工作人员工作时按规定佩戴个人剂量计，按周期送有资质的机构测读（佩戴和保管见第 092 课）；单位为每个人建立个人剂量档案。读数异常时，要查明原因、采取措施并记录（见第 089 课）。</a:t>
            </a:r>
          </a:p>
          <a:p>
            <a:r>
              <a:t>按《放射工作人员职业健康管理办法》（以现行文本为准），辐射工作人员上岗前、在岗期间（定期）和离岗时都要到有资质的职业健康检查机构做职业健康检查；受到应急照射或事故照射时要及时检查。上岗前检查不合格或有职业禁忌的，不得安排从事辐射工作；在岗期间发现不宜继续从事辐射工作的，要调离。职业健康检查费用由单位承担。</a:t>
            </a:r>
          </a:p>
          <a:p>
            <a:r>
              <a:t>个人剂量档案和职业健康监护档案由单位长期保存，保存期限以现行规定为准；毕业或调离时办理离岗体检和档案交接（离岗交接见第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场所不能随便进：只有经过专门培训、获得授权的人员，才能在指定的场所按规定工作，并按规定佩戴个人剂量计；照射越少越好。进入前认准门口的电离辐射警告标志和工作状态指示灯，指示灯亮表示射线装置正在工作或源处于使用状态，不得进入（门机联锁和警戒区见第 094 课）。</a:t>
            </a:r>
          </a:p>
          <a:p>
            <a:r>
              <a:t>没有培训、没有授权的人员不进入控制区，不开机、不动源。铀等放射性物质和放射性样品只能在许可的场所使用，不能带进普通的微生物或化学实验室。</a:t>
            </a:r>
          </a:p>
          <a:p>
            <a:r>
              <a:t>来访、参观、外来维修人员要经批准，由辐射安全管理人员或实验室负责人陪同，听从安排，不进入控制区（访客管理通则见第 008 课）。</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工作人员（包括学生）有权了解岗位存在的辐射危害、防护措施和应急措施，单位应当如实告知；有权接受培训、个人剂量监测和职业健康检查，有权查阅、复印本人的个人剂量和职业健康监护档案（《放射工作人员职业健康管理办法》《职业病防治法》，以现行文本为准）。</a:t>
            </a:r>
          </a:p>
          <a:p>
            <a:r>
              <a:t>发现屏蔽破损、联锁失灵、剂量异常等隐患，有权向实验室负责人、学院和学校辐射安全管理部门提出整改要求；防护条件不符合要求时，有权拒绝在不安全的条件下工作，可以先不进入，报告后等待处理。</a:t>
            </a:r>
          </a:p>
          <a:p>
            <a:r>
              <a:t>学生的一般安全权利见第 004 课。报告隐患和拒绝冒险作业是正当行为，不应因此受到追究（具体以本校规定为准）。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许可证或超出许可范围使用放射性同位素和射线装置、私自转让转借放射源、未按规定培训和监测、放射源丢失被盗不报告、违规排放放射性废物等，都违反《放射性污染防治法》和《放射性同位素与射线装置安全和防护条例》（以现行文本为准）。</a:t>
            </a:r>
          </a:p>
          <a:p>
            <a:r>
              <a:t>违法的单位会被责令改正、警告、罚款，情节严重的可能被暂扣或吊销许可证；造成辐射事故或严重环境污染、构成犯罪的，依法追究刑事责任。</a:t>
            </a:r>
          </a:p>
          <a:p>
            <a:r>
              <a:t>个人违反本校辐射安全管理制度和操作规程，学校会依照有关规定严肃处理，造成后果的追究相应责任（具体以本校规定为准）。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答案：C。解析：只能在学校辐射安全许可证载明的种类和范围内开展，新增种类须先办理许可变更。</a:t>
            </a:r>
          </a:p>
          <a:p>
            <a:r>
              <a:t>第 2 题 答案：B。解析：用源做实验的学生属于辐射工作人员，必须培训考核合格后上岗，并接受个人剂量监测和职业健康检查。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答案：C。解析：按《放射工作人员职业健康管理办法》（以现行文本为准），检查结果和剂量记录建档长期保存。</a:t>
            </a:r>
          </a:p>
          <a:p>
            <a:r>
              <a:t>第 4 题 答案：B。解析：不得私自转让转借放射源；台账要记录使用和去向；考核合格到期前要重新考核。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答案：A。解析：辐射工作人员有知情权、提出整改的权利，防护条件不符合要求时有权拒绝在不安全的条件下工作。</a:t>
            </a:r>
          </a:p>
          <a:p>
            <a:r>
              <a:t>第 6 题 答案：操作步骤和注意事项；人员培训和准入要求；个人防护和监测要求；屏蔽、通风、联锁等工程控制；废物收集；怀疑超剂量照射、洒漏、源丢失等异常情况的处置和报告程序。解析：规程放在现场，条件变化时及时修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093</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辐射安全许可与人员管理</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第7章 辐射安全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72 镜）　适用对象：使用放射性同位素、密封放射源或射线装置的本科生、研究生和教职工（辐射类必修），以及实验室负责人、学院和学校辐射安全管理人员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能说出我国辐射安全管理的主要法律法规，知道使用放射源、射线装置和非密封放射性物质必须依法取得辐射安全许可证并在许可范围内开展。</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能做到持证使用、建好台账，不私自购买、转让、转借放射源；知道学校辐射安全管理机构、辐射安全负责人和实验室负责人的职责，遇到问题找对人。</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能做到先培训考核合格再上岗、定期复训，按规定接受个人剂量监测和职业健康检查，未经授权不进入辐射工作场所。</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能说出辐射工作人员的权利（知情、查看本人记录、提出整改、拒绝在不安全条件下工作）和违规的法律责任。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《放射性同位素与射线装置安全和防护条例》（以现行文本为准）：许可、台账、转让转移、人员培训、个人剂量监测和职业健康检查</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《放射性同位素与射线装置安全许可管理办法》（以现行文本为准）：许可证的申请、范围、变更、延续</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《放射性同位素与射线装置安全和防护管理办法》（以现行文本为准）：年度评估、人员培训考核、个人剂量档案</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《放射工作人员职业健康管理办法》（以现行文本为准）：职业健康检查、个人剂量监测与档案、放射工作人员的权利</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《中华人民共和国职业病防治法》（以现行文本为准）：劳动者的职业卫生保护权利</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18871-2002（以现行文本为准）《电离辐射防护与辐射源安全基本标准》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核技术利用辐射安全与防护培训考核的现行规定和本校辐射安全管理制度（以现行规定和本校规定为准）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依法管理：辐射安全法规体系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辐射安全有一整套法律、法规、规章和标准</a:t>
            </a:r>
          </a:p>
          <a:p>
            <a:pPr>
              <a:spcAft>
                <a:spcPts val="1000"/>
              </a:spcAft>
            </a:pPr>
            <a:r>
              <a:rPr sz="1700">
                <a:solidFill>
                  <a:srgbClr val="222B33"/>
                </a:solidFill>
                <a:latin typeface="Microsoft YaHei"/>
              </a:rPr>
              <a:t>▪ 放射性污染防治法，是最上位的法律</a:t>
            </a:r>
          </a:p>
          <a:p>
            <a:pPr>
              <a:spcAft>
                <a:spcPts val="1000"/>
              </a:spcAft>
            </a:pPr>
            <a:r>
              <a:rPr sz="1700">
                <a:solidFill>
                  <a:srgbClr val="222B33"/>
                </a:solidFill>
                <a:latin typeface="Microsoft YaHei"/>
              </a:rPr>
              <a:t>▪ 安全和防护条例，管放射源和射线装置</a:t>
            </a:r>
          </a:p>
          <a:p>
            <a:pPr>
              <a:spcAft>
                <a:spcPts val="1000"/>
              </a:spcAft>
            </a:pPr>
            <a:r>
              <a:rPr sz="1700">
                <a:solidFill>
                  <a:srgbClr val="222B33"/>
                </a:solidFill>
                <a:latin typeface="Microsoft YaHei"/>
              </a:rPr>
              <a:t>▪ 防护要求以国家标准和学校规定为准</a:t>
            </a:r>
          </a:p>
          <a:p>
            <a:pPr>
              <a:spcAft>
                <a:spcPts val="1000"/>
              </a:spcAft>
            </a:pPr>
            <a:r>
              <a:rPr sz="1700">
                <a:solidFill>
                  <a:srgbClr val="222B33"/>
                </a:solidFill>
                <a:latin typeface="Microsoft YaHei"/>
              </a:rPr>
              <a:t>▪ 国外制度只作参考，不能照搬</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懂了剂量和防护原理，还要守规矩。我国辐射安全管理的法律依据是《中华人民共和国放射性污染防治法》（以现行文本为准）；国务院《放射性同位素与射线装置安全和防护条例》（以现行文本为准）对生产、销售、使用放射性同位素和射线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以为高校科研用源量小，不受法规约束</a:t>
            </a:r>
          </a:p>
          <a:p>
            <a:pPr>
              <a:spcAft>
                <a:spcPts val="1000"/>
              </a:spcAft>
            </a:pPr>
            <a:r>
              <a:rPr sz="1500">
                <a:solidFill>
                  <a:srgbClr val="222B33"/>
                </a:solidFill>
                <a:latin typeface="Microsoft YaHei"/>
              </a:rPr>
              <a:t>▪ 照搬国外教材的许可和豁免规定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辐射安全许可证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用源、用装置，先取得辐射安全许可证</a:t>
            </a:r>
          </a:p>
          <a:p>
            <a:pPr>
              <a:spcAft>
                <a:spcPts val="1000"/>
              </a:spcAft>
            </a:pPr>
            <a:r>
              <a:rPr sz="1700">
                <a:solidFill>
                  <a:srgbClr val="222B33"/>
                </a:solidFill>
                <a:latin typeface="Microsoft YaHei"/>
              </a:rPr>
              <a:t>▪ 许可证写明可使用的种类和范围</a:t>
            </a:r>
          </a:p>
          <a:p>
            <a:pPr>
              <a:spcAft>
                <a:spcPts val="1000"/>
              </a:spcAft>
            </a:pPr>
            <a:r>
              <a:rPr sz="1700">
                <a:solidFill>
                  <a:srgbClr val="222B33"/>
                </a:solidFill>
                <a:latin typeface="Microsoft YaHei"/>
              </a:rPr>
              <a:t>▪ 超出许可范围，不得开展</a:t>
            </a:r>
          </a:p>
          <a:p>
            <a:pPr>
              <a:spcAft>
                <a:spcPts val="1000"/>
              </a:spcAft>
            </a:pPr>
            <a:r>
              <a:rPr sz="1700">
                <a:solidFill>
                  <a:srgbClr val="222B33"/>
                </a:solidFill>
                <a:latin typeface="Microsoft YaHei"/>
              </a:rPr>
              <a:t>▪ 新增种类或场所，先办许可变更</a:t>
            </a:r>
          </a:p>
          <a:p>
            <a:pPr>
              <a:spcAft>
                <a:spcPts val="1000"/>
              </a:spcAft>
            </a:pPr>
            <a:r>
              <a:rPr sz="1700">
                <a:solidFill>
                  <a:srgbClr val="222B33"/>
                </a:solidFill>
                <a:latin typeface="Microsoft YaHei"/>
              </a:rPr>
              <a:t>▪ 许可证有有效期，到期前要延续</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使用放射性同位素（含密封源和非密封放射性物质、放射性药物和示踪剂）和射线装置的单位，必须依法向生态环境主管部门申请领取辐射安全许可证，由学校作为持证单位统一申领和管理。申请时要具备相应的场所、设施、人员、管理机构和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课题组自行购入新核素，“先用起来再补手续”</a:t>
            </a:r>
          </a:p>
          <a:p>
            <a:pPr>
              <a:spcAft>
                <a:spcPts val="1000"/>
              </a:spcAft>
            </a:pPr>
            <a:r>
              <a:rPr sz="1500">
                <a:solidFill>
                  <a:srgbClr val="222B33"/>
                </a:solidFill>
                <a:latin typeface="Microsoft YaHei"/>
              </a:rPr>
              <a:t>▪ 把设备搬到未经许可的房间使用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持证使用，建好台账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源和装置一一登记，建好台账</a:t>
            </a:r>
          </a:p>
          <a:p>
            <a:pPr>
              <a:spcAft>
                <a:spcPts val="1000"/>
              </a:spcAft>
            </a:pPr>
            <a:r>
              <a:rPr sz="1700">
                <a:solidFill>
                  <a:srgbClr val="222B33"/>
                </a:solidFill>
                <a:latin typeface="Microsoft YaHei"/>
              </a:rPr>
              <a:t>▪ 不得私自购买、转让、转借放射源</a:t>
            </a:r>
          </a:p>
          <a:p>
            <a:pPr>
              <a:spcAft>
                <a:spcPts val="1000"/>
              </a:spcAft>
            </a:pPr>
            <a:r>
              <a:rPr sz="1700">
                <a:solidFill>
                  <a:srgbClr val="222B33"/>
                </a:solidFill>
                <a:latin typeface="Microsoft YaHei"/>
              </a:rPr>
              <a:t>▪ 放射源专人管理，出入登记</a:t>
            </a:r>
          </a:p>
          <a:p>
            <a:pPr>
              <a:spcAft>
                <a:spcPts val="1000"/>
              </a:spcAft>
            </a:pPr>
            <a:r>
              <a:rPr sz="1700">
                <a:solidFill>
                  <a:srgbClr val="222B33"/>
                </a:solidFill>
                <a:latin typeface="Microsoft YaHei"/>
              </a:rPr>
              <a:t>▪ 定期清点，做到账物相符</a:t>
            </a:r>
          </a:p>
          <a:p>
            <a:pPr>
              <a:spcAft>
                <a:spcPts val="1000"/>
              </a:spcAft>
            </a:pPr>
            <a:r>
              <a:rPr sz="1700">
                <a:solidFill>
                  <a:srgbClr val="222B33"/>
                </a:solidFill>
                <a:latin typeface="Microsoft YaHei"/>
              </a:rPr>
              <a:t>▪ 每年评估辐射安全状况，按时上报</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持证单位要对放射性同位素和射线装置建立台账：每个放射源、每批非密封放射性物质、每台射线装置都一一登记核素（或型号）、活度、编号、来源、存放和使用地点、责任人；使用、领用和归还都要登记（领用归还的做法见第 094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课题组之间私下借用放射源</a:t>
            </a:r>
          </a:p>
          <a:p>
            <a:pPr>
              <a:spcAft>
                <a:spcPts val="1000"/>
              </a:spcAft>
            </a:pPr>
            <a:r>
              <a:rPr sz="1500">
                <a:solidFill>
                  <a:srgbClr val="222B33"/>
                </a:solidFill>
                <a:latin typeface="Microsoft YaHei"/>
              </a:rPr>
              <a:t>▪ 台账只记购入、不记使用和去向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学校辐射安全管理机构与负责人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学校设辐射安全管理机构，分级负责</a:t>
            </a:r>
          </a:p>
          <a:p>
            <a:pPr>
              <a:spcAft>
                <a:spcPts val="1000"/>
              </a:spcAft>
            </a:pPr>
            <a:r>
              <a:rPr sz="1700">
                <a:solidFill>
                  <a:srgbClr val="222B33"/>
                </a:solidFill>
                <a:latin typeface="Microsoft YaHei"/>
              </a:rPr>
              <a:t>▪ 辐射安全负责人和专职人员管日常</a:t>
            </a:r>
          </a:p>
          <a:p>
            <a:pPr>
              <a:spcAft>
                <a:spcPts val="1000"/>
              </a:spcAft>
            </a:pPr>
            <a:r>
              <a:rPr sz="1700">
                <a:solidFill>
                  <a:srgbClr val="222B33"/>
                </a:solidFill>
                <a:latin typeface="Microsoft YaHei"/>
              </a:rPr>
              <a:t>▪ 定制度、管培训、抓监测、查隐患</a:t>
            </a:r>
          </a:p>
          <a:p>
            <a:pPr>
              <a:spcAft>
                <a:spcPts val="1000"/>
              </a:spcAft>
            </a:pPr>
            <a:r>
              <a:rPr sz="1700">
                <a:solidFill>
                  <a:srgbClr val="222B33"/>
                </a:solidFill>
                <a:latin typeface="Microsoft YaHei"/>
              </a:rPr>
              <a:t>▪ 实验室负责人，是第一责任人</a:t>
            </a:r>
          </a:p>
          <a:p>
            <a:pPr>
              <a:spcAft>
                <a:spcPts val="1000"/>
              </a:spcAft>
            </a:pPr>
            <a:r>
              <a:rPr sz="1700">
                <a:solidFill>
                  <a:srgbClr val="222B33"/>
                </a:solidFill>
                <a:latin typeface="Microsoft YaHei"/>
              </a:rPr>
              <a:t>▪ 有疑问，问导师和辐射安全管理人员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学校按规定设立辐射安全与环境保护管理机构（或指定专门的管理部门），配备辐射安全负责人和专职（兼职）管理人员，实行学校—学院—实验室分级管理（三级管理见第 004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遇到辐射问题不知道该找谁，自己琢磨处理</a:t>
            </a:r>
          </a:p>
          <a:p>
            <a:pPr>
              <a:spcAft>
                <a:spcPts val="1000"/>
              </a:spcAft>
            </a:pPr>
            <a:r>
              <a:rPr sz="1500">
                <a:solidFill>
                  <a:srgbClr val="222B33"/>
                </a:solidFill>
                <a:latin typeface="Microsoft YaHei"/>
              </a:rPr>
              <a:t>▪ 以为辐射安全只是学校管理部门的事，与实验室负责人无关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辐射工作人员与公众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可能受到高于本底照射的，是辐射工作人员</a:t>
            </a:r>
          </a:p>
          <a:p>
            <a:pPr>
              <a:spcAft>
                <a:spcPts val="1000"/>
              </a:spcAft>
            </a:pPr>
            <a:r>
              <a:rPr sz="2000">
                <a:solidFill>
                  <a:srgbClr val="222B33"/>
                </a:solidFill>
                <a:latin typeface="Microsoft YaHei"/>
              </a:rPr>
              <a:t>▪ 辐射工作人员必须培训、佩戴个人剂量计</a:t>
            </a:r>
          </a:p>
          <a:p>
            <a:pPr>
              <a:spcAft>
                <a:spcPts val="1000"/>
              </a:spcAft>
            </a:pPr>
            <a:r>
              <a:rPr sz="2000">
                <a:solidFill>
                  <a:srgbClr val="222B33"/>
                </a:solidFill>
                <a:latin typeface="Microsoft YaHei"/>
              </a:rPr>
              <a:t>▪ 其他人都属于公众，限值要求更严</a:t>
            </a:r>
          </a:p>
          <a:p>
            <a:pPr>
              <a:spcAft>
                <a:spcPts val="1000"/>
              </a:spcAft>
            </a:pPr>
            <a:r>
              <a:rPr sz="2000">
                <a:solidFill>
                  <a:srgbClr val="222B33"/>
                </a:solidFill>
                <a:latin typeface="Microsoft YaHei"/>
              </a:rPr>
              <a:t>▪ 用源做实验的学生，也是辐射工作人员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因工作可能受到高于天然本底照射的人员，是辐射工作人员（放射工作人员）。他们必须接受辐射安全培训，佩戴个人剂量计监测受照剂量，并接受职业健康检查。</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认为学生只是“来学习的”，不算辐射工作人员</a:t>
            </a:r>
          </a:p>
          <a:p>
            <a:pPr>
              <a:spcAft>
                <a:spcPts val="1000"/>
              </a:spcAft>
            </a:pPr>
            <a:r>
              <a:rPr sz="1500">
                <a:solidFill>
                  <a:srgbClr val="222B33"/>
                </a:solidFill>
                <a:latin typeface="Microsoft YaHei"/>
              </a:rPr>
              <a:t>▪ 让没有培训的公众帮忙操作源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先培训考核，再上岗</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先培训，考核合格再上岗</a:t>
            </a:r>
          </a:p>
          <a:p>
            <a:pPr>
              <a:spcAft>
                <a:spcPts val="1000"/>
              </a:spcAft>
            </a:pPr>
            <a:r>
              <a:rPr sz="1700">
                <a:solidFill>
                  <a:srgbClr val="222B33"/>
                </a:solidFill>
                <a:latin typeface="Microsoft YaHei"/>
              </a:rPr>
              <a:t>▪ 按国家规定参加辐射安全与防护培训考核</a:t>
            </a:r>
          </a:p>
          <a:p>
            <a:pPr>
              <a:spcAft>
                <a:spcPts val="1000"/>
              </a:spcAft>
            </a:pPr>
            <a:r>
              <a:rPr sz="1700">
                <a:solidFill>
                  <a:srgbClr val="222B33"/>
                </a:solidFill>
                <a:latin typeface="Microsoft YaHei"/>
              </a:rPr>
              <a:t>▪ 学院和实验室还要做岗位培训</a:t>
            </a:r>
          </a:p>
          <a:p>
            <a:pPr>
              <a:spcAft>
                <a:spcPts val="1000"/>
              </a:spcAft>
            </a:pPr>
            <a:r>
              <a:rPr sz="1700">
                <a:solidFill>
                  <a:srgbClr val="222B33"/>
                </a:solidFill>
                <a:latin typeface="Microsoft YaHei"/>
              </a:rPr>
              <a:t>▪ 实验室负责人审核后，再给准入</a:t>
            </a:r>
          </a:p>
          <a:p>
            <a:pPr>
              <a:spcAft>
                <a:spcPts val="1000"/>
              </a:spcAft>
            </a:pPr>
            <a:r>
              <a:rPr sz="1700">
                <a:solidFill>
                  <a:srgbClr val="222B33"/>
                </a:solidFill>
                <a:latin typeface="Microsoft YaHei"/>
              </a:rPr>
              <a:t>▪ 没受过训练，不要自行处理异常</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从事辐射工作的人员，必须先参加辐射安全与防护培训，考核合格后才能上岗操作。考核按生态环境主管部门关于核技术利用辐射安全与防护培训考核的现行规定进行（通常通过国家组织的平台学习和考核，部分类别可由单位自行组织考核，以现……</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先跟着师兄师姐操作，“以后再补培训”</a:t>
            </a:r>
          </a:p>
          <a:p>
            <a:pPr>
              <a:spcAft>
                <a:spcPts val="1000"/>
              </a:spcAft>
            </a:pPr>
            <a:r>
              <a:rPr sz="1500">
                <a:solidFill>
                  <a:srgbClr val="222B33"/>
                </a:solidFill>
                <a:latin typeface="Microsoft YaHei"/>
              </a:rPr>
              <a:t>▪ 培训合格过期了还在继续操作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定期复训，结合岗位讨论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培训不是一次就够，要定期复训</a:t>
            </a:r>
          </a:p>
          <a:p>
            <a:pPr>
              <a:spcAft>
                <a:spcPts val="1000"/>
              </a:spcAft>
            </a:pPr>
            <a:r>
              <a:rPr sz="2000">
                <a:solidFill>
                  <a:srgbClr val="222B33"/>
                </a:solidFill>
                <a:latin typeface="Microsoft YaHei"/>
              </a:rPr>
              <a:t>▪ 学完结合自己的岗位一起讨论</a:t>
            </a:r>
          </a:p>
          <a:p>
            <a:pPr>
              <a:spcAft>
                <a:spcPts val="1000"/>
              </a:spcAft>
            </a:pPr>
            <a:r>
              <a:rPr sz="2000">
                <a:solidFill>
                  <a:srgbClr val="222B33"/>
                </a:solidFill>
                <a:latin typeface="Microsoft YaHei"/>
              </a:rPr>
              <a:t>▪ 换新核素、新设备，先补训</a:t>
            </a:r>
          </a:p>
          <a:p>
            <a:pPr>
              <a:spcAft>
                <a:spcPts val="1000"/>
              </a:spcAft>
            </a:pPr>
            <a:r>
              <a:rPr sz="2000">
                <a:solidFill>
                  <a:srgbClr val="222B33"/>
                </a:solidFill>
                <a:latin typeface="Microsoft YaHei"/>
              </a:rPr>
              <a:t>▪ 培训和考核，都要记录存档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辐射安全培训不是上一次就够：上岗前要学，之后还要按学校规定定期复训，持续更新知识、巩固习惯。学完不能只签个到，要结合自己的岗位和课题，组里一起讨论：我们用什么源、风险在哪、哪些做法要改。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培训只签到，不结合自己的工作</a:t>
            </a:r>
          </a:p>
          <a:p>
            <a:pPr>
              <a:spcAft>
                <a:spcPts val="1000"/>
              </a:spcAft>
            </a:pPr>
            <a:r>
              <a:rPr sz="1500">
                <a:solidFill>
                  <a:srgbClr val="222B33"/>
                </a:solidFill>
                <a:latin typeface="Microsoft YaHei"/>
              </a:rPr>
              <a:t>▪ 换了新核素照老方法操作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本实验室辐射安全操作规程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安全做法要写进本实验室的规程</a:t>
            </a:r>
          </a:p>
          <a:p>
            <a:pPr>
              <a:spcAft>
                <a:spcPts val="1000"/>
              </a:spcAft>
            </a:pPr>
            <a:r>
              <a:rPr sz="1700">
                <a:solidFill>
                  <a:srgbClr val="222B33"/>
                </a:solidFill>
                <a:latin typeface="Microsoft YaHei"/>
              </a:rPr>
              <a:t>▪ 步骤、培训、防护、工程控制都要写清</a:t>
            </a:r>
          </a:p>
          <a:p>
            <a:pPr>
              <a:spcAft>
                <a:spcPts val="1000"/>
              </a:spcAft>
            </a:pPr>
            <a:r>
              <a:rPr sz="1700">
                <a:solidFill>
                  <a:srgbClr val="222B33"/>
                </a:solidFill>
                <a:latin typeface="Microsoft YaHei"/>
              </a:rPr>
              <a:t>▪ 怀疑超剂量时怎么办，也要写清</a:t>
            </a:r>
          </a:p>
          <a:p>
            <a:pPr>
              <a:spcAft>
                <a:spcPts val="1000"/>
              </a:spcAft>
            </a:pPr>
            <a:r>
              <a:rPr sz="1700">
                <a:solidFill>
                  <a:srgbClr val="222B33"/>
                </a:solidFill>
                <a:latin typeface="Microsoft YaHei"/>
              </a:rPr>
              <a:t>▪ 规程放在现场，人人看得到</a:t>
            </a:r>
          </a:p>
          <a:p>
            <a:pPr>
              <a:spcAft>
                <a:spcPts val="1000"/>
              </a:spcAft>
            </a:pPr>
            <a:r>
              <a:rPr sz="1700">
                <a:solidFill>
                  <a:srgbClr val="222B33"/>
                </a:solidFill>
                <a:latin typeface="Microsoft YaHei"/>
              </a:rPr>
              <a:t>▪ 条件变化，规程及时修订</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课程讲的通用做法，要落实成本实验室的辐射安全操作规程（本课不能代替本实验室规程）。规程至少写清：操作步骤和注意事项；人员培训和准入要求；个人防护和监测要求；屏蔽、通风柜、联锁等工程控制措施；废物收集；以及怀疑超剂量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规程锁在抽屉里，现场没人看过</a:t>
            </a:r>
          </a:p>
          <a:p>
            <a:pPr>
              <a:spcAft>
                <a:spcPts val="1000"/>
              </a:spcAft>
            </a:pPr>
            <a:r>
              <a:rPr sz="1500">
                <a:solidFill>
                  <a:srgbClr val="222B33"/>
                </a:solidFill>
                <a:latin typeface="Microsoft YaHei"/>
              </a:rPr>
              <a:t>▪ 换了设备还用旧规程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个人剂量监测与职业健康检查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工作时佩戴个人剂量计，按周期送检</a:t>
            </a:r>
          </a:p>
          <a:p>
            <a:pPr>
              <a:spcAft>
                <a:spcPts val="1000"/>
              </a:spcAft>
            </a:pPr>
            <a:r>
              <a:rPr sz="1700">
                <a:solidFill>
                  <a:srgbClr val="222B33"/>
                </a:solidFill>
                <a:latin typeface="Microsoft YaHei"/>
              </a:rPr>
              <a:t>▪ 每个人都有个人剂量档案，异常查原因</a:t>
            </a:r>
          </a:p>
          <a:p>
            <a:pPr>
              <a:spcAft>
                <a:spcPts val="1000"/>
              </a:spcAft>
            </a:pPr>
            <a:r>
              <a:rPr sz="1700">
                <a:solidFill>
                  <a:srgbClr val="222B33"/>
                </a:solidFill>
                <a:latin typeface="Microsoft YaHei"/>
              </a:rPr>
              <a:t>▪ 上岗前、在岗期间、离岗时都要体检</a:t>
            </a:r>
          </a:p>
          <a:p>
            <a:pPr>
              <a:spcAft>
                <a:spcPts val="1000"/>
              </a:spcAft>
            </a:pPr>
            <a:r>
              <a:rPr sz="1700">
                <a:solidFill>
                  <a:srgbClr val="222B33"/>
                </a:solidFill>
                <a:latin typeface="Microsoft YaHei"/>
              </a:rPr>
              <a:t>▪ 到有资质的机构做职业健康检查</a:t>
            </a:r>
          </a:p>
          <a:p>
            <a:pPr>
              <a:spcAft>
                <a:spcPts val="1000"/>
              </a:spcAft>
            </a:pPr>
            <a:r>
              <a:rPr sz="1700">
                <a:solidFill>
                  <a:srgbClr val="222B33"/>
                </a:solidFill>
                <a:latin typeface="Microsoft YaHei"/>
              </a:rPr>
              <a:t>▪ 体检和剂量记录，长期保存</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辐射工作人员工作时按规定佩戴个人剂量计，按周期送有资质的机构测读（佩戴和保管见第 092 课）；单位为每个人建立个人剂量档案。读数异常时，要查明原因、采取措施并记录（见第 089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毕业离开时不做离岗体检</a:t>
            </a:r>
          </a:p>
          <a:p>
            <a:pPr>
              <a:spcAft>
                <a:spcPts val="1000"/>
              </a:spcAft>
            </a:pPr>
            <a:r>
              <a:rPr sz="1500">
                <a:solidFill>
                  <a:srgbClr val="222B33"/>
                </a:solidFill>
                <a:latin typeface="Microsoft YaHei"/>
              </a:rPr>
              <a:t>▪ 认为体检没问题就可以不戴剂量计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准入：未经许可不进入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辐射工作场所，不能随便进</a:t>
            </a:r>
          </a:p>
          <a:p>
            <a:pPr>
              <a:spcAft>
                <a:spcPts val="1000"/>
              </a:spcAft>
            </a:pPr>
            <a:r>
              <a:rPr sz="1700">
                <a:solidFill>
                  <a:srgbClr val="222B33"/>
                </a:solidFill>
                <a:latin typeface="Microsoft YaHei"/>
              </a:rPr>
              <a:t>▪ 认准电离辐射警告标志和工作指示灯</a:t>
            </a:r>
          </a:p>
          <a:p>
            <a:pPr>
              <a:spcAft>
                <a:spcPts val="1000"/>
              </a:spcAft>
            </a:pPr>
            <a:r>
              <a:rPr sz="1700">
                <a:solidFill>
                  <a:srgbClr val="222B33"/>
                </a:solidFill>
                <a:latin typeface="Microsoft YaHei"/>
              </a:rPr>
              <a:t>▪ 没培训没授权，不进控制区、不开机</a:t>
            </a:r>
          </a:p>
          <a:p>
            <a:pPr>
              <a:spcAft>
                <a:spcPts val="1000"/>
              </a:spcAft>
            </a:pPr>
            <a:r>
              <a:rPr sz="1700">
                <a:solidFill>
                  <a:srgbClr val="222B33"/>
                </a:solidFill>
                <a:latin typeface="Microsoft YaHei"/>
              </a:rPr>
              <a:t>▪ 放射性样品，只在许可场所使用</a:t>
            </a:r>
          </a:p>
          <a:p>
            <a:pPr>
              <a:spcAft>
                <a:spcPts val="1000"/>
              </a:spcAft>
            </a:pPr>
            <a:r>
              <a:rPr sz="1700">
                <a:solidFill>
                  <a:srgbClr val="222B33"/>
                </a:solidFill>
                <a:latin typeface="Microsoft YaHei"/>
              </a:rPr>
              <a:t>▪ 来访参观有人陪同，听从安排</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场所不能随便进：只有经过专门培训、获得授权的人员，才能在指定的场所按规定工作，并按规定佩戴个人剂量计；照射越少越好。进入前认准门口的电离辐射警告标志和工作状态指示灯，指示灯亮表示射线装置正在工作或源处于使用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看到门开着就进去找人</a:t>
            </a:r>
          </a:p>
          <a:p>
            <a:pPr>
              <a:spcAft>
                <a:spcPts val="1000"/>
              </a:spcAft>
            </a:pPr>
            <a:r>
              <a:rPr sz="1500">
                <a:solidFill>
                  <a:srgbClr val="222B33"/>
                </a:solidFill>
                <a:latin typeface="Microsoft YaHei"/>
              </a:rPr>
              <a:t>▪ 把放射性样品带回普通实验室继续做</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人员的权利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你有权了解岗位上的辐射风险</a:t>
            </a:r>
          </a:p>
          <a:p>
            <a:pPr>
              <a:spcAft>
                <a:spcPts val="1000"/>
              </a:spcAft>
            </a:pPr>
            <a:r>
              <a:rPr sz="1700">
                <a:solidFill>
                  <a:srgbClr val="222B33"/>
                </a:solidFill>
                <a:latin typeface="Microsoft YaHei"/>
              </a:rPr>
              <a:t>▪ 有权知道自己的剂量和体检结果</a:t>
            </a:r>
          </a:p>
          <a:p>
            <a:pPr>
              <a:spcAft>
                <a:spcPts val="1000"/>
              </a:spcAft>
            </a:pPr>
            <a:r>
              <a:rPr sz="1700">
                <a:solidFill>
                  <a:srgbClr val="222B33"/>
                </a:solidFill>
                <a:latin typeface="Microsoft YaHei"/>
              </a:rPr>
              <a:t>▪ 发现隐患，可以提出整改要求</a:t>
            </a:r>
          </a:p>
          <a:p>
            <a:pPr>
              <a:spcAft>
                <a:spcPts val="1000"/>
              </a:spcAft>
            </a:pPr>
            <a:r>
              <a:rPr sz="1700">
                <a:solidFill>
                  <a:srgbClr val="222B33"/>
                </a:solidFill>
                <a:latin typeface="Microsoft YaHei"/>
              </a:rPr>
              <a:t>▪ 条件不安全，可以先不进入</a:t>
            </a:r>
          </a:p>
          <a:p>
            <a:pPr>
              <a:spcAft>
                <a:spcPts val="1000"/>
              </a:spcAft>
            </a:pPr>
            <a:r>
              <a:rPr sz="1700">
                <a:solidFill>
                  <a:srgbClr val="222B33"/>
                </a:solidFill>
                <a:latin typeface="Microsoft YaHei"/>
              </a:rPr>
              <a:t>▪ 报告隐患，不会因此受追究</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辐射工作人员（包括学生）有权了解岗位存在的辐射危害、防护措施和应急措施，单位应当如实告知；有权接受培训、个人剂量监测和职业健康检查，有权查阅、复印本人的个人剂量和职业健康监护档案（《放射工作人员职业健康管理办法》《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不好意思问导师岗位有什么辐射风险</a:t>
            </a:r>
          </a:p>
          <a:p>
            <a:pPr>
              <a:spcAft>
                <a:spcPts val="1000"/>
              </a:spcAft>
            </a:pPr>
            <a:r>
              <a:rPr sz="1500">
                <a:solidFill>
                  <a:srgbClr val="222B33"/>
                </a:solidFill>
                <a:latin typeface="Microsoft YaHei"/>
              </a:rPr>
              <a:t>▪ 发现隐患怕“惹麻烦”不报告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违规的法律责任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无证、超范围、丢源不报，都是违法</a:t>
            </a:r>
          </a:p>
          <a:p>
            <a:pPr>
              <a:spcAft>
                <a:spcPts val="1000"/>
              </a:spcAft>
            </a:pPr>
            <a:r>
              <a:rPr sz="2000">
                <a:solidFill>
                  <a:srgbClr val="222B33"/>
                </a:solidFill>
                <a:latin typeface="Microsoft YaHei"/>
              </a:rPr>
              <a:t>▪ 单位会被处罚，许可可能被吊销</a:t>
            </a:r>
          </a:p>
          <a:p>
            <a:pPr>
              <a:spcAft>
                <a:spcPts val="1000"/>
              </a:spcAft>
            </a:pPr>
            <a:r>
              <a:rPr sz="2000">
                <a:solidFill>
                  <a:srgbClr val="222B33"/>
                </a:solidFill>
                <a:latin typeface="Microsoft YaHei"/>
              </a:rPr>
              <a:t>▪ 造成严重后果，要追究法律责任</a:t>
            </a:r>
          </a:p>
          <a:p>
            <a:pPr>
              <a:spcAft>
                <a:spcPts val="1000"/>
              </a:spcAft>
            </a:pPr>
            <a:r>
              <a:rPr sz="2000">
                <a:solidFill>
                  <a:srgbClr val="222B33"/>
                </a:solidFill>
                <a:latin typeface="Microsoft YaHei"/>
              </a:rPr>
              <a:t>▪ 个人违规，学校也会严肃处理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无许可证或超出许可范围使用放射性同位素和射线装置、私自转让转借放射源、未按规定培训和监测、放射源丢失被盗不报告、违规排放放射性废物等，都违反《放射性污染防治法》和《放射性同位素与射线装置安全和防护条例》（以现行文本为……</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以为“出了事有学校扛着”，个人违规无所谓</a:t>
            </a:r>
          </a:p>
          <a:p>
            <a:pPr>
              <a:spcAft>
                <a:spcPts val="1000"/>
              </a:spcAft>
            </a:pPr>
            <a:r>
              <a:rPr sz="1500">
                <a:solidFill>
                  <a:srgbClr val="222B33"/>
                </a:solidFill>
                <a:latin typeface="Microsoft YaHei"/>
              </a:rPr>
              <a:t>▪ 丢了源怕担责任，隐瞒不报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课题组想新增一种放射性核素用于实验，正确的做法是：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先买来用，再补手续</a:t>
            </a:r>
          </a:p>
          <a:p>
            <a:pPr algn="l"/>
            <a:r>
              <a:rPr sz="1500" b="0">
                <a:solidFill>
                  <a:srgbClr val="222B33"/>
                </a:solidFill>
                <a:latin typeface="Microsoft YaHei"/>
              </a:rPr>
              <a:t>B. 向隔壁有许可证的课题组借用</a:t>
            </a:r>
          </a:p>
          <a:p>
            <a:pPr algn="l"/>
            <a:r>
              <a:rPr sz="1500" b="0">
                <a:solidFill>
                  <a:srgbClr val="222B33"/>
                </a:solidFill>
                <a:latin typeface="Microsoft YaHei"/>
              </a:rPr>
              <a:t>C. 通过学院向学校辐射安全管理部门申报，学校办理许可变更后再开展</a:t>
            </a:r>
          </a:p>
          <a:p>
            <a:pPr algn="l"/>
            <a:r>
              <a:rPr sz="1500" b="0">
                <a:solidFill>
                  <a:srgbClr val="222B33"/>
                </a:solidFill>
                <a:latin typeface="Microsoft YaHei"/>
              </a:rPr>
              <a:t>D. 只要剂量很小就不用申报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判断：研究生只是来学习的，用放射源做实验不需要参加辐射安全培训考核。</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辐射工作人员的职业健康检查应在什么时候进行？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只在上岗前</a:t>
            </a:r>
          </a:p>
          <a:p>
            <a:pPr algn="l"/>
            <a:r>
              <a:rPr sz="1500" b="0">
                <a:solidFill>
                  <a:srgbClr val="222B33"/>
                </a:solidFill>
                <a:latin typeface="Microsoft YaHei"/>
              </a:rPr>
              <a:t>B. 只在出现症状时</a:t>
            </a:r>
          </a:p>
          <a:p>
            <a:pPr algn="l"/>
            <a:r>
              <a:rPr sz="1500" b="0">
                <a:solidFill>
                  <a:srgbClr val="222B33"/>
                </a:solidFill>
                <a:latin typeface="Microsoft YaHei"/>
              </a:rPr>
              <a:t>C. 上岗前、在岗期间定期和离岗时，受到应急或事故照射时及时检查</a:t>
            </a:r>
          </a:p>
          <a:p>
            <a:pPr algn="l"/>
            <a:r>
              <a:rPr sz="1500" b="0">
                <a:solidFill>
                  <a:srgbClr val="222B33"/>
                </a:solidFill>
                <a:latin typeface="Microsoft YaHei"/>
              </a:rPr>
              <a:t>D. 毕业后自愿检查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下列做法正确的是：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课题组之间私下借用放射源</a:t>
            </a:r>
          </a:p>
          <a:p>
            <a:pPr algn="l"/>
            <a:r>
              <a:rPr sz="1500" b="0">
                <a:solidFill>
                  <a:srgbClr val="222B33"/>
                </a:solidFill>
                <a:latin typeface="Microsoft YaHei"/>
              </a:rPr>
              <a:t>B. 放射源专人管理，出入登记，定期清点，做到账物相符</a:t>
            </a:r>
          </a:p>
          <a:p>
            <a:pPr algn="l"/>
            <a:r>
              <a:rPr sz="1500" b="0">
                <a:solidFill>
                  <a:srgbClr val="222B33"/>
                </a:solidFill>
                <a:latin typeface="Microsoft YaHei"/>
              </a:rPr>
              <a:t>C. 台账只记购入数量</a:t>
            </a:r>
          </a:p>
          <a:p>
            <a:pPr algn="l"/>
            <a:r>
              <a:rPr sz="1500" b="0">
                <a:solidFill>
                  <a:srgbClr val="222B33"/>
                </a:solidFill>
                <a:latin typeface="Microsoft YaHei"/>
              </a:rPr>
              <a:t>D. 培训合格过期后继续操作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093 · 辐射安全许可与人员管理</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093 辐射安全许可与人员管理</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判断：发现射线装置的屏蔽有破损，学生有权提出整改要求，并可以在整改前先不进入。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简答：本实验室辐射安全操作规程至少应写清哪些内容？</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依法管理：辐射安全法规体系</a:t>
            </a:r>
          </a:p>
          <a:p>
            <a:pPr>
              <a:spcAft>
                <a:spcPts val="800"/>
              </a:spcAft>
            </a:pPr>
            <a:r>
              <a:rPr sz="1500">
                <a:solidFill>
                  <a:srgbClr val="FFFFFF"/>
                </a:solidFill>
                <a:latin typeface="Microsoft YaHei"/>
              </a:rPr>
              <a:t>▪ K2  辐射安全许可证</a:t>
            </a:r>
          </a:p>
          <a:p>
            <a:pPr>
              <a:spcAft>
                <a:spcPts val="800"/>
              </a:spcAft>
            </a:pPr>
            <a:r>
              <a:rPr sz="1500">
                <a:solidFill>
                  <a:srgbClr val="FFFFFF"/>
                </a:solidFill>
                <a:latin typeface="Microsoft YaHei"/>
              </a:rPr>
              <a:t>▪ K3  持证使用，建好台账</a:t>
            </a:r>
          </a:p>
          <a:p>
            <a:pPr>
              <a:spcAft>
                <a:spcPts val="800"/>
              </a:spcAft>
            </a:pPr>
            <a:r>
              <a:rPr sz="1500">
                <a:solidFill>
                  <a:srgbClr val="FFFFFF"/>
                </a:solidFill>
                <a:latin typeface="Microsoft YaHei"/>
              </a:rPr>
              <a:t>▪ K4  学校辐射安全管理机构与负责人</a:t>
            </a:r>
          </a:p>
          <a:p>
            <a:pPr>
              <a:spcAft>
                <a:spcPts val="800"/>
              </a:spcAft>
            </a:pPr>
            <a:r>
              <a:rPr sz="1500">
                <a:solidFill>
                  <a:srgbClr val="FFFFFF"/>
                </a:solidFill>
                <a:latin typeface="Microsoft YaHei"/>
              </a:rPr>
              <a:t>▪ K5  辐射工作人员与公众</a:t>
            </a:r>
          </a:p>
          <a:p>
            <a:pPr>
              <a:spcAft>
                <a:spcPts val="800"/>
              </a:spcAft>
            </a:pPr>
            <a:r>
              <a:rPr sz="1500">
                <a:solidFill>
                  <a:srgbClr val="FFFFFF"/>
                </a:solidFill>
                <a:latin typeface="Microsoft YaHei"/>
              </a:rPr>
              <a:t>▪ K6  先培训考核，再上岗</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定期复训，结合岗位讨论</a:t>
            </a:r>
          </a:p>
          <a:p>
            <a:pPr>
              <a:spcAft>
                <a:spcPts val="800"/>
              </a:spcAft>
            </a:pPr>
            <a:r>
              <a:rPr sz="1500">
                <a:solidFill>
                  <a:srgbClr val="FFFFFF"/>
                </a:solidFill>
                <a:latin typeface="Microsoft YaHei"/>
              </a:rPr>
              <a:t>▪ K8  本实验室辐射安全操作规程</a:t>
            </a:r>
          </a:p>
          <a:p>
            <a:pPr>
              <a:spcAft>
                <a:spcPts val="800"/>
              </a:spcAft>
            </a:pPr>
            <a:r>
              <a:rPr sz="1500">
                <a:solidFill>
                  <a:srgbClr val="FFFFFF"/>
                </a:solidFill>
                <a:latin typeface="Microsoft YaHei"/>
              </a:rPr>
              <a:t>▪ K9  个人剂量监测与职业健康检查</a:t>
            </a:r>
          </a:p>
          <a:p>
            <a:pPr>
              <a:spcAft>
                <a:spcPts val="800"/>
              </a:spcAft>
            </a:pPr>
            <a:r>
              <a:rPr sz="1500">
                <a:solidFill>
                  <a:srgbClr val="FFFFFF"/>
                </a:solidFill>
                <a:latin typeface="Microsoft YaHei"/>
              </a:rPr>
              <a:t>▪ K10  准入：未经许可不进入</a:t>
            </a:r>
          </a:p>
          <a:p>
            <a:pPr>
              <a:spcAft>
                <a:spcPts val="800"/>
              </a:spcAft>
            </a:pPr>
            <a:r>
              <a:rPr sz="1500">
                <a:solidFill>
                  <a:srgbClr val="FFFFFF"/>
                </a:solidFill>
                <a:latin typeface="Microsoft YaHei"/>
              </a:rPr>
              <a:t>▪ K11  人员的权利</a:t>
            </a:r>
          </a:p>
          <a:p>
            <a:pPr>
              <a:spcAft>
                <a:spcPts val="800"/>
              </a:spcAft>
            </a:pPr>
            <a:r>
              <a:rPr sz="1500">
                <a:solidFill>
                  <a:srgbClr val="FFFFFF"/>
                </a:solidFill>
                <a:latin typeface="Microsoft YaHei"/>
              </a:rPr>
              <a:t>▪ S1  违规的法律责任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